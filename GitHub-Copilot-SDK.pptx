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</a:t>
            </a:r>
          </a:p>
          <a:p>
            <a:r>
              <a:t>Source: https://github.com/jeffrey-groneberg/ghcp_sdk</a:t>
            </a:r>
          </a:p>
          <a:p>
            <a:r>
              <a:t>Deployment variants, multi-user isolation, credential rotation, and BYOK are in the optional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 one repository, without changing its source</a:t>
            </a:r>
          </a:p>
          <a:p>
            <a:r>
              <a:t>Source: https://github.com/github/copilot-sdk/blob/v1.0.13/docs/features/agent-loop.md</a:t>
            </a:r>
          </a:p>
          <a:p>
            <a:r>
              <a:t>The first sample only receives a supplied repository description. It cannot inspect files until a tool is exposed.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user request can trigger several model calls</a:t>
            </a:r>
          </a:p>
          <a:p>
            <a:r>
              <a:t>Source: https://github.com/github/copilot-sdk/blob/v1.0.13/docs/features/agent-loop.md</a:t>
            </a:r>
          </a:p>
          <a:p>
            <a:r>
              <a:t>A rejection skips execution. Built-in tools run in the runtime; custom Python handlers run in the host. SDK assistant.turn events describe individual model iterations.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access has three separate controls</a:t>
            </a:r>
          </a:p>
          <a:p>
            <a:r>
              <a:t>Source: https://github.com/github/copilot-sdk/blob/v1.0.13/python/copilot/generated/rpc.py</a:t>
            </a:r>
          </a:p>
          <a:p>
            <a:r>
              <a:t>The workshop uses read-only tools and disposable data. A sandbox bypass intentionally removes the sandbox for one approved operation.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Choose the interface, not a different agent engine</a:t>
            </a:r>
          </a:p>
          <a:p>
            <a:r>
              <a:t>Source: https://github.com/github/copilot-sdk/blob/v1.0.13/README.md</a:t>
            </a:r>
          </a:p>
          <a:p>
            <a:r>
              <a:t>Both use the Copilot runtime. The SDK is useful when parsing CLI output is not an adequate integration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Eight checkpoints for the same repository assistant</a:t>
            </a:r>
          </a:p>
          <a:p>
            <a:r>
              <a:t>Source: https://github.com/jeffrey-groneberg/ghcp_sdk/tree/main/examples</a:t>
            </a:r>
          </a:p>
          <a:p>
            <a:r>
              <a:t>Each file runs independently. They are learning checkpoints, not a complete multi-user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Prepare one environment and run the first checkpoint</a:t>
            </a:r>
          </a:p>
          <a:p>
            <a:r>
              <a:t>Source: https://github.com/jeffrey-groneberg/ghcp_sdk#local-setup-and-authentication</a:t>
            </a:r>
          </a:p>
          <a:p>
            <a:r>
              <a:t>Use the repo's Codespaces link for the prepared environment. BYOK is optional appendix material, not the default authentication for these scripts.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Stream the review plan and require a final message</a:t>
            </a:r>
          </a:p>
          <a:p>
            <a:r>
              <a:t>Source: https://github.com/jeffrey-groneberg/ghcp_sdk/blob/main/examples/01_simple_chat.py</a:t>
            </a:r>
          </a:p>
          <a:p>
            <a:r>
              <a:t>Run: python examples/01_simple_chat.py. This output is a plan based on supplied context, not a claim that files were inspected.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a typed repository-inspection tool</a:t>
            </a:r>
          </a:p>
          <a:p>
            <a:r>
              <a:t>Source: https://github.com/jeffrey-groneberg/ghcp_sdk/blob/main/examples/02_custom_tools.py</a:t>
            </a:r>
          </a:p>
          <a:p>
            <a:r>
              <a:t>Run: python examples/02_custom_tools.py. The complete source contains the handler and its permission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the reviewer and check the selected agent</a:t>
            </a:r>
          </a:p>
          <a:p>
            <a:r>
              <a:t>Source: https://github.com/jeffrey-groneberg/ghcp_sdk/blob/main/examples/03_custom_agents.py</a:t>
            </a:r>
          </a:p>
          <a:p>
            <a:r>
              <a:t>Run: python examples/03_custom_agents.py. The initial researcher selection is checked in the same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Observe repository reads with hooks</a:t>
            </a:r>
          </a:p>
          <a:p>
            <a:r>
              <a:t>Source: https://github.com/jeffrey-groneberg/ghcp_sdk/blob/main/examples/04_hooks.py</a:t>
            </a:r>
          </a:p>
          <a:p>
            <a:r>
              <a:t>Run: python examples/04_hooks.py. Inspect the host trace alongside the repository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 current GitHub issues through MCP</a:t>
            </a:r>
          </a:p>
          <a:p>
            <a:r>
              <a:t>Source: https://github.com/jeffrey-groneberg/ghcp_sdk/blob/main/examples/05_mcp_servers.py</a:t>
            </a:r>
          </a:p>
          <a:p>
            <a:r>
              <a:t>Run: python examples/05_mcp_servers.py. Copilot model login is not a replacement for MCP credentials.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Resume the review in a second process</a:t>
            </a:r>
          </a:p>
          <a:p>
            <a:r>
              <a:t>Source: https://github.com/jeffrey-groneberg/ghcp_sdk/blob/main/examples/06_session_resume.py</a:t>
            </a:r>
          </a:p>
          <a:p>
            <a:r>
              <a:t>A session ID identifies state; it is not authorization to access another user's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Human input and permission are different requests</a:t>
            </a:r>
          </a:p>
          <a:p>
            <a:r>
              <a:t>Source: https://github.com/jeffrey-groneberg/ghcp_sdk/blob/main/examples/07_human_in_the_loop.py</a:t>
            </a:r>
          </a:p>
          <a:p>
            <a:r>
              <a:t>Illustrative host-trace excerpts; IDs abbreviated. Command: python -m unittest discover -s examples/tests -v. Run twice with n and y. Structured input has a validated legacy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private review note requires a sandbox exception</a:t>
            </a:r>
          </a:p>
          <a:p>
            <a:r>
              <a:t>Source: https://github.com/jeffrey-groneberg/ghcp_sdk/blob/main/examples/08_sandbox.py</a:t>
            </a:r>
          </a:p>
          <a:p>
            <a:r>
              <a:t>Illustrative host-trace excerpts; IDs abbreviated. Run twice with n and y. success=True or sandboxed=True alone is not read proof. Missing backend or note content fails explicitly. Experimental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Exercise: inspect another allowed file</a:t>
            </a:r>
          </a:p>
          <a:p>
            <a:r>
              <a:t>Source: https://github.com/jeffrey-groneberg/ghcp_sdk</a:t>
            </a:r>
          </a:p>
          <a:p>
            <a:r>
              <a:t>This completes the introduction. The independent checkpoints show API behavior; they do not implement tenant isolation or a production approval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 and versioned references</a:t>
            </a:r>
          </a:p>
          <a:p>
            <a:r>
              <a:t>Source: https://github.com/jeffrey-groneberg/ghcp_sdk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Managed child or existing runtime</a:t>
            </a:r>
          </a:p>
          <a:p>
            <a:r>
              <a:t>Source: https://github.com/github/copilot-sdk/blob/v1.0.13/docs/setup/backend-services.md</a:t>
            </a:r>
          </a:p>
          <a:p>
            <a:r>
              <a:t>Optional appendix slide. These are process-ownership choices. Neither choice provides application user authentication or tenant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Application boundaries for multi-user hosting</a:t>
            </a:r>
          </a:p>
          <a:p>
            <a:r>
              <a:t>Source: https://github.com/github/copilot-sdk/blob/v1.0.13/docs/setup/multi-tenancy.md</a:t>
            </a:r>
          </a:p>
          <a:p>
            <a:r>
              <a:t>Optional appendix slide. Shared-service deployments should review mode="empty" and explicit storage configuration rather than inheriting local workspace 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Credential source is not session authorization</a:t>
            </a:r>
          </a:p>
          <a:p>
            <a:r>
              <a:t>Source: https://github.com/github/copilot-sdk/blob/v1.0.13/docs/auth/authenticate.md</a:t>
            </a:r>
          </a:p>
          <a:p>
            <a:r>
              <a:t>Optional appendix slide. A token's presence does not prove Copilot entitlement. Credential ownership does not replace authorization for a particular saved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Configure inference with your own provider</a:t>
            </a:r>
          </a:p>
          <a:p>
            <a:r>
              <a:t>Source: https://github.com/github/copilot-sdk/blob/v1.0.13/docs/auth/byok.md</a:t>
            </a:r>
          </a:p>
          <a:p>
            <a:r>
              <a:t>Optional appendix slide. This is optional configuration, not the default of the eight samples. Select a compatible API and tool-capable model for your endpoint.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effrey-groneberg/ghcp_sdk" TargetMode="Externa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effrey-groneberg/ghcp_sdk" TargetMode="External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ithub/copilot-sdk/blob/v1.0.13/docs/features/agent-loop.md" TargetMode="External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ithub/copilot-sdk/blob/v1.0.13/docs/features/agent-loop.md" TargetMode="Externa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ithub/copilot-sdk/blob/v1.0.13/python/copilot/generated/rpc.py" TargetMode="Externa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ithub/copilot-sdk/blob/v1.0.13/README.md" TargetMode="Externa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effrey-groneberg/ghcp_sdk/tree/main/examples" TargetMode="Externa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effrey-groneberg/ghcp_sdk#local-setup-and-authentication" TargetMode="Externa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effrey-groneberg/ghcp_sdk/blob/main/examples/01_simple_chat.py" TargetMode="Externa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effrey-groneberg/ghcp_sdk/blob/main/examples/02_custom_tools.py" TargetMode="Externa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effrey-groneberg/ghcp_sdk/blob/main/examples/03_custom_agents.py" TargetMode="Externa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effrey-groneberg/ghcp_sdk/blob/main/examples/04_hooks.py" TargetMode="External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effrey-groneberg/ghcp_sdk/blob/main/examples/05_mcp_servers.py" TargetMode="External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effrey-groneberg/ghcp_sdk/blob/main/examples/06_session_resume.py" TargetMode="Externa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effrey-groneberg/ghcp_sdk/blob/main/examples/07_human_in_the_loop.py" TargetMode="External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effrey-groneberg/ghcp_sdk/blob/main/examples/08_sandbox.py" TargetMode="External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effrey-groneberg/ghcp_sdk" TargetMode="External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jeffrey-groneberg/ghcp_sdk" TargetMode="External"/><Relationship Id="rId3" Type="http://schemas.openxmlformats.org/officeDocument/2006/relationships/hyperlink" Target="https://github.com/github/copilot-sdk/tree/v1.0.13" TargetMode="External"/><Relationship Id="rId4" Type="http://schemas.openxmlformats.org/officeDocument/2006/relationships/hyperlink" Target="https://github.com/github/copilot-sdk/tree/v1.0.13/python/samples" TargetMode="External"/><Relationship Id="rId5" Type="http://schemas.openxmlformats.org/officeDocument/2006/relationships/hyperlink" Target="https://github.com/github/copilot-sdk/blob/v1.0.13/nodejs/test/e2e/sandbox_bypass.e2e.test.ts" TargetMode="External"/><Relationship Id="rId6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ithub/copilot-sdk/blob/v1.0.13/docs/setup/backend-services.md" TargetMode="External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ithub/copilot-sdk/blob/v1.0.13/docs/setup/multi-tenancy.md" TargetMode="External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ithub/copilot-sdk/blob/v1.0.13/docs/auth/authenticate.md" TargetMode="External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ithub/copilot-sdk/blob/v1.0.13/docs/auth/byok.md" TargetMode="Externa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01 /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47672"/>
            <a:ext cx="7680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4900" b="1">
                <a:solidFill>
                  <a:srgbClr val="E6EDF3"/>
                </a:solidFill>
                <a:latin typeface="Calibri"/>
              </a:defRPr>
            </a:pPr>
            <a:r>
              <a:t>GitHub Copilot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4900" b="1">
                <a:solidFill>
                  <a:srgbClr val="E6EDF3"/>
                </a:solidFill>
                <a:latin typeface="Calibri"/>
              </a:defRPr>
            </a:pPr>
            <a:r>
              <a:t>SDK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2240280"/>
            <a:ext cx="2148840" cy="2148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02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19072"/>
            <a:ext cx="5394959" cy="1801368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920240"/>
            <a:ext cx="497433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E6EDF3"/>
                </a:solidFill>
                <a:latin typeface="Calibri"/>
              </a:defRPr>
            </a:pPr>
            <a:r>
              <a:t>1. SDK in detail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551176"/>
            <a:ext cx="4974336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9DA7B3"/>
                </a:solidFill>
                <a:latin typeface="Calibri"/>
              </a:defRPr>
            </a:pPr>
            <a:r>
              <a:t>What the runtime does; one complete agent turn; tool permissions.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19" y="1719072"/>
            <a:ext cx="5394959" cy="1801368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1" y="1920240"/>
            <a:ext cx="497433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E6EDF3"/>
                </a:solidFill>
                <a:latin typeface="Calibri"/>
              </a:defRPr>
            </a:pPr>
            <a:r>
              <a:t>2. SDK vs.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1" y="2551176"/>
            <a:ext cx="4974336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9DA7B3"/>
                </a:solidFill>
                <a:latin typeface="Calibri"/>
              </a:defRPr>
            </a:pPr>
            <a:r>
              <a:t>When an API integration is useful instead of the CLI interface.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94760"/>
            <a:ext cx="5394959" cy="1801368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995928"/>
            <a:ext cx="497433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E6EDF3"/>
                </a:solidFill>
                <a:latin typeface="Calibri"/>
              </a:defRPr>
            </a:pPr>
            <a:r>
              <a:t>3. Capabilities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626864"/>
            <a:ext cx="4974336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9DA7B3"/>
                </a:solidFill>
                <a:latin typeface="Calibri"/>
              </a:defRPr>
            </a:pPr>
            <a:r>
              <a:t>One repository assistant, developed through eight independent checkpoints.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19" y="3794760"/>
            <a:ext cx="5394959" cy="1801368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1" y="3995928"/>
            <a:ext cx="497433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E6EDF3"/>
                </a:solidFill>
                <a:latin typeface="Calibri"/>
              </a:defRPr>
            </a:pPr>
            <a:r>
              <a:t>4. Samples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1" y="4626864"/>
            <a:ext cx="4974336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9DA7B3"/>
                </a:solidFill>
                <a:latin typeface="Calibri"/>
              </a:defRPr>
            </a:pPr>
            <a:r>
              <a:t>Run the code, inspect its results, and compare rejected and approved actions.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Deployment variants, multi-user isolation, credential rotation, and BYOK are in the optional appendix.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1. SDK in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03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Review one repository, without changing its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9DA7B3"/>
                </a:solidFill>
                <a:latin typeface="Calibri"/>
              </a:defRPr>
            </a:pPr>
            <a:r>
              <a:t>Our task: inspect examples/01_simple_chat.py for error handling and cleanup, then add GitHub issue context.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4884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58A6FF"/>
                </a:solidFill>
                <a:latin typeface="Calibri"/>
              </a:defRPr>
            </a:pPr>
            <a:r>
              <a:t>With a direct model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16352"/>
            <a:ext cx="521208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Your code sends a request and receives text or proposed tool calls.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Your code must dispatch tools, return their results, and repeat model calls.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You implement conversation state and the surrounding controls.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48840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BC8CFF"/>
                </a:solidFill>
                <a:latin typeface="Calibri"/>
              </a:defRPr>
            </a:pPr>
            <a:r>
              <a:t>With the Copilot SDK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816352"/>
            <a:ext cx="5212080" cy="2715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The Copilot runtime manages the model/tool loop and session state.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The SDK exposes typed events, tool registration, and host callbacks.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Your application still supplies credentials and authorizes access.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The first sample only receives a supplied repository description. It cannot inspect files until a tool is exposed.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1. SDK in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04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One user request can trigger several model calls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9DA7B3"/>
                </a:solidFill>
                <a:latin typeface="Calibri"/>
              </a:defRPr>
            </a:pPr>
            <a:r>
              <a:t>Example: ask the assistant to inspect a Python file through a custom host tool.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48840"/>
          <a:ext cx="11064239" cy="3447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0460"/>
                <a:gridCol w="2600096"/>
                <a:gridCol w="7523683"/>
              </a:tblGrid>
              <a:tr h="430911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1">
                          <a:solidFill>
                            <a:srgbClr val="58A6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1">
                          <a:solidFill>
                            <a:srgbClr val="58A6FF"/>
                          </a:solidFill>
                          <a:latin typeface="Calibri"/>
                        </a:defRPr>
                      </a:pPr>
                      <a:r>
                        <a:t>Owner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1">
                          <a:solidFill>
                            <a:srgbClr val="58A6FF"/>
                          </a:solidFill>
                          <a:latin typeface="Calibri"/>
                        </a:defRPr>
                      </a:pPr>
                      <a:r>
                        <a:t>Operation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  <a:tr h="430911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Application → SDK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send_and_wait(prompt, timeout=60) sends the user request.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</a:tr>
              <a:tr h="430911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Runtime → model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Send conversation context and the available tool schemas.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  <a:tr h="430911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Model → runtime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Propose inspect_python_file with the file argument.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</a:tr>
              <a:tr h="430911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Runtime → host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Request permission; the host returns an approval or rejection.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  <a:tr h="430911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Host tool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On approval: validate the argument, read the allowed file, return AST metadata.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</a:tr>
              <a:tr h="430911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Runtime → model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Append the tool result to the conversation and call the model again.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  <a:tr h="430911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Runtime → SDK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Emit the final assistant message and idle event; the wait completes.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A rejection skips execution. Built-in tools run in the runtime; custom Python handlers run in the host. SDK assistant.turn events describe individual model iterations.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1. SDK in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05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Tool access has three separate controls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19072"/>
            <a:ext cx="3505200" cy="3877056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920240"/>
            <a:ext cx="308457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E6EDF3"/>
                </a:solidFill>
                <a:latin typeface="Calibri"/>
              </a:defRPr>
            </a:pPr>
            <a:r>
              <a:t>Expose a capability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551176"/>
            <a:ext cx="3084576" cy="2889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9DA7B3"/>
                </a:solidFill>
                <a:latin typeface="Calibri"/>
              </a:defRPr>
            </a:pPr>
            <a:r>
              <a:t>ToolSet and available_tools select which tool schemas the model can use. Hiding a tool is not OS isolation.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8160" y="1719072"/>
            <a:ext cx="3505200" cy="3877056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8472" y="1920240"/>
            <a:ext cx="308457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E6EDF3"/>
                </a:solidFill>
                <a:latin typeface="Calibri"/>
              </a:defRPr>
            </a:pPr>
            <a:r>
              <a:t>Authorize a 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8472" y="2551176"/>
            <a:ext cx="3084576" cy="2889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9DA7B3"/>
                </a:solidFill>
                <a:latin typeface="Calibri"/>
              </a:defRPr>
            </a:pPr>
            <a:r>
              <a:t>on_permission_request evaluates a proposed operation. Human input is not automatically authorization.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7680" y="1719072"/>
            <a:ext cx="3505200" cy="3877056"/>
          </a:xfrm>
          <a:prstGeom prst="roundRect">
            <a:avLst/>
          </a:prstGeom>
          <a:solidFill>
            <a:srgbClr val="161B22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7992" y="1920240"/>
            <a:ext cx="3084576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E6EDF3"/>
                </a:solidFill>
                <a:latin typeface="Calibri"/>
              </a:defRPr>
            </a:pPr>
            <a:r>
              <a:t>Limit execution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7992" y="2551176"/>
            <a:ext cx="3084576" cy="2889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9DA7B3"/>
                </a:solidFill>
                <a:latin typeface="Calibri"/>
              </a:defRPr>
            </a:pPr>
            <a:r>
              <a:t>SandboxConfig restricts runtime-launched tools where a backend is available. Custom host handlers need separate containment.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The workshop uses read-only tools and disposable data. A sandbox bypass intentionally removes the sandbox for one approved operation.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2. SDK vs. CLI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06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Choose the interface, not a different agent engine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19072"/>
          <a:ext cx="11064238" cy="3877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4132"/>
                <a:gridCol w="4315053"/>
                <a:gridCol w="4315053"/>
              </a:tblGrid>
              <a:tr h="775411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1">
                          <a:solidFill>
                            <a:srgbClr val="58A6FF"/>
                          </a:solidFill>
                          <a:latin typeface="Calibri"/>
                        </a:defRPr>
                      </a:pPr>
                      <a:r>
                        <a:t>Need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1">
                          <a:solidFill>
                            <a:srgbClr val="58A6FF"/>
                          </a:solidFill>
                          <a:latin typeface="Calibri"/>
                        </a:defRPr>
                      </a:pPr>
                      <a:r>
                        <a:t>Copilot CLI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1">
                          <a:solidFill>
                            <a:srgbClr val="58A6FF"/>
                          </a:solidFill>
                          <a:latin typeface="Calibri"/>
                        </a:defRPr>
                      </a:pPr>
                      <a:r>
                        <a:t>Copilot SDK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  <a:tr h="775411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Interface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Terminal UI; also supports non-interactive prompts.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Language API embedded in your application.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</a:tr>
              <a:tr h="775411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Tool interaction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CLI configuration and its built-in interaction flow.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Typed host callbacks, custom functions, and application UI.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  <a:tr h="775411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Lifecycle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Launch and operate the CLI process.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Create sessions and own or connect to a runtime process.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</a:tr>
              <a:tr h="775412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Useful for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Terminal work and command-line automation.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Applications needing structured events and approval interfaces.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Both use the Copilot runtime. The SDK is useful when parsing CLI output is not an adequate integration contract.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3.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07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Eight checkpoints for the same repository assistant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19072"/>
          <a:ext cx="11064239" cy="3877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066"/>
                <a:gridCol w="2766060"/>
                <a:gridCol w="7081113"/>
              </a:tblGrid>
              <a:tr h="430784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1">
                          <a:solidFill>
                            <a:srgbClr val="58A6FF"/>
                          </a:solidFill>
                          <a:latin typeface="Calibri"/>
                        </a:defRPr>
                      </a:pPr>
                      <a:r>
                        <a:t>Sample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1">
                          <a:solidFill>
                            <a:srgbClr val="58A6FF"/>
                          </a:solidFill>
                          <a:latin typeface="Calibri"/>
                        </a:defRPr>
                      </a:pPr>
                      <a:r>
                        <a:t>Add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1">
                          <a:solidFill>
                            <a:srgbClr val="58A6FF"/>
                          </a:solidFill>
                          <a:latin typeface="Calibri"/>
                        </a:defRPr>
                      </a:pPr>
                      <a:r>
                        <a:t>Repository task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  <a:tr h="430784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01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Streaming session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Plan a review from supplied context; no file access yet.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</a:tr>
              <a:tr h="430784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02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Typed custom tool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Read AST metadata from an allowed Python file.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  <a:tr h="430784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03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Custom agents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Research the file, then select and verify its reviewer.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</a:tr>
              <a:tr h="430784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04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Hooks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Record pre-call, success, and failure events for repository reads.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  <a:tr h="430784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05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GitHub MCP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Read current issues for this repository with separate credentials.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</a:tr>
              <a:tr h="430784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06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Persistence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Recall the review file and focus in a new process.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  <a:tr h="430784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07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Human approval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Choose a review focus, then approve or reject the test command.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</a:tr>
              <a:tr h="430784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08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Sandbox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5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Deny a private review note; allow one separately approved read.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Each file runs independently. They are learning checkpoints, not a complete multi-user service.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4.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08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Prepare one environment and run the first 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3017520" cy="3877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Python 3.11+; the Codespace supplies Python 3.12 and the pinned packages.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These scripts use GitHub-hosted Copilot models and require Copilot access.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Use an existing Copilot CLI login or securely provision COPILOT_GITHUB_TOKEN.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The SDK downloads runtime 1.0.83. It does not install the interactive copilot command.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0" y="1719072"/>
            <a:ext cx="7726679" cy="3877056"/>
          </a:xfrm>
          <a:prstGeom prst="roundRect">
            <a:avLst/>
          </a:prstGeom>
          <a:solidFill>
            <a:srgbClr val="010409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9080" y="1856231"/>
            <a:ext cx="73609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9DA7B3"/>
                </a:solidFill>
                <a:latin typeface="Calibri"/>
              </a:defRPr>
            </a:pPr>
            <a:r>
              <a:t>Run from the repository root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359152"/>
            <a:ext cx="7360919" cy="3099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python -m pip install -r requirements.txt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python -m copilot download-runtime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python examples/01_simple_chat.py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# Offline checks; no model requests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python -m unittest discover -s examples/tests -v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Use the repo's Codespaces link for the prepared environment. BYOK is optional appendix material, not the default authentication for these scripts.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4.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09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Stream the review plan and require a final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3017520" cy="3877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available_tools=[] makes this turn text-only.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Subscribe before sending; assistant.message_delta contains chunks, not guaranteed tokens.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A timeout or session error raises. An idle session without a final message returns None.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Always remove the event listener in finally.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0" y="1719072"/>
            <a:ext cx="7726679" cy="3877056"/>
          </a:xfrm>
          <a:prstGeom prst="roundRect">
            <a:avLst/>
          </a:prstGeom>
          <a:solidFill>
            <a:srgbClr val="010409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9080" y="1856231"/>
            <a:ext cx="73609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9DA7B3"/>
                </a:solidFill>
                <a:latin typeface="Calibri"/>
              </a:defRPr>
            </a:pPr>
            <a:r>
              <a:t>examples/01_simple_chat.py · inside a streaming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359152"/>
            <a:ext cx="7360919" cy="3099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unsubscribe = session.on(on_event)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try: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reply = await session.send_and_wait(REVIEW_PROMPT, timeout=60)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if reply is None: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    raise RuntimeError("Session became idle without an assistant message.")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if not saw_delta: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    print(reply.data.content, end="", flush=True)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finally: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unsubscribe()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Run: python examples/01_simple_chat.py. This output is a plan based on supplied context, not a claim that files were inspected.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4.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10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Add a typed repository-inspection 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3017520" cy="3877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A Pydantic parameter type defines the tool's input schema.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The handler validates an explicit file allowlist and returns AST metadata.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ToolSet exposes this custom tool without granting built-in filesystem tools.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A recorded handler invocation proves the read; the model's summary does not.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0" y="1719072"/>
            <a:ext cx="7726679" cy="3877056"/>
          </a:xfrm>
          <a:prstGeom prst="roundRect">
            <a:avLst/>
          </a:prstGeom>
          <a:solidFill>
            <a:srgbClr val="010409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9080" y="1856231"/>
            <a:ext cx="73609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9DA7B3"/>
                </a:solidFill>
                <a:latin typeface="Calibri"/>
              </a:defRPr>
            </a:pPr>
            <a:r>
              <a:t>examples/02_custom_tools.py · tool declaration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359152"/>
            <a:ext cx="7360919" cy="3099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class FileParams(BaseModel):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model_config = ConfigDict(extra="forbid", strict=True)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file: Literal[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    "examples/01_simple_chat.py", "examples/02_custom_tools.py"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] = Field(description="An explicitly allowlisted workshop Python file.")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@define_tool(description="Inspect an allowlisted Python sample's AST metadata")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async def inspect_python_file(params: FileParams) -&gt; dict: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metadata = read_python_metadata(params)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INSPECTIONS.append(metadata)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encoded = json.dumps(metadata, sort_keys=True)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print("[host tool] inspect_python_file result=" + encoded)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return metadata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Run: python examples/02_custom_tools.py. The complete source contains the handler and its permission policy.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4.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11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Select the reviewer and check the selected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3017520" cy="3877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Researcher and reviewer are configurations in one session, not parallel agents.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Both are restricted to read tools for the same repository.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Conversation context remains available when selecting the reviewer.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Check agent.name before sending the next prompt. The selection RPC is experimental.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0" y="1719072"/>
            <a:ext cx="7726679" cy="3877056"/>
          </a:xfrm>
          <a:prstGeom prst="roundRect">
            <a:avLst/>
          </a:prstGeom>
          <a:solidFill>
            <a:srgbClr val="010409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9080" y="1856231"/>
            <a:ext cx="73609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9DA7B3"/>
                </a:solidFill>
                <a:latin typeface="Calibri"/>
              </a:defRPr>
            </a:pPr>
            <a:r>
              <a:t>examples/03_custom_agents.py · selection and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359152"/>
            <a:ext cx="7360919" cy="3099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await session.rpc.agent.select(AgentSelectRequest(name="reviewer"))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# Confirm the swap before we send anything else.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current = await session.rpc.agent.get_current()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if current.agent is None or current.agent.name != "reviewer":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raise RuntimeError("The reviewer persona was not selected.")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Run: python examples/03_custom_agents.py. The initial researcher selection is checked in the same way.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4.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12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Observe repository reads with 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3017520" cy="3877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on_pre_tool_use runs before a tool call.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on_post_tool_use handles successful execution.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on_post_tool_use_failure handles failed execution.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These handlers log tool names. They do not enforce a policy or create a sandbox.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0" y="1719072"/>
            <a:ext cx="7726679" cy="3877056"/>
          </a:xfrm>
          <a:prstGeom prst="roundRect">
            <a:avLst/>
          </a:prstGeom>
          <a:solidFill>
            <a:srgbClr val="010409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9080" y="1856231"/>
            <a:ext cx="73609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9DA7B3"/>
                </a:solidFill>
                <a:latin typeface="Calibri"/>
              </a:defRPr>
            </a:pPr>
            <a:r>
              <a:t>examples/04_hooks.py · pre-call and success hooks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359152"/>
            <a:ext cx="7360919" cy="3099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async def on_pre_tool_use(input_data, invocation):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print(f"[pre]  {input_data['toolName']}")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return None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async def on_post_tool_use(input_data, invocation):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print(f"[post] {input_data['toolName']} succeeded")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return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Run: python examples/04_hooks.py. Inspect the host trace alongside the repository answer.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4.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13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Add current GitHub issues through MCP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3017520" cy="3877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The remote GitHub MCP connection uses its own bearer credential.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Resolve the token at runtime; never print it or place it in source.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Use the read-only server header and an issue-tool allowlist.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Correlate a matching MCP start and successful completion. Zero open issues is a valid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0" y="1719072"/>
            <a:ext cx="7726679" cy="3877056"/>
          </a:xfrm>
          <a:prstGeom prst="roundRect">
            <a:avLst/>
          </a:prstGeom>
          <a:solidFill>
            <a:srgbClr val="010409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9080" y="1856231"/>
            <a:ext cx="73609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9DA7B3"/>
                </a:solidFill>
                <a:latin typeface="Calibri"/>
              </a:defRPr>
            </a:pPr>
            <a:r>
              <a:t>examples/05_mcp_servers.py · remote server 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359152"/>
            <a:ext cx="7360919" cy="3099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def build_mcp_servers(token: str) -&gt; dict: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return {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    "github": {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        "type": "http",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        "url": "https://api.githubcopilot.com/mcp/",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        "headers": {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            "Authorization": "Bearer " + token,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            "X-MCP-Readonly": "true",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        },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        "tools": GITHUB_TOOLS,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    },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Run: python examples/05_mcp_servers.py. Copilot model login is not a replacement for MCP credentials.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4.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14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Resume the review in a second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3017520" cy="3877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The first process stores the review file and focus in conversation context.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The second process uses the same session ID and runtime state storage.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The resume prompt must not repeat the facts being recalled.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Re-register host callbacks and tools. Session exit detaches; it does not delete saved state.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0" y="1719072"/>
            <a:ext cx="7726679" cy="3877056"/>
          </a:xfrm>
          <a:prstGeom prst="roundRect">
            <a:avLst/>
          </a:prstGeom>
          <a:solidFill>
            <a:srgbClr val="010409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9080" y="1856231"/>
            <a:ext cx="73609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9DA7B3"/>
                </a:solidFill>
                <a:latin typeface="Calibri"/>
              </a:defRPr>
            </a:pPr>
            <a:r>
              <a:t>Two separate Python processes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359152"/>
            <a:ext cx="7360919" cy="3099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SID="repository-review-$(date +%s)"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python examples/06_session_resume.py \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--session-id "$SID"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python examples/06_session_resume.py \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--resume --session-id "$SID"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A session ID identifies state; it is not authorization to access another user's conversation.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4.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15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Human input and permission are different requests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9DA7B3"/>
                </a:solidFill>
                <a:latin typeface="Calibri"/>
              </a:defRPr>
            </a:pPr>
            <a:r>
              <a:t>Choose a review focus, then separately authorize the fixed test command. No freeform input is inserted into shell code.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5349240" cy="3447288"/>
          </a:xfrm>
          <a:prstGeom prst="roundRect">
            <a:avLst/>
          </a:prstGeom>
          <a:solidFill>
            <a:srgbClr val="010409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78166"/>
                </a:solidFill>
                <a:latin typeface="Calibri"/>
              </a:defRPr>
            </a:pPr>
            <a:r>
              <a:t>Rejected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4892040" cy="22585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focus: errors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approve once? n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COMMAND_DENIED id=&lt;id&gt;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COMMAND_DENIAL_RECORDED id=&lt;id&gt;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no execution claimed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48840"/>
            <a:ext cx="5349240" cy="3447288"/>
          </a:xfrm>
          <a:prstGeom prst="roundRect">
            <a:avLst/>
          </a:prstGeom>
          <a:solidFill>
            <a:srgbClr val="010409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37744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3FB950"/>
                </a:solidFill>
                <a:latin typeface="Calibri"/>
              </a:defRPr>
            </a:pPr>
            <a:r>
              <a:t>Approved command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54680"/>
            <a:ext cx="4892040" cy="22585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focus: cleanup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approve once? y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COMMAND_APPROVE_ONCE id=&lt;id&gt;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COMMAND_RESULT_VERIFIED id=&lt;id&gt;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unittest reported 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Illustrative host-trace excerpts; IDs abbreviated. Command: python -m unittest discover -s examples/tests -v. Run twice with n and y. Structured input has a validated legacy fallback.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4.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16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A private review note requires a sandbox exception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1106424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9DA7B3"/>
                </a:solidFill>
                <a:latin typeface="Calibri"/>
              </a:defRPr>
            </a:pPr>
            <a:r>
              <a:t>The sample denies a disposable vault and network access. allow_bypass=True permits a request, not automatic approval.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5349240" cy="3447288"/>
          </a:xfrm>
          <a:prstGeom prst="roundRect">
            <a:avLst/>
          </a:prstGeom>
          <a:solidFill>
            <a:srgbClr val="010409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F78166"/>
                </a:solidFill>
                <a:latin typeface="Calibri"/>
              </a:defRPr>
            </a:pPr>
            <a:r>
              <a:t>Rejected bypass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54680"/>
            <a:ext cx="4892040" cy="22585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grep: private review note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approve once? n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SANDBOX_BYPASS_DENIED id=&lt;id&gt;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SANDBOX_DENIAL_RECORDED id=&lt;id&gt;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no access claimed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48840"/>
            <a:ext cx="5349240" cy="3447288"/>
          </a:xfrm>
          <a:prstGeom prst="roundRect">
            <a:avLst/>
          </a:prstGeom>
          <a:solidFill>
            <a:srgbClr val="010409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377440"/>
            <a:ext cx="4892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3FB950"/>
                </a:solidFill>
                <a:latin typeface="Calibri"/>
              </a:defRPr>
            </a:pPr>
            <a:r>
              <a:t>Approved bypass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154680"/>
            <a:ext cx="4892040" cy="22585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grep: content output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approve once? y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SANDBOX_BYPASS_APPROVE_ONCE id=&lt;id&gt;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SANDBOX_BYPASS_VERIFIED id=&lt;id&gt;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350" b="0">
                <a:solidFill>
                  <a:srgbClr val="E6EDF3"/>
                </a:solidFill>
                <a:latin typeface="Courier New"/>
              </a:defRPr>
            </a:pPr>
            <a:r>
              <a:t>result contains private 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Illustrative host-trace excerpts; IDs abbreviated. Run twice with n and y. success=True or sandboxed=True alone is not read proof. Missing backend or note content fails explicitly. Experimental API.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4. Samples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17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Exercise: inspect another allowed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58A6FF"/>
                </a:solidFill>
                <a:latin typeface="Calibri"/>
              </a:defRPr>
            </a:pPr>
            <a:r>
              <a:t>Change one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86584"/>
            <a:ext cx="5212080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In sample 02, choose another file from the declared allowlist.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Check the handler's AST metadata against that file.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Ask the reviewer in sample 03 about the same file.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Run sample 07 once with approval and once with rejection.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719072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BC8CFF"/>
                </a:solidFill>
                <a:latin typeface="Calibri"/>
              </a:defRPr>
            </a:pPr>
            <a:r>
              <a:t>Completion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386584"/>
            <a:ext cx="5212080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A real tool result supports the repository answer.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A missing final message or failed required tool is reported.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Rejected operations are not reported as successful.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The sample does not modify repository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This completes the introduction. The independent checkpoints show API behavior; they do not implement tenant isolation or a production approval service.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18 /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Code and versioned 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58A6FF"/>
                </a:solidFill>
                <a:latin typeface="Calibri"/>
              </a:defRPr>
            </a:pPr>
            <a:r>
              <a:t>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86584"/>
            <a:ext cx="5212080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Workshop code: jeffrey-groneberg/ghcp_sdk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Stable baseline: SDK 1.0.13 and runtime 1.0.83.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Official Python samples: chat.py and manual_tool_resume.py.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Compare documented contracts with generated types and actual runtime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719072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BC8CFF"/>
                </a:solidFill>
                <a:latin typeface="Calibri"/>
              </a:defRPr>
            </a:pPr>
            <a:r>
              <a:t>References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386584"/>
            <a:ext cx="5212080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rPr u="sng">
                <a:hlinkClick r:id="rId2"/>
              </a:rPr>
              <a:t>Repository and walkthroughs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rPr u="sng">
                <a:hlinkClick r:id="rId3"/>
              </a:rPr>
              <a:t>SDK v1.0.13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rPr u="sng">
                <a:hlinkClick r:id="rId4"/>
              </a:rPr>
              <a:t>Official Python samples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rPr u="sng">
                <a:hlinkClick r:id="rId5"/>
              </a:rPr>
              <a:t>Sandbox E2E reference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Introduction complete. Optional appendix: runtime deployment, multi-user hosting, authentication, and BYOK.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Appendix · Runtime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A1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Managed child or existing runtime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58A6FF"/>
                </a:solidFill>
                <a:latin typeface="Calibri"/>
              </a:defRPr>
            </a:pPr>
            <a:r>
              <a:t>SDK-owned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86584"/>
            <a:ext cx="5212080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Default: provision and start the release-matched runtime over stdio.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Use RuntimeConnection.for_stdio(path=...) for an explicit executable.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Client exit stops the child it owns.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719072"/>
            <a:ext cx="5349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BC8CFF"/>
                </a:solidFill>
                <a:latin typeface="Calibri"/>
              </a:defRPr>
            </a:pPr>
            <a:r>
              <a:t>Existing process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386584"/>
            <a:ext cx="5212080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Use RuntimeConnection.for_uri(...) to connect to a running runtime.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The host protects the endpoint and owns process lifecycle.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E6EDF3"/>
                </a:solidFill>
                <a:latin typeface="Calibri"/>
              </a:defRPr>
            </a:pPr>
            <a:r>
              <a:t>State storage and request routing must survive reconnects.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These are process-ownership choices. Neither choice provides application user authentication or tenant isolation.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Appendix · Multi-user 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A2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Application boundaries for multi-user hosting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19072"/>
          <a:ext cx="11064239" cy="3877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7987"/>
                <a:gridCol w="7966252"/>
              </a:tblGrid>
              <a:tr h="646176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1">
                          <a:solidFill>
                            <a:srgbClr val="58A6FF"/>
                          </a:solidFill>
                          <a:latin typeface="Calibri"/>
                        </a:defRPr>
                      </a:pPr>
                      <a:r>
                        <a:t>Responsibility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1">
                          <a:solidFill>
                            <a:srgbClr val="58A6FF"/>
                          </a:solidFill>
                          <a:latin typeface="Calibri"/>
                        </a:defRPr>
                      </a:pPr>
                      <a:r>
                        <a:t>Host implementation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Identity and ownership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Authenticate the principal; authorize session create, resume, steering, and deletion.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State and workspaces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Separate repositories, temporary files, runtime state, and host-tool processes.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Concurrency and cancellation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Route each session to its state; bound turns, queues, duration, and resource use.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Credentials and egress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Use scoped credentials; configure each MCP connection and network boundary.</a:t>
                      </a:r>
                    </a:p>
                  </a:txBody>
                  <a:tcPr marL="109728" marR="109728" marT="82296" marB="82296">
                    <a:solidFill>
                      <a:srgbClr val="161B22"/>
                    </a:solidFill>
                  </a:tcPr>
                </a:tc>
              </a:tr>
              <a:tr h="646176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Audit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Record decisions and tool outcomes without storing credentials or private payloads.</a:t>
                      </a:r>
                    </a:p>
                  </a:txBody>
                  <a:tcPr marL="109728" marR="109728" marT="82296" marB="82296"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Shared-service deployments should review mode="empty" and explicit storage configuration rather than inheriting local workspace state.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Appendix · Authentication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A3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Credential source is not session authorization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19072"/>
          <a:ext cx="11064239" cy="3675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7987"/>
                <a:gridCol w="796625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1">
                          <a:solidFill>
                            <a:srgbClr val="58A6FF"/>
                          </a:solidFill>
                          <a:latin typeface="Calibri"/>
                        </a:defRPr>
                      </a:pPr>
                      <a:r>
                        <a:t>Credential path</a:t>
                      </a:r>
                    </a:p>
                  </a:txBody>
                  <a:tcPr marL="109728" marR="109728" marT="54864" marB="54864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1">
                          <a:solidFill>
                            <a:srgbClr val="58A6FF"/>
                          </a:solidFill>
                          <a:latin typeface="Calibri"/>
                        </a:defRPr>
                      </a:pPr>
                      <a:r>
                        <a:t>Use and limitations</a:t>
                      </a:r>
                    </a:p>
                  </a:txBody>
                  <a:tcPr marL="109728" marR="109728" marT="54864" marB="54864">
                    <a:solidFill>
                      <a:srgbClr val="161B2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Copilot CLI login</a:t>
                      </a:r>
                    </a:p>
                  </a:txBody>
                  <a:tcPr marL="109728" marR="109728" marT="54864" marB="54864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Local signed-in user's eligible Copilot identity.</a:t>
                      </a:r>
                    </a:p>
                  </a:txBody>
                  <a:tcPr marL="109728" marR="109728" marT="54864" marB="54864">
                    <a:solidFill>
                      <a:srgbClr val="0D111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Explicit per-session token</a:t>
                      </a:r>
                    </a:p>
                  </a:txBody>
                  <a:tcPr marL="109728" marR="109728" marT="54864" marB="54864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The host supplies an eligible user's or application's credential.</a:t>
                      </a:r>
                    </a:p>
                  </a:txBody>
                  <a:tcPr marL="109728" marR="109728" marT="54864" marB="54864">
                    <a:solidFill>
                      <a:srgbClr val="161B2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Environment token</a:t>
                      </a:r>
                    </a:p>
                  </a:txBody>
                  <a:tcPr marL="109728" marR="109728" marT="54864" marB="54864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COPILOT_GITHUB_TOKEN, GH_TOKEN, or GITHUB_TOKEN; eligibility and policy still apply.</a:t>
                      </a:r>
                    </a:p>
                  </a:txBody>
                  <a:tcPr marL="109728" marR="109728" marT="54864" marB="54864">
                    <a:solidFill>
                      <a:srgbClr val="0D111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github_token_provider</a:t>
                      </a:r>
                    </a:p>
                  </a:txBody>
                  <a:tcPr marL="109728" marR="109728" marT="54864" marB="54864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Acquire and refresh short-lived Copilot credentials; do not combine with a static session token.</a:t>
                      </a:r>
                    </a:p>
                  </a:txBody>
                  <a:tcPr marL="109728" marR="109728" marT="54864" marB="54864">
                    <a:solidFill>
                      <a:srgbClr val="161B2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Generic MCP connection</a:t>
                      </a:r>
                    </a:p>
                  </a:txBody>
                  <a:tcPr marL="109728" marR="109728" marT="54864" marB="54864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8000"/>
                        </a:lnSpc>
                        <a:defRPr sz="1700" b="0">
                          <a:solidFill>
                            <a:srgbClr val="E6EDF3"/>
                          </a:solidFill>
                          <a:latin typeface="Calibri"/>
                        </a:defRPr>
                      </a:pPr>
                      <a:r>
                        <a:t>Separate headers or an implemented OAuth callback; not inherited automatically from model login.</a:t>
                      </a:r>
                    </a:p>
                  </a:txBody>
                  <a:tcPr marL="109728" marR="109728" marT="54864" marB="54864"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A token's presence does not prove Copilot entitlement. Credential ownership does not replace authorization for a particular saved session.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6675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DA7B3"/>
                </a:solidFill>
                <a:latin typeface="Calibri"/>
              </a:defRPr>
            </a:pPr>
            <a:r>
              <a:t>Appendix · BYOK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652760" y="64190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DA7B3"/>
                </a:solidFill>
                <a:latin typeface="Calibri"/>
              </a:defRPr>
            </a:pPr>
            <a:r>
              <a:t>A4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19088"/>
            <a:ext cx="896112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58A6FF"/>
                </a:solidFill>
                <a:latin typeface="Calibri"/>
              </a:defRPr>
            </a:pPr>
            <a:r>
              <a:rPr u="sng">
                <a:hlinkClick r:id="rId2"/>
              </a:rPr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064240" cy="8138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6EDF3"/>
                </a:solidFill>
                <a:latin typeface="Calibri"/>
              </a:defRPr>
            </a:pPr>
            <a:r>
              <a:t>Configure inference with your own provider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3017520" cy="38770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ProviderConfig supplies endpoint, wire protocol, and authentication.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The model is a create_session argument, not a ProviderConfig field.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api_key, bearer_token, or bearer_token_provider depend on provider support.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650" b="0">
                <a:solidFill>
                  <a:srgbClr val="E6EDF3"/>
                </a:solidFill>
                <a:latin typeface="Calibri"/>
              </a:defRPr>
            </a:pPr>
            <a:r>
              <a:t>Provider billing does not determine MCP credentials, tool egress, or all runtime traffic.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86200" y="1719072"/>
            <a:ext cx="7726679" cy="3877056"/>
          </a:xfrm>
          <a:prstGeom prst="roundRect">
            <a:avLst/>
          </a:prstGeom>
          <a:solidFill>
            <a:srgbClr val="010409"/>
          </a:solidFill>
          <a:ln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9080" y="1856231"/>
            <a:ext cx="736091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050" b="0">
                <a:solidFill>
                  <a:srgbClr val="9DA7B3"/>
                </a:solidFill>
                <a:latin typeface="Calibri"/>
              </a:defRPr>
            </a:pPr>
            <a:r>
              <a:t>Configuration example · requires an eligible endpoint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359152"/>
            <a:ext cx="7360919" cy="30998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provider = ProviderConfig(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type="openai",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base_url=os.environ["MODEL_BASE_URL"],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api_key=os.environ["MODEL_API_KEY"],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wire_api="responses",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)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session = await client.create_session(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provider=provider,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model=os.environ["MODEL_ID"],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    available_tools=[],</a:t>
            </a:r>
          </a:p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E6EDF3"/>
                </a:solidFill>
                <a:latin typeface="Courier New"/>
              </a:defRPr>
            </a:pPr>
            <a: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97296"/>
            <a:ext cx="11064240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9DA7B3"/>
                </a:solidFill>
                <a:latin typeface="Calibri"/>
              </a:defRPr>
            </a:pPr>
            <a:r>
              <a:t>This is optional configuration, not the default of the eight samples. Select a compatible API and tool-capable model for your endpoint.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58A6FF"/>
      </a:hlink>
      <a:folHlink>
        <a:srgbClr val="58A6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SDK - an introduction</dc:title>
  <dc:subject>Repository assistant: SDK 1.0.13 / runtime 1.0.83</dc:subject>
  <dc:creator>Jeffrey Groneberg</dc:creator>
  <cp:keywords/>
  <dc:description>Generated by scripts/build_slides.py; content-sha256=7eb323d9147c9415453220d6761f21a6f4873372d6b6ee88cd471d3c2af604ef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