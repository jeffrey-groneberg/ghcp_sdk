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62" r:id="rId6"/>
    <p:sldId id="257" r:id="rId3"/>
    <p:sldId id="258" r:id="rId4"/>
    <p:sldId id="263" r:id="rId11"/>
    <p:sldId id="273" r:id="rId22"/>
    <p:sldId id="279" r:id="rId9"/>
    <p:sldId id="280" r:id="rId10"/>
    <p:sldId id="285" r:id="rId35"/>
    <p:sldId id="259" r:id="rId18"/>
    <p:sldId id="271" r:id="rId7"/>
    <p:sldId id="266" r:id="rId14"/>
    <p:sldId id="284" r:id="rId16"/>
    <p:sldId id="267" r:id="rId15"/>
    <p:sldId id="268" r:id="rId17"/>
    <p:sldId id="261" r:id="rId5"/>
    <p:sldId id="286" r:id="rId36"/>
    <p:sldId id="287" r:id="rId37"/>
    <p:sldId id="275" r:id="rId23"/>
    <p:sldId id="264" r:id="rId12"/>
    <p:sldId id="276" r:id="rId27"/>
    <p:sldId id="265" r:id="rId13"/>
    <p:sldId id="277" r:id="rId24"/>
    <p:sldId id="274" r:id="rId26"/>
    <p:sldId id="283" r:id="rId29"/>
    <p:sldId id="278" r:id="rId25"/>
    <p:sldId id="270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523"/>
    <p:restoredTop sz="94610"/>
  </p:normalViewPr>
  <p:slideViewPr>
    <p:cSldViewPr snapToGrid="0" snapToObjects="1">
      <p:cViewPr varScale="1">
        <p:scale>
          <a:sx n="160" d="100"/>
          <a:sy n="160" d="100"/>
        </p:scale>
        <p:origin x="43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16.xml"/><Relationship Id="rId6" Type="http://schemas.openxmlformats.org/officeDocument/2006/relationships/slide" Target="slides/slide2.xml"/><Relationship Id="rId7" Type="http://schemas.openxmlformats.org/officeDocument/2006/relationships/slide" Target="slides/slide11.xml"/><Relationship Id="rId8" Type="http://schemas.openxmlformats.org/officeDocument/2006/relationships/slide" Target="slides/slide7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5.xml"/><Relationship Id="rId12" Type="http://schemas.openxmlformats.org/officeDocument/2006/relationships/slide" Target="slides/slide20.xml"/><Relationship Id="rId13" Type="http://schemas.openxmlformats.org/officeDocument/2006/relationships/slide" Target="slides/slide22.xml"/><Relationship Id="rId14" Type="http://schemas.openxmlformats.org/officeDocument/2006/relationships/slide" Target="slides/slide12.xml"/><Relationship Id="rId15" Type="http://schemas.openxmlformats.org/officeDocument/2006/relationships/slide" Target="slides/slide14.xml"/><Relationship Id="rId16" Type="http://schemas.openxmlformats.org/officeDocument/2006/relationships/slide" Target="slides/slide13.xml"/><Relationship Id="rId17" Type="http://schemas.openxmlformats.org/officeDocument/2006/relationships/slide" Target="slides/slide15.xml"/><Relationship Id="rId18" Type="http://schemas.openxmlformats.org/officeDocument/2006/relationships/slide" Target="slides/slide10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7.xml"/><Relationship Id="rId22" Type="http://schemas.openxmlformats.org/officeDocument/2006/relationships/slide" Target="slides/slide6.xml"/><Relationship Id="rId23" Type="http://schemas.openxmlformats.org/officeDocument/2006/relationships/slide" Target="slides/slide19.xml"/><Relationship Id="rId24" Type="http://schemas.openxmlformats.org/officeDocument/2006/relationships/slide" Target="slides/slide23.xml"/><Relationship Id="rId25" Type="http://schemas.openxmlformats.org/officeDocument/2006/relationships/slide" Target="slides/slide26.xml"/><Relationship Id="rId26" Type="http://schemas.openxmlformats.org/officeDocument/2006/relationships/slide" Target="slides/slide24.xml"/><Relationship Id="rId27" Type="http://schemas.openxmlformats.org/officeDocument/2006/relationships/slide" Target="slides/slide21.xml"/><Relationship Id="rId28" Type="http://schemas.openxmlformats.org/officeDocument/2006/relationships/slide" Target="slides/slide27.xml"/><Relationship Id="rId29" Type="http://schemas.openxmlformats.org/officeDocument/2006/relationships/slide" Target="slides/slide25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Relationship Id="rId35" Type="http://schemas.openxmlformats.org/officeDocument/2006/relationships/slide" Target="slides/slide9.xml"/><Relationship Id="rId36" Type="http://schemas.openxmlformats.org/officeDocument/2006/relationships/slide" Target="slides/slide17.xml"/><Relationship Id="rId37" Type="http://schemas.openxmlformats.org/officeDocument/2006/relationships/slide" Target="slides/slide18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30162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Four-chapter workshop: SDK details, CLI boundary, possibilities, then samples. Stable baseline verified 14 September 2026: SDK 1.0.13 and runtime 1.0.83.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GitHub describes the underlying agent runtime as production-tested. Do not expand that into a guarantee about the host application. The SDK packages the runtime; production identity, authorization, isolation, routing, and UI remain application 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All six SDKs communicate with the runtime using JSON-RPC. The default Python client owns a child runtime; an application can also connect to an existing server. Models and built-in tools vary by runtime, account, platform, policy, and session configuration.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general install uses ordinary PyPI. This repository's devcontainer additionally routes pip through the Microsoft package-feed proxy. Authentication is still required. The SDK-managed runtime is downloaded on first use if it was not pre-downloaded.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sample section begins only after the SDK, CLI boundary, and capability possibilities are established. The eight examples are independently runnable and each has a matching guide.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SDK is an agent engine, not a tenant boundary, authorization layer, load balancer, scheduler, or observability backend. Production hosts must provide identity, session ownership, workspace/state isolation, routing/concurrency, logging policy, network controls, and least-privilege credentials.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tool sources share one runtime catalogue: built-in, host custom, and MCP. ToolSet filters by source. ask_user is a built-in human-input tool. session_id is lifecycle state, not a tool or authorization boundary.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Exposure, action decision, and containment are separate controls. Permission callbacks approve or reject. Pre-tool hooks can allow, ask, deny, or modify arguments. Managed settings express allow, ask, and deny. SandboxConfig is experimental and the host still owns tenant/process isolation.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model and permission callback are optional for a text-only session. available_tools=[] removes tool exposure. send_and_wait raises on timeout or session error; None means the session became idle without a final assistant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Custom agent tools are optional; omitted or null means the session's available tools. This workshop explicitly scopes researcher and reviewer to grep, glob, and view, selects the researcher, then verifies the reviewer after AgentSelectRequest.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generic remote MCP connection owns its authentication. The helper accepts an eligible GitHub bearer token from GITHUB_TOKEN, GH_TOKEN, or gh auth token. OAuth through on_mcp_auth_request is another supported path. A matching ToolExecutionStartData event is required.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SDK exposes independent building blocks rather than one mandatory framework: tools, agents, MCP, streaming, hooks, persistence, identity, HITL, sandboxing, and BYOK.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stable documentation covers signed-in users, explicit per-user tokens, environment tokens, server-to-server installation tokens, and BYOK. Environment precedence is COPILOT_GITHUB_TOKEN, then GH_TOKEN, then GITHUB_TOKEN. Installation tokens are supplied to the runtime environment and are not session github_token values. Generic MCP authentication remains separate.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Use cases are illustrative architectures, not performance or security guarantees. Choose the CLI for a person working in a terminal, the SDK for an application-owned surface, and an orchestration framework only when multiple providers or workflows require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Stable ProviderConfig types are openai, azure, and anthropic. OpenAI-compatible local providers can use type openai. A model is required for custom providers. bearer_token_provider takes precedence over static credentials and supports Entra/managed identity. Local inference alone does not make the whole application offline.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default Python client owns a managed stdio child. RuntimeConnection.for_stdio(path=...) uses an explicit complete runtime bundle. for_uri connects to an already-running server; for_tcp starts an owned TCP child. Protect non-loopback endpoints. Multi-tenant mode empty requires explicit storage and tool opt-in.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session.send dispatches a turn and returns its message ID. Typed session events carry deltas, tool activity, errors, and idle state. send_and_wait keeps user listeners active while it waits and propagates timeout or session errors.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tool schema comes from the module-level Pydantic model. The handler is async, returns explicitly fictional data, uses a source-qualified ToolSet filter, and propagates cancellation. The real sample checks for a missing final reply.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Persisted conversation context survives detach and process exit when the same CLI state storage is available. A generated session.session_id is resumable. Cold resume must re-register callbacks and tools and re-supply BYOK credentials, MCP authentication/configuration, and startup-only managed settings where applicable.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 priority for this workshop: published v1.0.13 package and tag, generated stable types/tests, official language samples, then live runtime evidence. Current main is ahead and pins runtime 1.0.84-5, but it is not the stable workshop contract.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Stage 1 validates the structured ask_user schema and falls back only when that schema is unavailable. Stage 2 validates one platform-specific command before asking for approve-once. The displayed code focuses on the action callback; the subtitle and notes make the two-stage path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stable Python SessionHooks type exposes ten callbacks. This sample uses on_pre_tool_use, on_post_tool_use, and on_post_tool_use_failure. Counts in overview documents can differ; the generated stable Python type is the exact authority.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presentation ends after the sample section and source-of-truth slide. Stable baseline: SDK 1.0.13 and runtime 1.0.83, verified 14 September 2026. Current main is newer but unreleased.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The experimental sandbox sample explicitly enables the SANDBOX feature, applies filesystem and network policy, and asks separately before one bypass. Host-side Python handlers are not automatically contained.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image" Target="../media/image9.png"/><Relationship Id="rId8" Type="http://schemas.openxmlformats.org/officeDocument/2006/relationships/image" Target="../media/image10.png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1.png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0.png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9.png"/><Relationship Id="rId4" Type="http://schemas.openxmlformats.org/officeDocument/2006/relationships/image" Target="../media/image9.png"/><Relationship Id="rId5" Type="http://schemas.openxmlformats.org/officeDocument/2006/relationships/image" Target="../media/image24.png"/><Relationship Id="rId6" Type="http://schemas.openxmlformats.org/officeDocument/2006/relationships/image" Target="../media/image7.png"/><Relationship Id="rId7" Type="http://schemas.openxmlformats.org/officeDocument/2006/relationships/image" Target="../media/image18.png"/><Relationship Id="rId8" Type="http://schemas.openxmlformats.org/officeDocument/2006/relationships/image" Target="../media/image25.png"/><Relationship Id="rId9" Type="http://schemas.openxmlformats.org/officeDocument/2006/relationships/image" Target="../media/image26.png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Relationship Id="rId4" Type="http://schemas.openxmlformats.org/officeDocument/2006/relationships/image" Target="../media/image10.png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9.png"/><Relationship Id="rId4" Type="http://schemas.openxmlformats.org/officeDocument/2006/relationships/image" Target="../media/image15.png"/><Relationship Id="rId5" Type="http://schemas.openxmlformats.org/officeDocument/2006/relationships/image" Target="../media/image12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7.png"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7.pn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0.png"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2.png"/><Relationship Id="rId4" Type="http://schemas.openxmlformats.org/officeDocument/2006/relationships/image" Target="../media/image25.png"/><Relationship Id="rId5" Type="http://schemas.openxmlformats.org/officeDocument/2006/relationships/image" Target="../media/image23.png"/><Relationship Id="rId6" Type="http://schemas.openxmlformats.org/officeDocument/2006/relationships/image" Target="../media/image15.png"/><Relationship Id="rId7" Type="http://schemas.openxmlformats.org/officeDocument/2006/relationships/image" Target="../media/image24.png"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5.png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3.png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6.png"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8.png"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640080"/>
            <a:ext cx="914400" cy="91440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69164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SDK</a:t>
            </a:r>
            <a:endParaRPr lang="en-US" sz="4200" dirty="0"/>
          </a:p>
        </p:txBody>
      </p:sp>
      <p:sp>
        <p:nvSpPr>
          <p:cNvPr id="20" name="Text 16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27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28016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18745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SDK in Detail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219456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Runtime, lifecycle, events, tools, and controls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2651760" y="109728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128016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743200" y="18745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SDK vs. CLI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2743200" y="219456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runtime; different UI, lifecycle, and ownership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4754880" y="109728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0680" y="128016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846320" y="18745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Capabilities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4846320" y="219456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Tools, agents, MCP, persistence, HITL, sandbox, and BYOK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6858000" y="109728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1280160"/>
            <a:ext cx="502920" cy="5029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18745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Samples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6949440" y="219456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setup and eight executable Python examples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548640" y="297180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4440" y="3154680"/>
            <a:ext cx="502920" cy="5029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40080" y="374904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SDK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640080" y="406908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1.0.13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2651760" y="297180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37560" y="3154680"/>
            <a:ext cx="502920" cy="50292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2743200" y="374904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2743200" y="406908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1.0.83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4754880" y="297180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40680" y="3154680"/>
            <a:ext cx="502920" cy="502920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4846320" y="374904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Runnable samples</a:t>
            </a:r>
            <a:endParaRPr lang="en-US" sz="1200" dirty="0"/>
          </a:p>
        </p:txBody>
      </p:sp>
      <p:sp>
        <p:nvSpPr>
          <p:cNvPr id="31" name="Text 22"/>
          <p:cNvSpPr/>
          <p:nvPr/>
        </p:nvSpPr>
        <p:spPr>
          <a:xfrm>
            <a:off x="4846320" y="406908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 dirty="0"/>
          </a:p>
        </p:txBody>
      </p:sp>
      <p:sp>
        <p:nvSpPr>
          <p:cNvPr id="32" name="Shape 23"/>
          <p:cNvSpPr/>
          <p:nvPr/>
        </p:nvSpPr>
        <p:spPr>
          <a:xfrm>
            <a:off x="6858000" y="297180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3800" y="3154680"/>
            <a:ext cx="502920" cy="502920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6949440" y="374904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</a:t>
            </a:r>
            <a:endParaRPr lang="en-US" sz="1200" dirty="0"/>
          </a:p>
        </p:txBody>
      </p:sp>
      <p:sp>
        <p:nvSpPr>
          <p:cNvPr id="35" name="Text 25"/>
          <p:cNvSpPr/>
          <p:nvPr/>
        </p:nvSpPr>
        <p:spPr>
          <a:xfrm>
            <a:off x="6949440" y="406908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September 2026</a:t>
            </a:r>
            <a:endParaRPr lang="en-US" sz="950" dirty="0"/>
          </a:p>
        </p:txBody>
      </p:sp>
      <p:sp>
        <p:nvSpPr>
          <p:cNvPr id="38" name="Text 2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27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in Detail · What It Is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05840"/>
            <a:ext cx="8046720" cy="128016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22960" y="1097280"/>
            <a:ext cx="7680960" cy="10972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SDK exposes the Copilot runtime through language APIs.</a:t>
            </a:r>
            <a:endParaRPr lang="en-US" sz="1600" dirty="0"/>
          </a:p>
          <a:p>
            <a:pPr marL="0" indent="0">
              <a:buNone/>
            </a:pPr>
            <a:r>
              <a:rPr lang="en-US" sz="13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runtime handles planning and tool execution; your host still owns identity, authorization, isolation, routing, and UI.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2532888" cy="20116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Shape 5"/>
          <p:cNvSpPr/>
          <p:nvPr/>
        </p:nvSpPr>
        <p:spPr>
          <a:xfrm>
            <a:off x="1540764" y="2743200"/>
            <a:ext cx="548640" cy="548640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204" y="2834640"/>
            <a:ext cx="365760" cy="3657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85800" y="3429000"/>
            <a:ext cx="22585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Runtime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31520" y="3794760"/>
            <a:ext cx="216712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engine as Copilot CLI; models and tools remain account- and configuration-dependent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355848" y="2560320"/>
            <a:ext cx="2532888" cy="20116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Shape 9"/>
          <p:cNvSpPr/>
          <p:nvPr/>
        </p:nvSpPr>
        <p:spPr>
          <a:xfrm>
            <a:off x="4347972" y="2743200"/>
            <a:ext cx="548640" cy="548640"/>
          </a:xfrm>
          <a:prstGeom prst="line">
            <a:avLst/>
          </a:prstGeom>
          <a:solidFill>
            <a:srgbClr val="238636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9412" y="283464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493008" y="3429000"/>
            <a:ext cx="22585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SDKs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3538728" y="3794760"/>
            <a:ext cx="216712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TypeScript, Python, Go, .NET, Java, and Rust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163056" y="2560320"/>
            <a:ext cx="2532888" cy="20116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3"/>
          <p:cNvSpPr/>
          <p:nvPr/>
        </p:nvSpPr>
        <p:spPr>
          <a:xfrm>
            <a:off x="7155180" y="2743200"/>
            <a:ext cx="548640" cy="548640"/>
          </a:xfrm>
          <a:prstGeom prst="line">
            <a:avLst/>
          </a:prstGeom>
          <a:solidFill>
            <a:srgbClr val="8957E5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46620" y="2834640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00216" y="3429000"/>
            <a:ext cx="2258568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 APIs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345936" y="3794760"/>
            <a:ext cx="2167128" cy="6400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events, custom tools and agents, MCP, hooks, persistence, and BYOK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27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in Detail · Architecture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1188720"/>
            <a:ext cx="2377440" cy="15544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32588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1874520"/>
            <a:ext cx="21945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Application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31520" y="219456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 / Python / Go / .NET / Java / Rust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3383280" y="1188720"/>
            <a:ext cx="2377440" cy="15544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3400" y="132588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474720" y="1874520"/>
            <a:ext cx="21945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Client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3474720" y="219456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JSON-RPC Communication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6126480" y="1188720"/>
            <a:ext cx="2377440" cy="15544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6600" y="132588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217920" y="1874520"/>
            <a:ext cx="21945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CLI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6217920" y="219456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Mode (stdio / TCP)</a:t>
            </a:r>
            <a:endParaRPr lang="en-US" sz="900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63240" y="1737360"/>
            <a:ext cx="274320" cy="274320"/>
          </a:xfrm>
          <a:prstGeom prst="rect">
            <a:avLst/>
          </a:prstGeom>
        </p:spPr>
      </p:pic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06440" y="1737360"/>
            <a:ext cx="274320" cy="274320"/>
          </a:xfrm>
          <a:prstGeom prst="rect">
            <a:avLst/>
          </a:prstGeom>
        </p:spPr>
      </p:pic>
      <p:sp>
        <p:nvSpPr>
          <p:cNvPr id="18" name="Shape 11"/>
          <p:cNvSpPr/>
          <p:nvPr/>
        </p:nvSpPr>
        <p:spPr>
          <a:xfrm>
            <a:off x="2926080" y="3108960"/>
            <a:ext cx="329184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43400" y="3200400"/>
            <a:ext cx="457200" cy="4572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3017520" y="3657600"/>
            <a:ext cx="31089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Provider</a:t>
            </a:r>
            <a:endParaRPr lang="en-US" sz="1200" dirty="0"/>
          </a:p>
        </p:txBody>
      </p:sp>
      <p:sp>
        <p:nvSpPr>
          <p:cNvPr id="21" name="Text 13"/>
          <p:cNvSpPr/>
          <p:nvPr/>
        </p:nvSpPr>
        <p:spPr>
          <a:xfrm>
            <a:off x="3017520" y="3886200"/>
            <a:ext cx="31089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 ·  OpenAI  ·  Azure  ·  Anthropic  ·  Local</a:t>
            </a:r>
            <a:endParaRPr lang="en-US" sz="850" dirty="0"/>
          </a:p>
        </p:txBody>
      </p:sp>
      <p:pic>
        <p:nvPicPr>
          <p:cNvPr id="23" name="Image 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3200400"/>
            <a:ext cx="182880" cy="18288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914400" y="3200400"/>
            <a:ext cx="19202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child or external runtime</a:t>
            </a:r>
            <a:endParaRPr lang="en-US" sz="1000" dirty="0"/>
          </a:p>
        </p:txBody>
      </p:sp>
      <p:pic>
        <p:nvPicPr>
          <p:cNvPr id="25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3566160"/>
            <a:ext cx="182880" cy="182880"/>
          </a:xfrm>
          <a:prstGeom prst="rect">
            <a:avLst/>
          </a:prstGeom>
        </p:spPr>
      </p:pic>
      <p:sp>
        <p:nvSpPr>
          <p:cNvPr id="26" name="Text 16"/>
          <p:cNvSpPr/>
          <p:nvPr/>
        </p:nvSpPr>
        <p:spPr>
          <a:xfrm>
            <a:off x="914400" y="3566160"/>
            <a:ext cx="19202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Detach per owner; persisted state remains</a:t>
            </a:r>
            <a:endParaRPr lang="en-US" sz="1000" dirty="0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3931920"/>
            <a:ext cx="182880" cy="182880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914400" y="3931920"/>
            <a:ext cx="19202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events and callbacks</a:t>
            </a:r>
            <a:endParaRPr lang="en-US" sz="1000" dirty="0"/>
          </a:p>
        </p:txBody>
      </p:sp>
      <p:pic>
        <p:nvPicPr>
          <p:cNvPr id="29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3200400"/>
            <a:ext cx="182880" cy="182880"/>
          </a:xfrm>
          <a:prstGeom prst="rect">
            <a:avLst/>
          </a:prstGeom>
        </p:spPr>
      </p:pic>
      <p:sp>
        <p:nvSpPr>
          <p:cNvPr id="30" name="Text 18"/>
          <p:cNvSpPr/>
          <p:nvPr/>
        </p:nvSpPr>
        <p:spPr>
          <a:xfrm>
            <a:off x="6949440" y="3200400"/>
            <a:ext cx="19202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 when the same state storage is available</a:t>
            </a:r>
            <a:endParaRPr lang="en-US" sz="1000" dirty="0"/>
          </a:p>
        </p:txBody>
      </p:sp>
      <p:pic>
        <p:nvPicPr>
          <p:cNvPr id="31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3566160"/>
            <a:ext cx="182880" cy="182880"/>
          </a:xfrm>
          <a:prstGeom prst="rect">
            <a:avLst/>
          </a:prstGeom>
        </p:spPr>
      </p:pic>
      <p:sp>
        <p:nvSpPr>
          <p:cNvPr id="32" name="Text 19"/>
          <p:cNvSpPr/>
          <p:nvPr/>
        </p:nvSpPr>
        <p:spPr>
          <a:xfrm>
            <a:off x="6949440" y="3566160"/>
            <a:ext cx="19202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App-owned identity, isolation, and routing</a:t>
            </a:r>
            <a:endParaRPr lang="en-US" sz="1000" dirty="0"/>
          </a:p>
        </p:txBody>
      </p:sp>
      <p:pic>
        <p:nvPicPr>
          <p:cNvPr id="33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75120" y="3931920"/>
            <a:ext cx="182880" cy="182880"/>
          </a:xfrm>
          <a:prstGeom prst="rect">
            <a:avLst/>
          </a:prstGeom>
        </p:spPr>
      </p:pic>
      <p:sp>
        <p:nvSpPr>
          <p:cNvPr id="34" name="Text 20"/>
          <p:cNvSpPr/>
          <p:nvPr/>
        </p:nvSpPr>
        <p:spPr>
          <a:xfrm>
            <a:off x="6949440" y="3931920"/>
            <a:ext cx="19202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OpenTelemetry tracing</a:t>
            </a:r>
            <a:endParaRPr lang="en-US" sz="1000" dirty="0"/>
          </a:p>
        </p:txBody>
      </p:sp>
      <p:sp>
        <p:nvSpPr>
          <p:cNvPr id="37" name="Text 2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27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in Detail · Client and Session Lifecycle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Text-only, bounded, explicit lifecycle; permission callbacks are optional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88720"/>
            <a:ext cx="8046720" cy="32918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48640" y="118872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85800" y="1508760"/>
            <a:ext cx="7772400" cy="315468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from copilot import CopilotClient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async with CopilotClient() as client: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    async with await client.create_session(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        available_tools=[],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    ) as session: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        reply = await session.send_and_wait(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            "Explain the SDK in 3 sentences.", timeout=60,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        )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        if reply is None: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            raise RuntimeError("No final message")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E6EDF3"/>
                </a:solidFill>
                <a:latin typeface="Courier New"/>
              </a:rPr>
              <a:t xml:space="preserve">        print(reply.data.content)</a:t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 xml:space="preserve"/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 xml:space="preserve"/>
            </a:r>
          </a:p>
          <a:p>
            <a:pPr algn="l">
              <a:lnSpc>
                <a:spcPts val="143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 xml:space="preserve"/>
            </a:r>
          </a:p>
        </p:txBody>
      </p:sp>
      <p:sp>
        <p:nvSpPr>
          <p:cNvPr id="12" name="Text 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27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in Detail · Events and Streaming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events report progress; send_and_wait handles completion and errors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43000"/>
            <a:ext cx="3931920" cy="32918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548640" y="114300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48640" y="114300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events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85800" y="1463040"/>
            <a:ext cx="3657600" cy="320040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>from copilot.session_events import 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AssistantMessageDeltaData as Delta,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>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>def on_event(event):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match event.data: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    case Delta(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        delta_content=text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    ):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        print(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            text or "",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            end="",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            flush=True,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        )</a:t>
            </a:r>
          </a:p>
        </p:txBody>
      </p:sp>
      <p:sp>
        <p:nvSpPr>
          <p:cNvPr id="10" name="Shape 7"/>
          <p:cNvSpPr/>
          <p:nvPr/>
        </p:nvSpPr>
        <p:spPr>
          <a:xfrm>
            <a:off x="4663440" y="1143000"/>
            <a:ext cx="3931920" cy="32918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4663440" y="114300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4663440" y="114300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session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800600" y="1463040"/>
            <a:ext cx="3657600" cy="320040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>async with CopilotClient() as client: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session = await client.create_session(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    streaming=True,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    available_tools=[],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unsubscribe = session.on(on_event)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reply = await session.send_and_wait(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    "Explain the SDK briefly.",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    timeout=60,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if reply is None: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    raise RuntimeError(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        "No final message"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    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unsubscribe()</a:t>
            </a:r>
          </a:p>
        </p:txBody>
      </p:sp>
      <p:sp>
        <p:nvSpPr>
          <p:cNvPr id="14" name="Shape 11"/>
          <p:cNvSpPr/>
          <p:nvPr/>
        </p:nvSpPr>
        <p:spPr>
          <a:xfrm>
            <a:off x="548640" y="4526280"/>
            <a:ext cx="8046720" cy="2743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Deltas are chunks, not guaranteed tokens. Unsubscribe listeners in finally.</a:t>
            </a: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27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in Detail · Tool and Session Surfaces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00584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143000"/>
            <a:ext cx="365760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0" y="109728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BUILTIN</a:t>
            </a:r>
            <a:endParaRPr lang="en-US" sz="700" dirty="0"/>
          </a:p>
        </p:txBody>
      </p:sp>
      <p:sp>
        <p:nvSpPr>
          <p:cNvPr id="8" name="Text 4"/>
          <p:cNvSpPr/>
          <p:nvPr/>
        </p:nvSpPr>
        <p:spPr>
          <a:xfrm>
            <a:off x="1188720" y="111556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tools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188720" y="146304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view, glob, grep, edit, shell · exact catalogue depends on configuration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754880" y="100584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1143000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863840" y="109728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700" dirty="0"/>
          </a:p>
        </p:txBody>
      </p:sp>
      <p:sp>
        <p:nvSpPr>
          <p:cNvPr id="13" name="Text 8"/>
          <p:cNvSpPr/>
          <p:nvPr/>
        </p:nvSpPr>
        <p:spPr>
          <a:xfrm>
            <a:off x="5394960" y="111556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functions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5394960" y="146304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@define_tool creates sync or async handlers in the host process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548640" y="228600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2423160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657600" y="237744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</a:t>
            </a:r>
            <a:endParaRPr lang="en-US" sz="700" dirty="0"/>
          </a:p>
        </p:txBody>
      </p:sp>
      <p:sp>
        <p:nvSpPr>
          <p:cNvPr id="18" name="Text 12"/>
          <p:cNvSpPr/>
          <p:nvPr/>
        </p:nvSpPr>
        <p:spPr>
          <a:xfrm>
            <a:off x="1188720" y="239572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servers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88720" y="274320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stdio or remote HTTP/SSE with independent configuration and auth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4754880" y="228600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7760" y="2423160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863840" y="237744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</a:t>
            </a:r>
            <a:endParaRPr lang="en-US" sz="700" dirty="0"/>
          </a:p>
        </p:txBody>
      </p:sp>
      <p:sp>
        <p:nvSpPr>
          <p:cNvPr id="23" name="Text 16"/>
          <p:cNvSpPr/>
          <p:nvPr/>
        </p:nvSpPr>
        <p:spPr>
          <a:xfrm>
            <a:off x="5394960" y="239572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ToolSet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5394960" y="274320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canonical builtin:, custom:, and mcp: names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548640" y="356616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" y="3703320"/>
            <a:ext cx="36576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3657600" y="365760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</a:t>
            </a:r>
            <a:endParaRPr lang="en-US" sz="700" dirty="0"/>
          </a:p>
        </p:txBody>
      </p:sp>
      <p:sp>
        <p:nvSpPr>
          <p:cNvPr id="28" name="Text 20"/>
          <p:cNvSpPr/>
          <p:nvPr/>
        </p:nvSpPr>
        <p:spPr>
          <a:xfrm>
            <a:off x="1188720" y="367588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ask_user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1188720" y="402336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Legacy or structured elicitation; host validates collected input</a:t>
            </a:r>
            <a:endParaRPr lang="en-US" sz="1000" dirty="0"/>
          </a:p>
        </p:txBody>
      </p:sp>
      <p:sp>
        <p:nvSpPr>
          <p:cNvPr id="30" name="Shape 22"/>
          <p:cNvSpPr/>
          <p:nvPr/>
        </p:nvSpPr>
        <p:spPr>
          <a:xfrm>
            <a:off x="4754880" y="356616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37760" y="3703320"/>
            <a:ext cx="365760" cy="365760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7863840" y="365760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</a:t>
            </a:r>
            <a:endParaRPr lang="en-US" sz="700" dirty="0"/>
          </a:p>
        </p:txBody>
      </p:sp>
      <p:sp>
        <p:nvSpPr>
          <p:cNvPr id="33" name="Text 24"/>
          <p:cNvSpPr/>
          <p:nvPr/>
        </p:nvSpPr>
        <p:spPr>
          <a:xfrm>
            <a:off x="5394960" y="367588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session_id</a:t>
            </a:r>
            <a:endParaRPr lang="en-US" sz="1300" dirty="0"/>
          </a:p>
        </p:txBody>
      </p:sp>
      <p:sp>
        <p:nvSpPr>
          <p:cNvPr id="34" name="Text 25"/>
          <p:cNvSpPr/>
          <p:nvPr/>
        </p:nvSpPr>
        <p:spPr>
          <a:xfrm>
            <a:off x="5394960" y="402336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Persisted conversation identity for resume; not a tool or authorization boundary</a:t>
            </a:r>
            <a:endParaRPr lang="en-US" sz="1000" dirty="0"/>
          </a:p>
        </p:txBody>
      </p:sp>
      <p:sp>
        <p:nvSpPr>
          <p:cNvPr id="37" name="Text 2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C9D1D9"/>
                </a:solidFill>
                <a:latin typeface="Calibri"/>
              </a:rPr>
              <a:t>SDK in Detail · Permission and Containment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49E"/>
                </a:solidFill>
                <a:latin typeface="Calibri"/>
              </a:rPr>
              <a:t>Tool exposure, authorization, and containment are independent controls.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2624328" cy="35204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2350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8A6FF"/>
                </a:solidFill>
                <a:latin typeface="Calibri"/>
              </a:rPr>
              <a:t>1. Exposure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235000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8B949E"/>
                </a:solidFill>
                <a:latin typeface="Calibri"/>
              </a:rPr>
              <a:t>Shape the model-visible catalogue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2441448" cy="265176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731520" cy="20116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731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6EDF3"/>
                </a:solidFill>
                <a:latin typeface="Calibri"/>
              </a:rPr>
              <a:t>Filter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2258568" cy="2286000"/>
          </a:xfrm>
          <a:prstGeom prst="rect">
            <a:avLst/>
          </a:prstGeom>
          <a:noFill/>
        </p:spPr>
        <p:txBody>
          <a:bodyPr wrap="none" lIns="25400" rIns="25400" t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>ToolSet().add_builtin(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 xml:space="preserve">    "view"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>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1143000"/>
            <a:ext cx="2624328" cy="35204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7872" y="1234440"/>
            <a:ext cx="2350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FB950"/>
                </a:solidFill>
                <a:latin typeface="Calibri"/>
              </a:rPr>
              <a:t>2. Decision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1508760"/>
            <a:ext cx="235000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8B949E"/>
                </a:solidFill>
                <a:latin typeface="Calibri"/>
              </a:rPr>
              <a:t>Permission callbacks, hooks, managed settings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2152" y="1828800"/>
            <a:ext cx="2441448" cy="265176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502152" y="1828800"/>
            <a:ext cx="731520" cy="20116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02152" y="1828800"/>
            <a:ext cx="731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6EDF3"/>
                </a:solidFill>
                <a:latin typeface="Calibri"/>
              </a:rPr>
              <a:t>Policy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2" y="2103120"/>
            <a:ext cx="2258568" cy="2286000"/>
          </a:xfrm>
          <a:prstGeom prst="rect">
            <a:avLst/>
          </a:prstGeom>
          <a:noFill/>
        </p:spPr>
        <p:txBody>
          <a:bodyPr wrap="none" lIns="25400" rIns="25400" t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Courier New"/>
              </a:rPr>
              <a:t>Permission handler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Courier New"/>
              </a:rPr>
              <a:t>Pre-tool hook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E6EDF3"/>
                </a:solidFill>
                <a:latin typeface="Courier New"/>
              </a:rPr>
              <a:t>ManagedSettings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2783" y="1143000"/>
            <a:ext cx="2624328" cy="35204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9944" y="1234440"/>
            <a:ext cx="2350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0883E"/>
                </a:solidFill>
                <a:latin typeface="Calibri"/>
              </a:rPr>
              <a:t>3. Containment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1508760"/>
            <a:ext cx="235000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8B949E"/>
                </a:solidFill>
                <a:latin typeface="Calibri"/>
              </a:rPr>
              <a:t>Runtime sandbox plus host isolation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64223" y="1828800"/>
            <a:ext cx="2441448" cy="265176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364223" y="1828800"/>
            <a:ext cx="731520" cy="20116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64223" y="1828800"/>
            <a:ext cx="73152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6EDF3"/>
                </a:solidFill>
                <a:latin typeface="Calibri"/>
              </a:rPr>
              <a:t>Sandbox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2103120"/>
            <a:ext cx="2258568" cy="2286000"/>
          </a:xfrm>
          <a:prstGeom prst="rect">
            <a:avLst/>
          </a:prstGeom>
          <a:noFill/>
        </p:spPr>
        <p:txBody>
          <a:bodyPr wrap="none" lIns="25400" rIns="25400" t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>SandboxConfig(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 xml:space="preserve">    enabled=True,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 xml:space="preserve">    allow_bypass=False,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ourier New"/>
              </a:rPr>
              <a:t>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8 /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C9D1D9"/>
                </a:solidFill>
                <a:latin typeface="Calibri"/>
              </a:rPr>
              <a:t>CLI vs SDK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49E"/>
                </a:solidFill>
                <a:latin typeface="Calibri"/>
              </a:rPr>
              <a:t>Same runtime and JSON-RPC protocol; different UI, lifecycle, and ownership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2624328" cy="35204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234440"/>
            <a:ext cx="2350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58A6FF"/>
                </a:solidFill>
                <a:latin typeface="Calibri"/>
              </a:rPr>
              <a:t>CLI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508760"/>
            <a:ext cx="235000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8B949E"/>
                </a:solidFill>
                <a:latin typeface="Calibri"/>
              </a:rPr>
              <a:t>Interactive terminal product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1828800"/>
            <a:ext cx="2441448" cy="265176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828800"/>
            <a:ext cx="731520" cy="20116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82880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9D1D9"/>
                </a:solidFill>
                <a:latin typeface="Calibri"/>
              </a:rPr>
              <a:t>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2258568" cy="2286000"/>
          </a:xfrm>
          <a:prstGeom prst="rect">
            <a:avLst/>
          </a:prstGeom>
          <a:noFill/>
        </p:spPr>
        <p:txBody>
          <a:bodyPr wrap="none" lIns="25400" rIns="25400" t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Human drives the loop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Built-in terminal UI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Local defaults and slash commands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10712" y="1143000"/>
            <a:ext cx="2624328" cy="35204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547872" y="1234440"/>
            <a:ext cx="2350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3FB950"/>
                </a:solidFill>
                <a:latin typeface="Calibri"/>
              </a:rPr>
              <a:t>SDK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7872" y="1508760"/>
            <a:ext cx="235000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8B949E"/>
                </a:solidFill>
                <a:latin typeface="Calibri"/>
              </a:rPr>
              <a:t>Application component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02152" y="1828800"/>
            <a:ext cx="2441448" cy="265176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502152" y="1828800"/>
            <a:ext cx="731520" cy="20116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502152" y="182880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9D1D9"/>
                </a:solidFill>
                <a:latin typeface="Calibri"/>
              </a:rPr>
              <a:t>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93592" y="2103120"/>
            <a:ext cx="2258568" cy="2286000"/>
          </a:xfrm>
          <a:prstGeom prst="rect">
            <a:avLst/>
          </a:prstGeom>
          <a:noFill/>
        </p:spPr>
        <p:txBody>
          <a:bodyPr wrap="none" lIns="25400" rIns="25400" t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Application UI and lifecycle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Callbacks and custom tools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Credentials and observability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72783" y="1143000"/>
            <a:ext cx="2624328" cy="35204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9944" y="1234440"/>
            <a:ext cx="235000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0883E"/>
                </a:solidFill>
                <a:latin typeface="Calibri"/>
              </a:rPr>
              <a:t>Shared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9944" y="1508760"/>
            <a:ext cx="2350008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0" i="1">
                <a:solidFill>
                  <a:srgbClr val="8B949E"/>
                </a:solidFill>
                <a:latin typeface="Calibri"/>
              </a:rPr>
              <a:t>Runtime engine + protocol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64223" y="1828800"/>
            <a:ext cx="2441448" cy="265176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364223" y="1828800"/>
            <a:ext cx="731520" cy="20116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364223" y="1828800"/>
            <a:ext cx="731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C9D1D9"/>
                </a:solidFill>
                <a:latin typeface="Calibri"/>
              </a:rPr>
              <a:t>Both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2103120"/>
            <a:ext cx="2258568" cy="2286000"/>
          </a:xfrm>
          <a:prstGeom prst="rect">
            <a:avLst/>
          </a:prstGeom>
          <a:noFill/>
        </p:spPr>
        <p:txBody>
          <a:bodyPr wrap="none" lIns="25400" rIns="25400" tIns="25400" bIns="2540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Runtime engine and JSON-RPC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Account/policy model catalogue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E6EDF3"/>
                </a:solidFill>
                <a:latin typeface="Calibri"/>
              </a:rPr>
              <a:t>Configuration-dependent tools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9 /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Rectangle 45"/>
          <p:cNvSpPr/>
          <p:nvPr/>
        </p:nvSpPr>
        <p:spPr>
          <a:xfrm>
            <a:off x="4663440" y="1188720"/>
            <a:ext cx="3931920" cy="3438144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594360" y="1188720"/>
            <a:ext cx="3840480" cy="3438144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vs SDK · Runtime Ownership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SDKs use JSON-RPC; choose who owns the runtime process and state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88720"/>
            <a:ext cx="3931920" cy="32918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731520" y="132588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1: Managed stdio child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1645920"/>
            <a:ext cx="35661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provisions runtime 1.0.83 and owns lifecycle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1005840" y="2011680"/>
            <a:ext cx="3017520" cy="41148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005840" y="201168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+ SDK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1005840" y="2606040"/>
            <a:ext cx="3017520" cy="41148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1005840" y="260604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JSON-RPC over stdin/stdout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1005840" y="3200400"/>
            <a:ext cx="3017520" cy="41148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1005840" y="320040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CLI (child process)</a:t>
            </a:r>
            <a:endParaRPr lang="en-US" sz="1000" dirty="0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794760"/>
            <a:ext cx="155448" cy="15544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1051560" y="3794760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with CopilotClient()</a:t>
            </a:r>
            <a:endParaRPr lang="en-US" sz="95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041648"/>
            <a:ext cx="155448" cy="155448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051560" y="4041648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exit stops its owned child</a:t>
            </a:r>
            <a:endParaRPr lang="en-US" sz="950" dirty="0"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288536"/>
            <a:ext cx="155448" cy="15544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051560" y="4288536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local apps and workshops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4663440" y="1188720"/>
            <a:ext cx="3931920" cy="32918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6" name="Text 20"/>
          <p:cNvSpPr/>
          <p:nvPr/>
        </p:nvSpPr>
        <p:spPr>
          <a:xfrm>
            <a:off x="4846320" y="132588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2: Existing runtime URI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4846320" y="1645920"/>
            <a:ext cx="356616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runs and protects the service endpoint</a:t>
            </a:r>
            <a:endParaRPr lang="en-US" sz="1000" dirty="0"/>
          </a:p>
        </p:txBody>
      </p:sp>
      <p:sp>
        <p:nvSpPr>
          <p:cNvPr id="28" name="Shape 22"/>
          <p:cNvSpPr/>
          <p:nvPr/>
        </p:nvSpPr>
        <p:spPr>
          <a:xfrm>
            <a:off x="5120640" y="2011680"/>
            <a:ext cx="3017520" cy="41148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3"/>
          <p:cNvSpPr/>
          <p:nvPr/>
        </p:nvSpPr>
        <p:spPr>
          <a:xfrm>
            <a:off x="5120640" y="201168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App + SDK</a:t>
            </a:r>
            <a:endParaRPr lang="en-US" sz="1000" dirty="0"/>
          </a:p>
        </p:txBody>
      </p:sp>
      <p:sp>
        <p:nvSpPr>
          <p:cNvPr id="30" name="Shape 24"/>
          <p:cNvSpPr/>
          <p:nvPr/>
        </p:nvSpPr>
        <p:spPr>
          <a:xfrm>
            <a:off x="5120640" y="2606040"/>
            <a:ext cx="3017520" cy="41148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Text 25"/>
          <p:cNvSpPr/>
          <p:nvPr/>
        </p:nvSpPr>
        <p:spPr>
          <a:xfrm>
            <a:off x="5120640" y="260604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JSON-RPC over protected TCP/URI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5120640" y="3200400"/>
            <a:ext cx="3017520" cy="41148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27"/>
          <p:cNvSpPr/>
          <p:nvPr/>
        </p:nvSpPr>
        <p:spPr>
          <a:xfrm>
            <a:off x="5120640" y="320040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CLI (headless server)</a:t>
            </a:r>
            <a:endParaRPr lang="en-US" sz="1000" dirty="0"/>
          </a:p>
        </p:txBody>
      </p:sp>
      <p:pic>
        <p:nvPicPr>
          <p:cNvPr id="36" name="Image 4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3794760"/>
            <a:ext cx="155448" cy="155448"/>
          </a:xfrm>
          <a:prstGeom prst="rect">
            <a:avLst/>
          </a:prstGeom>
        </p:spPr>
      </p:pic>
      <p:sp>
        <p:nvSpPr>
          <p:cNvPr id="37" name="Text 30"/>
          <p:cNvSpPr/>
          <p:nvPr/>
        </p:nvSpPr>
        <p:spPr>
          <a:xfrm>
            <a:off x="5166360" y="3794760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D1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RuntimeConnection.for_uri("localhost:4321")</a:t>
            </a:r>
            <a:endParaRPr lang="en-US" sz="950" dirty="0"/>
          </a:p>
        </p:txBody>
      </p:sp>
      <p:pic>
        <p:nvPicPr>
          <p:cNvPr id="38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4041648"/>
            <a:ext cx="155448" cy="155448"/>
          </a:xfrm>
          <a:prstGeom prst="rect">
            <a:avLst/>
          </a:prstGeom>
        </p:spPr>
      </p:pic>
      <p:sp>
        <p:nvSpPr>
          <p:cNvPr id="39" name="Text 31"/>
          <p:cNvSpPr/>
          <p:nvPr/>
        </p:nvSpPr>
        <p:spPr>
          <a:xfrm>
            <a:off x="5166360" y="4041648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lifecycle; multi-client capable</a:t>
            </a:r>
            <a:endParaRPr lang="en-US" sz="950" dirty="0"/>
          </a:p>
        </p:txBody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7760" y="4288536"/>
            <a:ext cx="155448" cy="155448"/>
          </a:xfrm>
          <a:prstGeom prst="rect">
            <a:avLst/>
          </a:prstGeom>
        </p:spPr>
      </p:pic>
      <p:sp>
        <p:nvSpPr>
          <p:cNvPr id="41" name="Text 32"/>
          <p:cNvSpPr/>
          <p:nvPr/>
        </p:nvSpPr>
        <p:spPr>
          <a:xfrm>
            <a:off x="5166360" y="4288536"/>
            <a:ext cx="320040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Shared/multi-user hosts: mode="empty" plus explicit storage</a:t>
            </a:r>
            <a:endParaRPr lang="en-US" sz="950" dirty="0"/>
          </a:p>
        </p:txBody>
      </p:sp>
      <p:sp>
        <p:nvSpPr>
          <p:cNvPr id="44" name="Text 3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 vs SDK · Host Responsibilities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00584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143000"/>
            <a:ext cx="365760" cy="3657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3657600" y="109728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</a:t>
            </a:r>
            <a:endParaRPr lang="en-US" sz="700" dirty="0"/>
          </a:p>
        </p:txBody>
      </p:sp>
      <p:sp>
        <p:nvSpPr>
          <p:cNvPr id="8" name="Text 4"/>
          <p:cNvSpPr/>
          <p:nvPr/>
        </p:nvSpPr>
        <p:spPr>
          <a:xfrm>
            <a:off x="1188720" y="111556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 every principal</a:t>
            </a:r>
            <a:endParaRPr lang="en-US" sz="1300" dirty="0"/>
          </a:p>
        </p:txBody>
      </p:sp>
      <p:sp>
        <p:nvSpPr>
          <p:cNvPr id="9" name="Text 5"/>
          <p:cNvSpPr/>
          <p:nvPr/>
        </p:nvSpPr>
        <p:spPr>
          <a:xfrm>
            <a:off x="1188720" y="146304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Bind clients and sessions to verified users or services</a:t>
            </a:r>
            <a:endParaRPr lang="en-US" sz="1000" dirty="0"/>
          </a:p>
        </p:txBody>
      </p:sp>
      <p:sp>
        <p:nvSpPr>
          <p:cNvPr id="10" name="Shape 6"/>
          <p:cNvSpPr/>
          <p:nvPr/>
        </p:nvSpPr>
        <p:spPr>
          <a:xfrm>
            <a:off x="4754880" y="100584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37760" y="1143000"/>
            <a:ext cx="365760" cy="36576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863840" y="109728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Ownership</a:t>
            </a:r>
            <a:endParaRPr lang="en-US" sz="700" dirty="0"/>
          </a:p>
        </p:txBody>
      </p:sp>
      <p:sp>
        <p:nvSpPr>
          <p:cNvPr id="13" name="Text 8"/>
          <p:cNvSpPr/>
          <p:nvPr/>
        </p:nvSpPr>
        <p:spPr>
          <a:xfrm>
            <a:off x="5394960" y="111556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Authorize session lifecycle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5394960" y="146304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Create, resume, steer, and delete only for the owning principal</a:t>
            </a:r>
            <a:endParaRPr lang="en-US" sz="1000" dirty="0"/>
          </a:p>
        </p:txBody>
      </p:sp>
      <p:sp>
        <p:nvSpPr>
          <p:cNvPr id="15" name="Shape 10"/>
          <p:cNvSpPr/>
          <p:nvPr/>
        </p:nvSpPr>
        <p:spPr>
          <a:xfrm>
            <a:off x="548640" y="228600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2423160"/>
            <a:ext cx="365760" cy="36576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3657600" y="237744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Isolation</a:t>
            </a:r>
            <a:endParaRPr lang="en-US" sz="700" dirty="0"/>
          </a:p>
        </p:txBody>
      </p:sp>
      <p:sp>
        <p:nvSpPr>
          <p:cNvPr id="18" name="Text 12"/>
          <p:cNvSpPr/>
          <p:nvPr/>
        </p:nvSpPr>
        <p:spPr>
          <a:xfrm>
            <a:off x="1188720" y="239572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workspaces and state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88720" y="274320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Repositories, temp files, custom tools, credentials, and storage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4754880" y="228600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37760" y="2423160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863840" y="237744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Control</a:t>
            </a:r>
            <a:endParaRPr lang="en-US" sz="700" dirty="0"/>
          </a:p>
        </p:txBody>
      </p:sp>
      <p:sp>
        <p:nvSpPr>
          <p:cNvPr id="23" name="Text 16"/>
          <p:cNvSpPr/>
          <p:nvPr/>
        </p:nvSpPr>
        <p:spPr>
          <a:xfrm>
            <a:off x="5394960" y="239572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and serialize turns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5394960" y="274320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 concurrency, credits, time, and queued work</a:t>
            </a:r>
            <a:endParaRPr lang="en-US" sz="1000" dirty="0"/>
          </a:p>
        </p:txBody>
      </p:sp>
      <p:sp>
        <p:nvSpPr>
          <p:cNvPr id="25" name="Shape 18"/>
          <p:cNvSpPr/>
          <p:nvPr/>
        </p:nvSpPr>
        <p:spPr>
          <a:xfrm>
            <a:off x="548640" y="356616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1520" y="3703320"/>
            <a:ext cx="36576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3657600" y="365760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Observability</a:t>
            </a:r>
            <a:endParaRPr lang="en-US" sz="700" dirty="0"/>
          </a:p>
        </p:txBody>
      </p:sp>
      <p:sp>
        <p:nvSpPr>
          <p:cNvPr id="28" name="Text 20"/>
          <p:cNvSpPr/>
          <p:nvPr/>
        </p:nvSpPr>
        <p:spPr>
          <a:xfrm>
            <a:off x="1188720" y="367588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Trace without leaking content</a:t>
            </a:r>
            <a:endParaRPr lang="en-US" sz="1300" dirty="0"/>
          </a:p>
        </p:txBody>
      </p:sp>
      <p:sp>
        <p:nvSpPr>
          <p:cNvPr id="29" name="Text 21"/>
          <p:cNvSpPr/>
          <p:nvPr/>
        </p:nvSpPr>
        <p:spPr>
          <a:xfrm>
            <a:off x="1188720" y="402336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decisions and outcomes; redact secrets and private payloads</a:t>
            </a:r>
            <a:endParaRPr lang="en-US" sz="1000" dirty="0"/>
          </a:p>
        </p:txBody>
      </p:sp>
      <p:sp>
        <p:nvSpPr>
          <p:cNvPr id="30" name="Shape 22"/>
          <p:cNvSpPr/>
          <p:nvPr/>
        </p:nvSpPr>
        <p:spPr>
          <a:xfrm>
            <a:off x="4754880" y="3566160"/>
            <a:ext cx="3931920" cy="10972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1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37760" y="3703320"/>
            <a:ext cx="365760" cy="365760"/>
          </a:xfrm>
          <a:prstGeom prst="rect">
            <a:avLst/>
          </a:prstGeom>
        </p:spPr>
      </p:pic>
      <p:sp>
        <p:nvSpPr>
          <p:cNvPr id="32" name="Text 23"/>
          <p:cNvSpPr/>
          <p:nvPr/>
        </p:nvSpPr>
        <p:spPr>
          <a:xfrm>
            <a:off x="7863840" y="3657600"/>
            <a:ext cx="64008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and Secrets</a:t>
            </a:r>
            <a:endParaRPr lang="en-US" sz="700" dirty="0"/>
          </a:p>
        </p:txBody>
      </p:sp>
      <p:sp>
        <p:nvSpPr>
          <p:cNvPr id="33" name="Text 24"/>
          <p:cNvSpPr/>
          <p:nvPr/>
        </p:nvSpPr>
        <p:spPr>
          <a:xfrm>
            <a:off x="5394960" y="3675888"/>
            <a:ext cx="23774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least privilege</a:t>
            </a:r>
            <a:endParaRPr lang="en-US" sz="1300" dirty="0"/>
          </a:p>
        </p:txBody>
      </p:sp>
      <p:sp>
        <p:nvSpPr>
          <p:cNvPr id="34" name="Text 25"/>
          <p:cNvSpPr/>
          <p:nvPr/>
        </p:nvSpPr>
        <p:spPr>
          <a:xfrm>
            <a:off x="5394960" y="4023360"/>
            <a:ext cx="310896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egress and authenticate each generic MCP connection separately</a:t>
            </a:r>
            <a:endParaRPr lang="en-US" sz="1000" dirty="0"/>
          </a:p>
        </p:txBody>
      </p:sp>
      <p:sp>
        <p:nvSpPr>
          <p:cNvPr id="37" name="Text 2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27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 · Capability Map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1005840"/>
            <a:ext cx="3931920" cy="9601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731520" y="10972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Extend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31520" y="146304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tools, agents, and MCP servers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754880" y="1005840"/>
            <a:ext cx="3931920" cy="9601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4937760" y="10972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8A6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Observe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4937760" y="146304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Streaming, hooks, and persisted sessions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48640" y="2194560"/>
            <a:ext cx="3931920" cy="9601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731520" y="228600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883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Control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31520" y="265176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and human input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4754880" y="2194560"/>
            <a:ext cx="3931920" cy="9601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4937760" y="228600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BC8C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937760" y="265176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plus host isolation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48640" y="3383280"/>
            <a:ext cx="3931920" cy="9601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731520" y="347472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8514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Choose provider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731520" y="38404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 or BYOK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754880" y="3383280"/>
            <a:ext cx="3931920" cy="9601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4937760" y="347472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39D2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Operate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4937760" y="3840480"/>
            <a:ext cx="3566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routing, concurrency, observability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548640" y="4526280"/>
            <a:ext cx="80467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API is independent; enable it only with the required host controls.</a:t>
            </a:r>
            <a:endParaRPr lang="en-US" sz="1000" dirty="0"/>
          </a:p>
        </p:txBody>
      </p:sp>
      <p:sp>
        <p:nvSpPr>
          <p:cNvPr id="32" name="Text 2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27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754880" y="1097280"/>
            <a:ext cx="3840480" cy="292608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48640" y="1097280"/>
            <a:ext cx="3931920" cy="292608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extBox 1"/>
          <p:cNvSpPr txBox="1"/>
          <p:nvPr/>
        </p:nvSpPr>
        <p:spPr>
          <a:xfrm>
            <a:off x="45720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C9D1D9"/>
                </a:solidFill>
              </a:rPr>
              <a:t>Capabilities · Integration Targets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B949E"/>
                </a:solidFill>
              </a:rPr>
              <a:t>Use the SDK when an application owns the UI, session lifecycle, or automated workflow.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34440"/>
            <a:ext cx="3931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300" b="1" dirty="0">
                <a:solidFill>
                  <a:srgbClr val="58A6FF"/>
                </a:solidFill>
              </a:rPr>
              <a:t xml:space="preserve">1. Developer tools</a:t>
            </a:r>
            <a:r>
              <a:rPr sz="1300" b="0" dirty="0">
                <a:solidFill>
                  <a:srgbClr val="C9D1D9"/>
                </a:solidFill>
              </a:rPr>
              <a:t xml:space="preserve"/>
            </a:r>
            <a:r>
              <a:rPr sz="1300" b="1" dirty="0">
                <a:solidFill>
                  <a:srgbClr val="3FB950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300" b="1" dirty="0">
                <a:solidFill>
                  <a:srgbClr val="58A6FF"/>
                </a:solidFill>
              </a:rPr>
              <a:t xml:space="preserve">2. Review, triage, documentation, and CI automation</a:t>
            </a:r>
            <a:r>
              <a:rPr sz="1300" b="0" dirty="0">
                <a:solidFill>
                  <a:srgbClr val="C9D1D9"/>
                </a:solidFill>
              </a:rPr>
              <a:t xml:space="preserve"/>
            </a:r>
            <a:r>
              <a:rPr sz="1300" b="1" dirty="0">
                <a:solidFill>
                  <a:srgbClr val="3FB950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300" b="1" dirty="0">
                <a:solidFill>
                  <a:srgbClr val="58A6FF"/>
                </a:solidFill>
              </a:rPr>
              <a:t xml:space="preserve">3. Internal knowledge and operations agents</a:t>
            </a:r>
            <a:r>
              <a:rPr sz="1300" b="0" dirty="0">
                <a:solidFill>
                  <a:srgbClr val="C9D1D9"/>
                </a:solidFill>
              </a:rPr>
              <a:t xml:space="preserve"/>
            </a:r>
            <a:r>
              <a:rPr sz="1300" b="1" dirty="0" err="1">
                <a:solidFill>
                  <a:srgbClr val="3FB950"/>
                </a:solidFill>
              </a:rPr>
              <a:t/>
            </a:r>
            <a:r>
              <a:rPr sz="1300" b="1" dirty="0">
                <a:solidFill>
                  <a:srgbClr val="3FB950"/>
                </a:solidFill>
              </a:rPr>
              <a:t/>
            </a:r>
          </a:p>
          <a:p>
            <a:pPr>
              <a:spcAft>
                <a:spcPts val="600"/>
              </a:spcAft>
            </a:pPr>
            <a:r>
              <a:rPr sz="1300" b="1" dirty="0">
                <a:solidFill>
                  <a:srgbClr val="58A6FF"/>
                </a:solidFill>
              </a:rPr>
              <a:t xml:space="preserve">4. Multi-user products with app-owned identity and UI</a:t>
            </a:r>
            <a:r>
              <a:rPr sz="1300" b="0" dirty="0">
                <a:solidFill>
                  <a:srgbClr val="C9D1D9"/>
                </a:solidFill>
              </a:rPr>
              <a:t xml:space="preserve"/>
            </a:r>
            <a:r>
              <a:rPr sz="1300" b="1" dirty="0" err="1">
                <a:solidFill>
                  <a:srgbClr val="3FB950"/>
                </a:solidFill>
              </a:rPr>
              <a:t/>
            </a:r>
            <a:endParaRPr sz="1300" b="1" dirty="0">
              <a:solidFill>
                <a:srgbClr val="3FB950"/>
              </a:solidFill>
            </a:endParaRPr>
          </a:p>
          <a:p>
            <a:pPr>
              <a:spcAft>
                <a:spcPts val="600"/>
              </a:spcAft>
            </a:pPr>
            <a:r>
              <a:rPr sz="1300" b="1" dirty="0">
                <a:solidFill>
                  <a:srgbClr val="58A6FF"/>
                </a:solidFill>
              </a:rPr>
              <a:t xml:space="preserve">5. Provider-specific deployments with BYOK and private model catalogues</a:t>
            </a:r>
            <a:r>
              <a:rPr sz="1300" b="0" dirty="0">
                <a:solidFill>
                  <a:srgbClr val="C9D1D9"/>
                </a:solidFill>
              </a:rPr>
              <a:t xml:space="preserve"/>
            </a:r>
            <a:r>
              <a:rPr sz="1300" b="1" dirty="0">
                <a:solidFill>
                  <a:srgbClr val="3FB950"/>
                </a:solidFill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188720"/>
            <a:ext cx="3474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dirty="0">
                <a:solidFill>
                  <a:srgbClr val="58A6FF"/>
                </a:solidFill>
              </a:rPr>
              <a:t>Interface boundary</a:t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C9D1D9"/>
                </a:solidFill>
              </a:rPr>
              <a:t xml:space="preserve">Interactive terminal user → Copilot CLI</a:t>
            </a:r>
            <a:r>
              <a:rPr sz="1300" b="0" dirty="0" err="1">
                <a:solidFill>
                  <a:srgbClr val="C9D1D9"/>
                </a:solidFill>
              </a:rPr>
              <a:t/>
            </a:r>
            <a:r>
              <a:rPr sz="1300" b="0" dirty="0">
                <a:solidFill>
                  <a:srgbClr val="C9D1D9"/>
                </a:solidFill>
              </a:rPr>
              <a:t xml:space="preserve"/>
            </a:r>
            <a:r>
              <a:rPr sz="1300" b="1" dirty="0">
                <a:solidFill>
                  <a:srgbClr val="3FB950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C9D1D9"/>
                </a:solidFill>
              </a:rPr>
              <a:t xml:space="preserve">Application-owned UI and lifecycle → Copilot SDK</a:t>
            </a:r>
            <a:r>
              <a:rPr sz="1300" b="0" dirty="0" err="1">
                <a:solidFill>
                  <a:srgbClr val="C9D1D9"/>
                </a:solidFill>
              </a:rPr>
              <a:t/>
            </a:r>
            <a:r>
              <a:rPr sz="1300" b="0" dirty="0">
                <a:solidFill>
                  <a:srgbClr val="C9D1D9"/>
                </a:solidFill>
              </a:rPr>
              <a:t xml:space="preserve"/>
            </a:r>
            <a:r>
              <a:rPr sz="1300" b="1" dirty="0">
                <a:solidFill>
                  <a:srgbClr val="3FB950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C9D1D9"/>
                </a:solidFill>
              </a:rPr>
              <a:t xml:space="preserve">Cross-provider orchestration → SDK plus a framework</a:t>
            </a:r>
            <a:r>
              <a:rPr sz="1300" b="0" dirty="0" err="1">
                <a:solidFill>
                  <a:srgbClr val="C9D1D9"/>
                </a:solidFill>
              </a:rPr>
              <a:t/>
            </a:r>
            <a:r>
              <a:rPr sz="1300" b="0" dirty="0">
                <a:solidFill>
                  <a:srgbClr val="C9D1D9"/>
                </a:solidFill>
              </a:rPr>
              <a:t xml:space="preserve"/>
            </a:r>
            <a:r>
              <a:rPr sz="1300" b="1" dirty="0">
                <a:solidFill>
                  <a:srgbClr val="3FB950"/>
                </a:solidFill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0" dirty="0">
                <a:solidFill>
                  <a:srgbClr val="C9D1D9"/>
                </a:solidFill>
              </a:rPr>
              <a:t xml:space="preserve">Identity, isolation, routing, and limits remain host responsibilities</a:t>
            </a:r>
            <a:r>
              <a:rPr sz="1300" b="0" dirty="0" err="1">
                <a:solidFill>
                  <a:srgbClr val="C9D1D9"/>
                </a:solidFill>
              </a:rPr>
              <a:t/>
            </a:r>
            <a:r>
              <a:rPr sz="1300" b="0" dirty="0">
                <a:solidFill>
                  <a:srgbClr val="C9D1D9"/>
                </a:solidFill>
              </a:rPr>
              <a:t xml:space="preserve"/>
            </a:r>
            <a:r>
              <a:rPr sz="1300" b="1" dirty="0">
                <a:solidFill>
                  <a:srgbClr val="F85149"/>
                </a:solidFill>
              </a:rPr>
              <a:t/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900">
                <a:solidFill>
                  <a:srgbClr val="8B949E"/>
                </a:solidFill>
              </a:rPr>
              <a:t>13 /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 · Identity Models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960120"/>
          <a:ext cx="8046720" cy="2231136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E6EDF3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E6EDF3"/>
                          </a:solidFill>
                          <a:latin typeface="Calibri"/>
                        </a:rPr>
                        <a:t>Use case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E6EDF3"/>
                          </a:solidFill>
                          <a:latin typeface="Calibri"/>
                        </a:rPr>
                        <a:t>Billing / identity boundary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Signed-in user (CLI login)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Local and desktop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User entitlement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OAuth App / GitHub App user token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Multi-user SaaS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User entitlement + applicable organization policy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Environment / installation token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Automation / backend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Token owner + organization policy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3891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BYOK provider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Custom inference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E6EDF3"/>
                          </a:solidFill>
                          <a:latin typeface="Calibri"/>
                        </a:rPr>
                        <a:t>Provider billing</a:t>
                      </a:r>
                    </a:p>
                  </a:txBody>
                  <a:tcPr marL="73152" marR="73152" marT="36576" marB="36576">
                    <a:lnL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30363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1B2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Text 2"/>
          <p:cNvSpPr/>
          <p:nvPr/>
        </p:nvSpPr>
        <p:spPr>
          <a:xfrm>
            <a:off x="548640" y="3429000"/>
            <a:ext cx="8046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50" b="1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Rotation: github_token_provider for Copilot identity · bearer_token_provider for BYOK</a:t>
            </a:r>
            <a:endParaRPr lang="en-US" sz="1200" dirty="0"/>
          </a:p>
        </p:txBody>
      </p:sp>
      <p:sp>
        <p:nvSpPr>
          <p:cNvPr id="7" name="Shape 3"/>
          <p:cNvSpPr/>
          <p:nvPr/>
        </p:nvSpPr>
        <p:spPr>
          <a:xfrm>
            <a:off x="548640" y="3749040"/>
            <a:ext cx="1234440" cy="4114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4"/>
          <p:cNvSpPr/>
          <p:nvPr/>
        </p:nvSpPr>
        <p:spPr>
          <a:xfrm>
            <a:off x="548640" y="3749040"/>
            <a:ext cx="1234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50" dirty="0"/>
          </a:p>
        </p:txBody>
      </p:sp>
      <p:sp>
        <p:nvSpPr>
          <p:cNvPr id="9" name="Text 5"/>
          <p:cNvSpPr/>
          <p:nvPr/>
        </p:nvSpPr>
        <p:spPr>
          <a:xfrm>
            <a:off x="1783080" y="3749040"/>
            <a:ext cx="155448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1938528" y="3749040"/>
            <a:ext cx="1234440" cy="4114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7"/>
          <p:cNvSpPr/>
          <p:nvPr/>
        </p:nvSpPr>
        <p:spPr>
          <a:xfrm>
            <a:off x="1938528" y="3749040"/>
            <a:ext cx="1234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3172968" y="3749040"/>
            <a:ext cx="155448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2" name="Shape 9"/>
          <p:cNvSpPr/>
          <p:nvPr/>
        </p:nvSpPr>
        <p:spPr>
          <a:xfrm>
            <a:off x="3328416" y="3749040"/>
            <a:ext cx="1234440" cy="4114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0"/>
          <p:cNvSpPr/>
          <p:nvPr/>
        </p:nvSpPr>
        <p:spPr>
          <a:xfrm>
            <a:off x="3328416" y="3749040"/>
            <a:ext cx="1234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50" dirty="0"/>
          </a:p>
        </p:txBody>
      </p:sp>
      <p:sp>
        <p:nvSpPr>
          <p:cNvPr id="15" name="Text 11"/>
          <p:cNvSpPr/>
          <p:nvPr/>
        </p:nvSpPr>
        <p:spPr>
          <a:xfrm>
            <a:off x="4562856" y="3749040"/>
            <a:ext cx="155448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4718304" y="3749040"/>
            <a:ext cx="1234440" cy="4114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3"/>
          <p:cNvSpPr/>
          <p:nvPr/>
        </p:nvSpPr>
        <p:spPr>
          <a:xfrm>
            <a:off x="4718304" y="3749040"/>
            <a:ext cx="1234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5952744" y="3749040"/>
            <a:ext cx="155448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08192" y="3749040"/>
            <a:ext cx="1234440" cy="4114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6"/>
          <p:cNvSpPr/>
          <p:nvPr/>
        </p:nvSpPr>
        <p:spPr>
          <a:xfrm>
            <a:off x="6108192" y="3749040"/>
            <a:ext cx="1234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50" dirty="0"/>
          </a:p>
        </p:txBody>
      </p:sp>
      <p:sp>
        <p:nvSpPr>
          <p:cNvPr id="21" name="Text 17"/>
          <p:cNvSpPr/>
          <p:nvPr/>
        </p:nvSpPr>
        <p:spPr>
          <a:xfrm>
            <a:off x="7342632" y="3749040"/>
            <a:ext cx="155448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7498080" y="3749040"/>
            <a:ext cx="1234440" cy="4114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7498080" y="3749040"/>
            <a:ext cx="1234440" cy="4114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850" dirty="0"/>
          </a:p>
        </p:txBody>
      </p:sp>
      <p:sp>
        <p:nvSpPr>
          <p:cNvPr id="26" name="Text 21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27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 · BYOK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ProviderConfig defines endpoint, protocol, model, and authentication; inference billing follows that provider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88720"/>
            <a:ext cx="2560320" cy="6400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Text 4"/>
          <p:cNvSpPr/>
          <p:nvPr/>
        </p:nvSpPr>
        <p:spPr>
          <a:xfrm>
            <a:off x="685800" y="123444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OpenAI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286000" y="123444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"openai"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685800" y="150876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API access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355848" y="1188720"/>
            <a:ext cx="2560320" cy="6400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3493008" y="123444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Foundry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93208" y="123444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"openai" / "azure"</a:t>
            </a:r>
            <a:endParaRPr lang="en-US" sz="800" dirty="0"/>
          </a:p>
        </p:txBody>
      </p:sp>
      <p:sp>
        <p:nvSpPr>
          <p:cNvPr id="13" name="Text 10"/>
          <p:cNvSpPr/>
          <p:nvPr/>
        </p:nvSpPr>
        <p:spPr>
          <a:xfrm>
            <a:off x="3493008" y="150876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or managed identity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163056" y="1188720"/>
            <a:ext cx="2560320" cy="6400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6300216" y="123444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7900416" y="123444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"anthropic"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6300216" y="150876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models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548640" y="2011680"/>
            <a:ext cx="2560320" cy="6400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6"/>
          <p:cNvSpPr/>
          <p:nvPr/>
        </p:nvSpPr>
        <p:spPr>
          <a:xfrm>
            <a:off x="685800" y="205740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Ollama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2286000" y="205740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"openai"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685800" y="233172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models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3355848" y="2011680"/>
            <a:ext cx="2560320" cy="6400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0"/>
          <p:cNvSpPr/>
          <p:nvPr/>
        </p:nvSpPr>
        <p:spPr>
          <a:xfrm>
            <a:off x="3493008" y="205740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Local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093208" y="205740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"openai"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3493008" y="233172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On-device AI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6163056" y="2011680"/>
            <a:ext cx="2560320" cy="64008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4"/>
          <p:cNvSpPr/>
          <p:nvPr/>
        </p:nvSpPr>
        <p:spPr>
          <a:xfrm>
            <a:off x="6300216" y="2057400"/>
            <a:ext cx="16459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7900416" y="2057400"/>
            <a:ext cx="6858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"openai"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6300216" y="2331720"/>
            <a:ext cx="2286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vLLM, LiteLLM, etc.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48640" y="3017520"/>
            <a:ext cx="80467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8"/>
          <p:cNvSpPr/>
          <p:nvPr/>
        </p:nvSpPr>
        <p:spPr>
          <a:xfrm>
            <a:off x="548640" y="301752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32" name="Text 29"/>
          <p:cNvSpPr/>
          <p:nvPr/>
        </p:nvSpPr>
        <p:spPr>
          <a:xfrm>
            <a:off x="548640" y="301752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685800" y="3337560"/>
            <a:ext cx="7772400" cy="123444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>session = await client.create_session(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model=os.environ["FOUNDRY_MODEL"],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available_tools=[],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provider={"type": "openai",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        "wire_api": "responses",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        "base_url": os.environ["FOUNDRY_MODEL_URL"],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 xml:space="preserve">            "api_key": os.environ["FOUNDRY_API_KEY"]})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E6EDF3"/>
                </a:solidFill>
                <a:latin typeface="Courier New"/>
              </a:rPr>
              <a:t>await session.send_and_wait("Hi", timeout=120)</a:t>
            </a:r>
          </a:p>
        </p:txBody>
      </p:sp>
      <p:sp>
        <p:nvSpPr>
          <p:cNvPr id="36" name="Text 32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27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· Environment Check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51560"/>
            <a:ext cx="8046720" cy="621792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1051560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Install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3200400" y="1179576"/>
            <a:ext cx="5120640" cy="36576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3337560" y="1179576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 b="1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github-copilot-sdk==1.0.13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48640" y="1801368"/>
            <a:ext cx="8046720" cy="621792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1801368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Authenticate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200400" y="1929384"/>
            <a:ext cx="5120640" cy="36576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3337560" y="1929384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 b="1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copilot login or eligible token / BYOK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2551176"/>
            <a:ext cx="8046720" cy="621792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822960" y="2551176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Verify runtime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200400" y="2679192"/>
            <a:ext cx="5120640" cy="36576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3337560" y="2679192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 b="1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copilot download-runtime  # optional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3300984"/>
            <a:ext cx="8046720" cy="621792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9"/>
          <p:cNvSpPr/>
          <p:nvPr/>
        </p:nvSpPr>
        <p:spPr>
          <a:xfrm>
            <a:off x="822960" y="3300984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Run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200400" y="3429000"/>
            <a:ext cx="5120640" cy="36576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1"/>
          <p:cNvSpPr/>
          <p:nvPr/>
        </p:nvSpPr>
        <p:spPr>
          <a:xfrm>
            <a:off x="3337560" y="3429000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 b="1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examples/01_simple_chat.py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4050792"/>
            <a:ext cx="8046720" cy="621792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4"/>
          <p:cNvSpPr/>
          <p:nvPr/>
        </p:nvSpPr>
        <p:spPr>
          <a:xfrm>
            <a:off x="822960" y="4050792"/>
            <a:ext cx="2286000" cy="6217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200400" y="4178808"/>
            <a:ext cx="5120640" cy="365760"/>
          </a:xfrm>
          <a:prstGeom prst="line">
            <a:avLst/>
          </a:prstGeom>
          <a:solidFill>
            <a:srgbClr val="0D1117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6"/>
          <p:cNvSpPr/>
          <p:nvPr/>
        </p:nvSpPr>
        <p:spPr>
          <a:xfrm>
            <a:off x="3337560" y="4178808"/>
            <a:ext cx="48463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dirty="0" b="1">
                <a:solidFill>
                  <a:srgbClr val="7EE78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Streamed response and exit code 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48640" y="4572000"/>
            <a:ext cx="80467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SDKs share the runtime protocol; this workshop uses Python.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27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Samples · API Map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28016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40080" y="18745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Streaming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640080" y="219456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response and typed deltas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2651760" y="109728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128016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743200" y="18745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Custom tool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2743200" y="219456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schema and fictional data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4754880" y="109728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40680" y="128016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846320" y="18745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Agents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4846320" y="219456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persona selection and verification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6858000" y="109728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43800" y="1280160"/>
            <a:ext cx="502920" cy="5029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18745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Hooks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6949440" y="219456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Pre-call, success, and failure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548640" y="297180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4440" y="3154680"/>
            <a:ext cx="502920" cy="5029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40080" y="374904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MCP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640080" y="406908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connection, auth, and tool evidence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2651760" y="297180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37560" y="3154680"/>
            <a:ext cx="502920" cy="50292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2743200" y="374904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Persistence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2743200" y="406908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Create, detach, and cold resume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4754880" y="297180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40680" y="3154680"/>
            <a:ext cx="502920" cy="502920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4846320" y="374904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Human approval</a:t>
            </a:r>
            <a:endParaRPr lang="en-US" sz="1200" dirty="0"/>
          </a:p>
        </p:txBody>
      </p:sp>
      <p:sp>
        <p:nvSpPr>
          <p:cNvPr id="31" name="Text 22"/>
          <p:cNvSpPr/>
          <p:nvPr/>
        </p:nvSpPr>
        <p:spPr>
          <a:xfrm>
            <a:off x="4846320" y="406908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Structured-first input and exact approval</a:t>
            </a:r>
            <a:endParaRPr lang="en-US" sz="950" dirty="0"/>
          </a:p>
        </p:txBody>
      </p:sp>
      <p:sp>
        <p:nvSpPr>
          <p:cNvPr id="32" name="Shape 23"/>
          <p:cNvSpPr/>
          <p:nvPr/>
        </p:nvSpPr>
        <p:spPr>
          <a:xfrm>
            <a:off x="6858000" y="2971800"/>
            <a:ext cx="1874520" cy="16459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543800" y="3154680"/>
            <a:ext cx="502920" cy="502920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6949440" y="374904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Sandbox</a:t>
            </a:r>
            <a:endParaRPr lang="en-US" sz="1200" dirty="0"/>
          </a:p>
        </p:txBody>
      </p:sp>
      <p:sp>
        <p:nvSpPr>
          <p:cNvPr id="35" name="Text 25"/>
          <p:cNvSpPr/>
          <p:nvPr/>
        </p:nvSpPr>
        <p:spPr>
          <a:xfrm>
            <a:off x="6949440" y="4069080"/>
            <a:ext cx="1691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containment and one bypass</a:t>
            </a:r>
            <a:endParaRPr lang="en-US" sz="950" dirty="0"/>
          </a:p>
        </p:txBody>
      </p:sp>
      <p:sp>
        <p:nvSpPr>
          <p:cNvPr id="38" name="Text 27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01 · Streaming Chat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Typed deltas stream output; send_and_wait handles timeout, error, and idle states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43000"/>
            <a:ext cx="3931920" cy="32918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548640" y="114300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48640" y="114300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events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85800" y="1463040"/>
            <a:ext cx="3657600" cy="320040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E6EDF3"/>
                </a:solidFill>
                <a:latin typeface="Calibri"/>
              </a:rPr>
              <a:t>Run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E6EDF3"/>
                </a:solidFill>
                <a:latin typeface="Calibri"/>
              </a:rPr>
              <a:t>python examples/01_simple_chat.py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E6EDF3"/>
                </a:solidFill>
                <a:latin typeface="Calibri"/>
              </a:rPr>
              <a:t>Observe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E6EDF3"/>
                </a:solidFill>
                <a:latin typeface="Calibri"/>
              </a:rPr>
              <a:t>assistant.message_delta chunks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E6EDF3"/>
                </a:solidFill>
                <a:latin typeface="Calibri"/>
              </a:rPr>
              <a:t>final assistant message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>
                <a:solidFill>
                  <a:srgbClr val="E6EDF3"/>
                </a:solidFill>
                <a:latin typeface="Calibri"/>
              </a:rPr>
              <a:t>exit code 0</a:t>
            </a:r>
          </a:p>
        </p:txBody>
      </p:sp>
      <p:sp>
        <p:nvSpPr>
          <p:cNvPr id="10" name="Shape 7"/>
          <p:cNvSpPr/>
          <p:nvPr/>
        </p:nvSpPr>
        <p:spPr>
          <a:xfrm>
            <a:off x="4663440" y="1143000"/>
            <a:ext cx="3931920" cy="329184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Shape 8"/>
          <p:cNvSpPr/>
          <p:nvPr/>
        </p:nvSpPr>
        <p:spPr>
          <a:xfrm>
            <a:off x="4663440" y="114300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2" name="Text 9"/>
          <p:cNvSpPr/>
          <p:nvPr/>
        </p:nvSpPr>
        <p:spPr>
          <a:xfrm>
            <a:off x="4663440" y="114300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— session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800600" y="1463040"/>
            <a:ext cx="3657600" cy="320040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>unsubscribe = session.on(on_event)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>reply = await session.send_and_wait(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 xml:space="preserve">    "Explain the SDK in 3 sentences.",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 xml:space="preserve">    timeout=60)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>if reply is None: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 xml:space="preserve">    raise RuntimeError("No final message")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00">
                <a:solidFill>
                  <a:srgbClr val="E6EDF3"/>
                </a:solidFill>
                <a:latin typeface="Courier New"/>
              </a:rPr>
              <a:t>unsubscribe()</a:t>
            </a:r>
          </a:p>
        </p:txBody>
      </p:sp>
      <p:sp>
        <p:nvSpPr>
          <p:cNvPr id="14" name="Shape 11"/>
          <p:cNvSpPr/>
          <p:nvPr/>
        </p:nvSpPr>
        <p:spPr>
          <a:xfrm>
            <a:off x="548640" y="4526280"/>
            <a:ext cx="8046720" cy="2743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/>
          <p:cNvSpPr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FB9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Run: python examples/01_simple_chat.py · Expected: streamed text and exit code 0</a:t>
            </a: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02 · Fictional Weather Tool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Pydantic schema, async host handler, ToolSet filter; explicitly not a live weather service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43000"/>
            <a:ext cx="8046720" cy="356616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548640" y="114300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48640" y="114300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85800" y="1463040"/>
            <a:ext cx="7772400" cy="320040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class WeatherParams(BaseModel):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city: str = Field(min_length=1)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@define_tool(description="Fictional demo weather")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async def get_weather(params):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return {"city": params.city,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        "source": "fictional demo"}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tools = ToolSet().add_custom("get_weather")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session = await client.create_session(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tools=[get_weather], available_tools=tools,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on_permission_request=PermissionHandler.approve_all)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reply = await session.send_and_wait(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"Fictional weather in Tokyo and Berlin.", timeout=60)</a:t>
            </a:r>
          </a:p>
        </p:txBody>
      </p:sp>
      <p:sp>
        <p:nvSpPr>
          <p:cNvPr id="12" name="Text 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27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03 · Custom Agents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conversation, explicit persona handoff; agent selection RPC is experimental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234440"/>
            <a:ext cx="2560320" cy="228600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27632" y="1417320"/>
            <a:ext cx="402336" cy="40233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85800" y="192024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Agent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731520" y="22860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280160" y="2286000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grep, glob, view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685800" y="2606040"/>
            <a:ext cx="228600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code, answer questions. Read‑only.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3355848" y="1234440"/>
            <a:ext cx="2560320" cy="228600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4840" y="1417320"/>
            <a:ext cx="402336" cy="40233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493008" y="192024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Explicit Handoff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3538728" y="22860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RPC: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4087368" y="2286000"/>
            <a:ext cx="178308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indent="0">
              <a:lnSpc>
                <a:spcPct val="100000"/>
              </a:lnSpc>
              <a:buNone/>
            </a:pPr>
            <a:r>
              <a:rPr lang="en-US" sz="85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agent.select(AgentSelectRequest(...))</a:t>
            </a:r>
            <a:endParaRPr lang="en-US" sz="850" dirty="0"/>
          </a:p>
        </p:txBody>
      </p:sp>
      <p:sp>
        <p:nvSpPr>
          <p:cNvPr id="19" name="Text 14"/>
          <p:cNvSpPr/>
          <p:nvPr/>
        </p:nvSpPr>
        <p:spPr>
          <a:xfrm>
            <a:off x="3538728" y="2606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with agent.get_current()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6163056" y="1234440"/>
            <a:ext cx="2560320" cy="228600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42048" y="1417320"/>
            <a:ext cx="402336" cy="40233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300216" y="192024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Reviewer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6345936" y="2286000"/>
            <a:ext cx="54864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Tools: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6894576" y="2286000"/>
            <a:ext cx="164592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grep, glob, view</a:t>
            </a:r>
            <a:endParaRPr lang="en-US" sz="900" dirty="0"/>
          </a:p>
        </p:txBody>
      </p:sp>
      <p:sp>
        <p:nvSpPr>
          <p:cNvPr id="26" name="Text 20"/>
          <p:cNvSpPr/>
          <p:nvPr/>
        </p:nvSpPr>
        <p:spPr>
          <a:xfrm>
            <a:off x="6345936" y="2606040"/>
            <a:ext cx="219456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code for bugs, security, and best practices.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548640" y="3749040"/>
            <a:ext cx="8046720" cy="82296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8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77240" y="3886200"/>
            <a:ext cx="365760" cy="365760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1280160" y="3794760"/>
            <a:ext cx="7132320" cy="7315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Register display_name, prompt, and explicit tool restrictions; start with agent="researcher".</a:t>
            </a: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/>
            </a:r>
            <a:r>
              <a:rPr lang="en-US" sz="1100" dirty="0">
                <a:solidFill>
                  <a:srgbClr val="3FB95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/>
            </a:r>
            <a:r>
              <a:rPr lang="en-US" sz="11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/>
            </a:r>
            <a:endParaRPr lang="en-US" sz="1200" dirty="0"/>
          </a:p>
        </p:txBody>
      </p:sp>
      <p:sp>
        <p:nvSpPr>
          <p:cNvPr id="32" name="Text 24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04 · Hooks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Pre-call, success, and failure callbacks for audit and defense-in-depth; not isolation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43000"/>
            <a:ext cx="8046720" cy="356616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548640" y="114300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48640" y="114300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85800" y="1463040"/>
            <a:ext cx="7772400" cy="320040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async def on_pre_tool_use(input_data, invocation):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print(f"[pre] {input_data['toolName']}")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async def on_post_tool_use(input_data, invocation):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print(f"[post] {input_data['toolName']} succeeded")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async def on_post_tool_use_failure(input_data, invocation):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print(f"[failed] {input_data['toolName']}")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async with await client.create_session(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available_tools=ToolSet().add_builtin(["glob", "view"]),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on_permission_request=PermissionHandler.approve_all,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hooks={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    "on_pre_tool_use": on_pre_tool_use,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    "on_post_tool_use": on_post_tool_use,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    "on_post_tool_use_failure": on_post_tool_use_failure,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},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) as session: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await session.send_and_wait(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    "List files in the current directory.", timeout=120,</a:t>
            </a:r>
          </a:p>
          <a:p>
            <a:pPr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</a:pPr>
            <a:r>
              <a:rPr sz="1200">
                <a:solidFill>
                  <a:srgbClr val="E6EDF3"/>
                </a:solidFill>
                <a:latin typeface="Courier New"/>
              </a:rPr>
              <a:t xml:space="preserve">    )</a:t>
            </a:r>
          </a:p>
        </p:txBody>
      </p:sp>
      <p:sp>
        <p:nvSpPr>
          <p:cNvPr id="12" name="Text 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27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05 · Remote GitHub MCP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 MCP connections own separate authentication; the sample requires a live tool event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88720"/>
            <a:ext cx="3931920" cy="11887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731520" y="132588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160020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Remote HTTP endpoint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731520" y="192024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Bearer token in this sample; OAuth is also supported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4754880" y="1188720"/>
            <a:ext cx="3931920" cy="11887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4937760" y="132588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937760" y="160020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D1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ToolExecutionStartData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4937760" y="1920240"/>
            <a:ext cx="356616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matching event means sample failure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48640" y="2606040"/>
            <a:ext cx="8046720" cy="21031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4"/>
          <p:cNvSpPr/>
          <p:nvPr/>
        </p:nvSpPr>
        <p:spPr>
          <a:xfrm>
            <a:off x="548640" y="260604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548640" y="260604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685800" y="2880360"/>
            <a:ext cx="7772400" cy="182880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6EDF3"/>
                </a:solidFill>
                <a:latin typeface="Courier New"/>
              </a:rPr>
              <a:t>token = github_token()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6EDF3"/>
                </a:solidFill>
                <a:latin typeface="Courier New"/>
              </a:rPr>
              <a:t>server = {"github": {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6EDF3"/>
                </a:solidFill>
                <a:latin typeface="Courier New"/>
              </a:rPr>
              <a:t xml:space="preserve">  "type": "http",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6EDF3"/>
                </a:solidFill>
                <a:latin typeface="Courier New"/>
              </a:rPr>
              <a:t xml:space="preserve">  "url": "https://api.githubcopilot.com/mcp/",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6EDF3"/>
                </a:solidFill>
                <a:latin typeface="Courier New"/>
              </a:rPr>
              <a:t xml:space="preserve">  "headers": {"Authorization": f"Bearer {token}",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6EDF3"/>
                </a:solidFill>
                <a:latin typeface="Courier New"/>
              </a:rPr>
              <a:t xml:space="preserve">              "X-MCP-Readonly": "true"},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6EDF3"/>
                </a:solidFill>
                <a:latin typeface="Courier New"/>
              </a:rPr>
              <a:t xml:space="preserve">  "tools": GITHUB_TOOLS}}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6EDF3"/>
                </a:solidFill>
                <a:latin typeface="Courier New"/>
              </a:rPr>
              <a:t>tools = ToolSet().add_mcp("github-list_issues")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6EDF3"/>
                </a:solidFill>
                <a:latin typeface="Courier New"/>
              </a:rPr>
              <a:t>session = await client.create_session(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6EDF3"/>
                </a:solidFill>
                <a:latin typeface="Courier New"/>
              </a:rPr>
              <a:t xml:space="preserve">  mcp_servers=server, available_tools=tools,</a:t>
            </a:r>
          </a:p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E6EDF3"/>
                </a:solidFill>
                <a:latin typeface="Courier New"/>
              </a:rPr>
              <a:t xml:space="preserve">  on_permission_request=PermissionHandler.approve_all)</a:t>
            </a:r>
          </a:p>
        </p:txBody>
      </p:sp>
      <p:sp>
        <p:nvSpPr>
          <p:cNvPr id="22" name="Text 18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27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06 · Session Persistence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resume_session restores persisted context; host callbacks, tools, and credentials must be supplied again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43000"/>
            <a:ext cx="8046720" cy="342900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548640" y="114300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48640" y="114300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85800" y="1463040"/>
            <a:ext cx="7772400" cy="320040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SESSION_ID = "demo-session-resume"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# First process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session = await client.create_session(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session_id=SESSION_ID, available_tools=[])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await session.send_and_wait(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"Remember: my name is Jeffrey.", timeout=60)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await session.disconnect()  # detach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# Later process: re-supply host wiring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session = await client.resume_session(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SESSION_ID, available_tools=[])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>reply = await session.send_and_wait(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E6EDF3"/>
                </a:solidFill>
                <a:latin typeface="Courier New"/>
              </a:rPr>
              <a:t xml:space="preserve">    "What is my name?", timeout=60)</a:t>
            </a:r>
          </a:p>
        </p:txBody>
      </p:sp>
      <p:sp>
        <p:nvSpPr>
          <p:cNvPr id="13" name="Text 9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27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07 · Human in the Loop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stages: validate structured human input (with explicit fallback), then validate one exact action before approve-once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548640" y="1143000"/>
            <a:ext cx="8046720" cy="347472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7" name="Shape 4"/>
          <p:cNvSpPr/>
          <p:nvPr/>
        </p:nvSpPr>
        <p:spPr>
          <a:xfrm>
            <a:off x="548640" y="1143000"/>
            <a:ext cx="1371600" cy="256032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8" name="Text 5"/>
          <p:cNvSpPr/>
          <p:nvPr/>
        </p:nvSpPr>
        <p:spPr>
          <a:xfrm>
            <a:off x="548640" y="1143000"/>
            <a:ext cx="1371600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685800" y="1463040"/>
            <a:ext cx="7772400" cy="3200400"/>
          </a:xfrm>
          <a:prstGeom prst="rect">
            <a:avLst/>
          </a:prstGeom>
          <a:noFill/>
          <a:ln>
            <a:noFill/>
          </a:ln>
        </p:spPr>
        <p:txBody>
          <a:bodyPr wrap="none" lIns="25400" tIns="25400" rIns="25400" bIns="25400" rtlCol="0" anchor="t"/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># Stage 1: validate structured ask_user schema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># Fallback: one freeform name only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># Stage 2: validate one exact action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>async def on_permission_request(request, invocation):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 xml:space="preserve">    match request: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 xml:space="preserve">        case PermissionRequestShell(full_command_text=cmd):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 xml:space="preserve">            if not is_expected_command(cmd):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 xml:space="preserve">                return PermissionDecisionReject()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 xml:space="preserve">            answer = await read_answer(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 xml:space="preserve">                "Approve once? [y/N]: ", timeout=120)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 xml:space="preserve">            if answer.lower() == "y":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 xml:space="preserve">                return PermissionDecisionApproveOnce()</a:t>
            </a:r>
          </a:p>
          <a:p>
            <a:pPr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80">
                <a:solidFill>
                  <a:srgbClr val="E6EDF3"/>
                </a:solidFill>
                <a:latin typeface="Courier New"/>
              </a:rPr>
              <a:t xml:space="preserve">    return PermissionDecisionReject()</a:t>
            </a:r>
          </a:p>
        </p:txBody>
      </p:sp>
      <p:sp>
        <p:nvSpPr>
          <p:cNvPr id="13" name="Text 9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27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C9D1D9"/>
                </a:solidFill>
                <a:latin typeface="Calibri"/>
              </a:rPr>
              <a:t>Sample 08 · Explicit Sandbox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49E"/>
                </a:solidFill>
                <a:latin typeface="Calibri"/>
              </a:rPr>
              <a:t>Configure filesystem and network policy before allowing one explicit bypass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48640" y="11430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58A6FF"/>
                </a:solidFill>
                <a:latin typeface="Consolas"/>
              </a:rPr>
              <a:t>Enable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2249424" y="114300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2249424" y="11430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C8CFF"/>
                </a:solidFill>
                <a:latin typeface="Consolas"/>
              </a:rPr>
              <a:t>SandboxConfig</a:t>
            </a:r>
          </a:p>
        </p:txBody>
      </p:sp>
      <p:sp>
        <p:nvSpPr>
          <p:cNvPr id="8" name="Rectangle 7"/>
          <p:cNvSpPr/>
          <p:nvPr/>
        </p:nvSpPr>
        <p:spPr>
          <a:xfrm>
            <a:off x="3950208" y="114300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50208" y="11430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3FB950"/>
                </a:solidFill>
                <a:latin typeface="Consolas"/>
              </a:rPr>
              <a:t>Filesystem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50992" y="114300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650992" y="11430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0883E"/>
                </a:solidFill>
                <a:latin typeface="Consolas"/>
              </a:rPr>
              <a:t>deny demo vault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51776" y="114300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51776" y="114300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85149"/>
                </a:solidFill>
                <a:latin typeface="Consolas"/>
              </a:rPr>
              <a:t>Network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155448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" y="15544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58A6FF"/>
                </a:solidFill>
                <a:latin typeface="Consolas"/>
              </a:rPr>
              <a:t>deny outbound + loopback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249424" y="155448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249424" y="15544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C8CFF"/>
                </a:solidFill>
                <a:latin typeface="Consolas"/>
              </a:rPr>
              <a:t>Bypass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50208" y="155448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950208" y="15544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3FB950"/>
                </a:solidFill>
                <a:latin typeface="Consolas"/>
              </a:rPr>
              <a:t>allow_bypass=True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50992" y="155448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50992" y="15544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0883E"/>
                </a:solidFill>
                <a:latin typeface="Consolas"/>
              </a:rPr>
              <a:t>Human gate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51776" y="1554480"/>
            <a:ext cx="1554480" cy="32004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51776" y="1554480"/>
            <a:ext cx="1554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F85149"/>
                </a:solidFill>
                <a:latin typeface="Consolas"/>
              </a:rPr>
              <a:t>one approve-once decision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2057400"/>
            <a:ext cx="3931920" cy="182880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31520" y="2103120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58A6FF"/>
                </a:solidFill>
                <a:latin typeface="Calibri"/>
              </a:rPr>
              <a:t>Boundary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2423160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6EDF3"/>
                </a:solidFill>
                <a:latin typeface="Calibri"/>
              </a:rPr>
              <a:t>Runtime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2423160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DF3"/>
                </a:solidFill>
                <a:latin typeface="Calibri"/>
              </a:rPr>
              <a:t>Constrained by policy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" y="2679191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6EDF3"/>
                </a:solidFill>
                <a:latin typeface="Calibri"/>
              </a:rPr>
              <a:t>Host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37360" y="2679191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DF3"/>
                </a:solidFill>
                <a:latin typeface="Calibri"/>
              </a:rPr>
              <a:t>Need separate isolation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" y="2935224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6EDF3"/>
                </a:solidFill>
                <a:latin typeface="Calibri"/>
              </a:rPr>
              <a:t>Experimental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2935224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DF3"/>
                </a:solidFill>
                <a:latin typeface="Calibri"/>
              </a:rPr>
              <a:t>Backend/platform dependent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3191256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6EDF3"/>
                </a:solidFill>
                <a:latin typeface="Calibri"/>
              </a:rPr>
              <a:t>Evidence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737360" y="3191256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DF3"/>
                </a:solidFill>
                <a:latin typeface="Calibri"/>
              </a:rPr>
              <a:t>Correlate approval + tool-call ID + success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" y="3447288"/>
            <a:ext cx="9144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E6EDF3"/>
                </a:solidFill>
                <a:latin typeface="Calibri"/>
              </a:rPr>
              <a:t>Not a VM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37360" y="3447288"/>
            <a:ext cx="25603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E6EDF3"/>
                </a:solidFill>
                <a:latin typeface="Calibri"/>
              </a:rPr>
              <a:t>Not a tenant boundary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663440" y="2057400"/>
            <a:ext cx="3931920" cy="182880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4663440" y="2057400"/>
            <a:ext cx="914400" cy="201168"/>
          </a:xfrm>
          <a:prstGeom prst="rect">
            <a:avLst/>
          </a:prstGeom>
          <a:solidFill>
            <a:srgbClr val="1F6F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663440" y="2057400"/>
            <a:ext cx="9144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6EDF3"/>
                </a:solidFill>
                <a:latin typeface="Calibri"/>
              </a:rPr>
              <a:t>Python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00600" y="2267712"/>
            <a:ext cx="3703320" cy="1618488"/>
          </a:xfrm>
          <a:prstGeom prst="rect">
            <a:avLst/>
          </a:prstGeom>
          <a:noFill/>
        </p:spPr>
        <p:txBody>
          <a:bodyPr wrap="none" lIns="25400" rIns="25400" tIns="25400" bIns="25400" anchor="t"/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E6EDF3"/>
                </a:solidFill>
                <a:latin typeface="Courier New"/>
              </a:rPr>
              <a:t>policy = SandboxConfigUserPolicy(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E6EDF3"/>
                </a:solidFill>
                <a:latin typeface="Courier New"/>
              </a:rPr>
              <a:t xml:space="preserve">  filesystem=SandboxConfigUserPolicyFilesystem(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E6EDF3"/>
                </a:solidFill>
                <a:latin typeface="Courier New"/>
              </a:rPr>
              <a:t xml:space="preserve">    denied_paths=[str(vault)]),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E6EDF3"/>
                </a:solidFill>
                <a:latin typeface="Courier New"/>
              </a:rPr>
              <a:t xml:space="preserve">  network=SandboxConfigUserPolicyNetwork(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E6EDF3"/>
                </a:solidFill>
                <a:latin typeface="Courier New"/>
              </a:rPr>
              <a:t xml:space="preserve">    allow_outbound=False))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E6EDF3"/>
                </a:solidFill>
                <a:latin typeface="Courier New"/>
              </a:rPr>
              <a:t>config = SandboxConfig(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E6EDF3"/>
                </a:solidFill>
                <a:latin typeface="Courier New"/>
              </a:rPr>
              <a:t xml:space="preserve">  enabled=True, allow_bypass=True,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E6EDF3"/>
                </a:solidFill>
                <a:latin typeface="Courier New"/>
              </a:rPr>
              <a:t xml:space="preserve">  user_policy=policy)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E6EDF3"/>
                </a:solidFill>
                <a:latin typeface="Courier New"/>
              </a:rPr>
              <a:t>await session.rpc.options.update(</a:t>
            </a:r>
          </a:p>
          <a:p>
            <a:pPr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E6EDF3"/>
                </a:solidFill>
                <a:latin typeface="Courier New"/>
              </a:rPr>
              <a:t xml:space="preserve">  SessionUpdateOptionsParams(sandbox_config=config))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4023360"/>
            <a:ext cx="8046720" cy="64008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31520" y="40690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6EDF3"/>
                </a:solidFill>
                <a:latin typeface="Calibri"/>
              </a:rPr>
              <a:t>Bypass evidence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920240" y="4114800"/>
            <a:ext cx="1828800" cy="45720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1920240" y="4114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E6EDF3"/>
                </a:solidFill>
                <a:latin typeface="Calibri"/>
              </a:rPr>
              <a:t>request_sandbox_bypass=True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86200" y="4069080"/>
            <a:ext cx="320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8A6FF"/>
                </a:solidFill>
                <a:latin typeface="Calibri"/>
              </a:rPr>
              <a:t>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06240" y="4114800"/>
            <a:ext cx="1828800" cy="45720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206240" y="4114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E6EDF3"/>
                </a:solidFill>
                <a:latin typeface="Calibri"/>
              </a:rPr>
              <a:t>Human approves once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172200" y="4069080"/>
            <a:ext cx="320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 i="0">
                <a:solidFill>
                  <a:srgbClr val="58A6FF"/>
                </a:solidFill>
                <a:latin typeface="Calibri"/>
              </a:rPr>
              <a:t>→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492240" y="4114800"/>
            <a:ext cx="1828800" cy="457200"/>
          </a:xfrm>
          <a:prstGeom prst="rect">
            <a:avLst/>
          </a:prstGeom>
          <a:solidFill>
            <a:srgbClr val="0D1117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492240" y="411480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E6EDF3"/>
                </a:solidFill>
                <a:latin typeface="Calibri"/>
              </a:rPr>
              <a:t>Denied marker becomes readable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900">
                <a:solidFill>
                  <a:srgbClr val="8B949E"/>
                </a:solidFill>
              </a:rPr>
              <a:t>25 /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Authority Order for SDK 1.0.13</a:t>
            </a:r>
            <a:endParaRPr lang="en-US" sz="26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320040"/>
            <a:ext cx="457200" cy="4572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731520" y="1051560"/>
            <a:ext cx="457200" cy="457200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6" name="Text 3"/>
          <p:cNvSpPr/>
          <p:nvPr/>
        </p:nvSpPr>
        <p:spPr>
          <a:xfrm>
            <a:off x="731520" y="105156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1371600" y="10058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stable release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1371600" y="12801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v1.0.13 package and tag; not unreleased main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731520" y="1828800"/>
            <a:ext cx="457200" cy="457200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0" name="Text 7"/>
          <p:cNvSpPr/>
          <p:nvPr/>
        </p:nvSpPr>
        <p:spPr>
          <a:xfrm>
            <a:off x="731520" y="182880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1371600" y="178308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types and tests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371600" y="205740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signatures and wire shapes define the installed API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31520" y="2606040"/>
            <a:ext cx="457200" cy="457200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4" name="Text 11"/>
          <p:cNvSpPr/>
          <p:nvPr/>
        </p:nvSpPr>
        <p:spPr>
          <a:xfrm>
            <a:off x="731520" y="260604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5" name="Text 12"/>
          <p:cNvSpPr/>
          <p:nvPr/>
        </p:nvSpPr>
        <p:spPr>
          <a:xfrm>
            <a:off x="1371600" y="25603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language samples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1371600" y="28346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idiomatic patterns, then verify with the bundled runtime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731520" y="3383280"/>
            <a:ext cx="457200" cy="457200"/>
          </a:xfrm>
          <a:prstGeom prst="line">
            <a:avLst/>
          </a:prstGeom>
          <a:solidFill>
            <a:srgbClr val="1F6FEB"/>
          </a:solidFill>
          <a:ln w="6350">
            <a:solidFill>
              <a:srgbClr val="30363D"/>
            </a:solidFill>
          </a:ln>
        </p:spPr>
        <p:txBody>
          <a:bodyPr/>
          <a:lstStyle/>
          <a:p>
            <a:endParaRPr/>
          </a:p>
        </p:txBody>
      </p:sp>
      <p:sp>
        <p:nvSpPr>
          <p:cNvPr id="18" name="Text 15"/>
          <p:cNvSpPr/>
          <p:nvPr/>
        </p:nvSpPr>
        <p:spPr>
          <a:xfrm>
            <a:off x="731520" y="3383280"/>
            <a:ext cx="457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1371600" y="333756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events and results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371600" y="361188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plausible model answer is not proof that a tool ran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669280" y="1005840"/>
            <a:ext cx="3017520" cy="3200400"/>
          </a:xfrm>
          <a:prstGeom prst="line">
            <a:avLst/>
          </a:prstGeom>
          <a:solidFill>
            <a:srgbClr val="161B22"/>
          </a:solidFill>
          <a:ln w="12700"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9"/>
          <p:cNvSpPr/>
          <p:nvPr/>
        </p:nvSpPr>
        <p:spPr>
          <a:xfrm>
            <a:off x="5852160" y="1097280"/>
            <a:ext cx="26517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References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852160" y="1508760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SDK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5852160" y="1673352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github.com/github/copilot-sdk</a:t>
            </a:r>
            <a:endParaRPr lang="en-US" sz="800" dirty="0"/>
          </a:p>
        </p:txBody>
      </p:sp>
      <p:sp>
        <p:nvSpPr>
          <p:cNvPr id="25" name="Text 22"/>
          <p:cNvSpPr/>
          <p:nvPr/>
        </p:nvSpPr>
        <p:spPr>
          <a:xfrm>
            <a:off x="5852160" y="1920240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Python samples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5852160" y="2084832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chat.py + manual_tool_resume.py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5852160" y="2331720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</a:t>
            </a:r>
            <a:endParaRPr lang="en-US" sz="1000" dirty="0"/>
          </a:p>
        </p:txBody>
      </p:sp>
      <p:sp>
        <p:nvSpPr>
          <p:cNvPr id="28" name="Text 25"/>
          <p:cNvSpPr/>
          <p:nvPr/>
        </p:nvSpPr>
        <p:spPr>
          <a:xfrm>
            <a:off x="5852160" y="2496312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github.com/jeffrey-groneberg/ghcp_sdk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5852160" y="2743200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MCP server</a:t>
            </a:r>
            <a:endParaRPr lang="en-US" sz="1000" dirty="0"/>
          </a:p>
        </p:txBody>
      </p:sp>
      <p:sp>
        <p:nvSpPr>
          <p:cNvPr id="30" name="Text 27"/>
          <p:cNvSpPr/>
          <p:nvPr/>
        </p:nvSpPr>
        <p:spPr>
          <a:xfrm>
            <a:off x="5852160" y="2907792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github.com/github/github-mcp-server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5852160" y="3154680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baseline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5852160" y="3319272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1.0.13 · runtime 1.0.83 · verified 14 Sep 2026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5852160" y="3566160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main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852160" y="3730752"/>
            <a:ext cx="2651760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dirty="0">
                <a:solidFill>
                  <a:srgbClr val="ADB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Preview only; runtime 1.0.84-5 is unreleased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548640" y="4251960"/>
            <a:ext cx="8046720" cy="457200"/>
          </a:xfrm>
          <a:prstGeom prst="line">
            <a:avLst/>
          </a:prstGeom>
          <a:solidFill>
            <a:srgbClr val="1F6FEB">
              <a:alpha val="15000"/>
            </a:srgbClr>
          </a:solidFill>
          <a:ln w="6350">
            <a:noFill/>
          </a:ln>
        </p:spPr>
        <p:txBody>
          <a:bodyPr/>
          <a:lstStyle/>
          <a:p>
            <a:endParaRPr/>
          </a:p>
        </p:txBody>
      </p:sp>
      <p:sp>
        <p:nvSpPr>
          <p:cNvPr id="36" name="Text 33"/>
          <p:cNvSpPr/>
          <p:nvPr/>
        </p:nvSpPr>
        <p:spPr>
          <a:xfrm>
            <a:off x="548640" y="4251960"/>
            <a:ext cx="80467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58A6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prose differs, use the generated stable types and tests.</a:t>
            </a:r>
            <a:endParaRPr lang="en-US" sz="1400" dirty="0"/>
          </a:p>
        </p:txBody>
      </p:sp>
      <p:sp>
        <p:nvSpPr>
          <p:cNvPr id="39" name="Text 35"/>
          <p:cNvSpPr/>
          <p:nvPr/>
        </p:nvSpPr>
        <p:spPr>
          <a:xfrm>
            <a:off x="8046720" y="4754880"/>
            <a:ext cx="914400" cy="274320"/>
          </a:xfrm>
          <a:prstGeom prst="rect">
            <a:avLst/>
          </a:prstGeom>
          <a:noFill/>
          <a:ln>
            <a:noFill/>
          </a:ln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949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27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111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C9D1D9"/>
                </a:solidFill>
                <a:latin typeface="Calibri"/>
              </a:rPr>
              <a:t>Implementation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8046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B949E"/>
                </a:solidFill>
                <a:latin typeface="Calibri"/>
              </a:rPr>
              <a:t>Define runtime ownership, identity, tool scope, and evidence before adding capabilities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143000"/>
            <a:ext cx="3931920" cy="338328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12344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3FB950"/>
                </a:solidFill>
                <a:latin typeface="Calibri"/>
              </a:rPr>
              <a:t>Required decisions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6002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1. Runtime connection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83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Managed child or protected existing runtime URI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1031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2. Identity and ownership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2860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Authenticate principals; authorize session create, resume, and delete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6060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3. Tool execution controls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889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ToolSet, permission callbacks, hooks, and sandbox policy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1089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4. Runtime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2918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Timeouts, errors, tool-call IDs, results, and audit events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118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Production boundary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7947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Your host owns identity, isolation, routing, and observability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1148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Source priority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2976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Use published stable types and tests when prose differs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40" y="1143000"/>
            <a:ext cx="3931920" cy="3383280"/>
          </a:xfrm>
          <a:prstGeom prst="rect">
            <a:avLst/>
          </a:prstGeom>
          <a:solidFill>
            <a:srgbClr val="161B22"/>
          </a:solidFill>
          <a:ln w="12700">
            <a:solidFill>
              <a:srgbClr val="484F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892040" y="123444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0883E"/>
                </a:solidFill>
                <a:latin typeface="Calibri"/>
              </a:rPr>
              <a:t>Release contract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2040" y="16002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Stable SDK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92040" y="17830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1.0.13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2040" y="21031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92040" y="228600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1.0.83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92040" y="26060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Verified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2040" y="278892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14 September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92040" y="31089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Samples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92040" y="329184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01–08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92040" y="361188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C9D1D9"/>
                </a:solidFill>
                <a:latin typeface="Calibri"/>
              </a:rPr>
              <a:t>Current main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2040" y="3794760"/>
            <a:ext cx="34747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8B949E"/>
                </a:solidFill>
                <a:latin typeface="Calibri"/>
              </a:rPr>
              <a:t>Preview only; unreleased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8046720" y="4754880"/>
            <a:ext cx="914400" cy="274320"/>
          </a:xfrm>
          <a:prstGeom prst="rect">
            <a:avLst/>
          </a:prstGeom>
        </p:spPr>
        <p:txBody>
          <a:bodyPr wrap="square" rtlCol="0">
            <a:spAutoFit/>
          </a:bodyPr>
          <a:lstStyle/>
          <a:p>
            <a:r>
              <a:rPr sz="900">
                <a:solidFill>
                  <a:srgbClr val="8B949E"/>
                </a:solidFill>
              </a:rPr>
              <a:t>27 /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8441</Words>
  <Application>Microsoft Macintosh PowerPoint</Application>
  <PresentationFormat>Bildschirmpräsentation (16:9)</PresentationFormat>
  <Paragraphs>805</Paragraphs>
  <Slides>28</Slides>
  <Notes>28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28</vt:i4>
      </vt:variant>
    </vt:vector>
  </HeadingPairs>
  <TitlesOfParts>
    <vt:vector size="32" baseType="lpstr">
      <vt:lpstr>Arial</vt:lpstr>
      <vt:lpstr>Calibri</vt:lpstr>
      <vt:lpstr>Consolas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GitHub Copilot SDK - Agents for Every App</dc:title>
  <dc:subject>PptxGenJS Presentation</dc:subject>
  <dc:creator>GitHub Copilot SDK Presentation</dc:creator>
  <cp:lastModifiedBy>Jeffrey Groneberg</cp:lastModifiedBy>
  <cp:revision>3</cp:revision>
  <dcterms:created xsi:type="dcterms:W3CDTF">2026-03-20T06:22:26Z</dcterms:created>
  <dcterms:modified xsi:type="dcterms:W3CDTF">2026-03-27T14:31:51Z</dcterms:modified>
</cp:coreProperties>
</file>