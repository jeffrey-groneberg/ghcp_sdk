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62" r:id="rId6"/>
    <p:sldId id="257" r:id="rId3"/>
    <p:sldId id="258" r:id="rId4"/>
    <p:sldId id="263" r:id="rId11"/>
    <p:sldId id="273" r:id="rId22"/>
    <p:sldId id="279" r:id="rId9"/>
    <p:sldId id="280" r:id="rId10"/>
    <p:sldId id="285" r:id="rId35"/>
    <p:sldId id="259" r:id="rId18"/>
    <p:sldId id="271" r:id="rId7"/>
    <p:sldId id="266" r:id="rId14"/>
    <p:sldId id="284" r:id="rId16"/>
    <p:sldId id="267" r:id="rId15"/>
    <p:sldId id="268" r:id="rId17"/>
    <p:sldId id="261" r:id="rId5"/>
    <p:sldId id="286" r:id="rId36"/>
    <p:sldId id="287" r:id="rId37"/>
    <p:sldId id="275" r:id="rId23"/>
    <p:sldId id="264" r:id="rId12"/>
    <p:sldId id="276" r:id="rId27"/>
    <p:sldId id="265" r:id="rId13"/>
    <p:sldId id="277" r:id="rId24"/>
    <p:sldId id="274" r:id="rId26"/>
    <p:sldId id="283" r:id="rId29"/>
    <p:sldId id="278" r:id="rId25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16.xml"/><Relationship Id="rId6" Type="http://schemas.openxmlformats.org/officeDocument/2006/relationships/slide" Target="slides/slide2.xml"/><Relationship Id="rId7" Type="http://schemas.openxmlformats.org/officeDocument/2006/relationships/slide" Target="slides/slide11.xml"/><Relationship Id="rId8" Type="http://schemas.openxmlformats.org/officeDocument/2006/relationships/slide" Target="slides/slide7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20.xml"/><Relationship Id="rId13" Type="http://schemas.openxmlformats.org/officeDocument/2006/relationships/slide" Target="slides/slide22.xml"/><Relationship Id="rId14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0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7.xml"/><Relationship Id="rId22" Type="http://schemas.openxmlformats.org/officeDocument/2006/relationships/slide" Target="slides/slide6.xml"/><Relationship Id="rId23" Type="http://schemas.openxmlformats.org/officeDocument/2006/relationships/slide" Target="slides/slide19.xml"/><Relationship Id="rId24" Type="http://schemas.openxmlformats.org/officeDocument/2006/relationships/slide" Target="slides/slide23.xml"/><Relationship Id="rId25" Type="http://schemas.openxmlformats.org/officeDocument/2006/relationships/slide" Target="slides/slide26.xml"/><Relationship Id="rId26" Type="http://schemas.openxmlformats.org/officeDocument/2006/relationships/slide" Target="slides/slide24.xml"/><Relationship Id="rId27" Type="http://schemas.openxmlformats.org/officeDocument/2006/relationships/slide" Target="slides/slide21.xml"/><Relationship Id="rId28" Type="http://schemas.openxmlformats.org/officeDocument/2006/relationships/slide" Target="slides/slide27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9.xml"/><Relationship Id="rId36" Type="http://schemas.openxmlformats.org/officeDocument/2006/relationships/slide" Target="slides/slide17.xml"/><Relationship Id="rId37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016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Four-chapter workshop: SDK details, CLI boundary, possibilities, then samples. Stable baseline verified 14 September 2026: SDK 1.0.13 and runtime 1.0.83.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GitHub describes the underlying agent runtime as production-tested. Do not expand that into a guarantee about the host application. The SDK packages the runtime; production identity, authorization, isolation, routing, and UI remain application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six SDKs communicate with the runtime using JSON-RPC. The default Python client owns a child runtime; an application can also connect to an existing server. Models and built-in tools vary by runtime, account, platform, policy, and session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general install uses ordinary PyPI. This repository's devcontainer additionally routes pip through the Microsoft package-feed proxy. Authentication is still required. The SDK-managed runtime is downloaded on first use if it was not pre-downloaded.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sample section begins only after the SDK, CLI boundary, and capability possibilities are established. The eight examples are independently runnable and each has a matching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SDK is an agent engine, not a tenant boundary, authorization layer, load balancer, scheduler, or observability backend. Production hosts must provide identity, session ownership, workspace/state isolation, routing/concurrency, logging policy, network controls, and least-privilege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tool sources share one runtime catalogue: built-in, host custom, and MCP. ToolSet filters by source. ask_user is a built-in human-input tool. session_id is lifecycle state, not a tool or authorization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Exposure, action decision, and containment are separate controls. Permission callbacks approve or reject. Pre-tool hooks can allow, ask, deny, or modify arguments. Managed settings express allow, ask, and deny. SandboxConfig is experimental and the host still owns tenant/process isolation.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model and permission callback are optional for a text-only session. available_tools=[] removes tool exposure. send_and_wait raises on timeout or session error; None means the session became idle without a final assistant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Custom agent tools are optional; omitted or null means the session's available tools. This workshop explicitly scopes researcher and reviewer to grep, glob, and view, selects the researcher, then verifies the reviewer after AgentSelectRequest.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generic remote MCP connection owns its authentication. The helper accepts an eligible GitHub bearer token from GITHUB_TOKEN, GH_TOKEN, or gh auth token. OAuth through on_mcp_auth_request is another supported path. A matching ToolExecutionStartData event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SDK exposes independent building blocks rather than one mandatory framework: tools, agents, MCP, streaming, hooks, persistence, identity, HITL, sandboxing, and BYOK.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stable documentation covers signed-in users, explicit per-user tokens, environment tokens, server-to-server installation tokens, and BYOK. Environment precedence is COPILOT_GITHUB_TOKEN, then GH_TOKEN, then GITHUB_TOKEN. Installation tokens are supplied to the runtime environment and are not session github_token values. Generic MCP authentication remains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cases are illustrative architectures, not performance or security guarantees. Choose the CLI for a person working in a terminal, the SDK for an application-owned surface, and an orchestration framework only when multiple providers or workflows require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Stable ProviderConfig types are openai, azure, and anthropic. OpenAI-compatible local providers can use type openai. A model is required for custom providers. bearer_token_provider takes precedence over static credentials and supports Entra/managed identity. Local inference alone does not make the whole application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default Python client owns a managed stdio child. RuntimeConnection.for_stdio(path=...) uses an explicit complete runtime bundle. for_uri connects to an already-running server; for_tcp starts an owned TCP child. Protect non-loopback endpoints. Multi-tenant mode empty requires explicit storage and tool opt-in.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session.send dispatches a turn and returns its message ID. Typed session events carry deltas, tool activity, errors, and idle state. send_and_wait keeps user listeners active while it waits and propagates timeout or session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tool schema comes from the module-level Pydantic model. The handler is async, returns explicitly fictional data, uses a source-qualified ToolSet filter, and propagates cancellation. The real sample checks for a missing final reply.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Persisted conversation context survives detach and process exit when the same CLI state storage is available. A generated session.session_id is resumable. Cold resume must re-register callbacks and tools and re-supply BYOK credentials, MCP authentication/configuration, and startup-only managed settings where applicable.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priority for this workshop: published v1.0.13 package and tag, generated stable types/tests, official language samples, then live runtime evidence. Current main is ahead and pins runtime 1.0.84-5, but it is not the stable workshop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Stage 1 validates the structured ask_user schema and falls back only when that schema is unavailable. Stage 2 validates one platform-specific command before asking for approve-once. The displayed code focuses on the action callback; the subtitle and notes make the two-stage path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stable Python SessionHooks type exposes ten callbacks. This sample uses on_pre_tool_use, on_post_tool_use, and on_post_tool_use_failure. Counts in overview documents can differ; the generated stable Python type is the exact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presentation ends after the sample section and source-of-truth slide. Stable baseline: SDK 1.0.13 and runtime 1.0.83, verified 14 September 2026. Current main is newer but unreleased.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experimental sandbox sample explicitly enables the SANDBOX feature, applies filesystem and network policy, and asks separately before one bypass. Host-side Python handlers are not automatically contained.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0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</a:t>
            </a:r>
            <a:endParaRPr lang="en-US" sz="4200" dirty="0"/>
          </a:p>
        </p:txBody>
      </p:sp>
      <p:sp>
        <p:nvSpPr>
          <p:cNvPr id="20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Four-Chapter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2801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745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SDK in Detail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lifecycle, events, tools, and controls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651760" y="109728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801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18745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SDK vs. CLI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743200" y="21945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different surface and ownership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2801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18745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Capabilities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846320" y="21945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automation, services, and providers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858000" y="109728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2801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18745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Samples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949440" y="21945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map, and all eight runnable examples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48640" y="297180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31546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" y="37490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SDK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40080" y="40690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1.0.13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2651760" y="297180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15468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743200" y="37490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2743200" y="40690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1.0.83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754880" y="297180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0680" y="3154680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846320" y="37490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samples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4846320" y="40690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6858000" y="297180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3154680"/>
            <a:ext cx="502920" cy="5029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49440" y="37490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949440" y="40690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September 2026</a:t>
            </a:r>
            <a:endParaRPr lang="en-US" sz="950" dirty="0"/>
          </a:p>
        </p:txBody>
      </p:sp>
      <p:sp>
        <p:nvSpPr>
          <p:cNvPr id="38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in Detail · What It 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28016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same agent runtime behind Copilot CLI in your application.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handles planning and tool execution; your host still owns identity, authorization, isolation, routing, and UI.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532888" cy="20116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540764" y="2743200"/>
            <a:ext cx="548640" cy="548640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8346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429000"/>
            <a:ext cx="22585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Runtime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794760"/>
            <a:ext cx="216712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as Copilot CLI; models and tools remain account- and configuration-dependent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55848" y="2560320"/>
            <a:ext cx="2532888" cy="20116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347972" y="2743200"/>
            <a:ext cx="548640" cy="548640"/>
          </a:xfrm>
          <a:prstGeom prst="line">
            <a:avLst/>
          </a:prstGeom>
          <a:solidFill>
            <a:srgbClr val="238636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412" y="28346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3008" y="3429000"/>
            <a:ext cx="22585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SDKs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38728" y="3794760"/>
            <a:ext cx="216712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Python, Go, .NET, Java, and Rust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2560320"/>
            <a:ext cx="2532888" cy="20116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7155180" y="2743200"/>
            <a:ext cx="548640" cy="548640"/>
          </a:xfrm>
          <a:prstGeom prst="line">
            <a:avLst/>
          </a:prstGeom>
          <a:solidFill>
            <a:srgbClr val="8957E5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28346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0216" y="3429000"/>
            <a:ext cx="22585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45936" y="3794760"/>
            <a:ext cx="216712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events, custom tools and agents, MCP, hooks, persistence, and BYOK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in Detail ·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377440" cy="15544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745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/ Python / Go / .NET / Java / Rust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377440" cy="15544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25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18745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Client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Communication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126480" y="1188720"/>
            <a:ext cx="2377440" cy="15544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3258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18745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21945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Mode (stdio / TCP)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1737360"/>
            <a:ext cx="274320" cy="274320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1737360"/>
            <a:ext cx="274320" cy="27432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2926080" y="3108960"/>
            <a:ext cx="329184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20040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017520" y="36576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3017520" y="38862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 ·  OpenAI  ·  Azure  ·  Anthropic  ·  Local</a:t>
            </a:r>
            <a:endParaRPr lang="en-US" sz="8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200400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14400" y="320040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child or external runtime</a:t>
            </a:r>
            <a:endParaRPr lang="en-US" sz="10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566160"/>
            <a:ext cx="182880" cy="1828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914400" y="35661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 per owner; persisted state remains</a:t>
            </a:r>
            <a:endParaRPr lang="en-US" sz="10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931920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14400" y="39319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events and callbacks</a:t>
            </a:r>
            <a:endParaRPr lang="en-US" sz="10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200400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949440" y="320040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when the same state storage is available</a:t>
            </a:r>
            <a:endParaRPr lang="en-US" sz="10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566160"/>
            <a:ext cx="182880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949440" y="356616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App-owned identity, isolation, and routing</a:t>
            </a:r>
            <a:endParaRPr lang="en-US" sz="10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931920"/>
            <a:ext cx="182880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949440" y="39319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OpenTelemetry tracing</a:t>
            </a:r>
            <a:endParaRPr lang="en-US" sz="1000" dirty="0"/>
          </a:p>
        </p:txBody>
      </p:sp>
      <p:sp>
        <p:nvSpPr>
          <p:cNvPr id="37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in Detail · Client and Session Lifecycle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Text-only, bounded, explicit lifecycle; permission callbacks are optional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8046720" cy="329184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11887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7772400" cy="315468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from copilot import CopilotClient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async with CopilotClient() as client: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    async with await client.create_session(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        available_tools=[],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    ) as session: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        reply = await session.send_and_wait(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            "Explain the SDK in 3 sentences.", timeout=60,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        )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        if reply is None: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            raise RuntimeError("No final message")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E6EDF3"/>
                </a:solidFill>
                <a:latin typeface="Courier New"/>
              </a:rPr>
              <a:t xml:space="preserve">        print(reply.data.content)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urier New"/>
              </a:rPr>
              <a:t xml:space="preserve"/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urier New"/>
              </a:rPr>
              <a:t xml:space="preserve"/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urier New"/>
              </a:rPr>
              <a:t xml:space="preserve"/>
            </a:r>
          </a:p>
        </p:txBody>
      </p:sp>
      <p:sp>
        <p:nvSpPr>
          <p:cNvPr id="12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in Detail · Events and Streaming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events carry progress; send_and_wait composes bounded completion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3931920" cy="329184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1371600" cy="256032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11430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events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46304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from copilot.session_events import 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AssistantMessageDeltaData as Delta,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def on_event(event):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match event.data: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    case Delta(delta_content=text):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        print(text or "", end="", flush=True)</a:t>
            </a:r>
          </a:p>
        </p:txBody>
      </p:sp>
      <p:sp>
        <p:nvSpPr>
          <p:cNvPr id="10" name="Shape 7"/>
          <p:cNvSpPr/>
          <p:nvPr/>
        </p:nvSpPr>
        <p:spPr>
          <a:xfrm>
            <a:off x="4663440" y="1143000"/>
            <a:ext cx="3931920" cy="329184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63440" y="1143000"/>
            <a:ext cx="1371600" cy="256032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663440" y="11430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session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00600" y="146304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>async with CopilotClient() as client: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session = await client.create_session(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    streaming=True, available_tools=[])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unsubscribe = session.on(on_event)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reply = await session.send_and_wait(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    "Explain the SDK briefly.", timeout=60)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if reply is None: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    raise RuntimeError("No final message")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ourier New"/>
              </a:rPr>
              <a:t xml:space="preserve">    unsubscribe()</a:t>
            </a:r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8046720" cy="2743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Deltas are chunks, not guaranteed tokens. Unsubscribe listeners in finally.</a:t>
            </a: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in Detail · Tool and Session Surfaces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0584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430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0" y="109728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BUILTIN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1188720" y="11155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tools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88720" y="14630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glob, grep, edit, shell · exact catalogue depends on configuration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54880" y="100584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1430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63840" y="109728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5394960" y="11155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functions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94960" y="14630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@define_tool creates sync or async handlers in the host process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228600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4231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57600" y="237744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1188720" y="23957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servers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88720" y="27432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stdio or remote HTTP/SSE with independent configuration and auth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228600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4231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63840" y="237744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5394960" y="23957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ToolSet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394960" y="27432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canonical builtin:, custom:, and mcp: names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48640" y="356616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70332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57600" y="36576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700" dirty="0"/>
          </a:p>
        </p:txBody>
      </p:sp>
      <p:sp>
        <p:nvSpPr>
          <p:cNvPr id="28" name="Text 20"/>
          <p:cNvSpPr/>
          <p:nvPr/>
        </p:nvSpPr>
        <p:spPr>
          <a:xfrm>
            <a:off x="1188720" y="36758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ask_user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188720" y="40233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or structured elicitation; host validates collected input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754880" y="356616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703320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863840" y="36576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700" dirty="0"/>
          </a:p>
        </p:txBody>
      </p:sp>
      <p:sp>
        <p:nvSpPr>
          <p:cNvPr id="33" name="Text 24"/>
          <p:cNvSpPr/>
          <p:nvPr/>
        </p:nvSpPr>
        <p:spPr>
          <a:xfrm>
            <a:off x="5394960" y="36758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394960" y="40233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conversation identity for resume; not a tool or authorization boundary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9D1D9"/>
                </a:solidFill>
                <a:latin typeface="Calibri"/>
              </a:rPr>
              <a:t>SDK in Detail · Permission and Containment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Exposure is not approval. Approval is not containment.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624328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8A6FF"/>
                </a:solidFill>
                <a:latin typeface="Calibri"/>
              </a:rPr>
              <a:t>1.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350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B949E"/>
                </a:solidFill>
                <a:latin typeface="Calibri"/>
              </a:rPr>
              <a:t>Shape the model-visible catalogue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441448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0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EDF3"/>
                </a:solidFill>
                <a:latin typeface="Calibri"/>
              </a:rPr>
              <a:t>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258568" cy="2286000"/>
          </a:xfrm>
          <a:prstGeom prst="rect">
            <a:avLst/>
          </a:prstGeom>
          <a:noFill/>
        </p:spPr>
        <p:txBody>
          <a:bodyPr wrap="none" lIns="25400" rIns="25400" t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ToolSet().add_builtin("view")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143000"/>
            <a:ext cx="2624328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234440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FB950"/>
                </a:solidFill>
                <a:latin typeface="Calibri"/>
              </a:rPr>
              <a:t>2.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508760"/>
            <a:ext cx="2350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B949E"/>
                </a:solidFill>
                <a:latin typeface="Calibri"/>
              </a:rPr>
              <a:t>Permission callbacks, hooks, managed settings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1828800"/>
            <a:ext cx="2441448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02152" y="1828800"/>
            <a:ext cx="731520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2152" y="1828800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EDF3"/>
                </a:solidFill>
                <a:latin typeface="Calibri"/>
              </a:rP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103120"/>
            <a:ext cx="2258568" cy="2286000"/>
          </a:xfrm>
          <a:prstGeom prst="rect">
            <a:avLst/>
          </a:prstGeom>
          <a:noFill/>
        </p:spPr>
        <p:txBody>
          <a:bodyPr wrap="none" lIns="25400" rIns="25400" t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Permission handler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Pre-tool hook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ManagedSettings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3" y="1143000"/>
            <a:ext cx="2624328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1234440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0883E"/>
                </a:solidFill>
                <a:latin typeface="Calibri"/>
              </a:rPr>
              <a:t>3. Containment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508760"/>
            <a:ext cx="2350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B949E"/>
                </a:solidFill>
                <a:latin typeface="Calibri"/>
              </a:rPr>
              <a:t>Runtime sandbox plus host isolation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3" y="1828800"/>
            <a:ext cx="2441448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64223" y="1828800"/>
            <a:ext cx="731520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3" y="1828800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EDF3"/>
                </a:solidFill>
                <a:latin typeface="Calibri"/>
              </a:rPr>
              <a:t>Sandbox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103120"/>
            <a:ext cx="2258568" cy="2286000"/>
          </a:xfrm>
          <a:prstGeom prst="rect">
            <a:avLst/>
          </a:prstGeom>
          <a:noFill/>
        </p:spPr>
        <p:txBody>
          <a:bodyPr wrap="none" lIns="25400" rIns="25400" t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>SandboxConfig(enabled=True,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Courier New"/>
              </a:rPr>
              <a:t xml:space="preserve">              allow_bypass=False)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9D1D9"/>
                </a:solidFill>
                <a:latin typeface="Calibri"/>
              </a:rPr>
              <a:t>CLI vs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Same runtime engine and JSON-RPC protocol; different product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624328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8A6FF"/>
                </a:solidFill>
                <a:latin typeface="Calibri"/>
              </a:rPr>
              <a:t>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350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B949E"/>
                </a:solidFill>
                <a:latin typeface="Calibri"/>
              </a:rPr>
              <a:t>Interactive terminal 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441448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0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9D1D9"/>
                </a:solidFill>
                <a:latin typeface="Calibri"/>
              </a:rPr>
              <a:t>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258568" cy="2286000"/>
          </a:xfrm>
          <a:prstGeom prst="rect">
            <a:avLst/>
          </a:prstGeom>
          <a:noFill/>
        </p:spPr>
        <p:txBody>
          <a:bodyPr wrap="none" lIns="25400" rIns="25400" t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Human drives the loop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Built-in terminal UI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Local defaults and slash commands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143000"/>
            <a:ext cx="2624328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234440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FB950"/>
                </a:solidFill>
                <a:latin typeface="Calibri"/>
              </a:rPr>
              <a:t>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508760"/>
            <a:ext cx="2350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B949E"/>
                </a:solidFill>
                <a:latin typeface="Calibri"/>
              </a:rPr>
              <a:t>Application component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1828800"/>
            <a:ext cx="2441448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02152" y="1828800"/>
            <a:ext cx="731520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2152" y="1828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9D1D9"/>
                </a:solidFill>
                <a:latin typeface="Calibri"/>
              </a:rPr>
              <a:t>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103120"/>
            <a:ext cx="2258568" cy="2286000"/>
          </a:xfrm>
          <a:prstGeom prst="rect">
            <a:avLst/>
          </a:prstGeom>
          <a:noFill/>
        </p:spPr>
        <p:txBody>
          <a:bodyPr wrap="none" lIns="25400" rIns="25400" t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Application UI and lifecycle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Callbacks and custom tools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Credentials and observability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3" y="1143000"/>
            <a:ext cx="2624328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1234440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0883E"/>
                </a:solidFill>
                <a:latin typeface="Calibri"/>
              </a:rPr>
              <a:t>Shared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508760"/>
            <a:ext cx="2350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8B949E"/>
                </a:solidFill>
                <a:latin typeface="Calibri"/>
              </a:rPr>
              <a:t>Runtime engine + protocol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4223" y="1828800"/>
            <a:ext cx="2441448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64223" y="1828800"/>
            <a:ext cx="731520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3" y="18288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9D1D9"/>
                </a:solidFill>
                <a:latin typeface="Calibri"/>
              </a:rPr>
              <a:t>Both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103120"/>
            <a:ext cx="2258568" cy="2286000"/>
          </a:xfrm>
          <a:prstGeom prst="rect">
            <a:avLst/>
          </a:prstGeom>
          <a:noFill/>
        </p:spPr>
        <p:txBody>
          <a:bodyPr wrap="none" lIns="25400" rIns="25400" t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Runtime engine and JSON-RPC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Account/policy model catalogue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Calibri"/>
              </a:rPr>
              <a:t>Configuration-dependent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4663440" y="1188720"/>
            <a:ext cx="3931920" cy="3438144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360" y="1188720"/>
            <a:ext cx="3840480" cy="3438144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vs SDK · Runtime Ownership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SDKs use JSON-RPC; choose who owns the runtime process and state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931920" cy="329184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31520" y="13258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1: Managed stdio child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6459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provisions runtime 1.0.83 and owns lifecycle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05840" y="2011680"/>
            <a:ext cx="3017520" cy="41148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05840" y="20116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+ SDK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05840" y="2606040"/>
            <a:ext cx="3017520" cy="41148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005840" y="2606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over stdin/stdout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05840" y="3200400"/>
            <a:ext cx="3017520" cy="41148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005840" y="32004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(child process)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94760"/>
            <a:ext cx="155448" cy="1554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1560" y="379476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with CopilotClient()</a:t>
            </a:r>
            <a:endParaRPr lang="en-US" sz="9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41648"/>
            <a:ext cx="155448" cy="1554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404164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exit stops its owned child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88536"/>
            <a:ext cx="155448" cy="155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428853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local apps and workshops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663440" y="1188720"/>
            <a:ext cx="3931920" cy="329184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4846320" y="13258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2: Existing runtime URI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846320" y="16459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runs and protects the service endpoint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120640" y="2011680"/>
            <a:ext cx="3017520" cy="41148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3"/>
          <p:cNvSpPr/>
          <p:nvPr/>
        </p:nvSpPr>
        <p:spPr>
          <a:xfrm>
            <a:off x="5120640" y="201168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+ SDK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120640" y="2606040"/>
            <a:ext cx="3017520" cy="41148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5"/>
          <p:cNvSpPr/>
          <p:nvPr/>
        </p:nvSpPr>
        <p:spPr>
          <a:xfrm>
            <a:off x="5120640" y="260604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over protected TCP/URI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120640" y="3200400"/>
            <a:ext cx="3017520" cy="41148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27"/>
          <p:cNvSpPr/>
          <p:nvPr/>
        </p:nvSpPr>
        <p:spPr>
          <a:xfrm>
            <a:off x="5120640" y="32004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(headless server)</a:t>
            </a:r>
            <a:endParaRPr lang="en-US" sz="10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94760"/>
            <a:ext cx="155448" cy="15544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66360" y="379476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RuntimeConnection.for_uri("localhost:4321")</a:t>
            </a:r>
            <a:endParaRPr lang="en-US" sz="9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041648"/>
            <a:ext cx="155448" cy="1554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166360" y="404164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lifecycle; multi-client capable</a:t>
            </a:r>
            <a:endParaRPr lang="en-US" sz="95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288536"/>
            <a:ext cx="155448" cy="15544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166360" y="428853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Shared/multi-user hosts: mode="empty" plus explicit storage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vs SDK · Production Consequences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0584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430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0" y="109728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1188720" y="11155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every principal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88720" y="14630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clients and sessions to verified users or services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54880" y="100584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1430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63840" y="109728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5394960" y="11155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session lifecycle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94960" y="14630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resume, steer, and delete only for the owning principal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228600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4231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57600" y="237744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1188720" y="23957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workspaces and state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88720" y="27432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Repositories, temp files, custom tools, credentials, and storage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54880" y="228600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4231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63840" y="237744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5394960" y="239572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serialize turns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394960" y="27432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concurrency, credits, time, and queued work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48640" y="356616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70332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57600" y="36576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28" name="Text 20"/>
          <p:cNvSpPr/>
          <p:nvPr/>
        </p:nvSpPr>
        <p:spPr>
          <a:xfrm>
            <a:off x="1188720" y="36758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without leaking content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188720" y="40233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decisions and outcomes; redact secrets and private payloads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754880" y="3566160"/>
            <a:ext cx="3931920" cy="10972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703320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863840" y="36576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and Secrets</a:t>
            </a:r>
            <a:endParaRPr lang="en-US" sz="700" dirty="0"/>
          </a:p>
        </p:txBody>
      </p:sp>
      <p:sp>
        <p:nvSpPr>
          <p:cNvPr id="33" name="Text 24"/>
          <p:cNvSpPr/>
          <p:nvPr/>
        </p:nvSpPr>
        <p:spPr>
          <a:xfrm>
            <a:off x="5394960" y="36758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least privilege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394960" y="40233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egress and authenticate each generic MCP connection separately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· Capability Map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005840"/>
            <a:ext cx="3931920" cy="9601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731520" y="10972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14630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tools, agents, and MCP servers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9601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hooks, and persisted sessions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194560"/>
            <a:ext cx="3931920" cy="9601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31520" y="2286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26517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and human input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194560"/>
            <a:ext cx="3931920" cy="9601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37760" y="26517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plus host isolation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383280"/>
            <a:ext cx="3931920" cy="9601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731520" y="34747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provider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" y="38404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or BYOK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3383280"/>
            <a:ext cx="3931920" cy="9601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4937760" y="34747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37760" y="38404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routing, concurrency, observability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are modular. Enable only combinations your product can support safely.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54880" y="1097280"/>
            <a:ext cx="384048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93192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9D1D9"/>
                </a:solidFill>
              </a:rPr>
              <a:t>Capabilities · Where the SDK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B949E"/>
                </a:solidFill>
              </a:rPr>
              <a:t>Use the SDK when the agent must live inside another product or workflow; then choose identity and provider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dirty="0">
                <a:solidFill>
                  <a:srgbClr val="58A6FF"/>
                </a:solidFill>
              </a:rPr>
              <a:t xml:space="preserve">1. Developer tools</a:t>
            </a:r>
            <a:r>
              <a:rPr sz="1300" b="0" dirty="0">
                <a:solidFill>
                  <a:srgbClr val="C9D1D9"/>
                </a:solidFill>
              </a:rPr>
              <a:t xml:space="preserve"/>
            </a:r>
            <a:r>
              <a:rPr sz="1300" b="1" dirty="0">
                <a:solidFill>
                  <a:srgbClr val="3FB950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58A6FF"/>
                </a:solidFill>
              </a:rPr>
              <a:t xml:space="preserve">2. Review, triage, documentation, and CI automation</a:t>
            </a:r>
            <a:r>
              <a:rPr sz="1300" b="0" dirty="0">
                <a:solidFill>
                  <a:srgbClr val="C9D1D9"/>
                </a:solidFill>
              </a:rPr>
              <a:t xml:space="preserve"/>
            </a:r>
            <a:r>
              <a:rPr sz="1300" b="1" dirty="0">
                <a:solidFill>
                  <a:srgbClr val="3FB950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58A6FF"/>
                </a:solidFill>
              </a:rPr>
              <a:t xml:space="preserve">3. Internal knowledge and operations agents</a:t>
            </a:r>
            <a:r>
              <a:rPr sz="1300" b="0" dirty="0">
                <a:solidFill>
                  <a:srgbClr val="C9D1D9"/>
                </a:solidFill>
              </a:rPr>
              <a:t xml:space="preserve"/>
            </a:r>
            <a:r>
              <a:rPr sz="1300" b="1" dirty="0" err="1">
                <a:solidFill>
                  <a:srgbClr val="3FB950"/>
                </a:solidFill>
              </a:rPr>
              <a:t/>
            </a:r>
            <a:r>
              <a:rPr sz="1300" b="1" dirty="0">
                <a:solidFill>
                  <a:srgbClr val="3FB950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58A6FF"/>
                </a:solidFill>
              </a:rPr>
              <a:t xml:space="preserve">4. Multi-user products with app-owned identity and UI</a:t>
            </a:r>
            <a:r>
              <a:rPr sz="1300" b="0" dirty="0">
                <a:solidFill>
                  <a:srgbClr val="C9D1D9"/>
                </a:solidFill>
              </a:rPr>
              <a:t xml:space="preserve"/>
            </a:r>
            <a:r>
              <a:rPr sz="1300" b="1" dirty="0" err="1">
                <a:solidFill>
                  <a:srgbClr val="3FB950"/>
                </a:solidFill>
              </a:rPr>
              <a:t/>
            </a:r>
            <a:endParaRPr sz="1300" b="1" dirty="0">
              <a:solidFill>
                <a:srgbClr val="3FB950"/>
              </a:solidFill>
            </a:endParaRPr>
          </a:p>
          <a:p>
            <a:pPr>
              <a:spcAft>
                <a:spcPts val="600"/>
              </a:spcAft>
            </a:pPr>
            <a:r>
              <a:rPr sz="1300" b="1" dirty="0">
                <a:solidFill>
                  <a:srgbClr val="58A6FF"/>
                </a:solidFill>
              </a:rPr>
              <a:t xml:space="preserve">5. Provider-specific deployments with BYOK and private model catalogues</a:t>
            </a:r>
            <a:r>
              <a:rPr sz="1300" b="0" dirty="0">
                <a:solidFill>
                  <a:srgbClr val="C9D1D9"/>
                </a:solidFill>
              </a:rPr>
              <a:t xml:space="preserve"/>
            </a:r>
            <a:r>
              <a:rPr sz="1300" b="1" dirty="0">
                <a:solidFill>
                  <a:srgbClr val="3FB950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58A6FF"/>
                </a:solidFill>
              </a:rPr>
              <a:t>Choose the surface deliberately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C9D1D9"/>
                </a:solidFill>
              </a:rPr>
              <a:t xml:space="preserve">Interactive terminal user → Copilot CLI</a:t>
            </a:r>
            <a:r>
              <a:rPr sz="1300" b="0" dirty="0" err="1">
                <a:solidFill>
                  <a:srgbClr val="C9D1D9"/>
                </a:solidFill>
              </a:rPr>
              <a:t/>
            </a:r>
            <a:r>
              <a:rPr sz="1300" b="0" dirty="0">
                <a:solidFill>
                  <a:srgbClr val="C9D1D9"/>
                </a:solidFill>
              </a:rPr>
              <a:t xml:space="preserve"/>
            </a:r>
            <a:r>
              <a:rPr sz="1300" b="1" dirty="0">
                <a:solidFill>
                  <a:srgbClr val="3FB950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C9D1D9"/>
                </a:solidFill>
              </a:rPr>
              <a:t xml:space="preserve">Application-owned UI and lifecycle → Copilot SDK</a:t>
            </a:r>
            <a:r>
              <a:rPr sz="1300" b="0" dirty="0" err="1">
                <a:solidFill>
                  <a:srgbClr val="C9D1D9"/>
                </a:solidFill>
              </a:rPr>
              <a:t/>
            </a:r>
            <a:r>
              <a:rPr sz="1300" b="0" dirty="0">
                <a:solidFill>
                  <a:srgbClr val="C9D1D9"/>
                </a:solidFill>
              </a:rPr>
              <a:t xml:space="preserve"/>
            </a:r>
            <a:r>
              <a:rPr sz="1300" b="1" dirty="0">
                <a:solidFill>
                  <a:srgbClr val="3FB950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C9D1D9"/>
                </a:solidFill>
              </a:rPr>
              <a:t xml:space="preserve">Cross-provider orchestration → SDK plus a framework</a:t>
            </a:r>
            <a:r>
              <a:rPr sz="1300" b="0" dirty="0" err="1">
                <a:solidFill>
                  <a:srgbClr val="C9D1D9"/>
                </a:solidFill>
              </a:rPr>
              <a:t/>
            </a:r>
            <a:r>
              <a:rPr sz="1300" b="0" dirty="0">
                <a:solidFill>
                  <a:srgbClr val="C9D1D9"/>
                </a:solidFill>
              </a:rPr>
              <a:t xml:space="preserve"/>
            </a:r>
            <a:r>
              <a:rPr sz="1300" b="1" dirty="0">
                <a:solidFill>
                  <a:srgbClr val="3FB950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C9D1D9"/>
                </a:solidFill>
              </a:rPr>
              <a:t xml:space="preserve">Production boundaries remain host responsibilities</a:t>
            </a:r>
            <a:r>
              <a:rPr sz="1300" b="0" dirty="0" err="1">
                <a:solidFill>
                  <a:srgbClr val="C9D1D9"/>
                </a:solidFill>
              </a:rPr>
              <a:t/>
            </a:r>
            <a:r>
              <a:rPr sz="1300" b="0" dirty="0">
                <a:solidFill>
                  <a:srgbClr val="C9D1D9"/>
                </a:solidFill>
              </a:rPr>
              <a:t xml:space="preserve"/>
            </a:r>
            <a:r>
              <a:rPr sz="1300" b="1" dirty="0">
                <a:solidFill>
                  <a:srgbClr val="F85149"/>
                </a:solidFill>
              </a:rPr>
              <a:t/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900">
                <a:solidFill>
                  <a:srgbClr val="8B949E"/>
                </a:solidFill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· Identity Models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223113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6EDF3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6EDF3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E6EDF3"/>
                          </a:solidFill>
                          <a:latin typeface="Calibri"/>
                        </a:rPr>
                        <a:t>Billing / identity boundary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Signed-in user (CLI login)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Local and desktop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User entitlement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OAuth App / GitHub App user token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Multi-user SaaS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User entitlement + applicable organization policy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Environment / installation token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Automation / backend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Token owner + organization policy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BYOK provider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Custom inference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E6EDF3"/>
                          </a:solidFill>
                          <a:latin typeface="Calibri"/>
                        </a:rPr>
                        <a:t>Provider billing</a:t>
                      </a: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31012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Rotation: github_token_provider for Copilot identity · bearer_token_provider for BYOK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48640" y="3749040"/>
            <a:ext cx="1234440" cy="4114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548640" y="374904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783080" y="3749040"/>
            <a:ext cx="15544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938528" y="3749040"/>
            <a:ext cx="1234440" cy="4114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1938528" y="374904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172968" y="3749040"/>
            <a:ext cx="15544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2" name="Shape 9"/>
          <p:cNvSpPr/>
          <p:nvPr/>
        </p:nvSpPr>
        <p:spPr>
          <a:xfrm>
            <a:off x="3328416" y="3749040"/>
            <a:ext cx="1234440" cy="4114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3328416" y="374904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562856" y="3749040"/>
            <a:ext cx="15544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18304" y="3749040"/>
            <a:ext cx="1234440" cy="4114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4718304" y="374904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952744" y="3749040"/>
            <a:ext cx="15544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08192" y="3749040"/>
            <a:ext cx="1234440" cy="4114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6108192" y="374904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7342632" y="3749040"/>
            <a:ext cx="15544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498080" y="3749040"/>
            <a:ext cx="1234440" cy="4114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7498080" y="374904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· BYOK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provider, model, billing, residency, and access policy; keys are optional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2560320" cy="6400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685800" y="1234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0" y="123444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"openai"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1508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access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55848" y="1188720"/>
            <a:ext cx="2560320" cy="6400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493008" y="1234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Foundry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93208" y="123444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"openai" / "azure"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493008" y="1508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or managed identity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63056" y="1188720"/>
            <a:ext cx="2560320" cy="6400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300216" y="1234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00416" y="123444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"anthropic"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00216" y="15087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models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2011680"/>
            <a:ext cx="2560320" cy="6400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85800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286000" y="205740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"openai"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85800" y="23317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355848" y="2011680"/>
            <a:ext cx="2560320" cy="6400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3493008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Local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93208" y="205740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"openai"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493008" y="23317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163056" y="2011680"/>
            <a:ext cx="2560320" cy="64008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6300216" y="205740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900416" y="205740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"openai"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300216" y="23317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vLLM, LiteLLM, etc.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48640" y="3017520"/>
            <a:ext cx="80467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8"/>
          <p:cNvSpPr/>
          <p:nvPr/>
        </p:nvSpPr>
        <p:spPr>
          <a:xfrm>
            <a:off x="548640" y="3017520"/>
            <a:ext cx="1371600" cy="256032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48640" y="3017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85800" y="3337560"/>
            <a:ext cx="7772400" cy="123444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urier New"/>
              </a:rPr>
              <a:t>session = await client.create_session(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urier New"/>
              </a:rPr>
              <a:t xml:space="preserve">  model=os.environ["FOUNDRY_MODEL"],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urier New"/>
              </a:rPr>
              <a:t xml:space="preserve">  available_tools=[],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urier New"/>
              </a:rPr>
              <a:t xml:space="preserve">  provider={"type": "openai",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urier New"/>
              </a:rPr>
              <a:t xml:space="preserve">            "wire_api": "responses",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urier New"/>
              </a:rPr>
              <a:t xml:space="preserve">            "base_url": os.environ["FOUNDRY_MODEL_URL"],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urier New"/>
              </a:rPr>
              <a:t xml:space="preserve">            "api_key": os.environ["FOUNDRY_API_KEY"]})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Courier New"/>
              </a:rPr>
              <a:t>await session.send_and_wait("Hi", timeout=120)</a:t>
            </a:r>
          </a:p>
        </p:txBody>
      </p:sp>
      <p:sp>
        <p:nvSpPr>
          <p:cNvPr id="36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· Get to Green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621792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179576"/>
            <a:ext cx="5120640" cy="36576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337560" y="117957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b="1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github-copilot-sdk==1.0.13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01368"/>
            <a:ext cx="8046720" cy="621792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1801368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Authenticate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9384"/>
            <a:ext cx="5120640" cy="36576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37560" y="192938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b="1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login or eligible token / BYOK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51176"/>
            <a:ext cx="8046720" cy="621792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2551176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 runtime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2679192"/>
            <a:ext cx="5120640" cy="36576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337560" y="267919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b="1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copilot download-runtime  # optional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00984"/>
            <a:ext cx="8046720" cy="621792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22960" y="3300984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0" y="3429000"/>
            <a:ext cx="5120640" cy="36576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337560" y="3429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b="1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examples/01_simple_chat.py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50792"/>
            <a:ext cx="8046720" cy="621792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22960" y="4050792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0" y="4178808"/>
            <a:ext cx="5120640" cy="365760"/>
          </a:xfrm>
          <a:prstGeom prst="line">
            <a:avLst/>
          </a:prstGeom>
          <a:solidFill>
            <a:srgbClr val="0D1117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337560" y="41788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b="1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Streamed response and exit code 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SDKs share the runtime protocol; this workshop uses Python.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· Learning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2801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745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Streaming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response and typed deltas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651760" y="109728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801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18745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Custom tool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743200" y="21945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 and fictional data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2801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18745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Agents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846320" y="21945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persona selection and verification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858000" y="109728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28016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187452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Hooks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949440" y="219456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Pre-call, success, and failure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48640" y="297180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31546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" y="37490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MCP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40080" y="40690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connection, auth, and tool evidence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2651760" y="297180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15468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743200" y="37490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Persistence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2743200" y="40690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detach, and cold resume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754880" y="297180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0680" y="3154680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846320" y="37490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Human control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4846320" y="40690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Structured-first input and exact approval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6858000" y="2971800"/>
            <a:ext cx="1874520" cy="16459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3154680"/>
            <a:ext cx="502920" cy="5029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49440" y="374904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Sandbox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949440" y="40690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containment and one bypass</a:t>
            </a:r>
            <a:endParaRPr lang="en-US" sz="950" dirty="0"/>
          </a:p>
        </p:txBody>
      </p:sp>
      <p:sp>
        <p:nvSpPr>
          <p:cNvPr id="38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01 · Streaming Chat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deltas for output; send_and_wait for bounded completion and propagated errors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3931920" cy="329184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1371600" cy="256032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11430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events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46304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alibri"/>
              </a:rPr>
              <a:t>Run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alibri"/>
              </a:rPr>
              <a:t>python examples/01_simple_chat.py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alibri"/>
              </a:rPr>
              <a:t>Observe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alibri"/>
              </a:rPr>
              <a:t>assistant.message_delta chunks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alibri"/>
              </a:rPr>
              <a:t>final assistant message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Calibri"/>
              </a:rPr>
              <a:t>exit code 0</a:t>
            </a:r>
          </a:p>
        </p:txBody>
      </p:sp>
      <p:sp>
        <p:nvSpPr>
          <p:cNvPr id="10" name="Shape 7"/>
          <p:cNvSpPr/>
          <p:nvPr/>
        </p:nvSpPr>
        <p:spPr>
          <a:xfrm>
            <a:off x="4663440" y="1143000"/>
            <a:ext cx="3931920" cy="329184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63440" y="1143000"/>
            <a:ext cx="1371600" cy="256032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663440" y="11430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session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00600" y="146304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urier New"/>
              </a:rPr>
              <a:t>unsubscribe = session.on(on_event)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urier New"/>
              </a:rPr>
              <a:t>reply = await session.send_and_wait(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urier New"/>
              </a:rPr>
              <a:t xml:space="preserve">    "Explain the SDK in 3 sentences.",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urier New"/>
              </a:rPr>
              <a:t xml:space="preserve">    timeout=60)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urier New"/>
              </a:rPr>
              <a:t>if reply is None: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urier New"/>
              </a:rPr>
              <a:t xml:space="preserve">    raise RuntimeError("No final message")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E6EDF3"/>
                </a:solidFill>
                <a:latin typeface="Courier New"/>
              </a:rPr>
              <a:t>unsubscribe()</a:t>
            </a:r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8046720" cy="2743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Run: python examples/01_simple_chat.py · Expected: streamed text and exit code 0</a:t>
            </a: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02 · Fictional Weather Tool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schema, async host handler, ToolSet filter; explicitly not a live weather service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8046720" cy="356616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1371600" cy="256032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11430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46304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class WeatherParams(BaseModel):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city: str = Field(min_length=1)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@define_tool(description="Fictional demo weather")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async def get_weather(params):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return {"city": params.city,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        "source": "fictional demo"}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tools = ToolSet().add_custom("get_weather")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session = await client.create_session(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tools=[get_weather], available_tools=tools,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on_permission_request=PermissionHandler.approve_all)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reply = await session.send_and_wait(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"Fictional weather in Tokyo and Berlin.", timeout=60)</a:t>
            </a:r>
          </a:p>
        </p:txBody>
      </p:sp>
      <p:sp>
        <p:nvSpPr>
          <p:cNvPr id="12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03 · Custom Agents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conversation, explicit persona handoff; agent selection RPC is experimental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560320" cy="228600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1417320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1920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22860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280160" y="22860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grep, glob, view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31520" y="26060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code, answer questions. Read-only.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355848" y="1234440"/>
            <a:ext cx="2560320" cy="228600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41732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93008" y="1920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Handoff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38728" y="22860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RPC: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087368" y="22860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agent.select(AgentSelectRequest(...))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538728" y="26060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agent.get_current()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163056" y="1234440"/>
            <a:ext cx="2560320" cy="228600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2048" y="1417320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0216" y="1920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345936" y="22860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894576" y="22860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grep, glob, view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345936" y="26060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code for bugs, security, and best practices.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749040"/>
            <a:ext cx="8046720" cy="82296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88620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80160" y="3794760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Register display_name, prompt, and explicit tool restrictions; start with agent="researcher".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04 · Hooks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Pre-call, success, and failure callbacks for audit and defense-in-depth; not isolation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8046720" cy="356616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1371600" cy="256032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11430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46304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async def on_pre_tool_use(input_data, invocation):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print(f"[pre] {input_data['toolName']}")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async def on_post_tool_use(input_data, invocation):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print(f"[post] {input_data['toolName']} succeeded")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async def on_post_tool_use_failure(input_data, invocation):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print(f"[failed] {input_data['toolName']}")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async with await client.create_session(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available_tools=ToolSet().add_builtin(["glob", "view"]),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on_permission_request=PermissionHandler.approve_all,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hooks={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    "on_pre_tool_use": on_pre_tool_use,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    "on_post_tool_use": on_post_tool_use,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    "on_post_tool_use_failure": on_post_tool_use_failure,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},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) as session: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await session.send_and_wait(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    "List files in the current directory.", timeout=120,</a:t>
            </a:r>
          </a:p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6EDF3"/>
                </a:solidFill>
                <a:latin typeface="Courier New"/>
              </a:rPr>
              <a:t xml:space="preserve">    )</a:t>
            </a:r>
          </a:p>
        </p:txBody>
      </p:sp>
      <p:sp>
        <p:nvSpPr>
          <p:cNvPr id="12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05 · Remote GitHub MCP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MCP connections own separate authentication; the sample requires a live tool event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931920" cy="11887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31520" y="13258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6002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HTTP endpoint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in this sample; OAuth is also supported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3931920" cy="11887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937760" y="13258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ToolExecutionStartData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event means sample failure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8640" y="2606040"/>
            <a:ext cx="8046720" cy="21031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48640" y="2606040"/>
            <a:ext cx="1371600" cy="256032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48640" y="26060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5800" y="2926080"/>
            <a:ext cx="7772400" cy="169164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token = github_token()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server = {"github": {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"type": "http",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"url": "https://api.githubcopilot.com/mcp/",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"headers": {"Authorization": f"Bearer {token}",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          "X-MCP-Readonly": "true"},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"tools": GITHUB_TOOLS}}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tools = ToolSet().add_mcp("github-list_issues")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session = await client.create_session(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mcp_servers=server, available_tools=tools,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on_permission_request=PermissionHandler.approve_all)</a:t>
            </a:r>
          </a:p>
        </p:txBody>
      </p:sp>
      <p:sp>
        <p:nvSpPr>
          <p:cNvPr id="22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06 · Session Persistence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process, same persisted conversation context; host configuration must be supplied again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8046720" cy="342900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1371600" cy="256032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11430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46304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SESSION_ID = "demo-session-resume"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# First process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session = await client.create_session(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session_id=SESSION_ID, available_tools=[])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await session.send_and_wait(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"Remember: my name is Jeffrey.", timeout=60)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await session.disconnect()  # detach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# Later process: re-supply host wiring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session = await client.resume_session(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SESSION_ID, available_tools=[])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>reply = await session.send_and_wait(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Courier New"/>
              </a:rPr>
              <a:t xml:space="preserve">    "What is my name?", timeout=60)</a:t>
            </a:r>
          </a:p>
        </p:txBody>
      </p:sp>
      <p:sp>
        <p:nvSpPr>
          <p:cNvPr id="13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07 · Human in the Loop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stages: validate structured human input (with explicit fallback), then validate one exact action before approve-once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8046720" cy="347472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48640" y="1143000"/>
            <a:ext cx="1371600" cy="256032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114300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46304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wrap="none" lIns="25400" tIns="25400" rIns="25400" bIns="2540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># Stage 1: validate structured ask_user schema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># Fallback: one freeform name only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># Stage 2: validate one exact action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>async def on_permission_request(request, invocation):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 xml:space="preserve">    match request: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 xml:space="preserve">        case PermissionRequestShell(full_command_text=cmd):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 xml:space="preserve">            if not is_expected_command(cmd):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 xml:space="preserve">                return PermissionDecisionReject()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 xml:space="preserve">            answer = await read_answer(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 xml:space="preserve">                "Approve once? [y/N]: ", timeout=120)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 xml:space="preserve">            if answer.lower() == "y":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 xml:space="preserve">                return PermissionDecisionApproveOnce()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80">
                <a:solidFill>
                  <a:srgbClr val="E6EDF3"/>
                </a:solidFill>
                <a:latin typeface="Courier New"/>
              </a:rPr>
              <a:t xml:space="preserve">    return PermissionDecisionReject()</a:t>
            </a:r>
          </a:p>
        </p:txBody>
      </p:sp>
      <p:sp>
        <p:nvSpPr>
          <p:cNvPr id="13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9D1D9"/>
                </a:solidFill>
                <a:latin typeface="Calibri"/>
              </a:rPr>
              <a:t>Sample 08 · Explicit Sandbox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Experimental and backend-dependent; the sample enables containment before requesting one bypass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554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8A6FF"/>
                </a:solidFill>
                <a:latin typeface="Consolas"/>
              </a:rPr>
              <a:t>Enable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9424" y="1143000"/>
            <a:ext cx="1554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49424" y="1143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8CFF"/>
                </a:solidFill>
                <a:latin typeface="Consolas"/>
              </a:rPr>
              <a:t>SandboxConfig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0208" y="1143000"/>
            <a:ext cx="1554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0208" y="1143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FB950"/>
                </a:solidFill>
                <a:latin typeface="Consolas"/>
              </a:rPr>
              <a:t>Filesystem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0992" y="1143000"/>
            <a:ext cx="1554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50992" y="1143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0883E"/>
                </a:solidFill>
                <a:latin typeface="Consolas"/>
              </a:rPr>
              <a:t>deny demo vault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51776" y="1143000"/>
            <a:ext cx="1554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51776" y="1143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85149"/>
                </a:solidFill>
                <a:latin typeface="Consolas"/>
              </a:rPr>
              <a:t>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1554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8A6FF"/>
                </a:solidFill>
                <a:latin typeface="Consolas"/>
              </a:rPr>
              <a:t>deny outbound + loopback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9424" y="1554480"/>
            <a:ext cx="1554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49424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8CFF"/>
                </a:solidFill>
                <a:latin typeface="Consolas"/>
              </a:rPr>
              <a:t>Bypass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1554480"/>
            <a:ext cx="1554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0208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FB950"/>
                </a:solidFill>
                <a:latin typeface="Consolas"/>
              </a:rPr>
              <a:t>allow_bypass=True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50992" y="1554480"/>
            <a:ext cx="1554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50992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0883E"/>
                </a:solidFill>
                <a:latin typeface="Consolas"/>
              </a:rPr>
              <a:t>Human 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1776" y="1554480"/>
            <a:ext cx="155448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51776" y="1554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85149"/>
                </a:solidFill>
                <a:latin typeface="Consolas"/>
              </a:rPr>
              <a:t>one approve-once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057400"/>
            <a:ext cx="39319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2103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8A6FF"/>
                </a:solidFill>
                <a:latin typeface="Calibri"/>
              </a:rPr>
              <a:t>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4231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6EDF3"/>
                </a:solidFill>
                <a:latin typeface="Consolas"/>
              </a:rPr>
              <a:t>Runtime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42316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alibri"/>
              </a:rPr>
              <a:t>Constrained by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679191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6EDF3"/>
                </a:solidFill>
                <a:latin typeface="Consolas"/>
              </a:rPr>
              <a:t>Host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2679191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alibri"/>
              </a:rPr>
              <a:t>Need separate isolation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9352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6EDF3"/>
                </a:solidFill>
                <a:latin typeface="Consolas"/>
              </a:rPr>
              <a:t>Experimental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293522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alibri"/>
              </a:rPr>
              <a:t>Backend/platform dependent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19125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6EDF3"/>
                </a:solidFill>
                <a:latin typeface="Consolas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19125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alibri"/>
              </a:rPr>
              <a:t>Correlate request +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4472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6EDF3"/>
                </a:solidFill>
                <a:latin typeface="Consolas"/>
              </a:rPr>
              <a:t>Not a VM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34472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alibri"/>
              </a:rPr>
              <a:t>Not a tenant boundary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2057400"/>
            <a:ext cx="393192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663440" y="2057400"/>
            <a:ext cx="914400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63440" y="20574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6EDF3"/>
                </a:solidFill>
                <a:latin typeface="Calibri"/>
              </a:rPr>
              <a:t>Python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267712"/>
            <a:ext cx="3703320" cy="1572768"/>
          </a:xfrm>
          <a:prstGeom prst="rect">
            <a:avLst/>
          </a:prstGeom>
          <a:noFill/>
        </p:spPr>
        <p:txBody>
          <a:bodyPr wrap="none" lIns="25400" rIns="25400" t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urier New"/>
              </a:rPr>
              <a:t>policy = SandboxConfigUserPolicy(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urier New"/>
              </a:rPr>
              <a:t xml:space="preserve">  filesystem=SandboxConfigUserPolicyFilesystem(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urier New"/>
              </a:rPr>
              <a:t xml:space="preserve">    denied_paths=[str(vault)]),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urier New"/>
              </a:rPr>
              <a:t xml:space="preserve">  network=SandboxConfigUserPolicyNetwork(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urier New"/>
              </a:rPr>
              <a:t xml:space="preserve">    allow_outbound=False))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urier New"/>
              </a:rPr>
              <a:t>config = SandboxConfig(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urier New"/>
              </a:rPr>
              <a:t xml:space="preserve">  enabled=True, allow_bypass=True,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urier New"/>
              </a:rPr>
              <a:t xml:space="preserve">  user_policy=policy)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urier New"/>
              </a:rPr>
              <a:t>await session.rpc.options.update(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urier New"/>
              </a:rPr>
              <a:t xml:space="preserve">  SessionUpdateOptionsParams(sandbox_config=config))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4069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6EDF3"/>
                </a:solidFill>
                <a:latin typeface="Calibri"/>
              </a:rPr>
              <a:t>Bypass 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4114800"/>
            <a:ext cx="18288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024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alibri"/>
              </a:rPr>
              <a:t>request_sandbox_bypass=True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406908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8A6FF"/>
                </a:solidFill>
                <a:latin typeface="Calibr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4114800"/>
            <a:ext cx="18288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0624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alibri"/>
              </a:rPr>
              <a:t>Human approves once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4069080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8A6FF"/>
                </a:solidFill>
                <a:latin typeface="Calibri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114800"/>
            <a:ext cx="1828800" cy="457200"/>
          </a:xfrm>
          <a:prstGeom prst="rect">
            <a:avLst/>
          </a:prstGeom>
          <a:solidFill>
            <a:srgbClr val="0D1117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alibri"/>
              </a:rPr>
              <a:t>Denied marker becomes readable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900">
                <a:solidFill>
                  <a:srgbClr val="8B949E"/>
                </a:solidFill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051560"/>
            <a:ext cx="457200" cy="457200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31520" y="1051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stable release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280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v1.0.13 package and tag; not unreleased main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828800"/>
            <a:ext cx="457200" cy="457200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160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types and tests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2057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signatures and wire shapes beat stale prose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2606040"/>
            <a:ext cx="457200" cy="457200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71600" y="2560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language samples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2834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idiomatic patterns, then verify with the bundled runtime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3383280"/>
            <a:ext cx="457200" cy="457200"/>
          </a:xfrm>
          <a:prstGeom prst="line">
            <a:avLst/>
          </a:prstGeom>
          <a:solidFill>
            <a:srgbClr val="1F6FEB"/>
          </a:solidFill>
          <a:ln w="6350">
            <a:solidFill>
              <a:srgbClr val="3036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71600" y="3337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and results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71600" y="3611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plausible model answer is not proof that a tool ran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1005840"/>
            <a:ext cx="3017520" cy="3200400"/>
          </a:xfrm>
          <a:prstGeom prst="line">
            <a:avLst/>
          </a:prstGeom>
          <a:solidFill>
            <a:srgbClr val="161B22"/>
          </a:solidFill>
          <a:ln w="12700"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5852160" y="10972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References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852160" y="1508760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SDK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52160" y="1673352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github.com/github/copilot-sdk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852160" y="1920240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Python samples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52160" y="2084832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chat.py + manual_tool_resume.py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52160" y="2331720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852160" y="2496312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github.com/jeffrey-groneberg/ghcp_sdk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852160" y="2743200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server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52160" y="2907792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github.com/github/github-mcp-server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852160" y="3154680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852160" y="3319272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1.0.13 · runtime 1.0.83 · verified 14 Sep 2026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52160" y="3566160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main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852160" y="3730752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A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only; runtime 1.0.84-5 is unreleased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48640" y="4251960"/>
            <a:ext cx="8046720" cy="457200"/>
          </a:xfrm>
          <a:prstGeom prst="line">
            <a:avLst/>
          </a:prstGeom>
          <a:solidFill>
            <a:srgbClr val="1F6FEB">
              <a:alpha val="15000"/>
            </a:srgbClr>
          </a:solidFill>
          <a:ln w="635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prose disagrees, generated stable types and tests win.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9D1D9"/>
                </a:solidFill>
                <a:latin typeface="Calibri"/>
              </a:rPr>
              <a:t>Build One Verified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Understand the SDK, choose the right surface, then use the smallest sample that proves the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39319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FB950"/>
                </a:solidFill>
                <a:latin typeface="Calibri"/>
              </a:rPr>
              <a:t>Learning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1. Understand the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Runtime, lifecycle, events, tools, permissions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2. Compare CLI and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Interactive product versus application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3. Explore possibilities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Products, automation, services, and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4. Build with samples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Eight runnable paths with visible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118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Production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Your host owns identity, isolation, routing, and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Source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Published stable types and tests beat stale prose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143000"/>
            <a:ext cx="39319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484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0883E"/>
                </a:solidFill>
                <a:latin typeface="Calibri"/>
              </a:rPr>
              <a:t>Release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6002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Stable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7830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1.0.13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1031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28600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1.0.83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6060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Verified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788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14 September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1089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Samples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29184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01–08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61188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D1D9"/>
                </a:solidFill>
                <a:latin typeface="Calibri"/>
              </a:rPr>
              <a:t>Current main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79476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Preview only; unreleased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46720" y="4754880"/>
            <a:ext cx="914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900">
                <a:solidFill>
                  <a:srgbClr val="8B949E"/>
                </a:solidFill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8441</Words>
  <Application>Microsoft Macintosh PowerPoint</Application>
  <PresentationFormat>Bildschirmpräsentation (16:9)</PresentationFormat>
  <Paragraphs>805</Paragraphs>
  <Slides>28</Slides>
  <Notes>28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SDK - Agents for Every App</dc:title>
  <dc:subject>PptxGenJS Presentation</dc:subject>
  <dc:creator>GitHub Copilot SDK Presentation</dc:creator>
  <cp:lastModifiedBy>Jeffrey Groneberg</cp:lastModifiedBy>
  <cp:revision>3</cp:revision>
  <dcterms:created xsi:type="dcterms:W3CDTF">2026-03-20T06:22:26Z</dcterms:created>
  <dcterms:modified xsi:type="dcterms:W3CDTF">2026-03-27T14:31:51Z</dcterms:modified>
</cp:coreProperties>
</file>