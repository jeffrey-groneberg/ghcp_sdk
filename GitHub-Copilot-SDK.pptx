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61" r:id="rId5"/>
    <p:sldId id="262" r:id="rId6"/>
    <p:sldId id="271" r:id="rId7"/>
    <p:sldId id="272" r:id="rId8"/>
    <p:sldId id="279" r:id="rId9"/>
    <p:sldId id="280" r:id="rId10"/>
    <p:sldId id="263" r:id="rId11"/>
    <p:sldId id="264" r:id="rId12"/>
    <p:sldId id="265" r:id="rId13"/>
    <p:sldId id="266" r:id="rId14"/>
    <p:sldId id="267" r:id="rId15"/>
    <p:sldId id="284" r:id="rId16"/>
    <p:sldId id="268" r:id="rId17"/>
    <p:sldId id="259" r:id="rId18"/>
    <p:sldId id="260" r:id="rId19"/>
    <p:sldId id="269" r:id="rId20"/>
    <p:sldId id="270" r:id="rId21"/>
    <p:sldId id="273" r:id="rId22"/>
    <p:sldId id="275" r:id="rId23"/>
    <p:sldId id="277" r:id="rId24"/>
    <p:sldId id="278" r:id="rId25"/>
    <p:sldId id="274" r:id="rId26"/>
    <p:sldId id="276" r:id="rId27"/>
    <p:sldId id="281" r:id="rId28"/>
    <p:sldId id="283"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3"/>
    <p:restoredTop sz="94610"/>
  </p:normalViewPr>
  <p:slideViewPr>
    <p:cSldViewPr snapToGrid="0" snapToObjects="1">
      <p:cViewPr varScale="1">
        <p:scale>
          <a:sx n="160" d="100"/>
          <a:sy n="160" d="100"/>
        </p:scale>
        <p:origin x="432" y="18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3016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 Title
Welcome everyone. Today we're diving into the GitHub Copilot SDK — a new way to embed AI-powered agentic workflows directly into your applications.
The SDK is currently in Technical Preview and is available for TypeScript, Python, Go, .NET, and Java.
It exposes the same production-tested runtime that powers the Copilot CLI, so you're building on proven infrastructure.
SOURCE: https://github.com/github/copilot-sdk — README.md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 What is the GitHub Copilot SDK?
The Copilot SDK gives you programmatic access to the same agent engine that runs behind the Copilot CLI. You don't need to build your own orchestration layer — you define the behavior, and Copilot handles planning, tool invocation, file edits, and more.
Three key value propositions: it's production-tested at GitHub scale, it supports five major programming languages, and it's highly extensible with custom tools, agents, MCP servers, hooks, and skills.
SOURCE: https://github.com/github/copilot-sdk/blob/main/README.md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3: Architecture
The architecture follows a simple pattern: Your application talks to the SDK client, which communicates with the Copilot CLI via JSON-RPC. The CLI handles authentication, session management, and model provider communication.
The SDK can auto-manage the CLI as a child process (stdio), or connect to an external CLI running as a headless TCP server. It supports 40+ streaming event types, session persistence, horizontal scaling, and built-in OpenTelemetry tracing.
SOURCES:
- Architecture: https://github.com/github/copilot-sdk/blob/main/README.md#architecture
- Setup guides: https://github.com/github/copilot-sdk/blob/main/docs/setup/index.md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6: Available SDKs
The SDK is available for five major languages. Each SDK provides the same core capabilities — creating sessions, defining tools, configuring agents — with idiomatic APIs for each language.
The Node.js SDK is published on npm, Python on PyPI, Go as a standard module, .NET on NuGet, and Java via Maven/Gradle from a separate repository.
Community-maintained SDKs also exist for Rust, Clojure, and C++ — though these are unofficial and not supported by GitHub.
SOURCES:
- SDK installation: https://github.com/github/copilot-sdk/blob/main/README.md#available-sdks
- Java SDK: https://github.com/github/copilot-sdk-java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7: Key Features Overview
Here's a quick overview of the eight major capability areas. Custom Tools let you define functions the agent can call. Custom Agents are specialized AI personas with scoped tool access. MCP Servers integrate external tools via the Model Context Protocol standard. Skills are reusable prompt modules loaded from directories.
Hooks intercept session events for security, auditing, and custom logic. Streaming provides 40+ real-time event types. BYOK lets you use your own model provider keys. And OpenTelemetry gives you built-in observability.
We'll dive into several of these in the following slides.
SOURCE: https://github.com/github/copilot-sdk/blob/main/docs/features/index.md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What Can You Build? (Part 1)</a:t>
            </a:r>
          </a:p>
          <a:p>
            <a:r>
              <a:t>These use cases use Problem→Solution framing to help managers connect with real pain points.</a:t>
            </a:r>
          </a:p>
          <a:p>
            <a:r>
              <a:t>Automated Code Review: Manual reviews miss security issues → deploy security auditor agents</a:t>
            </a:r>
          </a:p>
          <a:p>
            <a:r>
              <a:t>CI/CD Intelligence: Pipelines fail silently → agents analyze failures and suggest fixes</a:t>
            </a:r>
          </a:p>
          <a:p>
            <a:r>
              <a:t>Database Assistants: Non-technical teams can't query data → natural language to SQL</a:t>
            </a:r>
          </a:p>
          <a:p>
            <a:r>
              <a:t>Documentation: Docs always outdated → agents produce docs on every release</a:t>
            </a:r>
          </a:p>
          <a:p>
            <a:r>
              <a:t>SOURCE: https://github.com/github/copilot-sdk/blob/main/docs/features/index.md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More Use Cases (Part 2)</a:t>
            </a:r>
          </a:p>
          <a:p>
            <a:r>
              <a:t>AI-Powered SaaS: Building AI features requires custom plumbing → embed Copilot runtime with per-user OAuth</a:t>
            </a:r>
          </a:p>
          <a:p>
            <a:r>
              <a:t>Multi-Agent Workflows: Complex tasks need specialized roles → MAF orchestration</a:t>
            </a:r>
          </a:p>
          <a:p>
            <a:r>
              <a:t>DevOps Automation: Incident response needs deep expertise → guardrailed agents</a:t>
            </a:r>
          </a:p>
          <a:p>
            <a:r>
              <a:t>Internal Platforms: Internal tools lack intelligence → embed Copilot in portals and CLIs</a:t>
            </a:r>
          </a:p>
          <a:p>
            <a:r>
              <a:t>SOURCE: https://github.com/github/copilot-sdk/blob/main/docs/features/index.md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Built-in Tools</a:t>
            </a:r>
          </a:p>
          <a:p>
            <a:r>
              <a:t>These are the first-party tools the Copilot CLI agent runtime provides. By default, ALL are enabled (equivalent to --allow-all).</a:t>
            </a:r>
          </a:p>
          <a:p>
            <a:endParaRPr/>
          </a:p>
          <a:p>
            <a:r>
              <a:t>Five categories:</a:t>
            </a:r>
          </a:p>
          <a:p>
            <a:r>
              <a:t>- File System Reading: read_file, view, glob, grep, list_dir — for exploring codebases</a:t>
            </a:r>
          </a:p>
          <a:p>
            <a:r>
              <a:t>- File System Writing: edit (surgical changes), create (new files), write_file (full overwrites)</a:t>
            </a:r>
          </a:p>
          <a:p>
            <a:r>
              <a:t>- Shell &amp; Execution: bash/shell — run any command</a:t>
            </a:r>
          </a:p>
          <a:p>
            <a:r>
              <a:t>- Web: web_fetch — download content from URLs</a:t>
            </a:r>
          </a:p>
          <a:p>
            <a:r>
              <a:t>- Agent Infrastructure: task (sub-agents), ask_user (interactive), store_memory (persistent facts)</a:t>
            </a:r>
          </a:p>
          <a:p>
            <a:endParaRPr/>
          </a:p>
          <a:p>
            <a:r>
              <a:t>On top of these, MCP server tools and custom @define_tool functions are added.</a:t>
            </a:r>
          </a:p>
          <a:p>
            <a:endParaRPr/>
          </a:p>
          <a:p>
            <a:r>
              <a:t>SOURCES:</a:t>
            </a:r>
          </a:p>
          <a:p>
            <a:r>
              <a:t>- Default tools: https://github.com/github/copilot-sdk/blob/main/README.md#what-tools-are-enabled-by-default</a:t>
            </a:r>
          </a:p>
          <a:p>
            <a:r>
              <a:t>- Tool override: https://github.com/github/copilot-sdk/releases/tag/v0.1.30</a:t>
            </a:r>
          </a:p>
          <a:p>
            <a:r>
              <a:t>- Hooks allow-list examples: https://github.com/github/copilot-sdk/blob/main/docs/features/hooks.md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Controlling Tool Access</a:t>
            </a:r>
          </a:p>
          <a:p>
            <a:r>
              <a:t>Three approaches to control what tools the agent can use:</a:t>
            </a:r>
          </a:p>
          <a:p>
            <a:endParaRPr/>
          </a:p>
          <a:p>
            <a:r>
              <a:t>1. Session Config (available_tools / excluded_tools): Static at creation time. available_tools is a whitelist — only those tools are visible. excluded_tools is a blacklist — everything except those.</a:t>
            </a:r>
          </a:p>
          <a:p>
            <a:endParaRPr/>
          </a:p>
          <a:p>
            <a:r>
              <a:t>2. onPreToolUse Hook: Dynamic, per-call. Every tool invocation runs through your hook first. Allow, deny, or modify. This is the enterprise pattern for audit trails and fine-grained control.</a:t>
            </a:r>
          </a:p>
          <a:p>
            <a:endParaRPr/>
          </a:p>
          <a:p>
            <a:r>
              <a:t>3. Override Built-ins (v0.1.30+): Replace any built-in tool entirely with your own implementation using overrides_built_in_tool. For example, replace grep with a custom search or bash with a sandboxed executor.</a:t>
            </a:r>
          </a:p>
          <a:p>
            <a:endParaRPr/>
          </a:p>
          <a:p>
            <a:r>
              <a:t>These three can be combined for defense in depth.</a:t>
            </a:r>
          </a:p>
          <a:p>
            <a:endParaRPr/>
          </a:p>
          <a:p>
            <a:r>
              <a:t>SOURCES:</a:t>
            </a:r>
          </a:p>
          <a:p>
            <a:r>
              <a:t>- Available/excluded tools: https://github.com/github/copilot-sdk/blob/main/docs/troubleshooting/compatibility.md</a:t>
            </a:r>
          </a:p>
          <a:p>
            <a:r>
              <a:t>- Hooks: https://github.com/github/copilot-sdk/blob/main/docs/features/hooks.md</a:t>
            </a:r>
          </a:p>
          <a:p>
            <a:r>
              <a:t>- Override: https://github.com/github/copilot-sdk/releases/tag/v0.1.30</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8: Custom Tools (defineTool)
Custom tools are the primary way to extend what Copilot can do. You define a tool with a name, description, JSON Schema parameters, and a handler function. When the agent determines a tool is needed, it calls your handler with typed arguments.
In this example, we define a weather lookup tool. The agent automatically decides when to call it based on the user's prompt — no explicit routing needed. You can register multiple tools per session, and tools can call any of your application code: APIs, databases, file systems, etc.
Tools can also override built-in tools like grep or edit_file using the 'overridesBuiltInTool' flag.
SOURCES:
- Custom tools: https://github.com/github/copilot-sdk/blob/main/docs/getting-started.md#step-4-add-a-custom-tool
- Override built-ins: https://github.com/github/copilot-sdk/releases/tag/v0.1.30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9: Custom Agents &amp; Sub-Agent Orchestration
Custom agents let you define specialized personas, each with their own system prompt, tool restrictions, and even dedicated MCP servers. Think of them as team members with different roles.
In this example, the Research Agent can only read code (grep, glob, view), the Code Writer can modify files, and the Code Reviewer focuses on bugs, security, and best practices. You can explicitly switch agents mid-session using session.rpc.agent.select(), or let the runtime auto-select when 'infer: true' is set.
The Python example (03_custom_agents.py) demonstrates a 3-step pipeline: researcher explores the project, reviewer identifies issues, then writer proposes fixes — each step using a different agent.
SOURCES:
- Custom agents guide: https://github.com/github/copilot-sdk/blob/main/docs/features/custom-agents.md
- Agent orchestration: https://github.com/github/copilot-sdk/blob/main/docs/features/custom-agents.md#automatic-delegation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10: MCP Server Integration
MCP — Model Context Protocol — is an open standard for connecting AI assistants to external tools and data sources. The SDK supports two server types: Local (stdio) servers run as subprocesses communicating over stdin/stdout, ideal for local tools and scripts. Remote (HTTP/SSE) servers are accessed over the network, ideal for shared or cloud-hosted services.
You can connect to any MCP server from the community directory — there are servers for GitHub, SQLite, Puppeteer, filesystem access, and many more. The 'tools' array controls which tools are exposed: ["*"] for all, an empty array for none, or specific tool names.
SOURCES:
- MCP guide: https://github.com/github/copilot-sdk/blob/main/docs/features/mcp.md
- MCP specification: https://modelcontextprotocol.io/
- GitHub MCP server: https://github.com/github/github-mcp-server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11: Hooks — Session Lifecycle Control
Hooks let you intercept and customize behavior at six key points in the session lifecycle.
onSessionStart adds context and sets up audit logging when a session begins. onUserPromptSubmitted lets you modify, filter, or expand user input before it reaches the model. onPreToolUse is where you enforce access control — approve, deny, or modify tool calls. onPostToolUse transforms results, redacts secrets, or adds metadata after a tool runs. onErrorOccurred provides custom error handling with retry logic. And onSessionEnd handles cleanup.
A common pattern is using hooks for enterprise compliance: enforcing read-only access, redacting API keys from output, and logging all tool invocations for audit trails.
SOURCE: https://github.com/github/copilot-sdk/blob/main/docs/features/hooks.md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12: Authentication Methods
The SDK supports four authentication methods. GitHub Signed-in User uses stored OAuth credentials from the CLI — simplest for interactive apps. OAuth GitHub App lets your web application make requests on behalf of users who authorize your app. Environment Variables work for CI/CD and automation — just set COPILOT_GITHUB_TOKEN, GH_TOKEN, or GITHUB_TOKEN. And BYOK bypasses GitHub auth entirely using your own API keys.
When multiple auth methods are available, they're tried in priority order: explicit token first, then HMAC, then direct API token, then env vars, then stored OAuth, and finally GitHub CLI credentials.
SOURCES:
- Authentication overview: https://github.com/github/copilot-sdk/blob/main/docs/auth/index.md
- Token priority: https://github.com/github/copilot-sdk/blob/main/docs/auth/index.md#authentication-priority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OAuth GitHub App Integration</a:t>
            </a:r>
          </a:p>
          <a:p>
            <a:r>
              <a:t>This slide covers how to build multi-user applications where each user authenticates with their own GitHub identity.</a:t>
            </a:r>
          </a:p>
          <a:p>
            <a:r>
              <a:t>The SDK supports gho_, ghu_, and github_pat_ tokens. Classic ghp_ tokens are NOT supported.</a:t>
            </a:r>
          </a:p>
          <a:p>
            <a:r>
              <a:t>OAuth flow: user signs in → GitHub consent → exchange for token → pass to SDK → per-user requests.</a:t>
            </a:r>
          </a:p>
          <a:p>
            <a:r>
              <a:t>SOURCE: https://github.com/github/copilot-sdk/blob/main/docs/setup/github-oauth.md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13: BYOK — Bring Your Own Key
BYOK is a powerful option for enterprises that want to use their own model provider infrastructure. It supports OpenAI directly, Azure AI Foundry for enterprise deployments, Anthropic for Claude models, Ollama for local models, Microsoft Foundry Local for on-device AI, and any OpenAI-compatible endpoint like vLLM or LiteLLM.
No GitHub Copilot subscription is required when using BYOK. The 'wireApi' setting controls the API format — use 'responses' for newer GPT-5 series models and 'completions' for older ones. One limitation: BYOK only supports static API keys or bearer tokens — no Entra ID, managed identities, or federated identity.
SOURCES:
- BYOK guide: https://github.com/github/copilot-sdk/blob/main/docs/auth/byok.md
- Supported providers: https://github.com/github/copilot-sdk/blob/main/docs/auth/byok.md#supported-providers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4: How the SDK Talks to the CLI
There are two communication modes. In stdio mode, the SDK automatically spawns the Copilot CLI as a child process — zero configuration needed. Communication happens over stdin/stdout using JSON-RPC. The CLI process dies when your app exits. This is ideal for local development and desktop applications.
In TCP mode, you run the CLI as a headless server with 'copilot --headless --port 4321'. The SDK connects over the network. The CLI has an independent lifecycle, can serve multiple clients simultaneously, and is ideal for backend services, APIs, and horizontal scaling scenarios.
Protocol version 3 added multi-client support — multiple SDK clients can connect to the same session, each contributing different tools.
SOURCES:
- Local CLI setup: https://github.com/github/copilot-sdk/blob/main/docs/setup/local-cli.md
- Backend services: https://github.com/github/copilot-sdk/blob/main/docs/setup/backend-services.md
- Protocol v3: https://github.com/github/copilot-sdk/pull/686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5: Ship It — Bundled Deployment
You can package the Copilot CLI binary alongside your application so end users don't need to install or configure anything separately. Use the 'cliPath' option to point the SDK to your bundled binary.
This works for desktop apps (Electron, Tauri), Docker containers, and distributable CLI tools. For multi-platform support, include platform-specific binaries: copilot-darwin-arm64 for macOS Apple Silicon, copilot-linux-x64 for Linux, and copilot-win-x64.exe for Windows.
Authentication can use the user's signed-in credentials, an OAuth token your app provides, or BYOK with no GitHub auth required at all.
SOURCES:
- Bundled CLI guide: https://github.com/github/copilot-sdk/blob/main/docs/setup/bundled-cli.md
- Platform binaries: https://github.com/github/copilot-sdk/blob/main/docs/setup/bundled-cli.md#platform-specific-binaries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14: Deployment Patterns
There are four main deployment patterns depending on your use case.
Local CLI is the simplest — the SDK spawns the CLI automatically. Great for hobbyist projects and prototyping.
Bundled CLI ships the binary with your app — ideal for desktop apps and standalone tools.
Backend Services runs the CLI as a headless server that your API connects to over TCP. This is the enterprise pattern for web backends and microservices.
Scaling &amp; Multi-Tenancy adds horizontal scaling with session isolation — for platforms serving thousands of users. You can run multiple CLI instances behind a load balancer.
SOURCE: https://github.com/github/copilot-sdk/blob/main/docs/setup/index.md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15: Microsoft Agent Framework Integration
The Microsoft Agent Framework — the unified successor to Semantic Kernel and AutoGen — provides a standard interface for multi-agent orchestration. The Copilot SDK integrates as a first-class agent provider.
In a Sequential Workflow, agents run one after another — for example, a Copilot agent does code review, then an Azure agent generates documentation, producing a combined result.
In a Concurrent Workflow, multiple agents run in parallel — a security reviewer and performance reviewer analyze code simultaneously, and results are aggregated.
MAF integration packages are available for .NET and Python. The framework also supports the A2A (Agent-to-Agent) communication protocol.
SOURCES:
- MAF integration: https://github.com/github/copilot-sdk/blob/main/docs/integrations/microsoft-agent-framework.md
- Blog post: https://devblogs.microsoft.com/semantic-kernel/build-ai-agents-with-github-copilot-sdk-and-microsoft-agent-framework/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does: Create a client, open a session, send a prompt — the Hello World of the SDK. Just 6 lines of meaningful code.</a:t>
            </a:r>
          </a:p>
          <a:p>
            <a:endParaRPr/>
          </a:p>
          <a:p>
            <a:r>
              <a:t>SPEAKER NOTES — Slide 18: Demo 1 — Simple Chat Assistant</a:t>
            </a:r>
          </a:p>
          <a:p>
            <a:r>
              <a:t>This is the "Hello World" of the Copilot SDK — the simplest possible use case.</a:t>
            </a:r>
          </a:p>
          <a:p>
            <a:r>
              <a:t>On the left in TypeScript: create a CopilotClient, open a session with a model, send a prompt with sendAndWait, and print the response. That's it — four lines of meaningful code.</a:t>
            </a:r>
          </a:p>
          <a:p>
            <a:r>
              <a:t>On the right, the same thing in Python: CopilotClient, create_session, send_and_wait, print. The APIs are idiomatic to each language but functionally identical.</a:t>
            </a:r>
          </a:p>
          <a:p>
            <a:r>
              <a:t>The onPermissionRequest callback controls tool access — here we approve everything, but in production you'd implement proper access control.</a:t>
            </a:r>
          </a:p>
          <a:p>
            <a:endParaRPr/>
          </a:p>
          <a:p>
            <a:r>
              <a:t>SOURCES:</a:t>
            </a:r>
          </a:p>
          <a:p>
            <a:r>
              <a:t>- Getting started: https://github.com/github/copilot-sdk/blob/main/docs/getting-started.md</a:t>
            </a:r>
          </a:p>
          <a:p>
            <a:r>
              <a:t>- TypeScript SDK: https://github.com/github/copilot-sdk/tree/main/nodejs</a:t>
            </a:r>
          </a:p>
          <a:p>
            <a:r>
              <a:t>- Python SDK: https://github.com/github/copilot-sdk/tree/main/python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does: Define a tool that queries your internal ticket system. The agent automatically calls it when relevant — no routing code needed. This pattern works for any internal system.</a:t>
            </a:r>
          </a:p>
          <a:p>
            <a:endParaRPr/>
          </a:p>
          <a:p>
            <a:r>
              <a:t>SPEAKER NOTES — Slide 20: Demo 2 — Custom Tool (Ticket Lookup)</a:t>
            </a:r>
          </a:p>
          <a:p>
            <a:r>
              <a:t>This demo shows a realistic enterprise use case: giving Copilot access to your internal ticket system.</a:t>
            </a:r>
          </a:p>
          <a:p>
            <a:r>
              <a:t>We define a 'lookup_ticket' tool with a JSON Schema describing its parameters. The handler function queries your actual database. When a user asks "What's the status of TICK-4521?", the agent automatically recognizes it needs to call the tool, invokes it with the correct ticket ID, and then formulates a natural language answer from the structured data.</a:t>
            </a:r>
          </a:p>
          <a:p>
            <a:r>
              <a:t>This pattern works for any internal system: CRMs, monitoring dashboards, inventory systems, HR tools — anything with an API or database.</a:t>
            </a:r>
          </a:p>
          <a:p>
            <a:endParaRPr/>
          </a:p>
          <a:p>
            <a:r>
              <a:t>SOURCES:</a:t>
            </a:r>
          </a:p>
          <a:p>
            <a:r>
              <a:t>- Custom tools API: https://github.com/github/copilot-sdk/blob/main/docs/getting-started.md#step-4-add-a-custom-tool</a:t>
            </a:r>
          </a:p>
          <a:p>
            <a:r>
              <a:t>- defineTool reference: https://github.com/github/copilot-sdk/blob/main/nodejs/README.md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does: Run Copilot as a production backend — CLI as headless server, Express API connects over TCP, per-user OAuth. The pattern for SaaS products at scale.</a:t>
            </a:r>
          </a:p>
          <a:p>
            <a:endParaRPr/>
          </a:p>
          <a:p>
            <a:r>
              <a:t>SPEAKER NOTES — Slide 22: Demo 3 — Backend API Service</a:t>
            </a:r>
          </a:p>
          <a:p>
            <a:r>
              <a:t>This demo shows the production pattern: running Copilot as a backend service behind an Express API.</a:t>
            </a:r>
          </a:p>
          <a:p>
            <a:r>
              <a:t>The CLI runs separately as a headless server (started with 'copilot --headless --port 4321'). Your Express app connects via cliUrl. Each API request creates or resumes a session tied to the user, sends their message, and returns the response.</a:t>
            </a:r>
          </a:p>
          <a:p>
            <a:r>
              <a:t>Per-user OAuth tokens ensure each request is authenticated as the correct user. Sessions can be resumed across requests using consistent session IDs. For production, you'd deploy this with Docker Compose — the CLI as one container, your API as another, sharing a persistent volume for session state.</a:t>
            </a:r>
          </a:p>
          <a:p>
            <a:r>
              <a:t>This architecture scales horizontally — multiple API instances can share one CLI server, or you can run isolated CLI instances per tenant.</a:t>
            </a:r>
          </a:p>
          <a:p>
            <a:endParaRPr/>
          </a:p>
          <a:p>
            <a:r>
              <a:t>SOURCES:</a:t>
            </a:r>
          </a:p>
          <a:p>
            <a:r>
              <a:t>- Backend services: https://github.com/github/copilot-sdk/blob/main/docs/setup/backend-services.md</a:t>
            </a:r>
          </a:p>
          <a:p>
            <a:r>
              <a:t>- Scaling guide: https://github.com/github/copilot-sdk/blob/main/docs/setup/scaling.md</a:t>
            </a:r>
          </a:p>
          <a:p>
            <a:r>
              <a:t>- Docker Compose example: https://github.com/github/copilot-sdk/blob/main/docs/setup/backend-services.md#docker-compose-deployment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23: Get Started Today
Four steps to get up and running:
Step 1: Install the Copilot CLI — follow the installation guide at docs.github.com.
Step 2: Install the SDK for your language — npm, pip, go get, dotnet add, or Maven/Gradle.
Step 3: Create your first session — just 'new CopilotClient()' and 'createSession()'.
Step 4: Extend with custom tools, agents, MCP servers, and hooks as your use case requires.
The resources on the right have everything you need: the main SDK repo, comprehensive documentation, a cookbook with practical recipes, the Java SDK, the official GitHub MCP server, and the Microsoft Agent Framework integration guide.
The SDK is in Technical Preview — we'd love your feedback via GitHub Issues.
SOURCES:
- SDK repository: https://github.com/github/copilot-sdk
- Getting started guide: https://github.com/github/copilot-sdk/blob/main/docs/getting-started.md
- Cookbook: https://github.com/github/awesome-copilot/blob/main/cookbook/copilot-sdk
- Copilot pricing (free tier): https://github.com/features/copilot#pricing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does: Stream tokens in real-time for interactive UX. 40+ event types available.</a:t>
            </a:r>
          </a:p>
          <a:p>
            <a:endParaRPr/>
          </a:p>
          <a:p>
            <a:r>
              <a:t>SPEAKER NOTES — Slide 19: Demo 4 — Real-Time Streaming</a:t>
            </a:r>
          </a:p>
          <a:p>
            <a:r>
              <a:t>Streaming is essential for interactive applications. Instead of waiting for the complete response, you receive tokens as they're generated.</a:t>
            </a:r>
          </a:p>
          <a:p>
            <a:r>
              <a:t>Set 'streaming: true' in your session config, then subscribe to events. The 'assistant.message_delta' event fires for each token — you can write them to stdout or stream them to a frontend. The 'assistant.message' event fires when the full response is complete.</a:t>
            </a:r>
          </a:p>
          <a:p>
            <a:r>
              <a:t>The SDK supports 40+ event types beyond just message deltas — you can track tool calls, thinking progress, sub-agent transitions, permission requests, and more.</a:t>
            </a:r>
          </a:p>
          <a:p>
            <a:endParaRPr/>
          </a:p>
          <a:p>
            <a:r>
              <a:t>SOURCES:</a:t>
            </a:r>
          </a:p>
          <a:p>
            <a:r>
              <a:t>- Streaming events: https://github.com/github/copilot-sdk/blob/main/docs/features/streaming-events.md</a:t>
            </a:r>
          </a:p>
          <a:p>
            <a:r>
              <a:t>- Getting started (streaming): https://github.com/github/copilot-sdk/blob/main/docs/getting-started.md#step-2-stream-responses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does: Combine custom agents with hooks for enterprise auditing — read-only enforcement and automatic secret redaction.</a:t>
            </a:r>
          </a:p>
          <a:p>
            <a:endParaRPr/>
          </a:p>
          <a:p>
            <a:r>
              <a:t>SPEAKER NOTES — Slide 21: Demo 5 — Security Audit with Hooks</a:t>
            </a:r>
          </a:p>
          <a:p>
            <a:r>
              <a:t>This demo combines custom agents with hooks for enterprise-grade security auditing.</a:t>
            </a:r>
          </a:p>
          <a:p>
            <a:r>
              <a:t>The custom agent has a security-focused system prompt and is restricted to read-only tools only. The onPreToolUse hook enforces this restriction at runtime — even if the model tries to use a write tool, the hook blocks it with a clear reason. The onPostToolUse hook scans tool output for leaked secrets and redacts them before they reach the model or the user.</a:t>
            </a:r>
          </a:p>
          <a:p>
            <a:r>
              <a:t>This pattern is critical for compliance in regulated industries — you get full audit trails, enforced access control, and automatic secret redaction. The hooks run your code, so you have complete control.</a:t>
            </a:r>
          </a:p>
          <a:p>
            <a:endParaRPr/>
          </a:p>
          <a:p>
            <a:r>
              <a:t>SOURCES:</a:t>
            </a:r>
          </a:p>
          <a:p>
            <a:r>
              <a:t>- Hooks guide: https://github.com/github/copilot-sdk/blob/main/docs/features/hooks.md</a:t>
            </a:r>
          </a:p>
          <a:p>
            <a:r>
              <a:t>- Pre-tool-use hook: https://github.com/github/copilot-sdk/blob/main/docs/hooks/pre-tool-use.md</a:t>
            </a:r>
          </a:p>
          <a:p>
            <a:r>
              <a:t>- Post-tool-use hook: https://github.com/github/copilot-sdk/blob/main/docs/hooks/post-tool-use.md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What's New in v0.2.0</a:t>
            </a:r>
          </a:p>
          <a:p>
            <a:r>
              <a:t>v0.2.0 is a major release. New features: system prompt customization (10 editable sections with replace/append/prepend/remove/transform), blob attachments, skipPermission for tools, full OpenTelemetry, new RPC methods for skills/MCP/extensions management, and pre-select agents at session creation.</a:t>
            </a:r>
          </a:p>
          <a:p>
            <a:r>
              <a:t>Breaking changes mostly affect Python (TypedDict → keyword args) and Go (context behavior, LogOptions type change).</a:t>
            </a:r>
          </a:p>
          <a:p>
            <a:r>
              <a:t>SOURCE: https://github.com/github/copilot-sdk/releases/tag/v0.2.0</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System Prompt Customization</a:t>
            </a:r>
          </a:p>
          <a:p>
            <a:r>
              <a:t>The new systemMessage 'customize' mode lets you surgically edit 10 sections of the Copilot system prompt without replacing the entire thing. Each section supports 4 static actions (replace, remove, append, prepend) and a transform callback. The 10 sections are: identity, tone, tool_efficiency, environment_context, code_change_rules, guidelines, safety, tool_instructions, custom_instructions, last_instructions.</a:t>
            </a:r>
          </a:p>
          <a:p>
            <a:r>
              <a:t>SOURCE: https://github.com/github/copilot-sdk/pull/816</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6.xml.rels><?xml version="1.0" encoding="UTF-8"?><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 Id="rId9" Type="http://schemas.openxmlformats.org/officeDocument/2006/relationships/image" Target="../media/image23.png"/></Relationships>
</file>

<file path=ppt/slides/_rels/slide7.xml.rels><?xml version="1.0" encoding="UTF-8"?><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9.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4.png"/><Relationship Id="rId4" Type="http://schemas.openxmlformats.org/officeDocument/2006/relationships/image" Target="../media/image9.png"/><Relationship Id="rId9" Type="http://schemas.openxmlformats.org/officeDocument/2006/relationships/image" Target="../media/image26.pn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5.png"/></Relationships>
</file>

<file path=ppt/slides/_rels/slide12.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8.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4114800" y="640080"/>
            <a:ext cx="914400" cy="914400"/>
          </a:xfrm>
          <a:prstGeom prst="rect">
            <a:avLst/>
          </a:prstGeom>
        </p:spPr>
      </p:pic>
      <p:sp>
        <p:nvSpPr>
          <p:cNvPr id="4" name="Text 1"/>
          <p:cNvSpPr/>
          <p:nvPr/>
        </p:nvSpPr>
        <p:spPr>
          <a:xfrm>
            <a:off x="457200" y="1691640"/>
            <a:ext cx="8229600" cy="731520"/>
          </a:xfrm>
          <a:prstGeom prst="rect">
            <a:avLst/>
          </a:prstGeom>
          <a:noFill/>
          <a:ln>
            <a:noFill/>
          </a:ln>
        </p:spPr>
        <p:txBody>
          <a:bodyPr wrap="square" lIns="0" tIns="0" rIns="0" bIns="0" rtlCol="0" anchor="ctr"/>
          <a:lstStyle/>
          <a:p>
            <a:pPr marL="0" indent="0" algn="ctr">
              <a:buNone/>
            </a:pPr>
            <a:r>
              <a:rPr lang="en-US" sz="4200" b="1" dirty="0">
                <a:solidFill>
                  <a:srgbClr val="FFFFFF"/>
                </a:solidFill>
                <a:latin typeface="Calibri" pitchFamily="34" charset="0"/>
                <a:ea typeface="Calibri" pitchFamily="34" charset="-122"/>
                <a:cs typeface="Calibri" pitchFamily="34" charset="-120"/>
              </a:rPr>
              <a:t>GitHub Copilot SDK</a:t>
            </a:r>
            <a:endParaRPr lang="en-US" sz="4200" dirty="0"/>
          </a:p>
        </p:txBody>
      </p:sp>
      <p:sp>
        <p:nvSpPr>
          <p:cNvPr id="5" name="Text 2"/>
          <p:cNvSpPr/>
          <p:nvPr/>
        </p:nvSpPr>
        <p:spPr>
          <a:xfrm>
            <a:off x="457200" y="2423160"/>
            <a:ext cx="8229600" cy="457200"/>
          </a:xfrm>
          <a:prstGeom prst="rect">
            <a:avLst/>
          </a:prstGeom>
          <a:noFill/>
          <a:ln>
            <a:noFill/>
          </a:ln>
        </p:spPr>
        <p:txBody>
          <a:bodyPr wrap="square" lIns="0" tIns="0" rIns="0" bIns="0" rtlCol="0" anchor="ctr"/>
          <a:lstStyle/>
          <a:p>
            <a:pPr marL="0" indent="0" algn="ctr">
              <a:buNone/>
            </a:pPr>
            <a:r>
              <a:rPr lang="en-US" sz="2200" i="1" dirty="0">
                <a:solidFill>
                  <a:srgbClr val="58A6FF"/>
                </a:solidFill>
                <a:latin typeface="Calibri" pitchFamily="34" charset="0"/>
                <a:ea typeface="Calibri" pitchFamily="34" charset="-122"/>
                <a:cs typeface="Calibri" pitchFamily="34" charset="-120"/>
              </a:rPr>
              <a:t>Agents for Every App</a:t>
            </a:r>
            <a:endParaRPr lang="en-US" sz="2200" dirty="0"/>
          </a:p>
        </p:txBody>
      </p:sp>
      <p:sp>
        <p:nvSpPr>
          <p:cNvPr id="6" name="Text 3"/>
          <p:cNvSpPr/>
          <p:nvPr/>
        </p:nvSpPr>
        <p:spPr>
          <a:xfrm>
            <a:off x="1371600" y="3063240"/>
            <a:ext cx="6400800" cy="365760"/>
          </a:xfrm>
          <a:prstGeom prst="rect">
            <a:avLst/>
          </a:prstGeom>
          <a:noFill/>
          <a:ln>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Embed Copilot's agentic workflows in your application</a:t>
            </a:r>
            <a:endParaRPr lang="en-US" sz="1400" dirty="0"/>
          </a:p>
        </p:txBody>
      </p:sp>
      <p:sp>
        <p:nvSpPr>
          <p:cNvPr id="7" name="Shape 4"/>
          <p:cNvSpPr/>
          <p:nvPr/>
        </p:nvSpPr>
        <p:spPr>
          <a:xfrm>
            <a:off x="1463040" y="3749040"/>
            <a:ext cx="1097280" cy="320040"/>
          </a:xfrm>
          <a:prstGeom prst="line">
            <a:avLst/>
          </a:prstGeom>
          <a:solidFill>
            <a:srgbClr val="161B22"/>
          </a:solidFill>
          <a:ln w="12700">
            <a:prstDash val="solid"/>
          </a:ln>
        </p:spPr>
        <p:txBody>
          <a:bodyPr/>
          <a:lstStyle/>
          <a:p>
            <a:endParaRPr/>
          </a:p>
        </p:txBody>
      </p:sp>
      <p:sp>
        <p:nvSpPr>
          <p:cNvPr id="8" name="Text 5"/>
          <p:cNvSpPr/>
          <p:nvPr/>
        </p:nvSpPr>
        <p:spPr>
          <a:xfrm>
            <a:off x="146304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TypeScript</a:t>
            </a:r>
            <a:endParaRPr lang="en-US" sz="1100" dirty="0"/>
          </a:p>
        </p:txBody>
      </p:sp>
      <p:sp>
        <p:nvSpPr>
          <p:cNvPr id="9" name="Shape 6"/>
          <p:cNvSpPr/>
          <p:nvPr/>
        </p:nvSpPr>
        <p:spPr>
          <a:xfrm>
            <a:off x="2697480" y="3749040"/>
            <a:ext cx="1097280" cy="320040"/>
          </a:xfrm>
          <a:prstGeom prst="line">
            <a:avLst/>
          </a:prstGeom>
          <a:solidFill>
            <a:srgbClr val="161B22"/>
          </a:solidFill>
          <a:ln w="12700">
            <a:prstDash val="solid"/>
          </a:ln>
        </p:spPr>
        <p:txBody>
          <a:bodyPr/>
          <a:lstStyle/>
          <a:p>
            <a:endParaRPr/>
          </a:p>
        </p:txBody>
      </p:sp>
      <p:sp>
        <p:nvSpPr>
          <p:cNvPr id="10" name="Text 7"/>
          <p:cNvSpPr/>
          <p:nvPr/>
        </p:nvSpPr>
        <p:spPr>
          <a:xfrm>
            <a:off x="269748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Python</a:t>
            </a:r>
            <a:endParaRPr lang="en-US" sz="1100" dirty="0"/>
          </a:p>
        </p:txBody>
      </p:sp>
      <p:sp>
        <p:nvSpPr>
          <p:cNvPr id="11" name="Shape 8"/>
          <p:cNvSpPr/>
          <p:nvPr/>
        </p:nvSpPr>
        <p:spPr>
          <a:xfrm>
            <a:off x="3931920" y="3749040"/>
            <a:ext cx="1097280" cy="320040"/>
          </a:xfrm>
          <a:prstGeom prst="line">
            <a:avLst/>
          </a:prstGeom>
          <a:solidFill>
            <a:srgbClr val="161B22"/>
          </a:solidFill>
          <a:ln w="12700">
            <a:prstDash val="solid"/>
          </a:ln>
        </p:spPr>
        <p:txBody>
          <a:bodyPr/>
          <a:lstStyle/>
          <a:p>
            <a:endParaRPr/>
          </a:p>
        </p:txBody>
      </p:sp>
      <p:sp>
        <p:nvSpPr>
          <p:cNvPr id="12" name="Text 9"/>
          <p:cNvSpPr/>
          <p:nvPr/>
        </p:nvSpPr>
        <p:spPr>
          <a:xfrm>
            <a:off x="393192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Go</a:t>
            </a:r>
            <a:endParaRPr lang="en-US" sz="1100" dirty="0"/>
          </a:p>
        </p:txBody>
      </p:sp>
      <p:sp>
        <p:nvSpPr>
          <p:cNvPr id="13" name="Shape 10"/>
          <p:cNvSpPr/>
          <p:nvPr/>
        </p:nvSpPr>
        <p:spPr>
          <a:xfrm>
            <a:off x="5166360" y="3749040"/>
            <a:ext cx="1097280" cy="320040"/>
          </a:xfrm>
          <a:prstGeom prst="line">
            <a:avLst/>
          </a:prstGeom>
          <a:solidFill>
            <a:srgbClr val="161B22"/>
          </a:solidFill>
          <a:ln w="12700">
            <a:prstDash val="solid"/>
          </a:ln>
        </p:spPr>
        <p:txBody>
          <a:bodyPr/>
          <a:lstStyle/>
          <a:p>
            <a:endParaRPr/>
          </a:p>
        </p:txBody>
      </p:sp>
      <p:sp>
        <p:nvSpPr>
          <p:cNvPr id="14" name="Text 11"/>
          <p:cNvSpPr/>
          <p:nvPr/>
        </p:nvSpPr>
        <p:spPr>
          <a:xfrm>
            <a:off x="516636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.NET</a:t>
            </a:r>
            <a:endParaRPr lang="en-US" sz="1100" dirty="0"/>
          </a:p>
        </p:txBody>
      </p:sp>
      <p:sp>
        <p:nvSpPr>
          <p:cNvPr id="15" name="Shape 12"/>
          <p:cNvSpPr/>
          <p:nvPr/>
        </p:nvSpPr>
        <p:spPr>
          <a:xfrm>
            <a:off x="6400800" y="3749040"/>
            <a:ext cx="1097280" cy="320040"/>
          </a:xfrm>
          <a:prstGeom prst="line">
            <a:avLst/>
          </a:prstGeom>
          <a:solidFill>
            <a:srgbClr val="161B22"/>
          </a:solidFill>
          <a:ln w="12700">
            <a:prstDash val="solid"/>
          </a:ln>
        </p:spPr>
        <p:txBody>
          <a:bodyPr/>
          <a:lstStyle/>
          <a:p>
            <a:endParaRPr/>
          </a:p>
        </p:txBody>
      </p:sp>
      <p:sp>
        <p:nvSpPr>
          <p:cNvPr id="16" name="Text 13"/>
          <p:cNvSpPr/>
          <p:nvPr/>
        </p:nvSpPr>
        <p:spPr>
          <a:xfrm>
            <a:off x="640080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Java</a:t>
            </a:r>
            <a:endParaRPr lang="en-US" sz="1100" dirty="0"/>
          </a:p>
        </p:txBody>
      </p:sp>
      <p:sp>
        <p:nvSpPr>
          <p:cNvPr id="17" name="Text 14"/>
          <p:cNvSpPr/>
          <p:nvPr/>
        </p:nvSpPr>
        <p:spPr>
          <a:xfrm>
            <a:off x="3383280" y="4297680"/>
            <a:ext cx="2377440" cy="274320"/>
          </a:xfrm>
          <a:prstGeom prst="rect">
            <a:avLst/>
          </a:prstGeom>
          <a:noFill/>
          <a:ln>
            <a:noFill/>
          </a:ln>
        </p:spPr>
        <p:txBody>
          <a:bodyPr wrap="square" lIns="0" tIns="0" rIns="0" bIns="0" rtlCol="0" anchor="ctr"/>
          <a:lstStyle/>
          <a:p>
            <a:pPr marL="0" indent="0" algn="ctr">
              <a:buNone/>
            </a:pPr>
            <a:r>
              <a:rPr lang="en-US" sz="1000" dirty="0">
                <a:solidFill>
                  <a:srgbClr val="F0883E"/>
                </a:solidFill>
                <a:latin typeface="Calibri" pitchFamily="34" charset="0"/>
                <a:ea typeface="Calibri" pitchFamily="34" charset="-122"/>
                <a:cs typeface="Calibri" pitchFamily="34" charset="-120"/>
              </a:rPr>
              <a:t>Technical Preview · v0.2.0 · March 2026</a:t>
            </a:r>
            <a:endParaRPr lang="en-US" sz="1000" dirty="0"/>
          </a:p>
        </p:txBody>
      </p:sp>
      <p:sp>
        <p:nvSpPr>
          <p:cNvPr id="20" name="Text 16"/>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 / 23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is the GitHub Copilot SDK?</a:t>
            </a:r>
            <a:endParaRPr lang="en-US" sz="2600" dirty="0"/>
          </a:p>
        </p:txBody>
      </p:sp>
      <p:sp>
        <p:nvSpPr>
          <p:cNvPr id="4" name="Shape 2"/>
          <p:cNvSpPr/>
          <p:nvPr/>
        </p:nvSpPr>
        <p:spPr>
          <a:xfrm>
            <a:off x="548640" y="1005840"/>
            <a:ext cx="8046720" cy="128016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5" name="Text 3"/>
          <p:cNvSpPr/>
          <p:nvPr/>
        </p:nvSpPr>
        <p:spPr>
          <a:xfrm>
            <a:off x="822960" y="1097280"/>
            <a:ext cx="7680960" cy="109728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A programmable SDK that brings Copilot’s agent runtime into your application — no orchestration to build.</a:t>
            </a:r>
            <a:endParaRPr lang="en-US" sz="1600" dirty="0"/>
          </a:p>
          <a:p>
            <a:pPr marL="0" indent="0">
              <a:buNone/>
            </a:pPr>
            <a:r>
              <a:rPr lang="en-US" sz="1300" dirty="0">
                <a:solidFill>
                  <a:srgbClr val="C9D1D9"/>
                </a:solidFill>
                <a:latin typeface="Calibri" pitchFamily="34" charset="0"/>
                <a:ea typeface="Calibri" pitchFamily="34" charset="-122"/>
                <a:cs typeface="Calibri" pitchFamily="34" charset="-120"/>
              </a:rPr>
              <a:t>A production-tested agent runtime you can invoke programmatically. No need to build your own orchestration — you define agent behavior, Copilot handles planning, tool invocation, file edits, and more.</a:t>
            </a:r>
            <a:endParaRPr lang="en-US" sz="1600" dirty="0"/>
          </a:p>
        </p:txBody>
      </p:sp>
      <p:sp>
        <p:nvSpPr>
          <p:cNvPr id="6" name="Shape 4"/>
          <p:cNvSpPr/>
          <p:nvPr/>
        </p:nvSpPr>
        <p:spPr>
          <a:xfrm>
            <a:off x="548640"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5"/>
          <p:cNvSpPr/>
          <p:nvPr/>
        </p:nvSpPr>
        <p:spPr>
          <a:xfrm>
            <a:off x="1540764" y="2743200"/>
            <a:ext cx="548640" cy="548640"/>
          </a:xfrm>
          <a:prstGeom prst="line">
            <a:avLst/>
          </a:prstGeom>
          <a:solidFill>
            <a:srgbClr val="1F6FEB"/>
          </a:solidFill>
          <a:ln w="6350">
            <a:solidFill>
              <a:srgbClr val="30363D"/>
            </a:solidFill>
          </a:ln>
        </p:spPr>
        <p:txBody>
          <a:bodyPr/>
          <a:lstStyle/>
          <a:p>
            <a:endParaRPr/>
          </a:p>
        </p:txBody>
      </p:sp>
      <p:pic>
        <p:nvPicPr>
          <p:cNvPr id="8" name="Image 0" descr="preencoded.png"/>
          <p:cNvPicPr>
            <a:picLocks noChangeAspect="1"/>
          </p:cNvPicPr>
          <p:nvPr/>
        </p:nvPicPr>
        <p:blipFill>
          <a:blip r:embed="rId3"/>
          <a:stretch>
            <a:fillRect/>
          </a:stretch>
        </p:blipFill>
        <p:spPr>
          <a:xfrm>
            <a:off x="1632204" y="2834640"/>
            <a:ext cx="365760" cy="365760"/>
          </a:xfrm>
          <a:prstGeom prst="rect">
            <a:avLst/>
          </a:prstGeom>
        </p:spPr>
      </p:pic>
      <p:sp>
        <p:nvSpPr>
          <p:cNvPr id="9" name="Text 6"/>
          <p:cNvSpPr/>
          <p:nvPr/>
        </p:nvSpPr>
        <p:spPr>
          <a:xfrm>
            <a:off x="685800"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Production-Tested</a:t>
            </a:r>
            <a:endParaRPr lang="en-US" sz="1400" dirty="0"/>
          </a:p>
        </p:txBody>
      </p:sp>
      <p:sp>
        <p:nvSpPr>
          <p:cNvPr id="10" name="Text 7"/>
          <p:cNvSpPr/>
          <p:nvPr/>
        </p:nvSpPr>
        <p:spPr>
          <a:xfrm>
            <a:off x="731520"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Same runtime behind Copilot CLI, battle-tested at scale</a:t>
            </a:r>
            <a:endParaRPr lang="en-US" sz="1100" dirty="0"/>
          </a:p>
        </p:txBody>
      </p:sp>
      <p:sp>
        <p:nvSpPr>
          <p:cNvPr id="11" name="Shape 8"/>
          <p:cNvSpPr/>
          <p:nvPr/>
        </p:nvSpPr>
        <p:spPr>
          <a:xfrm>
            <a:off x="3355848"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2" name="Shape 9"/>
          <p:cNvSpPr/>
          <p:nvPr/>
        </p:nvSpPr>
        <p:spPr>
          <a:xfrm>
            <a:off x="4347972" y="2743200"/>
            <a:ext cx="548640" cy="548640"/>
          </a:xfrm>
          <a:prstGeom prst="line">
            <a:avLst/>
          </a:prstGeom>
          <a:solidFill>
            <a:srgbClr val="238636"/>
          </a:solidFill>
          <a:ln w="6350">
            <a:solidFill>
              <a:srgbClr val="30363D"/>
            </a:solidFill>
          </a:ln>
        </p:spPr>
        <p:txBody>
          <a:bodyPr/>
          <a:lstStyle/>
          <a:p>
            <a:endParaRPr/>
          </a:p>
        </p:txBody>
      </p:sp>
      <p:pic>
        <p:nvPicPr>
          <p:cNvPr id="13" name="Image 1" descr="preencoded.png"/>
          <p:cNvPicPr>
            <a:picLocks noChangeAspect="1"/>
          </p:cNvPicPr>
          <p:nvPr/>
        </p:nvPicPr>
        <p:blipFill>
          <a:blip r:embed="rId4"/>
          <a:stretch>
            <a:fillRect/>
          </a:stretch>
        </p:blipFill>
        <p:spPr>
          <a:xfrm>
            <a:off x="4439412" y="2834640"/>
            <a:ext cx="365760" cy="365760"/>
          </a:xfrm>
          <a:prstGeom prst="rect">
            <a:avLst/>
          </a:prstGeom>
        </p:spPr>
      </p:pic>
      <p:sp>
        <p:nvSpPr>
          <p:cNvPr id="14" name="Text 10"/>
          <p:cNvSpPr/>
          <p:nvPr/>
        </p:nvSpPr>
        <p:spPr>
          <a:xfrm>
            <a:off x="3493008"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Multi-Language</a:t>
            </a:r>
            <a:endParaRPr lang="en-US" sz="1400" dirty="0"/>
          </a:p>
        </p:txBody>
      </p:sp>
      <p:sp>
        <p:nvSpPr>
          <p:cNvPr id="15" name="Text 11"/>
          <p:cNvSpPr/>
          <p:nvPr/>
        </p:nvSpPr>
        <p:spPr>
          <a:xfrm>
            <a:off x="3538728"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TypeScript, Python, Go, .NET, and Java SDKs available</a:t>
            </a:r>
            <a:endParaRPr lang="en-US" sz="1100" dirty="0"/>
          </a:p>
        </p:txBody>
      </p:sp>
      <p:sp>
        <p:nvSpPr>
          <p:cNvPr id="16" name="Shape 12"/>
          <p:cNvSpPr/>
          <p:nvPr/>
        </p:nvSpPr>
        <p:spPr>
          <a:xfrm>
            <a:off x="6163056"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7" name="Shape 13"/>
          <p:cNvSpPr/>
          <p:nvPr/>
        </p:nvSpPr>
        <p:spPr>
          <a:xfrm>
            <a:off x="7155180" y="2743200"/>
            <a:ext cx="548640" cy="548640"/>
          </a:xfrm>
          <a:prstGeom prst="line">
            <a:avLst/>
          </a:prstGeom>
          <a:solidFill>
            <a:srgbClr val="8957E5"/>
          </a:solidFill>
          <a:ln w="6350">
            <a:solidFill>
              <a:srgbClr val="30363D"/>
            </a:solidFill>
          </a:ln>
        </p:spPr>
        <p:txBody>
          <a:bodyPr/>
          <a:lstStyle/>
          <a:p>
            <a:endParaRPr/>
          </a:p>
        </p:txBody>
      </p:sp>
      <p:pic>
        <p:nvPicPr>
          <p:cNvPr id="18" name="Image 2" descr="preencoded.png"/>
          <p:cNvPicPr>
            <a:picLocks noChangeAspect="1"/>
          </p:cNvPicPr>
          <p:nvPr/>
        </p:nvPicPr>
        <p:blipFill>
          <a:blip r:embed="rId5"/>
          <a:stretch>
            <a:fillRect/>
          </a:stretch>
        </p:blipFill>
        <p:spPr>
          <a:xfrm>
            <a:off x="7246620" y="2834640"/>
            <a:ext cx="365760" cy="365760"/>
          </a:xfrm>
          <a:prstGeom prst="rect">
            <a:avLst/>
          </a:prstGeom>
        </p:spPr>
      </p:pic>
      <p:sp>
        <p:nvSpPr>
          <p:cNvPr id="19" name="Text 14"/>
          <p:cNvSpPr/>
          <p:nvPr/>
        </p:nvSpPr>
        <p:spPr>
          <a:xfrm>
            <a:off x="6300216"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Extensible</a:t>
            </a:r>
            <a:endParaRPr lang="en-US" sz="1400" dirty="0"/>
          </a:p>
        </p:txBody>
      </p:sp>
      <p:sp>
        <p:nvSpPr>
          <p:cNvPr id="20" name="Text 15"/>
          <p:cNvSpPr/>
          <p:nvPr/>
        </p:nvSpPr>
        <p:spPr>
          <a:xfrm>
            <a:off x="6345936"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Custom tools, agents, MCP servers, hooks, and skills</a:t>
            </a:r>
            <a:endParaRPr lang="en-US" sz="1100" dirty="0"/>
          </a:p>
        </p:txBody>
      </p:sp>
      <p:sp>
        <p:nvSpPr>
          <p:cNvPr id="23" name="Text 1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 / 23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Architecture</a:t>
            </a:r>
            <a:endParaRPr lang="en-US" sz="2600" dirty="0"/>
          </a:p>
        </p:txBody>
      </p:sp>
      <p:sp>
        <p:nvSpPr>
          <p:cNvPr id="4" name="Shape 2"/>
          <p:cNvSpPr/>
          <p:nvPr/>
        </p:nvSpPr>
        <p:spPr>
          <a:xfrm>
            <a:off x="6400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600200" y="1325880"/>
            <a:ext cx="457200" cy="457200"/>
          </a:xfrm>
          <a:prstGeom prst="rect">
            <a:avLst/>
          </a:prstGeom>
        </p:spPr>
      </p:pic>
      <p:sp>
        <p:nvSpPr>
          <p:cNvPr id="6" name="Text 3"/>
          <p:cNvSpPr/>
          <p:nvPr/>
        </p:nvSpPr>
        <p:spPr>
          <a:xfrm>
            <a:off x="7315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Your Application</a:t>
            </a:r>
            <a:endParaRPr lang="en-US" sz="1300" dirty="0"/>
          </a:p>
        </p:txBody>
      </p:sp>
      <p:sp>
        <p:nvSpPr>
          <p:cNvPr id="7" name="Text 4"/>
          <p:cNvSpPr/>
          <p:nvPr/>
        </p:nvSpPr>
        <p:spPr>
          <a:xfrm>
            <a:off x="7315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(TS / Python / Go / .NET / Java)</a:t>
            </a:r>
            <a:endParaRPr lang="en-US" sz="900" dirty="0"/>
          </a:p>
        </p:txBody>
      </p:sp>
      <p:sp>
        <p:nvSpPr>
          <p:cNvPr id="8" name="Shape 5"/>
          <p:cNvSpPr/>
          <p:nvPr/>
        </p:nvSpPr>
        <p:spPr>
          <a:xfrm>
            <a:off x="33832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4343400" y="1325880"/>
            <a:ext cx="457200" cy="457200"/>
          </a:xfrm>
          <a:prstGeom prst="rect">
            <a:avLst/>
          </a:prstGeom>
        </p:spPr>
      </p:pic>
      <p:sp>
        <p:nvSpPr>
          <p:cNvPr id="10" name="Text 6"/>
          <p:cNvSpPr/>
          <p:nvPr/>
        </p:nvSpPr>
        <p:spPr>
          <a:xfrm>
            <a:off x="34747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SDK Client</a:t>
            </a:r>
            <a:endParaRPr lang="en-US" sz="1300" dirty="0"/>
          </a:p>
        </p:txBody>
      </p:sp>
      <p:sp>
        <p:nvSpPr>
          <p:cNvPr id="11" name="Text 7"/>
          <p:cNvSpPr/>
          <p:nvPr/>
        </p:nvSpPr>
        <p:spPr>
          <a:xfrm>
            <a:off x="34747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JSON-RPC Communication</a:t>
            </a:r>
            <a:endParaRPr lang="en-US" sz="900" dirty="0"/>
          </a:p>
        </p:txBody>
      </p:sp>
      <p:sp>
        <p:nvSpPr>
          <p:cNvPr id="12" name="Shape 8"/>
          <p:cNvSpPr/>
          <p:nvPr/>
        </p:nvSpPr>
        <p:spPr>
          <a:xfrm>
            <a:off x="61264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7086600" y="1325880"/>
            <a:ext cx="457200" cy="457200"/>
          </a:xfrm>
          <a:prstGeom prst="rect">
            <a:avLst/>
          </a:prstGeom>
        </p:spPr>
      </p:pic>
      <p:sp>
        <p:nvSpPr>
          <p:cNvPr id="14" name="Text 9"/>
          <p:cNvSpPr/>
          <p:nvPr/>
        </p:nvSpPr>
        <p:spPr>
          <a:xfrm>
            <a:off x="62179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Copilot CLI</a:t>
            </a:r>
            <a:endParaRPr lang="en-US" sz="1300" dirty="0"/>
          </a:p>
        </p:txBody>
      </p:sp>
      <p:sp>
        <p:nvSpPr>
          <p:cNvPr id="15" name="Text 10"/>
          <p:cNvSpPr/>
          <p:nvPr/>
        </p:nvSpPr>
        <p:spPr>
          <a:xfrm>
            <a:off x="62179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Server Mode (stdio / TCP)</a:t>
            </a:r>
            <a:endParaRPr lang="en-US" sz="900" dirty="0"/>
          </a:p>
        </p:txBody>
      </p:sp>
      <p:pic>
        <p:nvPicPr>
          <p:cNvPr id="16" name="Image 3" descr="preencoded.png"/>
          <p:cNvPicPr>
            <a:picLocks noChangeAspect="1"/>
          </p:cNvPicPr>
          <p:nvPr/>
        </p:nvPicPr>
        <p:blipFill>
          <a:blip r:embed="rId6"/>
          <a:stretch>
            <a:fillRect/>
          </a:stretch>
        </p:blipFill>
        <p:spPr>
          <a:xfrm>
            <a:off x="3063240" y="1737360"/>
            <a:ext cx="274320" cy="274320"/>
          </a:xfrm>
          <a:prstGeom prst="rect">
            <a:avLst/>
          </a:prstGeom>
        </p:spPr>
      </p:pic>
      <p:pic>
        <p:nvPicPr>
          <p:cNvPr id="17" name="Image 4" descr="preencoded.png"/>
          <p:cNvPicPr>
            <a:picLocks noChangeAspect="1"/>
          </p:cNvPicPr>
          <p:nvPr/>
        </p:nvPicPr>
        <p:blipFill>
          <a:blip r:embed="rId6"/>
          <a:stretch>
            <a:fillRect/>
          </a:stretch>
        </p:blipFill>
        <p:spPr>
          <a:xfrm>
            <a:off x="5806440" y="1737360"/>
            <a:ext cx="274320" cy="274320"/>
          </a:xfrm>
          <a:prstGeom prst="rect">
            <a:avLst/>
          </a:prstGeom>
        </p:spPr>
      </p:pic>
      <p:sp>
        <p:nvSpPr>
          <p:cNvPr id="18" name="Shape 11"/>
          <p:cNvSpPr/>
          <p:nvPr/>
        </p:nvSpPr>
        <p:spPr>
          <a:xfrm>
            <a:off x="2926080" y="3108960"/>
            <a:ext cx="3291840" cy="10972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9" name="Image 5" descr="preencoded.png"/>
          <p:cNvPicPr>
            <a:picLocks noChangeAspect="1"/>
          </p:cNvPicPr>
          <p:nvPr/>
        </p:nvPicPr>
        <p:blipFill>
          <a:blip r:embed="rId7"/>
          <a:stretch>
            <a:fillRect/>
          </a:stretch>
        </p:blipFill>
        <p:spPr>
          <a:xfrm>
            <a:off x="4343400" y="3200400"/>
            <a:ext cx="457200" cy="457200"/>
          </a:xfrm>
          <a:prstGeom prst="rect">
            <a:avLst/>
          </a:prstGeom>
        </p:spPr>
      </p:pic>
      <p:sp>
        <p:nvSpPr>
          <p:cNvPr id="20" name="Text 12"/>
          <p:cNvSpPr/>
          <p:nvPr/>
        </p:nvSpPr>
        <p:spPr>
          <a:xfrm>
            <a:off x="3017520" y="3657600"/>
            <a:ext cx="3108960" cy="22860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Model Provider</a:t>
            </a:r>
            <a:endParaRPr lang="en-US" sz="1200" dirty="0"/>
          </a:p>
        </p:txBody>
      </p:sp>
      <p:sp>
        <p:nvSpPr>
          <p:cNvPr id="21" name="Text 13"/>
          <p:cNvSpPr/>
          <p:nvPr/>
        </p:nvSpPr>
        <p:spPr>
          <a:xfrm>
            <a:off x="3017520" y="3886200"/>
            <a:ext cx="3108960" cy="228600"/>
          </a:xfrm>
          <a:prstGeom prst="rect">
            <a:avLst/>
          </a:prstGeom>
          <a:noFill/>
          <a:ln>
            <a:noFill/>
          </a:ln>
        </p:spPr>
        <p:txBody>
          <a:bodyPr wrap="square" lIns="0" tIns="0" rIns="0" bIns="0" rtlCol="0" anchor="ctr"/>
          <a:lstStyle/>
          <a:p>
            <a:pPr marL="0" indent="0" algn="ctr">
              <a:buNone/>
            </a:pPr>
            <a:r>
              <a:rPr lang="en-US" sz="850" dirty="0">
                <a:solidFill>
                  <a:srgbClr val="8B949E"/>
                </a:solidFill>
                <a:latin typeface="Calibri" pitchFamily="34" charset="0"/>
                <a:ea typeface="Calibri" pitchFamily="34" charset="-122"/>
                <a:cs typeface="Calibri" pitchFamily="34" charset="-120"/>
              </a:rPr>
              <a:t>GitHub Copilot  ·  OpenAI  ·  Azure  ·  Anthropic  ·  Local</a:t>
            </a:r>
            <a:endParaRPr lang="en-US" sz="850" dirty="0"/>
          </a:p>
        </p:txBody>
      </p:sp>
      <p:pic>
        <p:nvPicPr>
          <p:cNvPr id="23" name="Image 6" descr="preencoded.png"/>
          <p:cNvPicPr>
            <a:picLocks noChangeAspect="1"/>
          </p:cNvPicPr>
          <p:nvPr/>
        </p:nvPicPr>
        <p:blipFill>
          <a:blip r:embed="rId8"/>
          <a:stretch>
            <a:fillRect/>
          </a:stretch>
        </p:blipFill>
        <p:spPr>
          <a:xfrm>
            <a:off x="640080" y="3200400"/>
            <a:ext cx="182880" cy="182880"/>
          </a:xfrm>
          <a:prstGeom prst="rect">
            <a:avLst/>
          </a:prstGeom>
        </p:spPr>
      </p:pic>
      <p:sp>
        <p:nvSpPr>
          <p:cNvPr id="24" name="Text 15"/>
          <p:cNvSpPr/>
          <p:nvPr/>
        </p:nvSpPr>
        <p:spPr>
          <a:xfrm>
            <a:off x="91440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Auto-managed or external CLI</a:t>
            </a:r>
            <a:endParaRPr lang="en-US" sz="1000" dirty="0"/>
          </a:p>
        </p:txBody>
      </p:sp>
      <p:pic>
        <p:nvPicPr>
          <p:cNvPr id="25" name="Image 7" descr="preencoded.png"/>
          <p:cNvPicPr>
            <a:picLocks noChangeAspect="1"/>
          </p:cNvPicPr>
          <p:nvPr/>
        </p:nvPicPr>
        <p:blipFill>
          <a:blip r:embed="rId8"/>
          <a:stretch>
            <a:fillRect/>
          </a:stretch>
        </p:blipFill>
        <p:spPr>
          <a:xfrm>
            <a:off x="640080" y="3566160"/>
            <a:ext cx="182880" cy="182880"/>
          </a:xfrm>
          <a:prstGeom prst="rect">
            <a:avLst/>
          </a:prstGeom>
        </p:spPr>
      </p:pic>
      <p:sp>
        <p:nvSpPr>
          <p:cNvPr id="26" name="Text 16"/>
          <p:cNvSpPr/>
          <p:nvPr/>
        </p:nvSpPr>
        <p:spPr>
          <a:xfrm>
            <a:off x="91440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Multi-client support (protocol v3)</a:t>
            </a:r>
            <a:endParaRPr lang="en-US" sz="1000" dirty="0"/>
          </a:p>
        </p:txBody>
      </p:sp>
      <p:pic>
        <p:nvPicPr>
          <p:cNvPr id="27" name="Image 8" descr="preencoded.png"/>
          <p:cNvPicPr>
            <a:picLocks noChangeAspect="1"/>
          </p:cNvPicPr>
          <p:nvPr/>
        </p:nvPicPr>
        <p:blipFill>
          <a:blip r:embed="rId8"/>
          <a:stretch>
            <a:fillRect/>
          </a:stretch>
        </p:blipFill>
        <p:spPr>
          <a:xfrm>
            <a:off x="640080" y="3931920"/>
            <a:ext cx="182880" cy="182880"/>
          </a:xfrm>
          <a:prstGeom prst="rect">
            <a:avLst/>
          </a:prstGeom>
        </p:spPr>
      </p:pic>
      <p:sp>
        <p:nvSpPr>
          <p:cNvPr id="28" name="Text 17"/>
          <p:cNvSpPr/>
          <p:nvPr/>
        </p:nvSpPr>
        <p:spPr>
          <a:xfrm>
            <a:off x="91440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40+ streaming event types</a:t>
            </a:r>
            <a:endParaRPr lang="en-US" sz="1000" dirty="0"/>
          </a:p>
        </p:txBody>
      </p:sp>
      <p:pic>
        <p:nvPicPr>
          <p:cNvPr id="29" name="Image 9" descr="preencoded.png"/>
          <p:cNvPicPr>
            <a:picLocks noChangeAspect="1"/>
          </p:cNvPicPr>
          <p:nvPr/>
        </p:nvPicPr>
        <p:blipFill>
          <a:blip r:embed="rId8"/>
          <a:stretch>
            <a:fillRect/>
          </a:stretch>
        </p:blipFill>
        <p:spPr>
          <a:xfrm>
            <a:off x="6675120" y="3200400"/>
            <a:ext cx="182880" cy="182880"/>
          </a:xfrm>
          <a:prstGeom prst="rect">
            <a:avLst/>
          </a:prstGeom>
        </p:spPr>
      </p:pic>
      <p:sp>
        <p:nvSpPr>
          <p:cNvPr id="30" name="Text 18"/>
          <p:cNvSpPr/>
          <p:nvPr/>
        </p:nvSpPr>
        <p:spPr>
          <a:xfrm>
            <a:off x="694944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Session persistence</a:t>
            </a:r>
            <a:endParaRPr lang="en-US" sz="1000" dirty="0"/>
          </a:p>
        </p:txBody>
      </p:sp>
      <p:pic>
        <p:nvPicPr>
          <p:cNvPr id="31" name="Image 10" descr="preencoded.png"/>
          <p:cNvPicPr>
            <a:picLocks noChangeAspect="1"/>
          </p:cNvPicPr>
          <p:nvPr/>
        </p:nvPicPr>
        <p:blipFill>
          <a:blip r:embed="rId8"/>
          <a:stretch>
            <a:fillRect/>
          </a:stretch>
        </p:blipFill>
        <p:spPr>
          <a:xfrm>
            <a:off x="6675120" y="3566160"/>
            <a:ext cx="182880" cy="182880"/>
          </a:xfrm>
          <a:prstGeom prst="rect">
            <a:avLst/>
          </a:prstGeom>
        </p:spPr>
      </p:pic>
      <p:sp>
        <p:nvSpPr>
          <p:cNvPr id="32" name="Text 19"/>
          <p:cNvSpPr/>
          <p:nvPr/>
        </p:nvSpPr>
        <p:spPr>
          <a:xfrm>
            <a:off x="694944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Horizontal scaling</a:t>
            </a:r>
            <a:endParaRPr lang="en-US" sz="1000" dirty="0"/>
          </a:p>
        </p:txBody>
      </p:sp>
      <p:pic>
        <p:nvPicPr>
          <p:cNvPr id="33" name="Image 11" descr="preencoded.png"/>
          <p:cNvPicPr>
            <a:picLocks noChangeAspect="1"/>
          </p:cNvPicPr>
          <p:nvPr/>
        </p:nvPicPr>
        <p:blipFill>
          <a:blip r:embed="rId8"/>
          <a:stretch>
            <a:fillRect/>
          </a:stretch>
        </p:blipFill>
        <p:spPr>
          <a:xfrm>
            <a:off x="6675120" y="3931920"/>
            <a:ext cx="182880" cy="182880"/>
          </a:xfrm>
          <a:prstGeom prst="rect">
            <a:avLst/>
          </a:prstGeom>
        </p:spPr>
      </p:pic>
      <p:sp>
        <p:nvSpPr>
          <p:cNvPr id="34" name="Text 20"/>
          <p:cNvSpPr/>
          <p:nvPr/>
        </p:nvSpPr>
        <p:spPr>
          <a:xfrm>
            <a:off x="694944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OpenTelemetry tracing</a:t>
            </a:r>
            <a:endParaRPr lang="en-US" sz="1000" dirty="0"/>
          </a:p>
        </p:txBody>
      </p:sp>
      <p:sp>
        <p:nvSpPr>
          <p:cNvPr id="37" name="Text 2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3 / 23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Available SDKs</a:t>
            </a:r>
            <a:endParaRPr lang="en-US" sz="2600" dirty="0"/>
          </a:p>
        </p:txBody>
      </p:sp>
      <p:sp>
        <p:nvSpPr>
          <p:cNvPr id="4" name="Shape 2"/>
          <p:cNvSpPr/>
          <p:nvPr/>
        </p:nvSpPr>
        <p:spPr>
          <a:xfrm>
            <a:off x="548640" y="1051560"/>
            <a:ext cx="8046720" cy="621792"/>
          </a:xfrm>
          <a:prstGeom prst="line">
            <a:avLst/>
          </a:prstGeom>
          <a:solidFill>
            <a:srgbClr val="161B22"/>
          </a:solidFill>
          <a:ln w="12700">
            <a:prstDash val="solid"/>
          </a:ln>
        </p:spPr>
        <p:txBody>
          <a:bodyPr/>
          <a:lstStyle/>
          <a:p>
            <a:endParaRPr/>
          </a:p>
        </p:txBody>
      </p:sp>
      <p:sp>
        <p:nvSpPr>
          <p:cNvPr id="6" name="Text 4"/>
          <p:cNvSpPr/>
          <p:nvPr/>
        </p:nvSpPr>
        <p:spPr>
          <a:xfrm>
            <a:off x="822960" y="1051560"/>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Node.js / TypeScript</a:t>
            </a:r>
            <a:endParaRPr lang="en-US" sz="1400" dirty="0"/>
          </a:p>
        </p:txBody>
      </p:sp>
      <p:sp>
        <p:nvSpPr>
          <p:cNvPr id="7" name="Shape 5"/>
          <p:cNvSpPr/>
          <p:nvPr/>
        </p:nvSpPr>
        <p:spPr>
          <a:xfrm>
            <a:off x="3200400" y="1179576"/>
            <a:ext cx="5120640" cy="365760"/>
          </a:xfrm>
          <a:prstGeom prst="line">
            <a:avLst/>
          </a:prstGeom>
          <a:solidFill>
            <a:srgbClr val="0D1117"/>
          </a:solidFill>
          <a:ln w="12700">
            <a:prstDash val="solid"/>
          </a:ln>
        </p:spPr>
        <p:txBody>
          <a:bodyPr/>
          <a:lstStyle/>
          <a:p>
            <a:endParaRPr/>
          </a:p>
        </p:txBody>
      </p:sp>
      <p:sp>
        <p:nvSpPr>
          <p:cNvPr id="8" name="Text 6"/>
          <p:cNvSpPr/>
          <p:nvPr/>
        </p:nvSpPr>
        <p:spPr>
          <a:xfrm>
            <a:off x="3337560" y="1179576"/>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npm install @github/copilot-sdk</a:t>
            </a:r>
            <a:endParaRPr lang="en-US" sz="1000" dirty="0"/>
          </a:p>
        </p:txBody>
      </p:sp>
      <p:sp>
        <p:nvSpPr>
          <p:cNvPr id="9" name="Shape 7"/>
          <p:cNvSpPr/>
          <p:nvPr/>
        </p:nvSpPr>
        <p:spPr>
          <a:xfrm>
            <a:off x="548640" y="1801368"/>
            <a:ext cx="8046720" cy="621792"/>
          </a:xfrm>
          <a:prstGeom prst="line">
            <a:avLst/>
          </a:prstGeom>
          <a:solidFill>
            <a:srgbClr val="161B22"/>
          </a:solidFill>
          <a:ln w="12700">
            <a:prstDash val="solid"/>
          </a:ln>
        </p:spPr>
        <p:txBody>
          <a:bodyPr/>
          <a:lstStyle/>
          <a:p>
            <a:endParaRPr/>
          </a:p>
        </p:txBody>
      </p:sp>
      <p:sp>
        <p:nvSpPr>
          <p:cNvPr id="11" name="Text 9"/>
          <p:cNvSpPr/>
          <p:nvPr/>
        </p:nvSpPr>
        <p:spPr>
          <a:xfrm>
            <a:off x="822960" y="1801368"/>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12" name="Shape 10"/>
          <p:cNvSpPr/>
          <p:nvPr/>
        </p:nvSpPr>
        <p:spPr>
          <a:xfrm>
            <a:off x="3200400" y="1929384"/>
            <a:ext cx="5120640" cy="365760"/>
          </a:xfrm>
          <a:prstGeom prst="line">
            <a:avLst/>
          </a:prstGeom>
          <a:solidFill>
            <a:srgbClr val="0D1117"/>
          </a:solidFill>
          <a:ln w="12700">
            <a:prstDash val="solid"/>
          </a:ln>
        </p:spPr>
        <p:txBody>
          <a:bodyPr/>
          <a:lstStyle/>
          <a:p>
            <a:endParaRPr/>
          </a:p>
        </p:txBody>
      </p:sp>
      <p:sp>
        <p:nvSpPr>
          <p:cNvPr id="13" name="Text 11"/>
          <p:cNvSpPr/>
          <p:nvPr/>
        </p:nvSpPr>
        <p:spPr>
          <a:xfrm>
            <a:off x="3337560" y="1929384"/>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pip install github-copilot-sdk</a:t>
            </a:r>
            <a:endParaRPr lang="en-US" sz="1000" dirty="0"/>
          </a:p>
        </p:txBody>
      </p:sp>
      <p:sp>
        <p:nvSpPr>
          <p:cNvPr id="14" name="Shape 12"/>
          <p:cNvSpPr/>
          <p:nvPr/>
        </p:nvSpPr>
        <p:spPr>
          <a:xfrm>
            <a:off x="548640" y="2551176"/>
            <a:ext cx="8046720" cy="621792"/>
          </a:xfrm>
          <a:prstGeom prst="line">
            <a:avLst/>
          </a:prstGeom>
          <a:solidFill>
            <a:srgbClr val="161B22"/>
          </a:solidFill>
          <a:ln w="12700">
            <a:prstDash val="solid"/>
          </a:ln>
        </p:spPr>
        <p:txBody>
          <a:bodyPr/>
          <a:lstStyle/>
          <a:p>
            <a:endParaRPr/>
          </a:p>
        </p:txBody>
      </p:sp>
      <p:sp>
        <p:nvSpPr>
          <p:cNvPr id="16" name="Text 14"/>
          <p:cNvSpPr/>
          <p:nvPr/>
        </p:nvSpPr>
        <p:spPr>
          <a:xfrm>
            <a:off x="822960" y="2551176"/>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Go</a:t>
            </a:r>
            <a:endParaRPr lang="en-US" sz="1400" dirty="0"/>
          </a:p>
        </p:txBody>
      </p:sp>
      <p:sp>
        <p:nvSpPr>
          <p:cNvPr id="17" name="Shape 15"/>
          <p:cNvSpPr/>
          <p:nvPr/>
        </p:nvSpPr>
        <p:spPr>
          <a:xfrm>
            <a:off x="3200400" y="2679192"/>
            <a:ext cx="5120640" cy="365760"/>
          </a:xfrm>
          <a:prstGeom prst="line">
            <a:avLst/>
          </a:prstGeom>
          <a:solidFill>
            <a:srgbClr val="0D1117"/>
          </a:solidFill>
          <a:ln w="12700">
            <a:prstDash val="solid"/>
          </a:ln>
        </p:spPr>
        <p:txBody>
          <a:bodyPr/>
          <a:lstStyle/>
          <a:p>
            <a:endParaRPr/>
          </a:p>
        </p:txBody>
      </p:sp>
      <p:sp>
        <p:nvSpPr>
          <p:cNvPr id="18" name="Text 16"/>
          <p:cNvSpPr/>
          <p:nvPr/>
        </p:nvSpPr>
        <p:spPr>
          <a:xfrm>
            <a:off x="3337560" y="2679192"/>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go get github.com/github/copilot-sdk/go</a:t>
            </a:r>
            <a:endParaRPr lang="en-US" sz="1000" dirty="0"/>
          </a:p>
        </p:txBody>
      </p:sp>
      <p:sp>
        <p:nvSpPr>
          <p:cNvPr id="19" name="Shape 17"/>
          <p:cNvSpPr/>
          <p:nvPr/>
        </p:nvSpPr>
        <p:spPr>
          <a:xfrm>
            <a:off x="548640" y="3300984"/>
            <a:ext cx="8046720" cy="621792"/>
          </a:xfrm>
          <a:prstGeom prst="line">
            <a:avLst/>
          </a:prstGeom>
          <a:solidFill>
            <a:srgbClr val="161B22"/>
          </a:solidFill>
          <a:ln w="12700">
            <a:prstDash val="solid"/>
          </a:ln>
        </p:spPr>
        <p:txBody>
          <a:bodyPr/>
          <a:lstStyle/>
          <a:p>
            <a:endParaRPr/>
          </a:p>
        </p:txBody>
      </p:sp>
      <p:sp>
        <p:nvSpPr>
          <p:cNvPr id="21" name="Text 19"/>
          <p:cNvSpPr/>
          <p:nvPr/>
        </p:nvSpPr>
        <p:spPr>
          <a:xfrm>
            <a:off x="822960" y="3300984"/>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.NET</a:t>
            </a:r>
            <a:endParaRPr lang="en-US" sz="1400" dirty="0"/>
          </a:p>
        </p:txBody>
      </p:sp>
      <p:sp>
        <p:nvSpPr>
          <p:cNvPr id="22" name="Shape 20"/>
          <p:cNvSpPr/>
          <p:nvPr/>
        </p:nvSpPr>
        <p:spPr>
          <a:xfrm>
            <a:off x="3200400" y="3429000"/>
            <a:ext cx="5120640" cy="365760"/>
          </a:xfrm>
          <a:prstGeom prst="line">
            <a:avLst/>
          </a:prstGeom>
          <a:solidFill>
            <a:srgbClr val="0D1117"/>
          </a:solidFill>
          <a:ln w="12700">
            <a:prstDash val="solid"/>
          </a:ln>
        </p:spPr>
        <p:txBody>
          <a:bodyPr/>
          <a:lstStyle/>
          <a:p>
            <a:endParaRPr/>
          </a:p>
        </p:txBody>
      </p:sp>
      <p:sp>
        <p:nvSpPr>
          <p:cNvPr id="23" name="Text 21"/>
          <p:cNvSpPr/>
          <p:nvPr/>
        </p:nvSpPr>
        <p:spPr>
          <a:xfrm>
            <a:off x="3337560" y="3429000"/>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dotnet add package GitHub.Copilot.SDK</a:t>
            </a:r>
            <a:endParaRPr lang="en-US" sz="1000" dirty="0"/>
          </a:p>
        </p:txBody>
      </p:sp>
      <p:sp>
        <p:nvSpPr>
          <p:cNvPr id="24" name="Shape 22"/>
          <p:cNvSpPr/>
          <p:nvPr/>
        </p:nvSpPr>
        <p:spPr>
          <a:xfrm>
            <a:off x="548640" y="4050792"/>
            <a:ext cx="8046720" cy="621792"/>
          </a:xfrm>
          <a:prstGeom prst="line">
            <a:avLst/>
          </a:prstGeom>
          <a:solidFill>
            <a:srgbClr val="161B22"/>
          </a:solidFill>
          <a:ln w="12700">
            <a:prstDash val="solid"/>
          </a:ln>
        </p:spPr>
        <p:txBody>
          <a:bodyPr/>
          <a:lstStyle/>
          <a:p>
            <a:endParaRPr/>
          </a:p>
        </p:txBody>
      </p:sp>
      <p:sp>
        <p:nvSpPr>
          <p:cNvPr id="26" name="Text 24"/>
          <p:cNvSpPr/>
          <p:nvPr/>
        </p:nvSpPr>
        <p:spPr>
          <a:xfrm>
            <a:off x="822960" y="4050792"/>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Java</a:t>
            </a:r>
            <a:endParaRPr lang="en-US" sz="1400" dirty="0"/>
          </a:p>
        </p:txBody>
      </p:sp>
      <p:sp>
        <p:nvSpPr>
          <p:cNvPr id="27" name="Shape 25"/>
          <p:cNvSpPr/>
          <p:nvPr/>
        </p:nvSpPr>
        <p:spPr>
          <a:xfrm>
            <a:off x="3200400" y="4178808"/>
            <a:ext cx="5120640" cy="365760"/>
          </a:xfrm>
          <a:prstGeom prst="line">
            <a:avLst/>
          </a:prstGeom>
          <a:solidFill>
            <a:srgbClr val="0D1117"/>
          </a:solidFill>
          <a:ln w="12700">
            <a:prstDash val="solid"/>
          </a:ln>
        </p:spPr>
        <p:txBody>
          <a:bodyPr/>
          <a:lstStyle/>
          <a:p>
            <a:endParaRPr/>
          </a:p>
        </p:txBody>
      </p:sp>
      <p:sp>
        <p:nvSpPr>
          <p:cNvPr id="28" name="Text 26"/>
          <p:cNvSpPr/>
          <p:nvPr/>
        </p:nvSpPr>
        <p:spPr>
          <a:xfrm>
            <a:off x="3337560" y="4178808"/>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com.github:copilot-sdk-java (Maven/Gradle)</a:t>
            </a:r>
            <a:endParaRPr lang="en-US" sz="1000" dirty="0"/>
          </a:p>
        </p:txBody>
      </p:sp>
      <p:sp>
        <p:nvSpPr>
          <p:cNvPr id="29" name="Text 27"/>
          <p:cNvSpPr/>
          <p:nvPr/>
        </p:nvSpPr>
        <p:spPr>
          <a:xfrm>
            <a:off x="548640" y="457200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Community SDKs also available: Rust, Clojure, C++</a:t>
            </a:r>
            <a:endParaRPr lang="en-US" sz="1000" dirty="0"/>
          </a:p>
        </p:txBody>
      </p:sp>
      <p:sp>
        <p:nvSpPr>
          <p:cNvPr id="32" name="Text 2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6 / 23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Key Features</a:t>
            </a:r>
            <a:endParaRPr lang="en-US" sz="2600" dirty="0"/>
          </a:p>
        </p:txBody>
      </p:sp>
      <p:sp>
        <p:nvSpPr>
          <p:cNvPr id="4" name="Shape 2"/>
          <p:cNvSpPr/>
          <p:nvPr/>
        </p:nvSpPr>
        <p:spPr>
          <a:xfrm>
            <a:off x="54864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234440" y="1280160"/>
            <a:ext cx="502920" cy="502920"/>
          </a:xfrm>
          <a:prstGeom prst="rect">
            <a:avLst/>
          </a:prstGeom>
        </p:spPr>
      </p:pic>
      <p:sp>
        <p:nvSpPr>
          <p:cNvPr id="6" name="Text 3"/>
          <p:cNvSpPr/>
          <p:nvPr/>
        </p:nvSpPr>
        <p:spPr>
          <a:xfrm>
            <a:off x="64008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Custom Tools</a:t>
            </a:r>
            <a:endParaRPr lang="en-US" sz="1200" dirty="0"/>
          </a:p>
        </p:txBody>
      </p:sp>
      <p:sp>
        <p:nvSpPr>
          <p:cNvPr id="7" name="Text 4"/>
          <p:cNvSpPr/>
          <p:nvPr/>
        </p:nvSpPr>
        <p:spPr>
          <a:xfrm>
            <a:off x="64008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Define functions Copilot can invoke</a:t>
            </a:r>
            <a:endParaRPr lang="en-US" sz="950" dirty="0"/>
          </a:p>
        </p:txBody>
      </p:sp>
      <p:sp>
        <p:nvSpPr>
          <p:cNvPr id="8" name="Shape 5"/>
          <p:cNvSpPr/>
          <p:nvPr/>
        </p:nvSpPr>
        <p:spPr>
          <a:xfrm>
            <a:off x="265176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3337560" y="1280160"/>
            <a:ext cx="502920" cy="502920"/>
          </a:xfrm>
          <a:prstGeom prst="rect">
            <a:avLst/>
          </a:prstGeom>
        </p:spPr>
      </p:pic>
      <p:sp>
        <p:nvSpPr>
          <p:cNvPr id="10" name="Text 6"/>
          <p:cNvSpPr/>
          <p:nvPr/>
        </p:nvSpPr>
        <p:spPr>
          <a:xfrm>
            <a:off x="274320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Custom Agents</a:t>
            </a:r>
            <a:endParaRPr lang="en-US" sz="1200" dirty="0"/>
          </a:p>
        </p:txBody>
      </p:sp>
      <p:sp>
        <p:nvSpPr>
          <p:cNvPr id="11" name="Text 7"/>
          <p:cNvSpPr/>
          <p:nvPr/>
        </p:nvSpPr>
        <p:spPr>
          <a:xfrm>
            <a:off x="274320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Specialized AI personas with scoped tools</a:t>
            </a:r>
            <a:endParaRPr lang="en-US" sz="950" dirty="0"/>
          </a:p>
        </p:txBody>
      </p:sp>
      <p:sp>
        <p:nvSpPr>
          <p:cNvPr id="12" name="Shape 8"/>
          <p:cNvSpPr/>
          <p:nvPr/>
        </p:nvSpPr>
        <p:spPr>
          <a:xfrm>
            <a:off x="475488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5440680" y="1280160"/>
            <a:ext cx="502920" cy="502920"/>
          </a:xfrm>
          <a:prstGeom prst="rect">
            <a:avLst/>
          </a:prstGeom>
        </p:spPr>
      </p:pic>
      <p:sp>
        <p:nvSpPr>
          <p:cNvPr id="14" name="Text 9"/>
          <p:cNvSpPr/>
          <p:nvPr/>
        </p:nvSpPr>
        <p:spPr>
          <a:xfrm>
            <a:off x="484632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MCP Servers</a:t>
            </a:r>
            <a:endParaRPr lang="en-US" sz="1200" dirty="0"/>
          </a:p>
        </p:txBody>
      </p:sp>
      <p:sp>
        <p:nvSpPr>
          <p:cNvPr id="15" name="Text 10"/>
          <p:cNvSpPr/>
          <p:nvPr/>
        </p:nvSpPr>
        <p:spPr>
          <a:xfrm>
            <a:off x="484632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External tool integration via standard protocol</a:t>
            </a:r>
            <a:endParaRPr lang="en-US" sz="950" dirty="0"/>
          </a:p>
        </p:txBody>
      </p:sp>
      <p:sp>
        <p:nvSpPr>
          <p:cNvPr id="16" name="Shape 11"/>
          <p:cNvSpPr/>
          <p:nvPr/>
        </p:nvSpPr>
        <p:spPr>
          <a:xfrm>
            <a:off x="685800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7" name="Image 3" descr="preencoded.png"/>
          <p:cNvPicPr>
            <a:picLocks noChangeAspect="1"/>
          </p:cNvPicPr>
          <p:nvPr/>
        </p:nvPicPr>
        <p:blipFill>
          <a:blip r:embed="rId6"/>
          <a:stretch>
            <a:fillRect/>
          </a:stretch>
        </p:blipFill>
        <p:spPr>
          <a:xfrm>
            <a:off x="7543800" y="1280160"/>
            <a:ext cx="502920" cy="502920"/>
          </a:xfrm>
          <a:prstGeom prst="rect">
            <a:avLst/>
          </a:prstGeom>
        </p:spPr>
      </p:pic>
      <p:sp>
        <p:nvSpPr>
          <p:cNvPr id="18" name="Text 12"/>
          <p:cNvSpPr/>
          <p:nvPr/>
        </p:nvSpPr>
        <p:spPr>
          <a:xfrm>
            <a:off x="694944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Skills</a:t>
            </a:r>
            <a:endParaRPr lang="en-US" sz="1200" dirty="0"/>
          </a:p>
        </p:txBody>
      </p:sp>
      <p:sp>
        <p:nvSpPr>
          <p:cNvPr id="19" name="Text 13"/>
          <p:cNvSpPr/>
          <p:nvPr/>
        </p:nvSpPr>
        <p:spPr>
          <a:xfrm>
            <a:off x="694944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Reusable prompt modules from directories</a:t>
            </a:r>
            <a:endParaRPr lang="en-US" sz="950" dirty="0"/>
          </a:p>
        </p:txBody>
      </p:sp>
      <p:sp>
        <p:nvSpPr>
          <p:cNvPr id="20" name="Shape 14"/>
          <p:cNvSpPr/>
          <p:nvPr/>
        </p:nvSpPr>
        <p:spPr>
          <a:xfrm>
            <a:off x="54864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1" name="Image 4" descr="preencoded.png"/>
          <p:cNvPicPr>
            <a:picLocks noChangeAspect="1"/>
          </p:cNvPicPr>
          <p:nvPr/>
        </p:nvPicPr>
        <p:blipFill>
          <a:blip r:embed="rId7"/>
          <a:stretch>
            <a:fillRect/>
          </a:stretch>
        </p:blipFill>
        <p:spPr>
          <a:xfrm>
            <a:off x="1234440" y="3154680"/>
            <a:ext cx="502920" cy="502920"/>
          </a:xfrm>
          <a:prstGeom prst="rect">
            <a:avLst/>
          </a:prstGeom>
        </p:spPr>
      </p:pic>
      <p:sp>
        <p:nvSpPr>
          <p:cNvPr id="22" name="Text 15"/>
          <p:cNvSpPr/>
          <p:nvPr/>
        </p:nvSpPr>
        <p:spPr>
          <a:xfrm>
            <a:off x="64008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Hooks</a:t>
            </a:r>
            <a:endParaRPr lang="en-US" sz="1200" dirty="0"/>
          </a:p>
        </p:txBody>
      </p:sp>
      <p:sp>
        <p:nvSpPr>
          <p:cNvPr id="23" name="Text 16"/>
          <p:cNvSpPr/>
          <p:nvPr/>
        </p:nvSpPr>
        <p:spPr>
          <a:xfrm>
            <a:off x="64008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Intercept sessions for security and auditing</a:t>
            </a:r>
            <a:endParaRPr lang="en-US" sz="950" dirty="0"/>
          </a:p>
        </p:txBody>
      </p:sp>
      <p:sp>
        <p:nvSpPr>
          <p:cNvPr id="24" name="Shape 17"/>
          <p:cNvSpPr/>
          <p:nvPr/>
        </p:nvSpPr>
        <p:spPr>
          <a:xfrm>
            <a:off x="265176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5" name="Image 5" descr="preencoded.png"/>
          <p:cNvPicPr>
            <a:picLocks noChangeAspect="1"/>
          </p:cNvPicPr>
          <p:nvPr/>
        </p:nvPicPr>
        <p:blipFill>
          <a:blip r:embed="rId8"/>
          <a:stretch>
            <a:fillRect/>
          </a:stretch>
        </p:blipFill>
        <p:spPr>
          <a:xfrm>
            <a:off x="3337560" y="3154680"/>
            <a:ext cx="502920" cy="502920"/>
          </a:xfrm>
          <a:prstGeom prst="rect">
            <a:avLst/>
          </a:prstGeom>
        </p:spPr>
      </p:pic>
      <p:sp>
        <p:nvSpPr>
          <p:cNvPr id="26" name="Text 18"/>
          <p:cNvSpPr/>
          <p:nvPr/>
        </p:nvSpPr>
        <p:spPr>
          <a:xfrm>
            <a:off x="274320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Streaming</a:t>
            </a:r>
            <a:endParaRPr lang="en-US" sz="1200" dirty="0"/>
          </a:p>
        </p:txBody>
      </p:sp>
      <p:sp>
        <p:nvSpPr>
          <p:cNvPr id="27" name="Text 19"/>
          <p:cNvSpPr/>
          <p:nvPr/>
        </p:nvSpPr>
        <p:spPr>
          <a:xfrm>
            <a:off x="274320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40+ real-time event types</a:t>
            </a:r>
            <a:endParaRPr lang="en-US" sz="950" dirty="0"/>
          </a:p>
        </p:txBody>
      </p:sp>
      <p:sp>
        <p:nvSpPr>
          <p:cNvPr id="28" name="Shape 20"/>
          <p:cNvSpPr/>
          <p:nvPr/>
        </p:nvSpPr>
        <p:spPr>
          <a:xfrm>
            <a:off x="475488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9" name="Image 6" descr="preencoded.png"/>
          <p:cNvPicPr>
            <a:picLocks noChangeAspect="1"/>
          </p:cNvPicPr>
          <p:nvPr/>
        </p:nvPicPr>
        <p:blipFill>
          <a:blip r:embed="rId9"/>
          <a:stretch>
            <a:fillRect/>
          </a:stretch>
        </p:blipFill>
        <p:spPr>
          <a:xfrm>
            <a:off x="5440680" y="3154680"/>
            <a:ext cx="502920" cy="502920"/>
          </a:xfrm>
          <a:prstGeom prst="rect">
            <a:avLst/>
          </a:prstGeom>
        </p:spPr>
      </p:pic>
      <p:sp>
        <p:nvSpPr>
          <p:cNvPr id="30" name="Text 21"/>
          <p:cNvSpPr/>
          <p:nvPr/>
        </p:nvSpPr>
        <p:spPr>
          <a:xfrm>
            <a:off x="484632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BYOK</a:t>
            </a:r>
            <a:endParaRPr lang="en-US" sz="1200" dirty="0"/>
          </a:p>
        </p:txBody>
      </p:sp>
      <p:sp>
        <p:nvSpPr>
          <p:cNvPr id="31" name="Text 22"/>
          <p:cNvSpPr/>
          <p:nvPr/>
        </p:nvSpPr>
        <p:spPr>
          <a:xfrm>
            <a:off x="484632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Bring your own model provider API keys</a:t>
            </a:r>
            <a:endParaRPr lang="en-US" sz="950" dirty="0"/>
          </a:p>
        </p:txBody>
      </p:sp>
      <p:sp>
        <p:nvSpPr>
          <p:cNvPr id="32" name="Shape 23"/>
          <p:cNvSpPr/>
          <p:nvPr/>
        </p:nvSpPr>
        <p:spPr>
          <a:xfrm>
            <a:off x="685800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33" name="Image 7" descr="preencoded.png"/>
          <p:cNvPicPr>
            <a:picLocks noChangeAspect="1"/>
          </p:cNvPicPr>
          <p:nvPr/>
        </p:nvPicPr>
        <p:blipFill>
          <a:blip r:embed="rId10"/>
          <a:stretch>
            <a:fillRect/>
          </a:stretch>
        </p:blipFill>
        <p:spPr>
          <a:xfrm>
            <a:off x="7543800" y="3154680"/>
            <a:ext cx="502920" cy="502920"/>
          </a:xfrm>
          <a:prstGeom prst="rect">
            <a:avLst/>
          </a:prstGeom>
        </p:spPr>
      </p:pic>
      <p:sp>
        <p:nvSpPr>
          <p:cNvPr id="34" name="Text 24"/>
          <p:cNvSpPr/>
          <p:nvPr/>
        </p:nvSpPr>
        <p:spPr>
          <a:xfrm>
            <a:off x="694944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Observability</a:t>
            </a:r>
            <a:endParaRPr lang="en-US" sz="1200" dirty="0"/>
          </a:p>
        </p:txBody>
      </p:sp>
      <p:sp>
        <p:nvSpPr>
          <p:cNvPr id="35" name="Text 25"/>
          <p:cNvSpPr/>
          <p:nvPr/>
        </p:nvSpPr>
        <p:spPr>
          <a:xfrm>
            <a:off x="694944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Built-in OpenTelemetry instrumentation</a:t>
            </a:r>
            <a:endParaRPr lang="en-US" sz="950" dirty="0"/>
          </a:p>
        </p:txBody>
      </p:sp>
      <p:sp>
        <p:nvSpPr>
          <p:cNvPr id="38"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7 / 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Can You Build?</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Automated Code Review</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Security auditors, performance reviewers, and style checkers with custom prompts and scoped tool access</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AI-Powered Developer Tools</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Embed intelligent assistance in CLIs, dashboards, and internal portals with full agentic capabilities</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DevOps</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CI/CD Pipeline Intelligence</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Automated code analysis, test generation, and documentation within CI/CD workflows</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Platform</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Multi-Agent Workflows</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Orchestrate specialized agents (security + perf + docs) via Microsoft Agent Framework</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Data</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Database Query Assistants</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MCP-connected agents that query databases, explain results, and suggest optimizations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Developer</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Documentation Generation</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Agents that analyze codebases and produce comprehensive, up-to-date documentation</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16 / 23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More Use Cases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AI-Powered SaaS Products</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Embed agentic AI in customer-facing apps with per-user OAuth and session isolation</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Developer</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Custom IDE Extensions</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specialized coding assistants for domain-specific languages or frameworks</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API-Powered Chatbots</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Backend services powering conversational AI with persistent sessions and streaming</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DevOps</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Agents managing infrastructure, diagnosing issues, and automating deployments</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Code Search &amp; Analysis</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intelligent code exploration tools with read-only agents for large codebases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Platform</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Platform SDKs</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Enable third-party developers to build on Copilot's agent runtime as part of your platform</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17 / 23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Built-in Tools</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First-party tools available to every session — all enabled by default</a:t>
            </a:r>
          </a:p>
        </p:txBody>
      </p:sp>
      <p:sp>
        <p:nvSpPr>
          <p:cNvPr id="4" name="Rectangle 3"/>
          <p:cNvSpPr/>
          <p:nvPr/>
        </p:nvSpPr>
        <p:spPr>
          <a:xfrm>
            <a:off x="548640"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File System — Reading</a:t>
            </a:r>
          </a:p>
        </p:txBody>
      </p:sp>
      <p:sp>
        <p:nvSpPr>
          <p:cNvPr id="6" name="TextBox 5"/>
          <p:cNvSpPr txBox="1"/>
          <p:nvPr/>
        </p:nvSpPr>
        <p:spPr>
          <a:xfrm>
            <a:off x="685800"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read_file</a:t>
            </a:r>
          </a:p>
        </p:txBody>
      </p:sp>
      <p:sp>
        <p:nvSpPr>
          <p:cNvPr id="7" name="TextBox 6"/>
          <p:cNvSpPr txBox="1"/>
          <p:nvPr/>
        </p:nvSpPr>
        <p:spPr>
          <a:xfrm>
            <a:off x="1783080"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Read file contents</a:t>
            </a:r>
          </a:p>
        </p:txBody>
      </p:sp>
      <p:sp>
        <p:nvSpPr>
          <p:cNvPr id="8" name="TextBox 7"/>
          <p:cNvSpPr txBox="1"/>
          <p:nvPr/>
        </p:nvSpPr>
        <p:spPr>
          <a:xfrm>
            <a:off x="685800"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view</a:t>
            </a:r>
          </a:p>
        </p:txBody>
      </p:sp>
      <p:sp>
        <p:nvSpPr>
          <p:cNvPr id="9" name="TextBox 8"/>
          <p:cNvSpPr txBox="1"/>
          <p:nvPr/>
        </p:nvSpPr>
        <p:spPr>
          <a:xfrm>
            <a:off x="1783080"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View file or directory</a:t>
            </a:r>
          </a:p>
        </p:txBody>
      </p:sp>
      <p:sp>
        <p:nvSpPr>
          <p:cNvPr id="10" name="TextBox 9"/>
          <p:cNvSpPr txBox="1"/>
          <p:nvPr/>
        </p:nvSpPr>
        <p:spPr>
          <a:xfrm>
            <a:off x="685800"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glob</a:t>
            </a:r>
          </a:p>
        </p:txBody>
      </p:sp>
      <p:sp>
        <p:nvSpPr>
          <p:cNvPr id="11" name="TextBox 10"/>
          <p:cNvSpPr txBox="1"/>
          <p:nvPr/>
        </p:nvSpPr>
        <p:spPr>
          <a:xfrm>
            <a:off x="1783080"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Find files by name pattern</a:t>
            </a:r>
          </a:p>
        </p:txBody>
      </p:sp>
      <p:sp>
        <p:nvSpPr>
          <p:cNvPr id="12" name="TextBox 11"/>
          <p:cNvSpPr txBox="1"/>
          <p:nvPr/>
        </p:nvSpPr>
        <p:spPr>
          <a:xfrm>
            <a:off x="685800" y="2377439"/>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grep</a:t>
            </a:r>
          </a:p>
        </p:txBody>
      </p:sp>
      <p:sp>
        <p:nvSpPr>
          <p:cNvPr id="13" name="TextBox 12"/>
          <p:cNvSpPr txBox="1"/>
          <p:nvPr/>
        </p:nvSpPr>
        <p:spPr>
          <a:xfrm>
            <a:off x="1783080" y="2377439"/>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Search contents (ripgrep)</a:t>
            </a:r>
          </a:p>
        </p:txBody>
      </p:sp>
      <p:sp>
        <p:nvSpPr>
          <p:cNvPr id="14" name="TextBox 13"/>
          <p:cNvSpPr txBox="1"/>
          <p:nvPr/>
        </p:nvSpPr>
        <p:spPr>
          <a:xfrm>
            <a:off x="685800" y="265176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list_dir</a:t>
            </a:r>
          </a:p>
        </p:txBody>
      </p:sp>
      <p:sp>
        <p:nvSpPr>
          <p:cNvPr id="15" name="TextBox 14"/>
          <p:cNvSpPr txBox="1"/>
          <p:nvPr/>
        </p:nvSpPr>
        <p:spPr>
          <a:xfrm>
            <a:off x="1783080" y="265176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List directory contents</a:t>
            </a:r>
          </a:p>
        </p:txBody>
      </p:sp>
      <p:sp>
        <p:nvSpPr>
          <p:cNvPr id="16" name="Rectangle 15"/>
          <p:cNvSpPr/>
          <p:nvPr/>
        </p:nvSpPr>
        <p:spPr>
          <a:xfrm>
            <a:off x="3264408"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01568" y="1234440"/>
            <a:ext cx="2350008" cy="274320"/>
          </a:xfrm>
          <a:prstGeom prst="rect">
            <a:avLst/>
          </a:prstGeom>
          <a:noFill/>
        </p:spPr>
        <p:txBody>
          <a:bodyPr wrap="square">
            <a:spAutoFit/>
          </a:bodyPr>
          <a:lstStyle/>
          <a:p>
            <a:pPr algn="l">
              <a:spcBef>
                <a:spcPts val="0"/>
              </a:spcBef>
              <a:spcAft>
                <a:spcPts val="0"/>
              </a:spcAft>
            </a:pPr>
            <a:r>
              <a:rPr sz="1200" b="1" i="0">
                <a:solidFill>
                  <a:srgbClr val="3FB950"/>
                </a:solidFill>
                <a:latin typeface="Calibri"/>
              </a:rPr>
              <a:t>File System — Writing</a:t>
            </a:r>
          </a:p>
        </p:txBody>
      </p:sp>
      <p:sp>
        <p:nvSpPr>
          <p:cNvPr id="18" name="TextBox 17"/>
          <p:cNvSpPr txBox="1"/>
          <p:nvPr/>
        </p:nvSpPr>
        <p:spPr>
          <a:xfrm>
            <a:off x="3401568"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edit</a:t>
            </a:r>
          </a:p>
        </p:txBody>
      </p:sp>
      <p:sp>
        <p:nvSpPr>
          <p:cNvPr id="19" name="TextBox 18"/>
          <p:cNvSpPr txBox="1"/>
          <p:nvPr/>
        </p:nvSpPr>
        <p:spPr>
          <a:xfrm>
            <a:off x="4498848"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Targeted edits to existing files</a:t>
            </a:r>
          </a:p>
        </p:txBody>
      </p:sp>
      <p:sp>
        <p:nvSpPr>
          <p:cNvPr id="20" name="TextBox 19"/>
          <p:cNvSpPr txBox="1"/>
          <p:nvPr/>
        </p:nvSpPr>
        <p:spPr>
          <a:xfrm>
            <a:off x="3401568"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create</a:t>
            </a:r>
          </a:p>
        </p:txBody>
      </p:sp>
      <p:sp>
        <p:nvSpPr>
          <p:cNvPr id="21" name="TextBox 20"/>
          <p:cNvSpPr txBox="1"/>
          <p:nvPr/>
        </p:nvSpPr>
        <p:spPr>
          <a:xfrm>
            <a:off x="4498848"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Create new files</a:t>
            </a:r>
          </a:p>
        </p:txBody>
      </p:sp>
      <p:sp>
        <p:nvSpPr>
          <p:cNvPr id="22" name="TextBox 21"/>
          <p:cNvSpPr txBox="1"/>
          <p:nvPr/>
        </p:nvSpPr>
        <p:spPr>
          <a:xfrm>
            <a:off x="3401568"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write_file</a:t>
            </a:r>
          </a:p>
        </p:txBody>
      </p:sp>
      <p:sp>
        <p:nvSpPr>
          <p:cNvPr id="23" name="TextBox 22"/>
          <p:cNvSpPr txBox="1"/>
          <p:nvPr/>
        </p:nvSpPr>
        <p:spPr>
          <a:xfrm>
            <a:off x="4498848"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Write / overwrite files</a:t>
            </a:r>
          </a:p>
        </p:txBody>
      </p:sp>
      <p:sp>
        <p:nvSpPr>
          <p:cNvPr id="24" name="Rectangle 23"/>
          <p:cNvSpPr/>
          <p:nvPr/>
        </p:nvSpPr>
        <p:spPr>
          <a:xfrm>
            <a:off x="5971032"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08192" y="1234440"/>
            <a:ext cx="2350008" cy="274320"/>
          </a:xfrm>
          <a:prstGeom prst="rect">
            <a:avLst/>
          </a:prstGeom>
          <a:noFill/>
        </p:spPr>
        <p:txBody>
          <a:bodyPr wrap="square">
            <a:spAutoFit/>
          </a:bodyPr>
          <a:lstStyle/>
          <a:p>
            <a:pPr algn="l">
              <a:spcBef>
                <a:spcPts val="0"/>
              </a:spcBef>
              <a:spcAft>
                <a:spcPts val="0"/>
              </a:spcAft>
            </a:pPr>
            <a:r>
              <a:rPr sz="1200" b="1" i="0">
                <a:solidFill>
                  <a:srgbClr val="F0883E"/>
                </a:solidFill>
                <a:latin typeface="Calibri"/>
              </a:rPr>
              <a:t>Shell &amp; Execution</a:t>
            </a:r>
          </a:p>
        </p:txBody>
      </p:sp>
      <p:sp>
        <p:nvSpPr>
          <p:cNvPr id="26" name="TextBox 25"/>
          <p:cNvSpPr txBox="1"/>
          <p:nvPr/>
        </p:nvSpPr>
        <p:spPr>
          <a:xfrm>
            <a:off x="6108192"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bash</a:t>
            </a:r>
          </a:p>
        </p:txBody>
      </p:sp>
      <p:sp>
        <p:nvSpPr>
          <p:cNvPr id="27" name="TextBox 26"/>
          <p:cNvSpPr txBox="1"/>
          <p:nvPr/>
        </p:nvSpPr>
        <p:spPr>
          <a:xfrm>
            <a:off x="7205472"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Execute shell commands</a:t>
            </a:r>
          </a:p>
        </p:txBody>
      </p:sp>
      <p:sp>
        <p:nvSpPr>
          <p:cNvPr id="28" name="TextBox 27"/>
          <p:cNvSpPr txBox="1"/>
          <p:nvPr/>
        </p:nvSpPr>
        <p:spPr>
          <a:xfrm>
            <a:off x="6108192"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shell</a:t>
            </a:r>
          </a:p>
        </p:txBody>
      </p:sp>
      <p:sp>
        <p:nvSpPr>
          <p:cNvPr id="29" name="TextBox 28"/>
          <p:cNvSpPr txBox="1"/>
          <p:nvPr/>
        </p:nvSpPr>
        <p:spPr>
          <a:xfrm>
            <a:off x="7205472"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Run shell commands (alias)</a:t>
            </a:r>
          </a:p>
        </p:txBody>
      </p:sp>
      <p:sp>
        <p:nvSpPr>
          <p:cNvPr id="30" name="Rectangle 29"/>
          <p:cNvSpPr/>
          <p:nvPr/>
        </p:nvSpPr>
        <p:spPr>
          <a:xfrm>
            <a:off x="5486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3337560"/>
            <a:ext cx="3657600" cy="274320"/>
          </a:xfrm>
          <a:prstGeom prst="rect">
            <a:avLst/>
          </a:prstGeom>
          <a:noFill/>
        </p:spPr>
        <p:txBody>
          <a:bodyPr wrap="square">
            <a:spAutoFit/>
          </a:bodyPr>
          <a:lstStyle/>
          <a:p>
            <a:pPr algn="l">
              <a:spcBef>
                <a:spcPts val="0"/>
              </a:spcBef>
              <a:spcAft>
                <a:spcPts val="0"/>
              </a:spcAft>
            </a:pPr>
            <a:r>
              <a:rPr sz="1200" b="1" i="0">
                <a:solidFill>
                  <a:srgbClr val="39D2C0"/>
                </a:solidFill>
                <a:latin typeface="Calibri"/>
              </a:rPr>
              <a:t>Web</a:t>
            </a:r>
          </a:p>
        </p:txBody>
      </p:sp>
      <p:sp>
        <p:nvSpPr>
          <p:cNvPr id="32" name="TextBox 31"/>
          <p:cNvSpPr txBox="1"/>
          <p:nvPr/>
        </p:nvSpPr>
        <p:spPr>
          <a:xfrm>
            <a:off x="6858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web_fetch</a:t>
            </a:r>
          </a:p>
        </p:txBody>
      </p:sp>
      <p:sp>
        <p:nvSpPr>
          <p:cNvPr id="33" name="TextBox 32"/>
          <p:cNvSpPr txBox="1"/>
          <p:nvPr/>
        </p:nvSpPr>
        <p:spPr>
          <a:xfrm>
            <a:off x="19202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Fetch content from URLs</a:t>
            </a:r>
          </a:p>
        </p:txBody>
      </p:sp>
      <p:sp>
        <p:nvSpPr>
          <p:cNvPr id="34" name="Rectangle 33"/>
          <p:cNvSpPr/>
          <p:nvPr/>
        </p:nvSpPr>
        <p:spPr>
          <a:xfrm>
            <a:off x="46634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800600" y="3337560"/>
            <a:ext cx="3657600" cy="274320"/>
          </a:xfrm>
          <a:prstGeom prst="rect">
            <a:avLst/>
          </a:prstGeom>
          <a:noFill/>
        </p:spPr>
        <p:txBody>
          <a:bodyPr wrap="square">
            <a:spAutoFit/>
          </a:bodyPr>
          <a:lstStyle/>
          <a:p>
            <a:pPr algn="l">
              <a:spcBef>
                <a:spcPts val="0"/>
              </a:spcBef>
              <a:spcAft>
                <a:spcPts val="0"/>
              </a:spcAft>
            </a:pPr>
            <a:r>
              <a:rPr sz="1200" b="1" i="0">
                <a:solidFill>
                  <a:srgbClr val="BC8CFF"/>
                </a:solidFill>
                <a:latin typeface="Calibri"/>
              </a:rPr>
              <a:t>Agent Infrastructure</a:t>
            </a:r>
          </a:p>
        </p:txBody>
      </p:sp>
      <p:sp>
        <p:nvSpPr>
          <p:cNvPr id="36" name="TextBox 35"/>
          <p:cNvSpPr txBox="1"/>
          <p:nvPr/>
        </p:nvSpPr>
        <p:spPr>
          <a:xfrm>
            <a:off x="48006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task</a:t>
            </a:r>
          </a:p>
        </p:txBody>
      </p:sp>
      <p:sp>
        <p:nvSpPr>
          <p:cNvPr id="37" name="TextBox 36"/>
          <p:cNvSpPr txBox="1"/>
          <p:nvPr/>
        </p:nvSpPr>
        <p:spPr>
          <a:xfrm>
            <a:off x="60350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Delegate work to sub-agents</a:t>
            </a:r>
          </a:p>
        </p:txBody>
      </p:sp>
      <p:sp>
        <p:nvSpPr>
          <p:cNvPr id="38" name="TextBox 37"/>
          <p:cNvSpPr txBox="1"/>
          <p:nvPr/>
        </p:nvSpPr>
        <p:spPr>
          <a:xfrm>
            <a:off x="4800600" y="393192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ask_user</a:t>
            </a:r>
          </a:p>
        </p:txBody>
      </p:sp>
      <p:sp>
        <p:nvSpPr>
          <p:cNvPr id="39" name="TextBox 38"/>
          <p:cNvSpPr txBox="1"/>
          <p:nvPr/>
        </p:nvSpPr>
        <p:spPr>
          <a:xfrm>
            <a:off x="6035040" y="393192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Ask the user a question</a:t>
            </a:r>
          </a:p>
        </p:txBody>
      </p:sp>
      <p:sp>
        <p:nvSpPr>
          <p:cNvPr id="40" name="TextBox 39"/>
          <p:cNvSpPr txBox="1"/>
          <p:nvPr/>
        </p:nvSpPr>
        <p:spPr>
          <a:xfrm>
            <a:off x="4800600" y="420624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store_memory</a:t>
            </a:r>
          </a:p>
        </p:txBody>
      </p:sp>
      <p:sp>
        <p:nvSpPr>
          <p:cNvPr id="41" name="TextBox 40"/>
          <p:cNvSpPr txBox="1"/>
          <p:nvPr/>
        </p:nvSpPr>
        <p:spPr>
          <a:xfrm>
            <a:off x="6035040" y="420624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Persist facts to memory</a:t>
            </a:r>
          </a:p>
        </p:txBody>
      </p:sp>
      <p:sp>
        <p:nvSpPr>
          <p:cNvPr id="42" name="TextBox 41"/>
          <p:cNvSpPr txBox="1"/>
          <p:nvPr/>
        </p:nvSpPr>
        <p:spPr>
          <a:xfrm>
            <a:off x="548640" y="4572000"/>
            <a:ext cx="8046720" cy="228600"/>
          </a:xfrm>
          <a:prstGeom prst="rect">
            <a:avLst/>
          </a:prstGeom>
          <a:noFill/>
        </p:spPr>
        <p:txBody>
          <a:bodyPr wrap="square">
            <a:spAutoFit/>
          </a:bodyPr>
          <a:lstStyle/>
          <a:p>
            <a:pPr algn="ctr">
              <a:spcBef>
                <a:spcPts val="0"/>
              </a:spcBef>
              <a:spcAft>
                <a:spcPts val="0"/>
              </a:spcAft>
            </a:pPr>
            <a:r>
              <a:rPr sz="950" b="0" i="1">
                <a:solidFill>
                  <a:srgbClr val="8B949E"/>
                </a:solidFill>
                <a:latin typeface="Calibri"/>
              </a:rPr>
              <a:t>Plus: MCP server tools (e.g. GitHub MCP) and your custom tools via @define_tool</a:t>
            </a:r>
          </a:p>
        </p:txBody>
      </p:sp>
      <p:sp>
        <p:nvSpPr>
          <p:cNvPr id="43" name="TextBox 42"/>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8 / 25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Controlling Tool Access</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Three ways to restrict what the agent can do</a:t>
            </a:r>
          </a:p>
        </p:txBody>
      </p:sp>
      <p:sp>
        <p:nvSpPr>
          <p:cNvPr id="4" name="Rectangle 3"/>
          <p:cNvSpPr/>
          <p:nvPr/>
        </p:nvSpPr>
        <p:spPr>
          <a:xfrm>
            <a:off x="548640"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300" b="1" i="0">
                <a:solidFill>
                  <a:srgbClr val="58A6FF"/>
                </a:solidFill>
                <a:latin typeface="Calibri"/>
              </a:rPr>
              <a:t>1. Session Config</a:t>
            </a:r>
          </a:p>
        </p:txBody>
      </p:sp>
      <p:sp>
        <p:nvSpPr>
          <p:cNvPr id="6" name="TextBox 5"/>
          <p:cNvSpPr txBox="1"/>
          <p:nvPr/>
        </p:nvSpPr>
        <p:spPr>
          <a:xfrm>
            <a:off x="685800"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Whitelist or blacklist at creation</a:t>
            </a:r>
          </a:p>
        </p:txBody>
      </p:sp>
      <p:sp>
        <p:nvSpPr>
          <p:cNvPr id="7" name="Rectangle 6"/>
          <p:cNvSpPr/>
          <p:nvPr/>
        </p:nvSpPr>
        <p:spPr>
          <a:xfrm>
            <a:off x="640080"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0" name="TextBox 9"/>
          <p:cNvSpPr txBox="1"/>
          <p:nvPr/>
        </p:nvSpPr>
        <p:spPr>
          <a:xfrm>
            <a:off x="731520" y="2103120"/>
            <a:ext cx="2258568" cy="2286000"/>
          </a:xfrm>
          <a:prstGeom prst="rect">
            <a:avLst/>
          </a:prstGeom>
          <a:noFill/>
        </p:spPr>
        <p:txBody>
          <a:bodyPr wrap="square">
            <a:spAutoFit/>
          </a:bodyPr>
          <a:lstStyle/>
          <a:p>
            <a:pPr algn="l">
              <a:spcBef>
                <a:spcPts val="0"/>
              </a:spcBef>
              <a:spcAft>
                <a:spcPts val="0"/>
              </a:spcAft>
            </a:pPr>
            <a:r>
              <a:rPr sz="850" b="0" i="0">
                <a:solidFill>
                  <a:srgbClr val="C9D1D9"/>
                </a:solidFill>
                <a:latin typeface="Consolas"/>
              </a:rPr>
              <a:t>session = await client.create_session(
  available_tools=[
    "grep","glob","view"
  ],
  # OR
  excluded_tools=[
    "bash","shell"
  ],
)</a:t>
            </a:r>
          </a:p>
        </p:txBody>
      </p:sp>
      <p:sp>
        <p:nvSpPr>
          <p:cNvPr id="11" name="Rectangle 10"/>
          <p:cNvSpPr/>
          <p:nvPr/>
        </p:nvSpPr>
        <p:spPr>
          <a:xfrm>
            <a:off x="3410712"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47872" y="1234440"/>
            <a:ext cx="2350008" cy="274320"/>
          </a:xfrm>
          <a:prstGeom prst="rect">
            <a:avLst/>
          </a:prstGeom>
          <a:noFill/>
        </p:spPr>
        <p:txBody>
          <a:bodyPr wrap="square">
            <a:spAutoFit/>
          </a:bodyPr>
          <a:lstStyle/>
          <a:p>
            <a:pPr algn="l">
              <a:spcBef>
                <a:spcPts val="0"/>
              </a:spcBef>
              <a:spcAft>
                <a:spcPts val="0"/>
              </a:spcAft>
            </a:pPr>
            <a:r>
              <a:rPr sz="1300" b="1" i="0">
                <a:solidFill>
                  <a:srgbClr val="3FB950"/>
                </a:solidFill>
                <a:latin typeface="Calibri"/>
              </a:rPr>
              <a:t>2. onPreToolUse Hook</a:t>
            </a:r>
          </a:p>
        </p:txBody>
      </p:sp>
      <p:sp>
        <p:nvSpPr>
          <p:cNvPr id="13" name="TextBox 12"/>
          <p:cNvSpPr txBox="1"/>
          <p:nvPr/>
        </p:nvSpPr>
        <p:spPr>
          <a:xfrm>
            <a:off x="3547872"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Dynamic per-call decisions</a:t>
            </a:r>
          </a:p>
        </p:txBody>
      </p:sp>
      <p:sp>
        <p:nvSpPr>
          <p:cNvPr id="14" name="Rectangle 13"/>
          <p:cNvSpPr/>
          <p:nvPr/>
        </p:nvSpPr>
        <p:spPr>
          <a:xfrm>
            <a:off x="3502152"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502152"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02152"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7" name="TextBox 16"/>
          <p:cNvSpPr txBox="1"/>
          <p:nvPr/>
        </p:nvSpPr>
        <p:spPr>
          <a:xfrm>
            <a:off x="3593592" y="2103120"/>
            <a:ext cx="2258568" cy="2286000"/>
          </a:xfrm>
          <a:prstGeom prst="rect">
            <a:avLst/>
          </a:prstGeom>
          <a:noFill/>
        </p:spPr>
        <p:txBody>
          <a:bodyPr wrap="square">
            <a:spAutoFit/>
          </a:bodyPr>
          <a:lstStyle/>
          <a:p>
            <a:pPr algn="l">
              <a:spcBef>
                <a:spcPts val="0"/>
              </a:spcBef>
              <a:spcAft>
                <a:spcPts val="0"/>
              </a:spcAft>
            </a:pPr>
            <a:r>
              <a:rPr sz="850" b="0" i="0">
                <a:solidFill>
                  <a:srgbClr val="C9D1D9"/>
                </a:solidFill>
                <a:latin typeface="Consolas"/>
              </a:rPr>
              <a:t>ALLOWED = [
  "read_file","glob",
  "grep","view"
]
async def on_pre_tool_use(inp, inv):
  if inp["toolName"] not in ALLOWED:
    return {
      "permissionDecision": "deny"
    }
  return {
    "permissionDecision": "allow"
  }</a:t>
            </a:r>
          </a:p>
        </p:txBody>
      </p:sp>
      <p:sp>
        <p:nvSpPr>
          <p:cNvPr id="18" name="Rectangle 17"/>
          <p:cNvSpPr/>
          <p:nvPr/>
        </p:nvSpPr>
        <p:spPr>
          <a:xfrm>
            <a:off x="6272783"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9944" y="1234440"/>
            <a:ext cx="2350008" cy="274320"/>
          </a:xfrm>
          <a:prstGeom prst="rect">
            <a:avLst/>
          </a:prstGeom>
          <a:noFill/>
        </p:spPr>
        <p:txBody>
          <a:bodyPr wrap="square">
            <a:spAutoFit/>
          </a:bodyPr>
          <a:lstStyle/>
          <a:p>
            <a:pPr algn="l">
              <a:spcBef>
                <a:spcPts val="0"/>
              </a:spcBef>
              <a:spcAft>
                <a:spcPts val="0"/>
              </a:spcAft>
            </a:pPr>
            <a:r>
              <a:rPr sz="1300" b="1" i="0">
                <a:solidFill>
                  <a:srgbClr val="F0883E"/>
                </a:solidFill>
                <a:latin typeface="Calibri"/>
              </a:rPr>
              <a:t>3. Override Built-ins</a:t>
            </a:r>
          </a:p>
        </p:txBody>
      </p:sp>
      <p:sp>
        <p:nvSpPr>
          <p:cNvPr id="20" name="TextBox 19"/>
          <p:cNvSpPr txBox="1"/>
          <p:nvPr/>
        </p:nvSpPr>
        <p:spPr>
          <a:xfrm>
            <a:off x="6409944"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Replace with your own (v0.1.30+)</a:t>
            </a:r>
          </a:p>
        </p:txBody>
      </p:sp>
      <p:sp>
        <p:nvSpPr>
          <p:cNvPr id="21" name="Rectangle 20"/>
          <p:cNvSpPr/>
          <p:nvPr/>
        </p:nvSpPr>
        <p:spPr>
          <a:xfrm>
            <a:off x="6364223"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64223"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64223"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24" name="TextBox 23"/>
          <p:cNvSpPr txBox="1"/>
          <p:nvPr/>
        </p:nvSpPr>
        <p:spPr>
          <a:xfrm>
            <a:off x="6455664" y="2103120"/>
            <a:ext cx="2258568" cy="2286000"/>
          </a:xfrm>
          <a:prstGeom prst="rect">
            <a:avLst/>
          </a:prstGeom>
          <a:noFill/>
        </p:spPr>
        <p:txBody>
          <a:bodyPr wrap="square">
            <a:spAutoFit/>
          </a:bodyPr>
          <a:lstStyle/>
          <a:p>
            <a:pPr algn="l">
              <a:spcBef>
                <a:spcPts val="0"/>
              </a:spcBef>
              <a:spcAft>
                <a:spcPts val="0"/>
              </a:spcAft>
            </a:pPr>
            <a:r>
              <a:rPr sz="850" b="0" i="0">
                <a:solidFill>
                  <a:srgbClr val="C9D1D9"/>
                </a:solidFill>
                <a:latin typeface="Consolas"/>
              </a:rPr>
              <a:t>@define_tool(
  description="Custom grep",
  overrides_built_in_tool=True,
)
async def grep(params):
  # Your custom implementation
  return custom_search(
    params.query
  )</a:t>
            </a:r>
          </a:p>
        </p:txBody>
      </p:sp>
      <p:sp>
        <p:nvSpPr>
          <p:cNvPr id="25" name="TextBox 24"/>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9 / 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Custom Tools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Define custom functions that Copilot can invoke during conversations</a:t>
            </a:r>
            <a:endParaRPr lang="en-US" sz="1200" dirty="0"/>
          </a:p>
        </p:txBody>
      </p:sp>
      <p:sp>
        <p:nvSpPr>
          <p:cNvPr id="6" name="Shape 3"/>
          <p:cNvSpPr/>
          <p:nvPr/>
        </p:nvSpPr>
        <p:spPr>
          <a:xfrm>
            <a:off x="548640" y="1188720"/>
            <a:ext cx="8046720" cy="3291840"/>
          </a:xfrm>
          <a:prstGeom prst="line">
            <a:avLst/>
          </a:prstGeom>
          <a:solidFill>
            <a:srgbClr val="161B22"/>
          </a:solidFill>
          <a:ln w="12700">
            <a:prstDash val="solid"/>
          </a:ln>
        </p:spPr>
        <p:txBody>
          <a:bodyPr/>
          <a:lstStyle/>
          <a:p>
            <a:endParaRPr/>
          </a:p>
        </p:txBody>
      </p:sp>
      <p:sp>
        <p:nvSpPr>
          <p:cNvPr id="8" name="Text 5"/>
          <p:cNvSpPr/>
          <p:nvPr/>
        </p:nvSpPr>
        <p:spPr>
          <a:xfrm>
            <a:off x="5486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a:t>
            </a:r>
            <a:endParaRPr lang="en-US" sz="900" dirty="0"/>
          </a:p>
        </p:txBody>
      </p:sp>
      <p:sp>
        <p:nvSpPr>
          <p:cNvPr id="9" name="Text 6"/>
          <p:cNvSpPr/>
          <p:nvPr/>
        </p:nvSpPr>
        <p:spPr>
          <a:xfrm>
            <a:off x="685800" y="1508760"/>
            <a:ext cx="7772400" cy="288036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const getWeather = defineTool("get_weather",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description: "Get the current weather for a city",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parameters: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type: "object",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properties: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city: { type: "string", description: "The city name"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required: ["city"],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handler: async (args)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data = await fetchWeatherAPI(args.city);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return { city: args.city, temp: data.temp, condition: data.condition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tools: [getWeather],</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8 / 23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Custom Agents &amp; Sub-Agent Orchestration</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Define specialized AI personas with their own prompts, tool restrictions, and MCP servers</a:t>
            </a:r>
            <a:endParaRPr lang="en-US" sz="1200" dirty="0"/>
          </a:p>
        </p:txBody>
      </p:sp>
      <p:sp>
        <p:nvSpPr>
          <p:cNvPr id="6" name="Shape 3"/>
          <p:cNvSpPr/>
          <p:nvPr/>
        </p:nvSpPr>
        <p:spPr>
          <a:xfrm>
            <a:off x="548640"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8" name="Image 1" descr="preencoded.png"/>
          <p:cNvPicPr>
            <a:picLocks noChangeAspect="1"/>
          </p:cNvPicPr>
          <p:nvPr/>
        </p:nvPicPr>
        <p:blipFill>
          <a:blip r:embed="rId4"/>
          <a:stretch>
            <a:fillRect/>
          </a:stretch>
        </p:blipFill>
        <p:spPr>
          <a:xfrm>
            <a:off x="1627632" y="1417320"/>
            <a:ext cx="402336" cy="402336"/>
          </a:xfrm>
          <a:prstGeom prst="rect">
            <a:avLst/>
          </a:prstGeom>
        </p:spPr>
      </p:pic>
      <p:sp>
        <p:nvSpPr>
          <p:cNvPr id="9" name="Text 5"/>
          <p:cNvSpPr/>
          <p:nvPr/>
        </p:nvSpPr>
        <p:spPr>
          <a:xfrm>
            <a:off x="685800"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Research Agent</a:t>
            </a:r>
            <a:endParaRPr lang="en-US" sz="1300" dirty="0"/>
          </a:p>
        </p:txBody>
      </p:sp>
      <p:sp>
        <p:nvSpPr>
          <p:cNvPr id="10" name="Text 6"/>
          <p:cNvSpPr/>
          <p:nvPr/>
        </p:nvSpPr>
        <p:spPr>
          <a:xfrm>
            <a:off x="731520"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11" name="Text 7"/>
          <p:cNvSpPr/>
          <p:nvPr/>
        </p:nvSpPr>
        <p:spPr>
          <a:xfrm>
            <a:off x="1280160"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12" name="Text 8"/>
          <p:cNvSpPr/>
          <p:nvPr/>
        </p:nvSpPr>
        <p:spPr>
          <a:xfrm>
            <a:off x="731520"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Analyze code, answer questions. Read-only.</a:t>
            </a:r>
            <a:endParaRPr lang="en-US" sz="1000" dirty="0"/>
          </a:p>
        </p:txBody>
      </p:sp>
      <p:sp>
        <p:nvSpPr>
          <p:cNvPr id="13" name="Shape 9"/>
          <p:cNvSpPr/>
          <p:nvPr/>
        </p:nvSpPr>
        <p:spPr>
          <a:xfrm>
            <a:off x="3355848"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5" name="Image 2" descr="preencoded.png"/>
          <p:cNvPicPr>
            <a:picLocks noChangeAspect="1"/>
          </p:cNvPicPr>
          <p:nvPr/>
        </p:nvPicPr>
        <p:blipFill>
          <a:blip r:embed="rId5"/>
          <a:stretch>
            <a:fillRect/>
          </a:stretch>
        </p:blipFill>
        <p:spPr>
          <a:xfrm>
            <a:off x="4434840" y="1417320"/>
            <a:ext cx="402336" cy="402336"/>
          </a:xfrm>
          <a:prstGeom prst="rect">
            <a:avLst/>
          </a:prstGeom>
        </p:spPr>
      </p:pic>
      <p:sp>
        <p:nvSpPr>
          <p:cNvPr id="16" name="Text 11"/>
          <p:cNvSpPr/>
          <p:nvPr/>
        </p:nvSpPr>
        <p:spPr>
          <a:xfrm>
            <a:off x="3493008"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Code Writer</a:t>
            </a:r>
            <a:endParaRPr lang="en-US" sz="1300" dirty="0"/>
          </a:p>
        </p:txBody>
      </p:sp>
      <p:sp>
        <p:nvSpPr>
          <p:cNvPr id="17" name="Text 12"/>
          <p:cNvSpPr/>
          <p:nvPr/>
        </p:nvSpPr>
        <p:spPr>
          <a:xfrm>
            <a:off x="3538728"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18" name="Text 13"/>
          <p:cNvSpPr/>
          <p:nvPr/>
        </p:nvSpPr>
        <p:spPr>
          <a:xfrm>
            <a:off x="4087368"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view, edit, bash</a:t>
            </a:r>
            <a:endParaRPr lang="en-US" sz="900" dirty="0"/>
          </a:p>
        </p:txBody>
      </p:sp>
      <p:sp>
        <p:nvSpPr>
          <p:cNvPr id="19" name="Text 14"/>
          <p:cNvSpPr/>
          <p:nvPr/>
        </p:nvSpPr>
        <p:spPr>
          <a:xfrm>
            <a:off x="3538728"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Write clean, well-commented code.</a:t>
            </a:r>
            <a:endParaRPr lang="en-US" sz="1000" dirty="0"/>
          </a:p>
        </p:txBody>
      </p:sp>
      <p:sp>
        <p:nvSpPr>
          <p:cNvPr id="20" name="Shape 15"/>
          <p:cNvSpPr/>
          <p:nvPr/>
        </p:nvSpPr>
        <p:spPr>
          <a:xfrm>
            <a:off x="6163056"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2" name="Image 3" descr="preencoded.png"/>
          <p:cNvPicPr>
            <a:picLocks noChangeAspect="1"/>
          </p:cNvPicPr>
          <p:nvPr/>
        </p:nvPicPr>
        <p:blipFill>
          <a:blip r:embed="rId6"/>
          <a:stretch>
            <a:fillRect/>
          </a:stretch>
        </p:blipFill>
        <p:spPr>
          <a:xfrm>
            <a:off x="7242048" y="1417320"/>
            <a:ext cx="402336" cy="402336"/>
          </a:xfrm>
          <a:prstGeom prst="rect">
            <a:avLst/>
          </a:prstGeom>
        </p:spPr>
      </p:pic>
      <p:sp>
        <p:nvSpPr>
          <p:cNvPr id="23" name="Text 17"/>
          <p:cNvSpPr/>
          <p:nvPr/>
        </p:nvSpPr>
        <p:spPr>
          <a:xfrm>
            <a:off x="6300216"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Code Reviewer</a:t>
            </a:r>
            <a:endParaRPr lang="en-US" sz="1300" dirty="0"/>
          </a:p>
        </p:txBody>
      </p:sp>
      <p:sp>
        <p:nvSpPr>
          <p:cNvPr id="24" name="Text 18"/>
          <p:cNvSpPr/>
          <p:nvPr/>
        </p:nvSpPr>
        <p:spPr>
          <a:xfrm>
            <a:off x="6345936"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25" name="Text 19"/>
          <p:cNvSpPr/>
          <p:nvPr/>
        </p:nvSpPr>
        <p:spPr>
          <a:xfrm>
            <a:off x="6894576"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26" name="Text 20"/>
          <p:cNvSpPr/>
          <p:nvPr/>
        </p:nvSpPr>
        <p:spPr>
          <a:xfrm>
            <a:off x="6345936"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Review code for bugs, security, and best practices.</a:t>
            </a:r>
            <a:endParaRPr lang="en-US" sz="1000" dirty="0"/>
          </a:p>
        </p:txBody>
      </p:sp>
      <p:sp>
        <p:nvSpPr>
          <p:cNvPr id="27" name="Shape 21"/>
          <p:cNvSpPr/>
          <p:nvPr/>
        </p:nvSpPr>
        <p:spPr>
          <a:xfrm>
            <a:off x="548640" y="3749040"/>
            <a:ext cx="8046720" cy="822960"/>
          </a:xfrm>
          <a:prstGeom prst="line">
            <a:avLst/>
          </a:prstGeom>
          <a:solidFill>
            <a:srgbClr val="161B22"/>
          </a:solidFill>
          <a:ln w="12700">
            <a:prstDash val="solid"/>
          </a:ln>
        </p:spPr>
        <p:txBody>
          <a:bodyPr/>
          <a:lstStyle/>
          <a:p>
            <a:endParaRPr/>
          </a:p>
        </p:txBody>
      </p:sp>
      <p:pic>
        <p:nvPicPr>
          <p:cNvPr id="28" name="Image 4" descr="preencoded.png"/>
          <p:cNvPicPr>
            <a:picLocks noChangeAspect="1"/>
          </p:cNvPicPr>
          <p:nvPr/>
        </p:nvPicPr>
        <p:blipFill>
          <a:blip r:embed="rId7"/>
          <a:stretch>
            <a:fillRect/>
          </a:stretch>
        </p:blipFill>
        <p:spPr>
          <a:xfrm>
            <a:off x="777240" y="3886200"/>
            <a:ext cx="365760" cy="365760"/>
          </a:xfrm>
          <a:prstGeom prst="rect">
            <a:avLst/>
          </a:prstGeom>
        </p:spPr>
      </p:pic>
      <p:sp>
        <p:nvSpPr>
          <p:cNvPr id="29" name="Text 22"/>
          <p:cNvSpPr/>
          <p:nvPr/>
        </p:nvSpPr>
        <p:spPr>
          <a:xfrm>
            <a:off x="1280160" y="3794760"/>
            <a:ext cx="7132320" cy="731520"/>
          </a:xfrm>
          <a:prstGeom prst="rect">
            <a:avLst/>
          </a:prstGeom>
          <a:noFill/>
          <a:ln>
            <a:noFill/>
          </a:ln>
        </p:spPr>
        <p:txBody>
          <a:bodyPr wrap="square" lIns="0" tIns="0" rIns="0" bIns="0" rtlCol="0" anchor="ctr"/>
          <a:lstStyle/>
          <a:p>
            <a:pPr marL="0" indent="0">
              <a:buNone/>
            </a:pPr>
            <a:r>
              <a:rPr lang="en-US" sz="1200" b="1" dirty="0">
                <a:solidFill>
                  <a:srgbClr val="58A6FF"/>
                </a:solidFill>
                <a:latin typeface="Calibri" pitchFamily="34" charset="0"/>
                <a:ea typeface="Calibri" pitchFamily="34" charset="-122"/>
                <a:cs typeface="Calibri" pitchFamily="34" charset="-120"/>
              </a:rPr>
              <a:t xml:space="preserve">Explicit Handoff + Auto-Delegation  </a:t>
            </a:r>
            <a:r>
              <a:rPr lang="en-US" sz="1100" dirty="0">
                <a:solidFill>
                  <a:srgbClr val="C9D1D9"/>
                </a:solidFill>
                <a:latin typeface="Calibri" pitchFamily="34" charset="0"/>
                <a:ea typeface="Calibri" pitchFamily="34" charset="-122"/>
                <a:cs typeface="Calibri" pitchFamily="34" charset="-120"/>
              </a:rPr>
              <a:t xml:space="preserve">Switch agents programmatically with session.rpc.agent.select() or let the runtime auto-select when </a:t>
            </a:r>
            <a:r>
              <a:rPr lang="en-US" sz="1100" dirty="0">
                <a:solidFill>
                  <a:srgbClr val="3FB950"/>
                </a:solidFill>
                <a:latin typeface="Consolas" pitchFamily="34" charset="0"/>
                <a:ea typeface="Consolas" pitchFamily="34" charset="-122"/>
                <a:cs typeface="Consolas" pitchFamily="34" charset="-120"/>
              </a:rPr>
              <a:t>infer: true</a:t>
            </a:r>
            <a:r>
              <a:rPr lang="en-US" sz="1100" dirty="0">
                <a:solidFill>
                  <a:srgbClr val="C9D1D9"/>
                </a:solidFill>
                <a:latin typeface="Calibri" pitchFamily="34" charset="0"/>
                <a:ea typeface="Calibri" pitchFamily="34" charset="-122"/>
                <a:cs typeface="Calibri" pitchFamily="34" charset="-120"/>
              </a:rPr>
              <a:t xml:space="preserve"> is set.</a:t>
            </a:r>
            <a:endParaRPr lang="en-US" sz="1200" dirty="0"/>
          </a:p>
        </p:txBody>
      </p:sp>
      <p:sp>
        <p:nvSpPr>
          <p:cNvPr id="32" name="Text 2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9 / 23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MCP Server Integration</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Model Context Protocol — open standard for connecting AI to external tools</a:t>
            </a:r>
            <a:endParaRPr lang="en-US" sz="1200" dirty="0"/>
          </a:p>
        </p:txBody>
      </p:sp>
      <p:sp>
        <p:nvSpPr>
          <p:cNvPr id="6" name="Shape 3"/>
          <p:cNvSpPr/>
          <p:nvPr/>
        </p:nvSpPr>
        <p:spPr>
          <a:xfrm>
            <a:off x="54864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Local / Stdio</a:t>
            </a:r>
            <a:endParaRPr lang="en-US" sz="1400" dirty="0"/>
          </a:p>
        </p:txBody>
      </p:sp>
      <p:sp>
        <p:nvSpPr>
          <p:cNvPr id="9" name="Text 6"/>
          <p:cNvSpPr/>
          <p:nvPr/>
        </p:nvSpPr>
        <p:spPr>
          <a:xfrm>
            <a:off x="73152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Runs as a subprocess, communicates via stdin/stdout</a:t>
            </a:r>
            <a:endParaRPr lang="en-US" sz="1000" dirty="0"/>
          </a:p>
        </p:txBody>
      </p:sp>
      <p:sp>
        <p:nvSpPr>
          <p:cNvPr id="10" name="Text 7"/>
          <p:cNvSpPr/>
          <p:nvPr/>
        </p:nvSpPr>
        <p:spPr>
          <a:xfrm>
            <a:off x="73152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Local tools, file access, scripts</a:t>
            </a:r>
            <a:endParaRPr lang="en-US" sz="900" dirty="0"/>
          </a:p>
        </p:txBody>
      </p:sp>
      <p:sp>
        <p:nvSpPr>
          <p:cNvPr id="11" name="Shape 8"/>
          <p:cNvSpPr/>
          <p:nvPr/>
        </p:nvSpPr>
        <p:spPr>
          <a:xfrm>
            <a:off x="475488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Text 10"/>
          <p:cNvSpPr/>
          <p:nvPr/>
        </p:nvSpPr>
        <p:spPr>
          <a:xfrm>
            <a:off x="493776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Remote / HTTP</a:t>
            </a:r>
            <a:endParaRPr lang="en-US" sz="1400" dirty="0"/>
          </a:p>
        </p:txBody>
      </p:sp>
      <p:sp>
        <p:nvSpPr>
          <p:cNvPr id="14" name="Text 11"/>
          <p:cNvSpPr/>
          <p:nvPr/>
        </p:nvSpPr>
        <p:spPr>
          <a:xfrm>
            <a:off x="493776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Accessed via HTTP endpoint, supports SSE</a:t>
            </a:r>
            <a:endParaRPr lang="en-US" sz="1000" dirty="0"/>
          </a:p>
        </p:txBody>
      </p:sp>
      <p:sp>
        <p:nvSpPr>
          <p:cNvPr id="15" name="Text 12"/>
          <p:cNvSpPr/>
          <p:nvPr/>
        </p:nvSpPr>
        <p:spPr>
          <a:xfrm>
            <a:off x="493776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Shared services, cloud tools</a:t>
            </a:r>
            <a:endParaRPr lang="en-US" sz="900" dirty="0"/>
          </a:p>
        </p:txBody>
      </p:sp>
      <p:sp>
        <p:nvSpPr>
          <p:cNvPr id="16" name="Shape 13"/>
          <p:cNvSpPr/>
          <p:nvPr/>
        </p:nvSpPr>
        <p:spPr>
          <a:xfrm>
            <a:off x="548640" y="2606040"/>
            <a:ext cx="8046720" cy="2103120"/>
          </a:xfrm>
          <a:prstGeom prst="line">
            <a:avLst/>
          </a:prstGeom>
          <a:solidFill>
            <a:srgbClr val="161B22"/>
          </a:solidFill>
          <a:ln w="12700">
            <a:prstDash val="solid"/>
          </a:ln>
        </p:spPr>
        <p:txBody>
          <a:bodyPr/>
          <a:lstStyle/>
          <a:p>
            <a:endParaRPr/>
          </a:p>
        </p:txBody>
      </p:sp>
      <p:sp>
        <p:nvSpPr>
          <p:cNvPr id="17" name="Shape 14"/>
          <p:cNvSpPr/>
          <p:nvPr/>
        </p:nvSpPr>
        <p:spPr>
          <a:xfrm>
            <a:off x="548640" y="2606040"/>
            <a:ext cx="1371600" cy="256032"/>
          </a:xfrm>
          <a:prstGeom prst="line">
            <a:avLst/>
          </a:prstGeom>
          <a:solidFill>
            <a:srgbClr val="1F6FEB"/>
          </a:solidFill>
          <a:ln w="6350">
            <a:solidFill>
              <a:srgbClr val="30363D"/>
            </a:solidFill>
          </a:ln>
        </p:spPr>
        <p:txBody>
          <a:bodyPr/>
          <a:lstStyle/>
          <a:p>
            <a:endParaRPr/>
          </a:p>
        </p:txBody>
      </p:sp>
      <p:sp>
        <p:nvSpPr>
          <p:cNvPr id="18" name="Text 15"/>
          <p:cNvSpPr/>
          <p:nvPr/>
        </p:nvSpPr>
        <p:spPr>
          <a:xfrm>
            <a:off x="548640" y="260604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a:t>
            </a:r>
            <a:endParaRPr lang="en-US" sz="900" dirty="0"/>
          </a:p>
        </p:txBody>
      </p:sp>
      <p:sp>
        <p:nvSpPr>
          <p:cNvPr id="19" name="Text 16"/>
          <p:cNvSpPr/>
          <p:nvPr/>
        </p:nvSpPr>
        <p:spPr>
          <a:xfrm>
            <a:off x="685800" y="2926080"/>
            <a:ext cx="7772400" cy="169164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mcpServers: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github: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type: "http",</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url: "https://api.githubcopilot.com/mcp/",</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filesystem: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type: "local",</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command: "npx",</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args: ["-y", "@modelcontextprotocol/server-filesystem", "/tmp"],</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tools: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p:txBody>
      </p:sp>
      <p:sp>
        <p:nvSpPr>
          <p:cNvPr id="22" name="Text 1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10 / 23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Hooks — Session Lifecycle Control</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960120"/>
          </a:xfrm>
          <a:prstGeom prst="line">
            <a:avLst/>
          </a:prstGeom>
          <a:solidFill>
            <a:srgbClr val="161B22"/>
          </a:solidFill>
          <a:ln w="12700">
            <a:prstDash val="solid"/>
          </a:ln>
        </p:spPr>
        <p:txBody>
          <a:bodyPr/>
          <a:lstStyle/>
          <a:p>
            <a:endParaRPr/>
          </a:p>
        </p:txBody>
      </p:sp>
      <p:sp>
        <p:nvSpPr>
          <p:cNvPr id="7" name="Text 4"/>
          <p:cNvSpPr/>
          <p:nvPr/>
        </p:nvSpPr>
        <p:spPr>
          <a:xfrm>
            <a:off x="731520" y="1097280"/>
            <a:ext cx="3566160" cy="320040"/>
          </a:xfrm>
          <a:prstGeom prst="rect">
            <a:avLst/>
          </a:prstGeom>
          <a:noFill/>
          <a:ln>
            <a:noFill/>
          </a:ln>
        </p:spPr>
        <p:txBody>
          <a:bodyPr wrap="square" lIns="0" tIns="0" rIns="0" bIns="0" rtlCol="0" anchor="ctr"/>
          <a:lstStyle/>
          <a:p>
            <a:pPr marL="0" indent="0">
              <a:buNone/>
            </a:pPr>
            <a:r>
              <a:rPr lang="en-US" sz="1200" b="1" dirty="0">
                <a:solidFill>
                  <a:srgbClr val="3FB950"/>
                </a:solidFill>
                <a:latin typeface="Consolas" pitchFamily="34" charset="0"/>
                <a:ea typeface="Consolas" pitchFamily="34" charset="-122"/>
                <a:cs typeface="Consolas" pitchFamily="34" charset="-120"/>
              </a:rPr>
              <a:t>onSessionStart</a:t>
            </a:r>
            <a:endParaRPr lang="en-US" sz="1200" dirty="0"/>
          </a:p>
        </p:txBody>
      </p:sp>
      <p:sp>
        <p:nvSpPr>
          <p:cNvPr id="8" name="Text 5"/>
          <p:cNvSpPr/>
          <p:nvPr/>
        </p:nvSpPr>
        <p:spPr>
          <a:xfrm>
            <a:off x="73152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Add context, audit logging</a:t>
            </a:r>
            <a:endParaRPr lang="en-US" sz="1100" dirty="0"/>
          </a:p>
        </p:txBody>
      </p:sp>
      <p:sp>
        <p:nvSpPr>
          <p:cNvPr id="9" name="Shape 6"/>
          <p:cNvSpPr/>
          <p:nvPr/>
        </p:nvSpPr>
        <p:spPr>
          <a:xfrm>
            <a:off x="4754880" y="1005840"/>
            <a:ext cx="3931920" cy="960120"/>
          </a:xfrm>
          <a:prstGeom prst="line">
            <a:avLst/>
          </a:prstGeom>
          <a:solidFill>
            <a:srgbClr val="161B22"/>
          </a:solidFill>
          <a:ln w="12700">
            <a:prstDash val="solid"/>
          </a:ln>
        </p:spPr>
        <p:txBody>
          <a:bodyPr/>
          <a:lstStyle/>
          <a:p>
            <a:endParaRPr/>
          </a:p>
        </p:txBody>
      </p:sp>
      <p:sp>
        <p:nvSpPr>
          <p:cNvPr id="11" name="Text 8"/>
          <p:cNvSpPr/>
          <p:nvPr/>
        </p:nvSpPr>
        <p:spPr>
          <a:xfrm>
            <a:off x="4937760" y="1097280"/>
            <a:ext cx="3566160" cy="320040"/>
          </a:xfrm>
          <a:prstGeom prst="rect">
            <a:avLst/>
          </a:prstGeom>
          <a:noFill/>
          <a:ln>
            <a:noFill/>
          </a:ln>
        </p:spPr>
        <p:txBody>
          <a:bodyPr wrap="square" lIns="0" tIns="0" rIns="0" bIns="0" rtlCol="0" anchor="ctr"/>
          <a:lstStyle/>
          <a:p>
            <a:pPr marL="0" indent="0">
              <a:buNone/>
            </a:pPr>
            <a:r>
              <a:rPr lang="en-US" sz="1200" b="1" dirty="0">
                <a:solidFill>
                  <a:srgbClr val="58A6FF"/>
                </a:solidFill>
                <a:latin typeface="Consolas" pitchFamily="34" charset="0"/>
                <a:ea typeface="Consolas" pitchFamily="34" charset="-122"/>
                <a:cs typeface="Consolas" pitchFamily="34" charset="-120"/>
              </a:rPr>
              <a:t>onUserPromptSubmitted</a:t>
            </a:r>
            <a:endParaRPr lang="en-US" sz="1200" dirty="0"/>
          </a:p>
        </p:txBody>
      </p:sp>
      <p:sp>
        <p:nvSpPr>
          <p:cNvPr id="12" name="Text 9"/>
          <p:cNvSpPr/>
          <p:nvPr/>
        </p:nvSpPr>
        <p:spPr>
          <a:xfrm>
            <a:off x="493776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Modify or filter user input</a:t>
            </a:r>
            <a:endParaRPr lang="en-US" sz="1100" dirty="0"/>
          </a:p>
        </p:txBody>
      </p:sp>
      <p:sp>
        <p:nvSpPr>
          <p:cNvPr id="13" name="Shape 10"/>
          <p:cNvSpPr/>
          <p:nvPr/>
        </p:nvSpPr>
        <p:spPr>
          <a:xfrm>
            <a:off x="548640" y="2194560"/>
            <a:ext cx="3931920" cy="960120"/>
          </a:xfrm>
          <a:prstGeom prst="line">
            <a:avLst/>
          </a:prstGeom>
          <a:solidFill>
            <a:srgbClr val="161B22"/>
          </a:solidFill>
          <a:ln w="12700">
            <a:prstDash val="solid"/>
          </a:ln>
        </p:spPr>
        <p:txBody>
          <a:bodyPr/>
          <a:lstStyle/>
          <a:p>
            <a:endParaRPr/>
          </a:p>
        </p:txBody>
      </p:sp>
      <p:sp>
        <p:nvSpPr>
          <p:cNvPr id="15" name="Text 12"/>
          <p:cNvSpPr/>
          <p:nvPr/>
        </p:nvSpPr>
        <p:spPr>
          <a:xfrm>
            <a:off x="731520" y="2286000"/>
            <a:ext cx="3566160" cy="320040"/>
          </a:xfrm>
          <a:prstGeom prst="rect">
            <a:avLst/>
          </a:prstGeom>
          <a:noFill/>
          <a:ln>
            <a:noFill/>
          </a:ln>
        </p:spPr>
        <p:txBody>
          <a:bodyPr wrap="square" lIns="0" tIns="0" rIns="0" bIns="0" rtlCol="0" anchor="ctr"/>
          <a:lstStyle/>
          <a:p>
            <a:pPr marL="0" indent="0">
              <a:buNone/>
            </a:pPr>
            <a:r>
              <a:rPr lang="en-US" sz="1200" b="1" dirty="0">
                <a:solidFill>
                  <a:srgbClr val="F0883E"/>
                </a:solidFill>
                <a:latin typeface="Consolas" pitchFamily="34" charset="0"/>
                <a:ea typeface="Consolas" pitchFamily="34" charset="-122"/>
                <a:cs typeface="Consolas" pitchFamily="34" charset="-120"/>
              </a:rPr>
              <a:t>onPreToolUse</a:t>
            </a:r>
            <a:endParaRPr lang="en-US" sz="1200" dirty="0"/>
          </a:p>
        </p:txBody>
      </p:sp>
      <p:sp>
        <p:nvSpPr>
          <p:cNvPr id="16" name="Text 13"/>
          <p:cNvSpPr/>
          <p:nvPr/>
        </p:nvSpPr>
        <p:spPr>
          <a:xfrm>
            <a:off x="73152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Approve, deny, or modify tool calls</a:t>
            </a:r>
            <a:endParaRPr lang="en-US" sz="1100" dirty="0"/>
          </a:p>
        </p:txBody>
      </p:sp>
      <p:sp>
        <p:nvSpPr>
          <p:cNvPr id="17" name="Shape 14"/>
          <p:cNvSpPr/>
          <p:nvPr/>
        </p:nvSpPr>
        <p:spPr>
          <a:xfrm>
            <a:off x="4754880" y="2194560"/>
            <a:ext cx="3931920" cy="960120"/>
          </a:xfrm>
          <a:prstGeom prst="line">
            <a:avLst/>
          </a:prstGeom>
          <a:solidFill>
            <a:srgbClr val="161B22"/>
          </a:solidFill>
          <a:ln w="12700">
            <a:prstDash val="solid"/>
          </a:ln>
        </p:spPr>
        <p:txBody>
          <a:bodyPr/>
          <a:lstStyle/>
          <a:p>
            <a:endParaRPr/>
          </a:p>
        </p:txBody>
      </p:sp>
      <p:sp>
        <p:nvSpPr>
          <p:cNvPr id="19" name="Text 16"/>
          <p:cNvSpPr/>
          <p:nvPr/>
        </p:nvSpPr>
        <p:spPr>
          <a:xfrm>
            <a:off x="4937760" y="2286000"/>
            <a:ext cx="3566160" cy="320040"/>
          </a:xfrm>
          <a:prstGeom prst="rect">
            <a:avLst/>
          </a:prstGeom>
          <a:noFill/>
          <a:ln>
            <a:noFill/>
          </a:ln>
        </p:spPr>
        <p:txBody>
          <a:bodyPr wrap="square" lIns="0" tIns="0" rIns="0" bIns="0" rtlCol="0" anchor="ctr"/>
          <a:lstStyle/>
          <a:p>
            <a:pPr marL="0" indent="0">
              <a:buNone/>
            </a:pPr>
            <a:r>
              <a:rPr lang="en-US" sz="1200" b="1" dirty="0">
                <a:solidFill>
                  <a:srgbClr val="BC8CFF"/>
                </a:solidFill>
                <a:latin typeface="Consolas" pitchFamily="34" charset="0"/>
                <a:ea typeface="Consolas" pitchFamily="34" charset="-122"/>
                <a:cs typeface="Consolas" pitchFamily="34" charset="-120"/>
              </a:rPr>
              <a:t>onPostToolUse</a:t>
            </a:r>
            <a:endParaRPr lang="en-US" sz="1200" dirty="0"/>
          </a:p>
        </p:txBody>
      </p:sp>
      <p:sp>
        <p:nvSpPr>
          <p:cNvPr id="20" name="Text 17"/>
          <p:cNvSpPr/>
          <p:nvPr/>
        </p:nvSpPr>
        <p:spPr>
          <a:xfrm>
            <a:off x="493776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Transform results, redact secrets</a:t>
            </a:r>
            <a:endParaRPr lang="en-US" sz="1100" dirty="0"/>
          </a:p>
        </p:txBody>
      </p:sp>
      <p:sp>
        <p:nvSpPr>
          <p:cNvPr id="21" name="Shape 18"/>
          <p:cNvSpPr/>
          <p:nvPr/>
        </p:nvSpPr>
        <p:spPr>
          <a:xfrm>
            <a:off x="548640" y="3383280"/>
            <a:ext cx="3931920" cy="960120"/>
          </a:xfrm>
          <a:prstGeom prst="line">
            <a:avLst/>
          </a:prstGeom>
          <a:solidFill>
            <a:srgbClr val="161B22"/>
          </a:solidFill>
          <a:ln w="12700">
            <a:prstDash val="solid"/>
          </a:ln>
        </p:spPr>
        <p:txBody>
          <a:bodyPr/>
          <a:lstStyle/>
          <a:p>
            <a:endParaRPr/>
          </a:p>
        </p:txBody>
      </p:sp>
      <p:sp>
        <p:nvSpPr>
          <p:cNvPr id="23" name="Text 20"/>
          <p:cNvSpPr/>
          <p:nvPr/>
        </p:nvSpPr>
        <p:spPr>
          <a:xfrm>
            <a:off x="731520" y="3474720"/>
            <a:ext cx="3566160" cy="320040"/>
          </a:xfrm>
          <a:prstGeom prst="rect">
            <a:avLst/>
          </a:prstGeom>
          <a:noFill/>
          <a:ln>
            <a:noFill/>
          </a:ln>
        </p:spPr>
        <p:txBody>
          <a:bodyPr wrap="square" lIns="0" tIns="0" rIns="0" bIns="0" rtlCol="0" anchor="ctr"/>
          <a:lstStyle/>
          <a:p>
            <a:pPr marL="0" indent="0">
              <a:buNone/>
            </a:pPr>
            <a:r>
              <a:rPr lang="en-US" sz="1200" b="1" dirty="0">
                <a:solidFill>
                  <a:srgbClr val="F85149"/>
                </a:solidFill>
                <a:latin typeface="Consolas" pitchFamily="34" charset="0"/>
                <a:ea typeface="Consolas" pitchFamily="34" charset="-122"/>
                <a:cs typeface="Consolas" pitchFamily="34" charset="-120"/>
              </a:rPr>
              <a:t>onErrorOccurred</a:t>
            </a:r>
            <a:endParaRPr lang="en-US" sz="1200" dirty="0"/>
          </a:p>
        </p:txBody>
      </p:sp>
      <p:sp>
        <p:nvSpPr>
          <p:cNvPr id="24" name="Text 21"/>
          <p:cNvSpPr/>
          <p:nvPr/>
        </p:nvSpPr>
        <p:spPr>
          <a:xfrm>
            <a:off x="73152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Custom error handling, retry logic</a:t>
            </a:r>
            <a:endParaRPr lang="en-US" sz="1100" dirty="0"/>
          </a:p>
        </p:txBody>
      </p:sp>
      <p:sp>
        <p:nvSpPr>
          <p:cNvPr id="25" name="Shape 22"/>
          <p:cNvSpPr/>
          <p:nvPr/>
        </p:nvSpPr>
        <p:spPr>
          <a:xfrm>
            <a:off x="4754880" y="3383280"/>
            <a:ext cx="3931920" cy="960120"/>
          </a:xfrm>
          <a:prstGeom prst="line">
            <a:avLst/>
          </a:prstGeom>
          <a:solidFill>
            <a:srgbClr val="161B22"/>
          </a:solidFill>
          <a:ln w="12700">
            <a:prstDash val="solid"/>
          </a:ln>
        </p:spPr>
        <p:txBody>
          <a:bodyPr/>
          <a:lstStyle/>
          <a:p>
            <a:endParaRPr/>
          </a:p>
        </p:txBody>
      </p:sp>
      <p:sp>
        <p:nvSpPr>
          <p:cNvPr id="27" name="Text 24"/>
          <p:cNvSpPr/>
          <p:nvPr/>
        </p:nvSpPr>
        <p:spPr>
          <a:xfrm>
            <a:off x="4937760" y="3474720"/>
            <a:ext cx="3566160" cy="320040"/>
          </a:xfrm>
          <a:prstGeom prst="rect">
            <a:avLst/>
          </a:prstGeom>
          <a:noFill/>
          <a:ln>
            <a:noFill/>
          </a:ln>
        </p:spPr>
        <p:txBody>
          <a:bodyPr wrap="square" lIns="0" tIns="0" rIns="0" bIns="0" rtlCol="0" anchor="ctr"/>
          <a:lstStyle/>
          <a:p>
            <a:pPr marL="0" indent="0">
              <a:buNone/>
            </a:pPr>
            <a:r>
              <a:rPr lang="en-US" sz="1200" b="1" dirty="0">
                <a:solidFill>
                  <a:srgbClr val="39D2C0"/>
                </a:solidFill>
                <a:latin typeface="Consolas" pitchFamily="34" charset="0"/>
                <a:ea typeface="Consolas" pitchFamily="34" charset="-122"/>
                <a:cs typeface="Consolas" pitchFamily="34" charset="-120"/>
              </a:rPr>
              <a:t>onSessionEnd</a:t>
            </a:r>
            <a:endParaRPr lang="en-US" sz="1200" dirty="0"/>
          </a:p>
        </p:txBody>
      </p:sp>
      <p:sp>
        <p:nvSpPr>
          <p:cNvPr id="28" name="Text 25"/>
          <p:cNvSpPr/>
          <p:nvPr/>
        </p:nvSpPr>
        <p:spPr>
          <a:xfrm>
            <a:off x="493776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Cleanup, finalize audit trail</a:t>
            </a:r>
            <a:endParaRPr lang="en-US" sz="1100" dirty="0"/>
          </a:p>
        </p:txBody>
      </p:sp>
      <p:sp>
        <p:nvSpPr>
          <p:cNvPr id="29" name="Text 26"/>
          <p:cNvSpPr/>
          <p:nvPr/>
        </p:nvSpPr>
        <p:spPr>
          <a:xfrm>
            <a:off x="548640" y="452628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Use for: permissions, auditing, prompt enrichment, secret redaction, error recovery</a:t>
            </a:r>
            <a:endParaRPr lang="en-US" sz="1000" dirty="0"/>
          </a:p>
        </p:txBody>
      </p:sp>
      <p:sp>
        <p:nvSpPr>
          <p:cNvPr id="32"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11 / 23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Authentication Methods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2286000"/>
        </p:xfrm>
        <a:graphic>
          <a:graphicData uri="http://schemas.openxmlformats.org/drawingml/2006/table">
            <a:tbl>
              <a:tblPr/>
              <a:tblGrid>
                <a:gridCol w="25603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Subscription</a:t>
                      </a:r>
                      <a:endParaRPr lang="en-US" sz="12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GitHub Signed-in User</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Interactive apps, desktop tools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OAuth GitHub App</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Web apps, SaaS platforms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Environment Variables</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CI/CD, automation, server-to-server</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F0883E"/>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3"/>
                  </a:ext>
                </a:extLst>
              </a:tr>
              <a:tr h="457200">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BYOK (Bring Your Own Key)</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dirty="0">
                          <a:solidFill>
                            <a:srgbClr val="C9D1D9"/>
                          </a:solidFill>
                          <a:latin typeface="Calibri" pitchFamily="34" charset="0"/>
                          <a:ea typeface="Calibri" pitchFamily="34" charset="-122"/>
                          <a:cs typeface="Calibri" pitchFamily="34" charset="-120"/>
                        </a:rPr>
                        <a:t>Own API keys (OpenAI, Azure, Anthropic)</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marL="0" indent="0">
                        <a:buNone/>
                      </a:pPr>
                      <a:r>
                        <a:rPr lang="en-US" sz="1100" b="1" dirty="0">
                          <a:solidFill>
                            <a:srgbClr val="3FB950"/>
                          </a:solidFill>
                          <a:latin typeface="Calibri" pitchFamily="34" charset="0"/>
                          <a:ea typeface="Calibri" pitchFamily="34" charset="-122"/>
                          <a:cs typeface="Calibri" pitchFamily="34" charset="-120"/>
                        </a:rPr>
                        <a:t>Not Required</a:t>
                      </a:r>
                      <a:endParaRPr lang="en-US" sz="1100" dirty="0">
                        <a:latin typeface="Calibri" charset="0"/>
                        <a:ea typeface="Calibri" charset="0"/>
                        <a:cs typeface="Calibri" charset="0"/>
                      </a:endParaRP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4"/>
                  </a:ext>
                </a:extLst>
              </a:tr>
            </a:tbl>
          </a:graphicData>
        </a:graphic>
      </p:graphicFrame>
      <p:sp>
        <p:nvSpPr>
          <p:cNvPr id="6" name="Text 2"/>
          <p:cNvSpPr/>
          <p:nvPr/>
        </p:nvSpPr>
        <p:spPr>
          <a:xfrm>
            <a:off x="548640" y="3383280"/>
            <a:ext cx="80467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Priority Order:</a:t>
            </a:r>
            <a:endParaRPr lang="en-US" sz="1200" dirty="0"/>
          </a:p>
        </p:txBody>
      </p:sp>
      <p:sp>
        <p:nvSpPr>
          <p:cNvPr id="7" name="Shape 3"/>
          <p:cNvSpPr/>
          <p:nvPr/>
        </p:nvSpPr>
        <p:spPr>
          <a:xfrm>
            <a:off x="548640" y="3749040"/>
            <a:ext cx="1234440" cy="411480"/>
          </a:xfrm>
          <a:prstGeom prst="line">
            <a:avLst/>
          </a:prstGeom>
          <a:solidFill>
            <a:srgbClr val="161B22"/>
          </a:solidFill>
          <a:ln w="12700">
            <a:prstDash val="solid"/>
          </a:ln>
        </p:spPr>
        <p:txBody>
          <a:bodyPr/>
          <a:lstStyle/>
          <a:p>
            <a:endParaRPr/>
          </a:p>
        </p:txBody>
      </p:sp>
      <p:sp>
        <p:nvSpPr>
          <p:cNvPr id="8" name="Text 4"/>
          <p:cNvSpPr/>
          <p:nvPr/>
        </p:nvSpPr>
        <p:spPr>
          <a:xfrm>
            <a:off x="54864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Explicit githubToken</a:t>
            </a:r>
            <a:endParaRPr lang="en-US" sz="850" dirty="0"/>
          </a:p>
        </p:txBody>
      </p:sp>
      <p:sp>
        <p:nvSpPr>
          <p:cNvPr id="9" name="Text 5"/>
          <p:cNvSpPr/>
          <p:nvPr/>
        </p:nvSpPr>
        <p:spPr>
          <a:xfrm>
            <a:off x="1783080"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0" name="Shape 6"/>
          <p:cNvSpPr/>
          <p:nvPr/>
        </p:nvSpPr>
        <p:spPr>
          <a:xfrm>
            <a:off x="1938528" y="3749040"/>
            <a:ext cx="1234440" cy="411480"/>
          </a:xfrm>
          <a:prstGeom prst="line">
            <a:avLst/>
          </a:prstGeom>
          <a:solidFill>
            <a:srgbClr val="161B22"/>
          </a:solidFill>
          <a:ln w="12700">
            <a:prstDash val="solid"/>
          </a:ln>
        </p:spPr>
        <p:txBody>
          <a:bodyPr/>
          <a:lstStyle/>
          <a:p>
            <a:endParaRPr/>
          </a:p>
        </p:txBody>
      </p:sp>
      <p:sp>
        <p:nvSpPr>
          <p:cNvPr id="11" name="Text 7"/>
          <p:cNvSpPr/>
          <p:nvPr/>
        </p:nvSpPr>
        <p:spPr>
          <a:xfrm>
            <a:off x="1938528"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HMAC Key</a:t>
            </a:r>
            <a:endParaRPr lang="en-US" sz="850" dirty="0"/>
          </a:p>
        </p:txBody>
      </p:sp>
      <p:sp>
        <p:nvSpPr>
          <p:cNvPr id="12" name="Text 8"/>
          <p:cNvSpPr/>
          <p:nvPr/>
        </p:nvSpPr>
        <p:spPr>
          <a:xfrm>
            <a:off x="3172968"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2" name="Shape 9"/>
          <p:cNvSpPr/>
          <p:nvPr/>
        </p:nvSpPr>
        <p:spPr>
          <a:xfrm>
            <a:off x="3328416" y="3749040"/>
            <a:ext cx="1234440" cy="411480"/>
          </a:xfrm>
          <a:prstGeom prst="line">
            <a:avLst/>
          </a:prstGeom>
          <a:solidFill>
            <a:srgbClr val="161B22"/>
          </a:solidFill>
          <a:ln w="12700">
            <a:prstDash val="solid"/>
          </a:ln>
        </p:spPr>
        <p:txBody>
          <a:bodyPr/>
          <a:lstStyle/>
          <a:p>
            <a:endParaRPr/>
          </a:p>
        </p:txBody>
      </p:sp>
      <p:sp>
        <p:nvSpPr>
          <p:cNvPr id="14" name="Text 10"/>
          <p:cNvSpPr/>
          <p:nvPr/>
        </p:nvSpPr>
        <p:spPr>
          <a:xfrm>
            <a:off x="3328416"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Direct API Token</a:t>
            </a:r>
            <a:endParaRPr lang="en-US" sz="850" dirty="0"/>
          </a:p>
        </p:txBody>
      </p:sp>
      <p:sp>
        <p:nvSpPr>
          <p:cNvPr id="15" name="Text 11"/>
          <p:cNvSpPr/>
          <p:nvPr/>
        </p:nvSpPr>
        <p:spPr>
          <a:xfrm>
            <a:off x="4562856"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6" name="Shape 12"/>
          <p:cNvSpPr/>
          <p:nvPr/>
        </p:nvSpPr>
        <p:spPr>
          <a:xfrm>
            <a:off x="4718304" y="3749040"/>
            <a:ext cx="1234440" cy="411480"/>
          </a:xfrm>
          <a:prstGeom prst="line">
            <a:avLst/>
          </a:prstGeom>
          <a:solidFill>
            <a:srgbClr val="161B22"/>
          </a:solidFill>
          <a:ln w="12700">
            <a:prstDash val="solid"/>
          </a:ln>
        </p:spPr>
        <p:txBody>
          <a:bodyPr/>
          <a:lstStyle/>
          <a:p>
            <a:endParaRPr/>
          </a:p>
        </p:txBody>
      </p:sp>
      <p:sp>
        <p:nvSpPr>
          <p:cNvPr id="17" name="Text 13"/>
          <p:cNvSpPr/>
          <p:nvPr/>
        </p:nvSpPr>
        <p:spPr>
          <a:xfrm>
            <a:off x="4718304"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Env Variables</a:t>
            </a:r>
            <a:endParaRPr lang="en-US" sz="850" dirty="0"/>
          </a:p>
        </p:txBody>
      </p:sp>
      <p:sp>
        <p:nvSpPr>
          <p:cNvPr id="18" name="Text 14"/>
          <p:cNvSpPr/>
          <p:nvPr/>
        </p:nvSpPr>
        <p:spPr>
          <a:xfrm>
            <a:off x="5952744"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19" name="Shape 15"/>
          <p:cNvSpPr/>
          <p:nvPr/>
        </p:nvSpPr>
        <p:spPr>
          <a:xfrm>
            <a:off x="6108192" y="3749040"/>
            <a:ext cx="1234440" cy="411480"/>
          </a:xfrm>
          <a:prstGeom prst="line">
            <a:avLst/>
          </a:prstGeom>
          <a:solidFill>
            <a:srgbClr val="161B22"/>
          </a:solidFill>
          <a:ln w="12700">
            <a:prstDash val="solid"/>
          </a:ln>
        </p:spPr>
        <p:txBody>
          <a:bodyPr/>
          <a:lstStyle/>
          <a:p>
            <a:endParaRPr/>
          </a:p>
        </p:txBody>
      </p:sp>
      <p:sp>
        <p:nvSpPr>
          <p:cNvPr id="20" name="Text 16"/>
          <p:cNvSpPr/>
          <p:nvPr/>
        </p:nvSpPr>
        <p:spPr>
          <a:xfrm>
            <a:off x="6108192"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Stored OAuth</a:t>
            </a:r>
            <a:endParaRPr lang="en-US" sz="850" dirty="0"/>
          </a:p>
        </p:txBody>
      </p:sp>
      <p:sp>
        <p:nvSpPr>
          <p:cNvPr id="21" name="Text 17"/>
          <p:cNvSpPr/>
          <p:nvPr/>
        </p:nvSpPr>
        <p:spPr>
          <a:xfrm>
            <a:off x="7342632"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a:t>
            </a:r>
            <a:endParaRPr lang="en-US" sz="1200" dirty="0"/>
          </a:p>
        </p:txBody>
      </p:sp>
      <p:sp>
        <p:nvSpPr>
          <p:cNvPr id="22" name="Shape 18"/>
          <p:cNvSpPr/>
          <p:nvPr/>
        </p:nvSpPr>
        <p:spPr>
          <a:xfrm>
            <a:off x="7498080" y="3749040"/>
            <a:ext cx="1234440" cy="411480"/>
          </a:xfrm>
          <a:prstGeom prst="line">
            <a:avLst/>
          </a:prstGeom>
          <a:solidFill>
            <a:srgbClr val="161B22"/>
          </a:solidFill>
          <a:ln w="12700">
            <a:prstDash val="solid"/>
          </a:ln>
        </p:spPr>
        <p:txBody>
          <a:bodyPr/>
          <a:lstStyle/>
          <a:p>
            <a:endParaRPr/>
          </a:p>
        </p:txBody>
      </p:sp>
      <p:sp>
        <p:nvSpPr>
          <p:cNvPr id="23" name="Text 19"/>
          <p:cNvSpPr/>
          <p:nvPr/>
        </p:nvSpPr>
        <p:spPr>
          <a:xfrm>
            <a:off x="749808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GitHub CLI</a:t>
            </a:r>
            <a:endParaRPr lang="en-US" sz="850" dirty="0"/>
          </a:p>
        </p:txBody>
      </p:sp>
      <p:sp>
        <p:nvSpPr>
          <p:cNvPr id="26" name="Text 21"/>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12 / 23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p:nvPr/>
        </p:nvSpPr>
        <p:spPr>
          <a:xfrm>
            <a:off x="4754880" y="1097280"/>
            <a:ext cx="384048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097280"/>
            <a:ext cx="393192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457200" y="274320"/>
            <a:ext cx="7315200" cy="548640"/>
          </a:xfrm>
          <a:prstGeom prst="rect">
            <a:avLst/>
          </a:prstGeom>
          <a:noFill/>
        </p:spPr>
        <p:txBody>
          <a:bodyPr wrap="square">
            <a:spAutoFit/>
          </a:bodyPr>
          <a:lstStyle/>
          <a:p>
            <a:pPr algn="l"/>
            <a:r>
              <a:rPr sz="2800" b="1">
                <a:solidFill>
                  <a:srgbClr val="C9D1D9"/>
                </a:solidFill>
              </a:rPr>
              <a:t>OAuth GitHub App Integration</a:t>
            </a:r>
          </a:p>
        </p:txBody>
      </p:sp>
      <p:sp>
        <p:nvSpPr>
          <p:cNvPr id="3" name="TextBox 2"/>
          <p:cNvSpPr txBox="1"/>
          <p:nvPr/>
        </p:nvSpPr>
        <p:spPr>
          <a:xfrm>
            <a:off x="457200" y="822960"/>
            <a:ext cx="7315200" cy="365760"/>
          </a:xfrm>
          <a:prstGeom prst="rect">
            <a:avLst/>
          </a:prstGeom>
          <a:noFill/>
        </p:spPr>
        <p:txBody>
          <a:bodyPr wrap="square">
            <a:spAutoFit/>
          </a:bodyPr>
          <a:lstStyle/>
          <a:p>
            <a:r>
              <a:rPr sz="1400" b="0">
                <a:solidFill>
                  <a:srgbClr val="8B949E"/>
                </a:solidFill>
              </a:rPr>
              <a:t>Build multi-user apps — each user authenticates with GitHub</a:t>
            </a:r>
          </a:p>
        </p:txBody>
      </p:sp>
      <p:sp>
        <p:nvSpPr>
          <p:cNvPr id="4" name="TextBox 3"/>
          <p:cNvSpPr txBox="1"/>
          <p:nvPr/>
        </p:nvSpPr>
        <p:spPr>
          <a:xfrm>
            <a:off x="640080" y="1234440"/>
            <a:ext cx="3931920" cy="2743200"/>
          </a:xfrm>
          <a:prstGeom prst="rect">
            <a:avLst/>
          </a:prstGeom>
          <a:noFill/>
        </p:spPr>
        <p:txBody>
          <a:bodyPr wrap="square">
            <a:spAutoFit/>
          </a:bodyPr>
          <a:lstStyle/>
          <a:p>
            <a:pPr>
              <a:spcAft>
                <a:spcPts val="600"/>
              </a:spcAft>
            </a:pPr>
            <a:r>
              <a:rPr sz="1300" b="1" dirty="0">
                <a:solidFill>
                  <a:srgbClr val="58A6FF"/>
                </a:solidFill>
              </a:rPr>
              <a:t xml:space="preserve">1. </a:t>
            </a:r>
            <a:r>
              <a:rPr sz="1300" b="0" dirty="0">
                <a:solidFill>
                  <a:srgbClr val="C9D1D9"/>
                </a:solidFill>
              </a:rPr>
              <a:t xml:space="preserve">User clicks </a:t>
            </a:r>
            <a:r>
              <a:rPr sz="1300" b="1" dirty="0">
                <a:solidFill>
                  <a:srgbClr val="3FB950"/>
                </a:solidFill>
              </a:rPr>
              <a:t>Sign in with GitHub</a:t>
            </a:r>
          </a:p>
          <a:p>
            <a:pPr>
              <a:spcAft>
                <a:spcPts val="600"/>
              </a:spcAft>
            </a:pPr>
            <a:r>
              <a:rPr sz="1300" b="1" dirty="0">
                <a:solidFill>
                  <a:srgbClr val="58A6FF"/>
                </a:solidFill>
              </a:rPr>
              <a:t xml:space="preserve">2. </a:t>
            </a:r>
            <a:r>
              <a:rPr sz="1300" b="0" dirty="0">
                <a:solidFill>
                  <a:srgbClr val="C9D1D9"/>
                </a:solidFill>
              </a:rPr>
              <a:t xml:space="preserve">Redirect to </a:t>
            </a:r>
            <a:r>
              <a:rPr sz="1300" b="1" dirty="0">
                <a:solidFill>
                  <a:srgbClr val="3FB950"/>
                </a:solidFill>
              </a:rPr>
              <a:t>GitHub OAuth consent screen</a:t>
            </a:r>
          </a:p>
          <a:p>
            <a:pPr>
              <a:spcAft>
                <a:spcPts val="600"/>
              </a:spcAft>
            </a:pPr>
            <a:r>
              <a:rPr sz="1300" b="1" dirty="0">
                <a:solidFill>
                  <a:srgbClr val="58A6FF"/>
                </a:solidFill>
              </a:rPr>
              <a:t xml:space="preserve">3. </a:t>
            </a:r>
            <a:r>
              <a:rPr sz="1300" b="0" dirty="0">
                <a:solidFill>
                  <a:srgbClr val="C9D1D9"/>
                </a:solidFill>
              </a:rPr>
              <a:t xml:space="preserve">Exchange code for </a:t>
            </a:r>
            <a:r>
              <a:rPr sz="1300" b="1" dirty="0" err="1">
                <a:solidFill>
                  <a:srgbClr val="3FB950"/>
                </a:solidFill>
              </a:rPr>
              <a:t>gho</a:t>
            </a:r>
            <a:r>
              <a:rPr sz="1300" b="1" dirty="0">
                <a:solidFill>
                  <a:srgbClr val="3FB950"/>
                </a:solidFill>
              </a:rPr>
              <a:t>_ token</a:t>
            </a:r>
          </a:p>
          <a:p>
            <a:pPr>
              <a:spcAft>
                <a:spcPts val="600"/>
              </a:spcAft>
            </a:pPr>
            <a:r>
              <a:rPr sz="1300" b="1" dirty="0">
                <a:solidFill>
                  <a:srgbClr val="58A6FF"/>
                </a:solidFill>
              </a:rPr>
              <a:t xml:space="preserve">4. </a:t>
            </a:r>
            <a:r>
              <a:rPr sz="1300" b="0" dirty="0">
                <a:solidFill>
                  <a:srgbClr val="C9D1D9"/>
                </a:solidFill>
              </a:rPr>
              <a:t xml:space="preserve">Pass token to SDK via </a:t>
            </a:r>
            <a:r>
              <a:rPr sz="1300" b="1" dirty="0" err="1">
                <a:solidFill>
                  <a:srgbClr val="3FB950"/>
                </a:solidFill>
              </a:rPr>
              <a:t>githubToken</a:t>
            </a:r>
            <a:endParaRPr sz="1300" b="1" dirty="0">
              <a:solidFill>
                <a:srgbClr val="3FB950"/>
              </a:solidFill>
            </a:endParaRPr>
          </a:p>
          <a:p>
            <a:pPr>
              <a:spcAft>
                <a:spcPts val="600"/>
              </a:spcAft>
            </a:pPr>
            <a:r>
              <a:rPr sz="1300" b="1" dirty="0">
                <a:solidFill>
                  <a:srgbClr val="58A6FF"/>
                </a:solidFill>
              </a:rPr>
              <a:t xml:space="preserve">5. </a:t>
            </a:r>
            <a:r>
              <a:rPr sz="1300" b="0" dirty="0">
                <a:solidFill>
                  <a:srgbClr val="C9D1D9"/>
                </a:solidFill>
              </a:rPr>
              <a:t xml:space="preserve">Requests made </a:t>
            </a:r>
            <a:r>
              <a:rPr sz="1300" b="1" dirty="0">
                <a:solidFill>
                  <a:srgbClr val="3FB950"/>
                </a:solidFill>
              </a:rPr>
              <a:t>as that user</a:t>
            </a:r>
          </a:p>
        </p:txBody>
      </p:sp>
      <p:sp>
        <p:nvSpPr>
          <p:cNvPr id="5" name="TextBox 4"/>
          <p:cNvSpPr txBox="1"/>
          <p:nvPr/>
        </p:nvSpPr>
        <p:spPr>
          <a:xfrm>
            <a:off x="4754880" y="1188720"/>
            <a:ext cx="3474720" cy="2286000"/>
          </a:xfrm>
          <a:prstGeom prst="rect">
            <a:avLst/>
          </a:prstGeom>
          <a:noFill/>
        </p:spPr>
        <p:txBody>
          <a:bodyPr wrap="square">
            <a:spAutoFit/>
          </a:bodyPr>
          <a:lstStyle/>
          <a:p>
            <a:r>
              <a:rPr sz="1400" b="1" dirty="0">
                <a:solidFill>
                  <a:srgbClr val="58A6FF"/>
                </a:solidFill>
              </a:rPr>
              <a:t>Supported Token Prefixes</a:t>
            </a:r>
          </a:p>
          <a:p>
            <a:pPr>
              <a:spcAft>
                <a:spcPts val="400"/>
              </a:spcAft>
            </a:pPr>
            <a:r>
              <a:rPr sz="1300" b="0" dirty="0">
                <a:solidFill>
                  <a:srgbClr val="C9D1D9"/>
                </a:solidFill>
              </a:rPr>
              <a:t xml:space="preserve">  </a:t>
            </a:r>
            <a:r>
              <a:rPr sz="1300" b="0" dirty="0" err="1">
                <a:solidFill>
                  <a:srgbClr val="C9D1D9"/>
                </a:solidFill>
              </a:rPr>
              <a:t>gho</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ghu</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github_pat</a:t>
            </a:r>
            <a:r>
              <a:rPr sz="1300" b="0" dirty="0">
                <a:solidFill>
                  <a:srgbClr val="C9D1D9"/>
                </a:solidFill>
              </a:rPr>
              <a:t xml:space="preserve">_  </a:t>
            </a:r>
            <a:r>
              <a:rPr sz="1300" b="1" dirty="0">
                <a:solidFill>
                  <a:srgbClr val="3FB950"/>
                </a:solidFill>
              </a:rPr>
              <a:t>✅</a:t>
            </a:r>
          </a:p>
          <a:p>
            <a:pPr>
              <a:spcAft>
                <a:spcPts val="400"/>
              </a:spcAft>
            </a:pPr>
            <a:r>
              <a:rPr sz="1300" b="0" dirty="0">
                <a:solidFill>
                  <a:srgbClr val="C9D1D9"/>
                </a:solidFill>
              </a:rPr>
              <a:t xml:space="preserve">  </a:t>
            </a:r>
            <a:r>
              <a:rPr sz="1300" b="0" dirty="0" err="1">
                <a:solidFill>
                  <a:srgbClr val="C9D1D9"/>
                </a:solidFill>
              </a:rPr>
              <a:t>ghp</a:t>
            </a:r>
            <a:r>
              <a:rPr sz="1300" b="0" dirty="0">
                <a:solidFill>
                  <a:srgbClr val="C9D1D9"/>
                </a:solidFill>
              </a:rPr>
              <a:t xml:space="preserve">_  </a:t>
            </a:r>
            <a:r>
              <a:rPr sz="1300" b="1" dirty="0">
                <a:solidFill>
                  <a:srgbClr val="F85149"/>
                </a:solidFil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BYOK — Bring Your Own Key</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Use your own model provider API keys — no Copilot subscription required</a:t>
            </a:r>
            <a:endParaRPr lang="en-US" sz="1200" dirty="0"/>
          </a:p>
        </p:txBody>
      </p:sp>
      <p:sp>
        <p:nvSpPr>
          <p:cNvPr id="6" name="Shape 3"/>
          <p:cNvSpPr/>
          <p:nvPr/>
        </p:nvSpPr>
        <p:spPr>
          <a:xfrm>
            <a:off x="548640" y="1188720"/>
            <a:ext cx="2560320" cy="640080"/>
          </a:xfrm>
          <a:prstGeom prst="line">
            <a:avLst/>
          </a:prstGeom>
          <a:solidFill>
            <a:srgbClr val="161B22"/>
          </a:solidFill>
          <a:ln w="12700">
            <a:prstDash val="solid"/>
          </a:ln>
        </p:spPr>
        <p:txBody>
          <a:bodyPr/>
          <a:lstStyle/>
          <a:p>
            <a:endParaRPr/>
          </a:p>
        </p:txBody>
      </p:sp>
      <p:sp>
        <p:nvSpPr>
          <p:cNvPr id="7" name="Text 4"/>
          <p:cNvSpPr/>
          <p:nvPr/>
        </p:nvSpPr>
        <p:spPr>
          <a:xfrm>
            <a:off x="685800"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OpenAI</a:t>
            </a:r>
            <a:endParaRPr lang="en-US" sz="1200" dirty="0"/>
          </a:p>
        </p:txBody>
      </p:sp>
      <p:sp>
        <p:nvSpPr>
          <p:cNvPr id="8" name="Text 5"/>
          <p:cNvSpPr/>
          <p:nvPr/>
        </p:nvSpPr>
        <p:spPr>
          <a:xfrm>
            <a:off x="2286000"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9" name="Text 6"/>
          <p:cNvSpPr/>
          <p:nvPr/>
        </p:nvSpPr>
        <p:spPr>
          <a:xfrm>
            <a:off x="685800"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Direct API access</a:t>
            </a:r>
            <a:endParaRPr lang="en-US" sz="900" dirty="0"/>
          </a:p>
        </p:txBody>
      </p:sp>
      <p:sp>
        <p:nvSpPr>
          <p:cNvPr id="10" name="Shape 7"/>
          <p:cNvSpPr/>
          <p:nvPr/>
        </p:nvSpPr>
        <p:spPr>
          <a:xfrm>
            <a:off x="3355848" y="1188720"/>
            <a:ext cx="2560320" cy="640080"/>
          </a:xfrm>
          <a:prstGeom prst="line">
            <a:avLst/>
          </a:prstGeom>
          <a:solidFill>
            <a:srgbClr val="161B22"/>
          </a:solidFill>
          <a:ln w="12700">
            <a:prstDash val="solid"/>
          </a:ln>
        </p:spPr>
        <p:txBody>
          <a:bodyPr/>
          <a:lstStyle/>
          <a:p>
            <a:endParaRPr/>
          </a:p>
        </p:txBody>
      </p:sp>
      <p:sp>
        <p:nvSpPr>
          <p:cNvPr id="11" name="Text 8"/>
          <p:cNvSpPr/>
          <p:nvPr/>
        </p:nvSpPr>
        <p:spPr>
          <a:xfrm>
            <a:off x="3493008"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Azure AI Foundry</a:t>
            </a:r>
            <a:endParaRPr lang="en-US" sz="1200" dirty="0"/>
          </a:p>
        </p:txBody>
      </p:sp>
      <p:sp>
        <p:nvSpPr>
          <p:cNvPr id="12" name="Text 9"/>
          <p:cNvSpPr/>
          <p:nvPr/>
        </p:nvSpPr>
        <p:spPr>
          <a:xfrm>
            <a:off x="5093208"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"azure"</a:t>
            </a:r>
            <a:endParaRPr lang="en-US" sz="800" dirty="0"/>
          </a:p>
        </p:txBody>
      </p:sp>
      <p:sp>
        <p:nvSpPr>
          <p:cNvPr id="13" name="Text 10"/>
          <p:cNvSpPr/>
          <p:nvPr/>
        </p:nvSpPr>
        <p:spPr>
          <a:xfrm>
            <a:off x="3493008"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Enterprise deployments</a:t>
            </a:r>
            <a:endParaRPr lang="en-US" sz="900" dirty="0"/>
          </a:p>
        </p:txBody>
      </p:sp>
      <p:sp>
        <p:nvSpPr>
          <p:cNvPr id="14" name="Shape 11"/>
          <p:cNvSpPr/>
          <p:nvPr/>
        </p:nvSpPr>
        <p:spPr>
          <a:xfrm>
            <a:off x="6163056" y="1188720"/>
            <a:ext cx="2560320" cy="640080"/>
          </a:xfrm>
          <a:prstGeom prst="line">
            <a:avLst/>
          </a:prstGeom>
          <a:solidFill>
            <a:srgbClr val="161B22"/>
          </a:solidFill>
          <a:ln w="12700">
            <a:prstDash val="solid"/>
          </a:ln>
        </p:spPr>
        <p:txBody>
          <a:bodyPr/>
          <a:lstStyle/>
          <a:p>
            <a:endParaRPr/>
          </a:p>
        </p:txBody>
      </p:sp>
      <p:sp>
        <p:nvSpPr>
          <p:cNvPr id="15" name="Text 12"/>
          <p:cNvSpPr/>
          <p:nvPr/>
        </p:nvSpPr>
        <p:spPr>
          <a:xfrm>
            <a:off x="6300216"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Anthropic</a:t>
            </a:r>
            <a:endParaRPr lang="en-US" sz="1200" dirty="0"/>
          </a:p>
        </p:txBody>
      </p:sp>
      <p:sp>
        <p:nvSpPr>
          <p:cNvPr id="16" name="Text 13"/>
          <p:cNvSpPr/>
          <p:nvPr/>
        </p:nvSpPr>
        <p:spPr>
          <a:xfrm>
            <a:off x="7900416"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"anthropic"</a:t>
            </a:r>
            <a:endParaRPr lang="en-US" sz="800" dirty="0"/>
          </a:p>
        </p:txBody>
      </p:sp>
      <p:sp>
        <p:nvSpPr>
          <p:cNvPr id="17" name="Text 14"/>
          <p:cNvSpPr/>
          <p:nvPr/>
        </p:nvSpPr>
        <p:spPr>
          <a:xfrm>
            <a:off x="6300216"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Claude models</a:t>
            </a:r>
            <a:endParaRPr lang="en-US" sz="900" dirty="0"/>
          </a:p>
        </p:txBody>
      </p:sp>
      <p:sp>
        <p:nvSpPr>
          <p:cNvPr id="18" name="Shape 15"/>
          <p:cNvSpPr/>
          <p:nvPr/>
        </p:nvSpPr>
        <p:spPr>
          <a:xfrm>
            <a:off x="548640" y="2011680"/>
            <a:ext cx="2560320" cy="640080"/>
          </a:xfrm>
          <a:prstGeom prst="line">
            <a:avLst/>
          </a:prstGeom>
          <a:solidFill>
            <a:srgbClr val="161B22"/>
          </a:solidFill>
          <a:ln w="12700">
            <a:prstDash val="solid"/>
          </a:ln>
        </p:spPr>
        <p:txBody>
          <a:bodyPr/>
          <a:lstStyle/>
          <a:p>
            <a:endParaRPr/>
          </a:p>
        </p:txBody>
      </p:sp>
      <p:sp>
        <p:nvSpPr>
          <p:cNvPr id="19" name="Text 16"/>
          <p:cNvSpPr/>
          <p:nvPr/>
        </p:nvSpPr>
        <p:spPr>
          <a:xfrm>
            <a:off x="685800"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Ollama</a:t>
            </a:r>
            <a:endParaRPr lang="en-US" sz="1200" dirty="0"/>
          </a:p>
        </p:txBody>
      </p:sp>
      <p:sp>
        <p:nvSpPr>
          <p:cNvPr id="20" name="Text 17"/>
          <p:cNvSpPr/>
          <p:nvPr/>
        </p:nvSpPr>
        <p:spPr>
          <a:xfrm>
            <a:off x="2286000"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1" name="Text 18"/>
          <p:cNvSpPr/>
          <p:nvPr/>
        </p:nvSpPr>
        <p:spPr>
          <a:xfrm>
            <a:off x="685800"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Local models</a:t>
            </a:r>
            <a:endParaRPr lang="en-US" sz="900" dirty="0"/>
          </a:p>
        </p:txBody>
      </p:sp>
      <p:sp>
        <p:nvSpPr>
          <p:cNvPr id="22" name="Shape 19"/>
          <p:cNvSpPr/>
          <p:nvPr/>
        </p:nvSpPr>
        <p:spPr>
          <a:xfrm>
            <a:off x="3355848" y="2011680"/>
            <a:ext cx="2560320" cy="640080"/>
          </a:xfrm>
          <a:prstGeom prst="line">
            <a:avLst/>
          </a:prstGeom>
          <a:solidFill>
            <a:srgbClr val="161B22"/>
          </a:solidFill>
          <a:ln w="12700">
            <a:prstDash val="solid"/>
          </a:ln>
        </p:spPr>
        <p:txBody>
          <a:bodyPr/>
          <a:lstStyle/>
          <a:p>
            <a:endParaRPr/>
          </a:p>
        </p:txBody>
      </p:sp>
      <p:sp>
        <p:nvSpPr>
          <p:cNvPr id="23" name="Text 20"/>
          <p:cNvSpPr/>
          <p:nvPr/>
        </p:nvSpPr>
        <p:spPr>
          <a:xfrm>
            <a:off x="3493008"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Foundry Local</a:t>
            </a:r>
            <a:endParaRPr lang="en-US" sz="1200" dirty="0"/>
          </a:p>
        </p:txBody>
      </p:sp>
      <p:sp>
        <p:nvSpPr>
          <p:cNvPr id="24" name="Text 21"/>
          <p:cNvSpPr/>
          <p:nvPr/>
        </p:nvSpPr>
        <p:spPr>
          <a:xfrm>
            <a:off x="5093208"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5" name="Text 22"/>
          <p:cNvSpPr/>
          <p:nvPr/>
        </p:nvSpPr>
        <p:spPr>
          <a:xfrm>
            <a:off x="3493008"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On-device AI</a:t>
            </a:r>
            <a:endParaRPr lang="en-US" sz="900" dirty="0"/>
          </a:p>
        </p:txBody>
      </p:sp>
      <p:sp>
        <p:nvSpPr>
          <p:cNvPr id="26" name="Shape 23"/>
          <p:cNvSpPr/>
          <p:nvPr/>
        </p:nvSpPr>
        <p:spPr>
          <a:xfrm>
            <a:off x="6163056" y="2011680"/>
            <a:ext cx="2560320" cy="640080"/>
          </a:xfrm>
          <a:prstGeom prst="line">
            <a:avLst/>
          </a:prstGeom>
          <a:solidFill>
            <a:srgbClr val="161B22"/>
          </a:solidFill>
          <a:ln w="12700">
            <a:prstDash val="solid"/>
          </a:ln>
        </p:spPr>
        <p:txBody>
          <a:bodyPr/>
          <a:lstStyle/>
          <a:p>
            <a:endParaRPr/>
          </a:p>
        </p:txBody>
      </p:sp>
      <p:sp>
        <p:nvSpPr>
          <p:cNvPr id="27" name="Text 24"/>
          <p:cNvSpPr/>
          <p:nvPr/>
        </p:nvSpPr>
        <p:spPr>
          <a:xfrm>
            <a:off x="6300216"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Other</a:t>
            </a:r>
            <a:endParaRPr lang="en-US" sz="1200" dirty="0"/>
          </a:p>
        </p:txBody>
      </p:sp>
      <p:sp>
        <p:nvSpPr>
          <p:cNvPr id="28" name="Text 25"/>
          <p:cNvSpPr/>
          <p:nvPr/>
        </p:nvSpPr>
        <p:spPr>
          <a:xfrm>
            <a:off x="7900416"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9" name="Text 26"/>
          <p:cNvSpPr/>
          <p:nvPr/>
        </p:nvSpPr>
        <p:spPr>
          <a:xfrm>
            <a:off x="6300216"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vLLM, LiteLLM, etc.</a:t>
            </a:r>
            <a:endParaRPr lang="en-US" sz="900" dirty="0"/>
          </a:p>
        </p:txBody>
      </p:sp>
      <p:sp>
        <p:nvSpPr>
          <p:cNvPr id="30" name="Shape 27"/>
          <p:cNvSpPr/>
          <p:nvPr/>
        </p:nvSpPr>
        <p:spPr>
          <a:xfrm>
            <a:off x="548640" y="3017520"/>
            <a:ext cx="8046720" cy="1645920"/>
          </a:xfrm>
          <a:prstGeom prst="line">
            <a:avLst/>
          </a:prstGeom>
          <a:solidFill>
            <a:srgbClr val="161B22"/>
          </a:solidFill>
          <a:ln w="12700">
            <a:prstDash val="solid"/>
          </a:ln>
        </p:spPr>
        <p:txBody>
          <a:bodyPr/>
          <a:lstStyle/>
          <a:p>
            <a:endParaRPr/>
          </a:p>
        </p:txBody>
      </p:sp>
      <p:sp>
        <p:nvSpPr>
          <p:cNvPr id="31" name="Shape 28"/>
          <p:cNvSpPr/>
          <p:nvPr/>
        </p:nvSpPr>
        <p:spPr>
          <a:xfrm>
            <a:off x="548640" y="3017520"/>
            <a:ext cx="1371600" cy="256032"/>
          </a:xfrm>
          <a:prstGeom prst="line">
            <a:avLst/>
          </a:prstGeom>
          <a:solidFill>
            <a:srgbClr val="1F6FEB"/>
          </a:solidFill>
          <a:ln w="6350">
            <a:solidFill>
              <a:srgbClr val="30363D"/>
            </a:solidFill>
          </a:ln>
        </p:spPr>
        <p:txBody>
          <a:bodyPr/>
          <a:lstStyle/>
          <a:p>
            <a:endParaRPr/>
          </a:p>
        </p:txBody>
      </p:sp>
      <p:sp>
        <p:nvSpPr>
          <p:cNvPr id="32" name="Text 29"/>
          <p:cNvSpPr/>
          <p:nvPr/>
        </p:nvSpPr>
        <p:spPr>
          <a:xfrm>
            <a:off x="548640" y="30175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a:t>
            </a:r>
            <a:endParaRPr lang="en-US" sz="900" dirty="0"/>
          </a:p>
        </p:txBody>
      </p:sp>
      <p:sp>
        <p:nvSpPr>
          <p:cNvPr id="33" name="Text 30"/>
          <p:cNvSpPr/>
          <p:nvPr/>
        </p:nvSpPr>
        <p:spPr>
          <a:xfrm>
            <a:off x="685800" y="3337560"/>
            <a:ext cx="7772400" cy="123444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"gpt-5.2-codex",</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provider: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type: "openai",</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baseUrl: "https://your-resource.openai.azure.com/openai/v1/",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wireApi: "responses",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apiKey: process.env.FOUNDRY_API_KEY,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p:txBody>
      </p:sp>
      <p:sp>
        <p:nvSpPr>
          <p:cNvPr id="36" name="Text 3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13 / 23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46" name="Rectangle 45"/>
          <p:cNvSpPr/>
          <p:nvPr/>
        </p:nvSpPr>
        <p:spPr>
          <a:xfrm>
            <a:off x="4709159" y="1188720"/>
            <a:ext cx="4389120" cy="39776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94360" y="1188720"/>
            <a:ext cx="3840480" cy="3438144"/>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How the SDK Talks to the CLI</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All SDKs communicate via JSON-RPC — the SDK manages the CLI process lifecycle automatically</a:t>
            </a:r>
            <a:endParaRPr lang="en-US" sz="1200" dirty="0"/>
          </a:p>
        </p:txBody>
      </p:sp>
      <p:sp>
        <p:nvSpPr>
          <p:cNvPr id="6" name="Shape 3"/>
          <p:cNvSpPr/>
          <p:nvPr/>
        </p:nvSpPr>
        <p:spPr>
          <a:xfrm>
            <a:off x="5486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3FB950"/>
                </a:solidFill>
                <a:latin typeface="Calibri" pitchFamily="34" charset="0"/>
                <a:ea typeface="Calibri" pitchFamily="34" charset="-122"/>
                <a:cs typeface="Calibri" pitchFamily="34" charset="-120"/>
              </a:rPr>
              <a:t>Mode 1: stdio (Auto-Managed)</a:t>
            </a:r>
            <a:endParaRPr lang="en-US" sz="1400" dirty="0"/>
          </a:p>
        </p:txBody>
      </p:sp>
      <p:sp>
        <p:nvSpPr>
          <p:cNvPr id="9" name="Text 6"/>
          <p:cNvSpPr/>
          <p:nvPr/>
        </p:nvSpPr>
        <p:spPr>
          <a:xfrm>
            <a:off x="7315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SDK spawns CLI as a child process</a:t>
            </a:r>
            <a:endParaRPr lang="en-US" sz="1000" dirty="0"/>
          </a:p>
        </p:txBody>
      </p:sp>
      <p:sp>
        <p:nvSpPr>
          <p:cNvPr id="10" name="Shape 7"/>
          <p:cNvSpPr/>
          <p:nvPr/>
        </p:nvSpPr>
        <p:spPr>
          <a:xfrm>
            <a:off x="1005840" y="2011680"/>
            <a:ext cx="3017520" cy="411480"/>
          </a:xfrm>
          <a:prstGeom prst="line">
            <a:avLst/>
          </a:prstGeom>
          <a:solidFill>
            <a:srgbClr val="0D1117"/>
          </a:solidFill>
          <a:ln w="12700">
            <a:prstDash val="solid"/>
          </a:ln>
        </p:spPr>
        <p:txBody>
          <a:bodyPr/>
          <a:lstStyle/>
          <a:p>
            <a:endParaRPr/>
          </a:p>
        </p:txBody>
      </p:sp>
      <p:sp>
        <p:nvSpPr>
          <p:cNvPr id="11" name="Text 8"/>
          <p:cNvSpPr/>
          <p:nvPr/>
        </p:nvSpPr>
        <p:spPr>
          <a:xfrm>
            <a:off x="10058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12" name="Shape 9"/>
          <p:cNvSpPr/>
          <p:nvPr/>
        </p:nvSpPr>
        <p:spPr>
          <a:xfrm>
            <a:off x="1005840" y="2606040"/>
            <a:ext cx="3017520" cy="411480"/>
          </a:xfrm>
          <a:prstGeom prst="line">
            <a:avLst/>
          </a:prstGeom>
          <a:solidFill>
            <a:srgbClr val="0D1117"/>
          </a:solidFill>
          <a:ln w="12700">
            <a:prstDash val="solid"/>
          </a:ln>
        </p:spPr>
        <p:txBody>
          <a:bodyPr/>
          <a:lstStyle/>
          <a:p>
            <a:endParaRPr/>
          </a:p>
        </p:txBody>
      </p:sp>
      <p:sp>
        <p:nvSpPr>
          <p:cNvPr id="13" name="Text 10"/>
          <p:cNvSpPr/>
          <p:nvPr/>
        </p:nvSpPr>
        <p:spPr>
          <a:xfrm>
            <a:off x="10058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stdin/stdout</a:t>
            </a:r>
            <a:endParaRPr lang="en-US" sz="1000" dirty="0"/>
          </a:p>
        </p:txBody>
      </p:sp>
      <p:sp>
        <p:nvSpPr>
          <p:cNvPr id="14" name="Shape 11"/>
          <p:cNvSpPr/>
          <p:nvPr/>
        </p:nvSpPr>
        <p:spPr>
          <a:xfrm>
            <a:off x="1005840" y="3200400"/>
            <a:ext cx="3017520" cy="411480"/>
          </a:xfrm>
          <a:prstGeom prst="line">
            <a:avLst/>
          </a:prstGeom>
          <a:solidFill>
            <a:srgbClr val="0D1117"/>
          </a:solidFill>
          <a:ln w="12700">
            <a:prstDash val="solid"/>
          </a:ln>
        </p:spPr>
        <p:txBody>
          <a:bodyPr/>
          <a:lstStyle/>
          <a:p>
            <a:endParaRPr/>
          </a:p>
        </p:txBody>
      </p:sp>
      <p:sp>
        <p:nvSpPr>
          <p:cNvPr id="15" name="Text 12"/>
          <p:cNvSpPr/>
          <p:nvPr/>
        </p:nvSpPr>
        <p:spPr>
          <a:xfrm>
            <a:off x="10058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(child process)</a:t>
            </a:r>
            <a:endParaRPr lang="en-US" sz="1000" dirty="0"/>
          </a:p>
        </p:txBody>
      </p:sp>
      <p:pic>
        <p:nvPicPr>
          <p:cNvPr id="18" name="Image 1" descr="preencoded.png"/>
          <p:cNvPicPr>
            <a:picLocks noChangeAspect="1"/>
          </p:cNvPicPr>
          <p:nvPr/>
        </p:nvPicPr>
        <p:blipFill>
          <a:blip r:embed="rId4"/>
          <a:stretch>
            <a:fillRect/>
          </a:stretch>
        </p:blipFill>
        <p:spPr>
          <a:xfrm>
            <a:off x="822960" y="3794760"/>
            <a:ext cx="155448" cy="155448"/>
          </a:xfrm>
          <a:prstGeom prst="rect">
            <a:avLst/>
          </a:prstGeom>
        </p:spPr>
      </p:pic>
      <p:sp>
        <p:nvSpPr>
          <p:cNvPr id="19" name="Text 15"/>
          <p:cNvSpPr/>
          <p:nvPr/>
        </p:nvSpPr>
        <p:spPr>
          <a:xfrm>
            <a:off x="10515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Zero config — just new CopilotClient()</a:t>
            </a:r>
            <a:endParaRPr lang="en-US" sz="950" dirty="0"/>
          </a:p>
        </p:txBody>
      </p:sp>
      <p:pic>
        <p:nvPicPr>
          <p:cNvPr id="20" name="Image 2" descr="preencoded.png"/>
          <p:cNvPicPr>
            <a:picLocks noChangeAspect="1"/>
          </p:cNvPicPr>
          <p:nvPr/>
        </p:nvPicPr>
        <p:blipFill>
          <a:blip r:embed="rId4"/>
          <a:stretch>
            <a:fillRect/>
          </a:stretch>
        </p:blipFill>
        <p:spPr>
          <a:xfrm>
            <a:off x="822960" y="4041648"/>
            <a:ext cx="155448" cy="155448"/>
          </a:xfrm>
          <a:prstGeom prst="rect">
            <a:avLst/>
          </a:prstGeom>
        </p:spPr>
      </p:pic>
      <p:sp>
        <p:nvSpPr>
          <p:cNvPr id="21" name="Text 16"/>
          <p:cNvSpPr/>
          <p:nvPr/>
        </p:nvSpPr>
        <p:spPr>
          <a:xfrm>
            <a:off x="10515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CLI dies with your app</a:t>
            </a:r>
            <a:endParaRPr lang="en-US" sz="950" dirty="0"/>
          </a:p>
        </p:txBody>
      </p:sp>
      <p:pic>
        <p:nvPicPr>
          <p:cNvPr id="22" name="Image 3" descr="preencoded.png"/>
          <p:cNvPicPr>
            <a:picLocks noChangeAspect="1"/>
          </p:cNvPicPr>
          <p:nvPr/>
        </p:nvPicPr>
        <p:blipFill>
          <a:blip r:embed="rId4"/>
          <a:stretch>
            <a:fillRect/>
          </a:stretch>
        </p:blipFill>
        <p:spPr>
          <a:xfrm>
            <a:off x="822960" y="4288536"/>
            <a:ext cx="155448" cy="155448"/>
          </a:xfrm>
          <a:prstGeom prst="rect">
            <a:avLst/>
          </a:prstGeom>
        </p:spPr>
      </p:pic>
      <p:sp>
        <p:nvSpPr>
          <p:cNvPr id="23" name="Text 17"/>
          <p:cNvSpPr/>
          <p:nvPr/>
        </p:nvSpPr>
        <p:spPr>
          <a:xfrm>
            <a:off x="10515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Best for: local dev, desktop apps</a:t>
            </a:r>
            <a:endParaRPr lang="en-US" sz="950" dirty="0"/>
          </a:p>
        </p:txBody>
      </p:sp>
      <p:sp>
        <p:nvSpPr>
          <p:cNvPr id="24" name="Shape 18"/>
          <p:cNvSpPr/>
          <p:nvPr/>
        </p:nvSpPr>
        <p:spPr>
          <a:xfrm>
            <a:off x="46634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6" name="Text 20"/>
          <p:cNvSpPr/>
          <p:nvPr/>
        </p:nvSpPr>
        <p:spPr>
          <a:xfrm>
            <a:off x="4846320" y="1325880"/>
            <a:ext cx="356616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Mode 2: TCP (External Server)</a:t>
            </a:r>
            <a:endParaRPr lang="en-US" sz="1400" dirty="0"/>
          </a:p>
        </p:txBody>
      </p:sp>
      <p:sp>
        <p:nvSpPr>
          <p:cNvPr id="27" name="Text 21"/>
          <p:cNvSpPr/>
          <p:nvPr/>
        </p:nvSpPr>
        <p:spPr>
          <a:xfrm>
            <a:off x="48463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CLI runs as a headless server on a port</a:t>
            </a:r>
            <a:endParaRPr lang="en-US" sz="1000" dirty="0"/>
          </a:p>
        </p:txBody>
      </p:sp>
      <p:sp>
        <p:nvSpPr>
          <p:cNvPr id="28" name="Shape 22"/>
          <p:cNvSpPr/>
          <p:nvPr/>
        </p:nvSpPr>
        <p:spPr>
          <a:xfrm>
            <a:off x="5120640" y="2011680"/>
            <a:ext cx="3017520" cy="411480"/>
          </a:xfrm>
          <a:prstGeom prst="line">
            <a:avLst/>
          </a:prstGeom>
          <a:solidFill>
            <a:srgbClr val="0D1117"/>
          </a:solidFill>
          <a:ln w="12700">
            <a:prstDash val="solid"/>
          </a:ln>
        </p:spPr>
        <p:txBody>
          <a:bodyPr/>
          <a:lstStyle/>
          <a:p>
            <a:endParaRPr/>
          </a:p>
        </p:txBody>
      </p:sp>
      <p:sp>
        <p:nvSpPr>
          <p:cNvPr id="29" name="Text 23"/>
          <p:cNvSpPr/>
          <p:nvPr/>
        </p:nvSpPr>
        <p:spPr>
          <a:xfrm>
            <a:off x="51206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30" name="Shape 24"/>
          <p:cNvSpPr/>
          <p:nvPr/>
        </p:nvSpPr>
        <p:spPr>
          <a:xfrm>
            <a:off x="5120640" y="2606040"/>
            <a:ext cx="3017520" cy="411480"/>
          </a:xfrm>
          <a:prstGeom prst="line">
            <a:avLst/>
          </a:prstGeom>
          <a:solidFill>
            <a:srgbClr val="0D1117"/>
          </a:solidFill>
          <a:ln w="12700">
            <a:prstDash val="solid"/>
          </a:ln>
        </p:spPr>
        <p:txBody>
          <a:bodyPr/>
          <a:lstStyle/>
          <a:p>
            <a:endParaRPr/>
          </a:p>
        </p:txBody>
      </p:sp>
      <p:sp>
        <p:nvSpPr>
          <p:cNvPr id="31" name="Text 25"/>
          <p:cNvSpPr/>
          <p:nvPr/>
        </p:nvSpPr>
        <p:spPr>
          <a:xfrm>
            <a:off x="51206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TCP (:4321)</a:t>
            </a:r>
            <a:endParaRPr lang="en-US" sz="1000" dirty="0"/>
          </a:p>
        </p:txBody>
      </p:sp>
      <p:sp>
        <p:nvSpPr>
          <p:cNvPr id="32" name="Shape 26"/>
          <p:cNvSpPr/>
          <p:nvPr/>
        </p:nvSpPr>
        <p:spPr>
          <a:xfrm>
            <a:off x="5120640" y="3200400"/>
            <a:ext cx="3017520" cy="411480"/>
          </a:xfrm>
          <a:prstGeom prst="line">
            <a:avLst/>
          </a:prstGeom>
          <a:solidFill>
            <a:srgbClr val="0D1117"/>
          </a:solidFill>
          <a:ln w="12700">
            <a:prstDash val="solid"/>
          </a:ln>
        </p:spPr>
        <p:txBody>
          <a:bodyPr/>
          <a:lstStyle/>
          <a:p>
            <a:endParaRPr/>
          </a:p>
        </p:txBody>
      </p:sp>
      <p:sp>
        <p:nvSpPr>
          <p:cNvPr id="33" name="Text 27"/>
          <p:cNvSpPr/>
          <p:nvPr/>
        </p:nvSpPr>
        <p:spPr>
          <a:xfrm>
            <a:off x="51206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(headless server)</a:t>
            </a:r>
            <a:endParaRPr lang="en-US" sz="1000" dirty="0"/>
          </a:p>
        </p:txBody>
      </p:sp>
      <p:pic>
        <p:nvPicPr>
          <p:cNvPr id="36" name="Image 4" descr="preencoded.png"/>
          <p:cNvPicPr>
            <a:picLocks noChangeAspect="1"/>
          </p:cNvPicPr>
          <p:nvPr/>
        </p:nvPicPr>
        <p:blipFill>
          <a:blip r:embed="rId4"/>
          <a:stretch>
            <a:fillRect/>
          </a:stretch>
        </p:blipFill>
        <p:spPr>
          <a:xfrm>
            <a:off x="4937760" y="3794760"/>
            <a:ext cx="155448" cy="155448"/>
          </a:xfrm>
          <a:prstGeom prst="rect">
            <a:avLst/>
          </a:prstGeom>
        </p:spPr>
      </p:pic>
      <p:sp>
        <p:nvSpPr>
          <p:cNvPr id="37" name="Text 30"/>
          <p:cNvSpPr/>
          <p:nvPr/>
        </p:nvSpPr>
        <p:spPr>
          <a:xfrm>
            <a:off x="51663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onsolas" pitchFamily="34" charset="0"/>
                <a:ea typeface="Consolas" pitchFamily="34" charset="-122"/>
                <a:cs typeface="Consolas" pitchFamily="34" charset="-120"/>
              </a:rPr>
              <a:t>copilot --headless --port 4321</a:t>
            </a:r>
            <a:endParaRPr lang="en-US" sz="950" dirty="0"/>
          </a:p>
        </p:txBody>
      </p:sp>
      <p:pic>
        <p:nvPicPr>
          <p:cNvPr id="38" name="Image 5" descr="preencoded.png"/>
          <p:cNvPicPr>
            <a:picLocks noChangeAspect="1"/>
          </p:cNvPicPr>
          <p:nvPr/>
        </p:nvPicPr>
        <p:blipFill>
          <a:blip r:embed="rId4"/>
          <a:stretch>
            <a:fillRect/>
          </a:stretch>
        </p:blipFill>
        <p:spPr>
          <a:xfrm>
            <a:off x="4937760" y="4041648"/>
            <a:ext cx="155448" cy="155448"/>
          </a:xfrm>
          <a:prstGeom prst="rect">
            <a:avLst/>
          </a:prstGeom>
        </p:spPr>
      </p:pic>
      <p:sp>
        <p:nvSpPr>
          <p:cNvPr id="39" name="Text 31"/>
          <p:cNvSpPr/>
          <p:nvPr/>
        </p:nvSpPr>
        <p:spPr>
          <a:xfrm>
            <a:off x="51663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Independent lifecycle, multi-client</a:t>
            </a:r>
            <a:endParaRPr lang="en-US" sz="950" dirty="0"/>
          </a:p>
        </p:txBody>
      </p:sp>
      <p:pic>
        <p:nvPicPr>
          <p:cNvPr id="40" name="Image 6" descr="preencoded.png"/>
          <p:cNvPicPr>
            <a:picLocks noChangeAspect="1"/>
          </p:cNvPicPr>
          <p:nvPr/>
        </p:nvPicPr>
        <p:blipFill>
          <a:blip r:embed="rId4"/>
          <a:stretch>
            <a:fillRect/>
          </a:stretch>
        </p:blipFill>
        <p:spPr>
          <a:xfrm>
            <a:off x="4937760" y="4288536"/>
            <a:ext cx="155448" cy="155448"/>
          </a:xfrm>
          <a:prstGeom prst="rect">
            <a:avLst/>
          </a:prstGeom>
        </p:spPr>
      </p:pic>
      <p:sp>
        <p:nvSpPr>
          <p:cNvPr id="41" name="Text 32"/>
          <p:cNvSpPr/>
          <p:nvPr/>
        </p:nvSpPr>
        <p:spPr>
          <a:xfrm>
            <a:off x="51663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Best for: APIs, backends, scaling</a:t>
            </a:r>
            <a:endParaRPr lang="en-US" sz="950" dirty="0"/>
          </a:p>
        </p:txBody>
      </p:sp>
      <p:sp>
        <p:nvSpPr>
          <p:cNvPr id="44" name="Text 3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4 / 23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Ship It: Bundled Deployment</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Package the CLI binary with your app — users don't install or configure anything</a:t>
            </a:r>
            <a:endParaRPr lang="en-US" sz="1200" dirty="0"/>
          </a:p>
        </p:txBody>
      </p:sp>
      <p:sp>
        <p:nvSpPr>
          <p:cNvPr id="6" name="Shape 3"/>
          <p:cNvSpPr/>
          <p:nvPr/>
        </p:nvSpPr>
        <p:spPr>
          <a:xfrm>
            <a:off x="548640" y="1188720"/>
            <a:ext cx="3931920" cy="19202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Text 4"/>
          <p:cNvSpPr/>
          <p:nvPr/>
        </p:nvSpPr>
        <p:spPr>
          <a:xfrm>
            <a:off x="731520" y="1280160"/>
            <a:ext cx="356616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How Bundled Deployment Works</a:t>
            </a:r>
            <a:endParaRPr lang="en-US" sz="1300" dirty="0"/>
          </a:p>
        </p:txBody>
      </p:sp>
      <p:sp>
        <p:nvSpPr>
          <p:cNvPr id="8" name="Shape 5"/>
          <p:cNvSpPr/>
          <p:nvPr/>
        </p:nvSpPr>
        <p:spPr>
          <a:xfrm>
            <a:off x="822960" y="1691640"/>
            <a:ext cx="3383280" cy="1234440"/>
          </a:xfrm>
          <a:prstGeom prst="line">
            <a:avLst/>
          </a:prstGeom>
          <a:solidFill>
            <a:srgbClr val="0D1117"/>
          </a:solidFill>
          <a:ln w="12700">
            <a:prstDash val="dash"/>
          </a:ln>
        </p:spPr>
        <p:txBody>
          <a:bodyPr/>
          <a:lstStyle/>
          <a:p>
            <a:endParaRPr/>
          </a:p>
        </p:txBody>
      </p:sp>
      <p:sp>
        <p:nvSpPr>
          <p:cNvPr id="9" name="Text 6"/>
          <p:cNvSpPr/>
          <p:nvPr/>
        </p:nvSpPr>
        <p:spPr>
          <a:xfrm>
            <a:off x="914400" y="1709928"/>
            <a:ext cx="3200400" cy="201168"/>
          </a:xfrm>
          <a:prstGeom prst="rect">
            <a:avLst/>
          </a:prstGeom>
          <a:noFill/>
          <a:ln>
            <a:noFill/>
          </a:ln>
        </p:spPr>
        <p:txBody>
          <a:bodyPr wrap="square" lIns="0" tIns="0" rIns="0" bIns="0" rtlCol="0" anchor="ctr"/>
          <a:lstStyle/>
          <a:p>
            <a:pPr marL="0" indent="0">
              <a:buNone/>
            </a:pPr>
            <a:r>
              <a:rPr lang="en-US" sz="800" dirty="0">
                <a:solidFill>
                  <a:srgbClr val="3FB950"/>
                </a:solidFill>
                <a:latin typeface="Calibri" pitchFamily="34" charset="0"/>
                <a:ea typeface="Calibri" pitchFamily="34" charset="-122"/>
                <a:cs typeface="Calibri" pitchFamily="34" charset="-120"/>
              </a:rPr>
              <a:t>Your Distributed App</a:t>
            </a:r>
            <a:endParaRPr lang="en-US" sz="800" dirty="0"/>
          </a:p>
        </p:txBody>
      </p:sp>
      <p:sp>
        <p:nvSpPr>
          <p:cNvPr id="10" name="Shape 7"/>
          <p:cNvSpPr/>
          <p:nvPr/>
        </p:nvSpPr>
        <p:spPr>
          <a:xfrm>
            <a:off x="1005840" y="1965960"/>
            <a:ext cx="1371600" cy="365760"/>
          </a:xfrm>
          <a:prstGeom prst="line">
            <a:avLst/>
          </a:prstGeom>
          <a:solidFill>
            <a:srgbClr val="161B22"/>
          </a:solidFill>
          <a:ln w="12700">
            <a:prstDash val="solid"/>
          </a:ln>
        </p:spPr>
        <p:txBody>
          <a:bodyPr/>
          <a:lstStyle/>
          <a:p>
            <a:endParaRPr/>
          </a:p>
        </p:txBody>
      </p:sp>
      <p:sp>
        <p:nvSpPr>
          <p:cNvPr id="11" name="Text 8"/>
          <p:cNvSpPr/>
          <p:nvPr/>
        </p:nvSpPr>
        <p:spPr>
          <a:xfrm>
            <a:off x="1005840" y="1965960"/>
            <a:ext cx="1371600" cy="365760"/>
          </a:xfrm>
          <a:prstGeom prst="rect">
            <a:avLst/>
          </a:prstGeom>
          <a:noFill/>
          <a:ln>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App Code + SDK</a:t>
            </a:r>
            <a:endParaRPr lang="en-US" sz="850" dirty="0"/>
          </a:p>
        </p:txBody>
      </p:sp>
      <p:sp>
        <p:nvSpPr>
          <p:cNvPr id="12" name="Text 9"/>
          <p:cNvSpPr/>
          <p:nvPr/>
        </p:nvSpPr>
        <p:spPr>
          <a:xfrm>
            <a:off x="2377440" y="1965960"/>
            <a:ext cx="274320" cy="365760"/>
          </a:xfrm>
          <a:prstGeom prst="rect">
            <a:avLst/>
          </a:prstGeom>
          <a:noFill/>
          <a:ln>
            <a:noFill/>
          </a:ln>
        </p:spPr>
        <p:txBody>
          <a:bodyPr wrap="square" lIns="0" tIns="0" rIns="0" bIns="0" rtlCol="0" anchor="ctr"/>
          <a:lstStyle/>
          <a:p>
            <a:pPr marL="0" indent="0" algn="ctr">
              <a:buNone/>
            </a:pPr>
            <a:r>
              <a:rPr lang="en-US" sz="1400" dirty="0">
                <a:solidFill>
                  <a:srgbClr val="58A6FF"/>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2651760" y="1965960"/>
            <a:ext cx="1371600" cy="365760"/>
          </a:xfrm>
          <a:prstGeom prst="line">
            <a:avLst/>
          </a:prstGeom>
          <a:solidFill>
            <a:srgbClr val="161B22"/>
          </a:solidFill>
          <a:ln w="12700">
            <a:prstDash val="solid"/>
          </a:ln>
        </p:spPr>
        <p:txBody>
          <a:bodyPr/>
          <a:lstStyle/>
          <a:p>
            <a:endParaRPr/>
          </a:p>
        </p:txBody>
      </p:sp>
      <p:sp>
        <p:nvSpPr>
          <p:cNvPr id="14" name="Text 11"/>
          <p:cNvSpPr/>
          <p:nvPr/>
        </p:nvSpPr>
        <p:spPr>
          <a:xfrm>
            <a:off x="2651760" y="1965960"/>
            <a:ext cx="1371600" cy="365760"/>
          </a:xfrm>
          <a:prstGeom prst="rect">
            <a:avLst/>
          </a:prstGeom>
          <a:noFill/>
          <a:ln>
            <a:noFill/>
          </a:ln>
        </p:spPr>
        <p:txBody>
          <a:bodyPr wrap="square" lIns="0" tIns="0" rIns="0" bIns="0" rtlCol="0" anchor="ctr"/>
          <a:lstStyle/>
          <a:p>
            <a:pPr marL="0" indent="0" algn="ctr">
              <a:buNone/>
            </a:pPr>
            <a:r>
              <a:rPr lang="en-US" sz="850" b="1" dirty="0">
                <a:solidFill>
                  <a:srgbClr val="3FB950"/>
                </a:solidFill>
                <a:latin typeface="Calibri" pitchFamily="34" charset="0"/>
                <a:ea typeface="Calibri" pitchFamily="34" charset="-122"/>
                <a:cs typeface="Calibri" pitchFamily="34" charset="-120"/>
              </a:rPr>
              <a:t>CLI Binary</a:t>
            </a:r>
            <a:endParaRPr lang="en-US" sz="850" dirty="0"/>
          </a:p>
        </p:txBody>
      </p:sp>
      <p:sp>
        <p:nvSpPr>
          <p:cNvPr id="16" name="Shape 13"/>
          <p:cNvSpPr/>
          <p:nvPr/>
        </p:nvSpPr>
        <p:spPr>
          <a:xfrm>
            <a:off x="2011680" y="2560320"/>
            <a:ext cx="1828800" cy="274320"/>
          </a:xfrm>
          <a:prstGeom prst="line">
            <a:avLst/>
          </a:prstGeom>
          <a:solidFill>
            <a:srgbClr val="161B22"/>
          </a:solidFill>
          <a:ln w="12700">
            <a:prstDash val="solid"/>
          </a:ln>
        </p:spPr>
        <p:txBody>
          <a:bodyPr/>
          <a:lstStyle/>
          <a:p>
            <a:endParaRPr/>
          </a:p>
        </p:txBody>
      </p:sp>
      <p:sp>
        <p:nvSpPr>
          <p:cNvPr id="17" name="Text 14"/>
          <p:cNvSpPr/>
          <p:nvPr/>
        </p:nvSpPr>
        <p:spPr>
          <a:xfrm>
            <a:off x="2011680" y="2560320"/>
            <a:ext cx="1828800" cy="274320"/>
          </a:xfrm>
          <a:prstGeom prst="rect">
            <a:avLst/>
          </a:prstGeom>
          <a:noFill/>
          <a:ln>
            <a:noFill/>
          </a:ln>
        </p:spPr>
        <p:txBody>
          <a:bodyPr wrap="square" lIns="0" tIns="0" rIns="0" bIns="0" rtlCol="0" anchor="ctr"/>
          <a:lstStyle/>
          <a:p>
            <a:pPr marL="0" indent="0" algn="ctr">
              <a:buNone/>
            </a:pPr>
            <a:r>
              <a:rPr lang="en-US" sz="800" dirty="0">
                <a:solidFill>
                  <a:srgbClr val="58A6FF"/>
                </a:solidFill>
                <a:latin typeface="Calibri" pitchFamily="34" charset="0"/>
                <a:ea typeface="Calibri" pitchFamily="34" charset="-122"/>
                <a:cs typeface="Calibri" pitchFamily="34" charset="-120"/>
              </a:rPr>
              <a:t>Model Provider</a:t>
            </a:r>
            <a:endParaRPr lang="en-US" sz="800" dirty="0"/>
          </a:p>
        </p:txBody>
      </p:sp>
      <p:sp>
        <p:nvSpPr>
          <p:cNvPr id="18" name="Shape 15"/>
          <p:cNvSpPr/>
          <p:nvPr/>
        </p:nvSpPr>
        <p:spPr>
          <a:xfrm>
            <a:off x="4663440" y="1188720"/>
            <a:ext cx="3931920" cy="1920240"/>
          </a:xfrm>
          <a:prstGeom prst="line">
            <a:avLst/>
          </a:prstGeom>
          <a:solidFill>
            <a:srgbClr val="161B22"/>
          </a:solidFill>
          <a:ln w="12700">
            <a:prstDash val="solid"/>
          </a:ln>
        </p:spPr>
        <p:txBody>
          <a:bodyPr/>
          <a:lstStyle/>
          <a:p>
            <a:endParaRPr/>
          </a:p>
        </p:txBody>
      </p:sp>
      <p:sp>
        <p:nvSpPr>
          <p:cNvPr id="19" name="Shape 16"/>
          <p:cNvSpPr/>
          <p:nvPr/>
        </p:nvSpPr>
        <p:spPr>
          <a:xfrm>
            <a:off x="4663440" y="1188720"/>
            <a:ext cx="1371600" cy="256032"/>
          </a:xfrm>
          <a:prstGeom prst="line">
            <a:avLst/>
          </a:prstGeom>
          <a:solidFill>
            <a:srgbClr val="1F6FEB"/>
          </a:solidFill>
          <a:ln w="6350">
            <a:solidFill>
              <a:srgbClr val="30363D"/>
            </a:solidFill>
          </a:ln>
        </p:spPr>
        <p:txBody>
          <a:bodyPr/>
          <a:lstStyle/>
          <a:p>
            <a:endParaRPr/>
          </a:p>
        </p:txBody>
      </p:sp>
      <p:sp>
        <p:nvSpPr>
          <p:cNvPr id="20" name="Text 17"/>
          <p:cNvSpPr/>
          <p:nvPr/>
        </p:nvSpPr>
        <p:spPr>
          <a:xfrm>
            <a:off x="46634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 — cliPath</a:t>
            </a:r>
            <a:endParaRPr lang="en-US" sz="900" dirty="0"/>
          </a:p>
        </p:txBody>
      </p:sp>
      <p:sp>
        <p:nvSpPr>
          <p:cNvPr id="21" name="Text 18"/>
          <p:cNvSpPr/>
          <p:nvPr/>
        </p:nvSpPr>
        <p:spPr>
          <a:xfrm>
            <a:off x="4800600" y="1508760"/>
            <a:ext cx="3657600" cy="150876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import { CopilotClient } from "@github/copilot-sdk";</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import path from "path";</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client = new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Point to the CLI binary bundled with your app</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cliPath: path.join(__dirname, "vendor", "copilot"),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p:txBody>
      </p:sp>
      <p:sp>
        <p:nvSpPr>
          <p:cNvPr id="22" name="Text 19"/>
          <p:cNvSpPr/>
          <p:nvPr/>
        </p:nvSpPr>
        <p:spPr>
          <a:xfrm>
            <a:off x="548640" y="3291840"/>
            <a:ext cx="27432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Deployment Options</a:t>
            </a:r>
            <a:endParaRPr lang="en-US" sz="1400" dirty="0"/>
          </a:p>
        </p:txBody>
      </p:sp>
      <p:sp>
        <p:nvSpPr>
          <p:cNvPr id="23" name="Shape 20"/>
          <p:cNvSpPr/>
          <p:nvPr/>
        </p:nvSpPr>
        <p:spPr>
          <a:xfrm>
            <a:off x="548640" y="3611880"/>
            <a:ext cx="2560320" cy="685800"/>
          </a:xfrm>
          <a:prstGeom prst="line">
            <a:avLst/>
          </a:prstGeom>
          <a:solidFill>
            <a:srgbClr val="161B22"/>
          </a:solidFill>
          <a:ln w="12700">
            <a:prstDash val="solid"/>
          </a:ln>
        </p:spPr>
        <p:txBody>
          <a:bodyPr/>
          <a:lstStyle/>
          <a:p>
            <a:endParaRPr/>
          </a:p>
        </p:txBody>
      </p:sp>
      <p:sp>
        <p:nvSpPr>
          <p:cNvPr id="25" name="Text 22"/>
          <p:cNvSpPr/>
          <p:nvPr/>
        </p:nvSpPr>
        <p:spPr>
          <a:xfrm>
            <a:off x="731520"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Desktop App (Electron/Tauri)</a:t>
            </a:r>
            <a:endParaRPr lang="en-US" sz="1100" dirty="0"/>
          </a:p>
        </p:txBody>
      </p:sp>
      <p:sp>
        <p:nvSpPr>
          <p:cNvPr id="26" name="Text 23"/>
          <p:cNvSpPr/>
          <p:nvPr/>
        </p:nvSpPr>
        <p:spPr>
          <a:xfrm>
            <a:off x="731520"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binary in app resources</a:t>
            </a:r>
            <a:endParaRPr lang="en-US" sz="950" dirty="0"/>
          </a:p>
        </p:txBody>
      </p:sp>
      <p:sp>
        <p:nvSpPr>
          <p:cNvPr id="27" name="Shape 24"/>
          <p:cNvSpPr/>
          <p:nvPr/>
        </p:nvSpPr>
        <p:spPr>
          <a:xfrm>
            <a:off x="3355848" y="3611880"/>
            <a:ext cx="2560320" cy="685800"/>
          </a:xfrm>
          <a:prstGeom prst="line">
            <a:avLst/>
          </a:prstGeom>
          <a:solidFill>
            <a:srgbClr val="161B22"/>
          </a:solidFill>
          <a:ln w="12700">
            <a:prstDash val="solid"/>
          </a:ln>
        </p:spPr>
        <p:txBody>
          <a:bodyPr/>
          <a:lstStyle/>
          <a:p>
            <a:endParaRPr/>
          </a:p>
        </p:txBody>
      </p:sp>
      <p:sp>
        <p:nvSpPr>
          <p:cNvPr id="29" name="Text 26"/>
          <p:cNvSpPr/>
          <p:nvPr/>
        </p:nvSpPr>
        <p:spPr>
          <a:xfrm>
            <a:off x="3538728"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Docker Container</a:t>
            </a:r>
            <a:endParaRPr lang="en-US" sz="1100" dirty="0"/>
          </a:p>
        </p:txBody>
      </p:sp>
      <p:sp>
        <p:nvSpPr>
          <p:cNvPr id="30" name="Text 27"/>
          <p:cNvSpPr/>
          <p:nvPr/>
        </p:nvSpPr>
        <p:spPr>
          <a:xfrm>
            <a:off x="3538728"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 app in same image</a:t>
            </a:r>
            <a:endParaRPr lang="en-US" sz="950" dirty="0"/>
          </a:p>
        </p:txBody>
      </p:sp>
      <p:sp>
        <p:nvSpPr>
          <p:cNvPr id="31" name="Shape 28"/>
          <p:cNvSpPr/>
          <p:nvPr/>
        </p:nvSpPr>
        <p:spPr>
          <a:xfrm>
            <a:off x="6163056" y="3611880"/>
            <a:ext cx="2560320" cy="685800"/>
          </a:xfrm>
          <a:prstGeom prst="line">
            <a:avLst/>
          </a:prstGeom>
          <a:solidFill>
            <a:srgbClr val="161B22"/>
          </a:solidFill>
          <a:ln w="12700">
            <a:prstDash val="solid"/>
          </a:ln>
        </p:spPr>
        <p:txBody>
          <a:bodyPr/>
          <a:lstStyle/>
          <a:p>
            <a:endParaRPr/>
          </a:p>
        </p:txBody>
      </p:sp>
      <p:sp>
        <p:nvSpPr>
          <p:cNvPr id="33" name="Text 30"/>
          <p:cNvSpPr/>
          <p:nvPr/>
        </p:nvSpPr>
        <p:spPr>
          <a:xfrm>
            <a:off x="6345936"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CLI Tool Distribution</a:t>
            </a:r>
            <a:endParaRPr lang="en-US" sz="1100" dirty="0"/>
          </a:p>
        </p:txBody>
      </p:sp>
      <p:sp>
        <p:nvSpPr>
          <p:cNvPr id="34" name="Text 31"/>
          <p:cNvSpPr/>
          <p:nvPr/>
        </p:nvSpPr>
        <p:spPr>
          <a:xfrm>
            <a:off x="6345936"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Ship CLI alongside your binary</a:t>
            </a:r>
            <a:endParaRPr lang="en-US" sz="950" dirty="0"/>
          </a:p>
        </p:txBody>
      </p:sp>
      <p:sp>
        <p:nvSpPr>
          <p:cNvPr id="35" name="Shape 32"/>
          <p:cNvSpPr/>
          <p:nvPr/>
        </p:nvSpPr>
        <p:spPr>
          <a:xfrm>
            <a:off x="548640" y="4434840"/>
            <a:ext cx="8046720" cy="320040"/>
          </a:xfrm>
          <a:prstGeom prst="line">
            <a:avLst/>
          </a:prstGeom>
          <a:solidFill>
            <a:srgbClr val="161B22"/>
          </a:solidFill>
          <a:ln w="12700">
            <a:prstDash val="solid"/>
          </a:ln>
        </p:spPr>
        <p:txBody>
          <a:bodyPr/>
          <a:lstStyle/>
          <a:p>
            <a:endParaRPr/>
          </a:p>
        </p:txBody>
      </p:sp>
      <p:sp>
        <p:nvSpPr>
          <p:cNvPr id="36" name="Text 33"/>
          <p:cNvSpPr/>
          <p:nvPr/>
        </p:nvSpPr>
        <p:spPr>
          <a:xfrm>
            <a:off x="548640" y="4434840"/>
            <a:ext cx="8046720" cy="320040"/>
          </a:xfrm>
          <a:prstGeom prst="rect">
            <a:avLst/>
          </a:prstGeom>
          <a:noFill/>
          <a:ln>
            <a:noFill/>
          </a:ln>
        </p:spPr>
        <p:txBody>
          <a:bodyPr wrap="square" lIns="0" tIns="0" rIns="0" bIns="0" rtlCol="0" anchor="ctr"/>
          <a:lstStyle/>
          <a:p>
            <a:pPr marL="0" indent="0">
              <a:buNone/>
            </a:pPr>
            <a:r>
              <a:rPr lang="en-US" sz="1000" b="1" dirty="0">
                <a:solidFill>
                  <a:srgbClr val="F0883E"/>
                </a:solidFill>
                <a:latin typeface="Calibri" pitchFamily="34" charset="0"/>
                <a:ea typeface="Calibri" pitchFamily="34" charset="-122"/>
                <a:cs typeface="Calibri" pitchFamily="34" charset="-120"/>
              </a:rPr>
              <a:t xml:space="preserve">  Multi-platform: </a:t>
            </a:r>
            <a:r>
              <a:rPr lang="en-US" sz="1000" dirty="0">
                <a:solidFill>
                  <a:srgbClr val="C9D1D9"/>
                </a:solidFill>
                <a:latin typeface="Consolas" pitchFamily="34" charset="0"/>
                <a:ea typeface="Consolas" pitchFamily="34" charset="-122"/>
                <a:cs typeface="Consolas" pitchFamily="34" charset="-120"/>
              </a:rPr>
              <a:t>Include platform-specific binaries: copilot-darwin-arm64, copilot-linux-x64, copilot-win-x64.exe</a:t>
            </a:r>
            <a:endParaRPr lang="en-US" sz="10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5 / 23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Deployment Patterns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4"/>
          <p:cNvSpPr/>
          <p:nvPr/>
        </p:nvSpPr>
        <p:spPr>
          <a:xfrm>
            <a:off x="3383280" y="1143000"/>
            <a:ext cx="914400" cy="228600"/>
          </a:xfrm>
          <a:prstGeom prst="line">
            <a:avLst/>
          </a:prstGeom>
          <a:solidFill>
            <a:srgbClr val="3FB950">
              <a:alpha val="20000"/>
            </a:srgbClr>
          </a:solidFill>
          <a:ln>
            <a:noFill/>
          </a:ln>
        </p:spPr>
        <p:txBody>
          <a:bodyPr/>
          <a:lstStyle/>
          <a:p>
            <a:endParaRPr/>
          </a:p>
        </p:txBody>
      </p:sp>
      <p:sp>
        <p:nvSpPr>
          <p:cNvPr id="8" name="Text 5"/>
          <p:cNvSpPr/>
          <p:nvPr/>
        </p:nvSpPr>
        <p:spPr>
          <a:xfrm>
            <a:off x="338328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3FB950"/>
                </a:solidFill>
                <a:latin typeface="Calibri" pitchFamily="34" charset="0"/>
                <a:ea typeface="Calibri" pitchFamily="34" charset="-122"/>
                <a:cs typeface="Calibri" pitchFamily="34" charset="-120"/>
              </a:rPr>
              <a:t>Hobbyist</a:t>
            </a:r>
            <a:endParaRPr lang="en-US" sz="800" dirty="0"/>
          </a:p>
        </p:txBody>
      </p:sp>
      <p:sp>
        <p:nvSpPr>
          <p:cNvPr id="9" name="Text 6"/>
          <p:cNvSpPr/>
          <p:nvPr/>
        </p:nvSpPr>
        <p:spPr>
          <a:xfrm>
            <a:off x="73152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Local CLI</a:t>
            </a:r>
            <a:endParaRPr lang="en-US" sz="1600" dirty="0"/>
          </a:p>
        </p:txBody>
      </p:sp>
      <p:sp>
        <p:nvSpPr>
          <p:cNvPr id="10" name="Text 7"/>
          <p:cNvSpPr/>
          <p:nvPr/>
        </p:nvSpPr>
        <p:spPr>
          <a:xfrm>
            <a:off x="73152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SDK spawns CLI as child process. Simplest path for personal projects and development.</a:t>
            </a:r>
            <a:endParaRPr lang="en-US" sz="1100" dirty="0"/>
          </a:p>
        </p:txBody>
      </p:sp>
      <p:sp>
        <p:nvSpPr>
          <p:cNvPr id="11" name="Shape 8"/>
          <p:cNvSpPr/>
          <p:nvPr/>
        </p:nvSpPr>
        <p:spPr>
          <a:xfrm>
            <a:off x="475488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Shape 10"/>
          <p:cNvSpPr/>
          <p:nvPr/>
        </p:nvSpPr>
        <p:spPr>
          <a:xfrm>
            <a:off x="7589520" y="1143000"/>
            <a:ext cx="914400" cy="228600"/>
          </a:xfrm>
          <a:prstGeom prst="line">
            <a:avLst/>
          </a:prstGeom>
          <a:solidFill>
            <a:srgbClr val="58A6FF">
              <a:alpha val="20000"/>
            </a:srgbClr>
          </a:solidFill>
          <a:ln>
            <a:noFill/>
          </a:ln>
        </p:spPr>
        <p:txBody>
          <a:bodyPr/>
          <a:lstStyle/>
          <a:p>
            <a:endParaRPr/>
          </a:p>
        </p:txBody>
      </p:sp>
      <p:sp>
        <p:nvSpPr>
          <p:cNvPr id="14" name="Text 11"/>
          <p:cNvSpPr/>
          <p:nvPr/>
        </p:nvSpPr>
        <p:spPr>
          <a:xfrm>
            <a:off x="758952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58A6FF"/>
                </a:solidFill>
                <a:latin typeface="Calibri" pitchFamily="34" charset="0"/>
                <a:ea typeface="Calibri" pitchFamily="34" charset="-122"/>
                <a:cs typeface="Calibri" pitchFamily="34" charset="-120"/>
              </a:rPr>
              <a:t>Desktop App</a:t>
            </a:r>
            <a:endParaRPr lang="en-US" sz="800" dirty="0"/>
          </a:p>
        </p:txBody>
      </p:sp>
      <p:sp>
        <p:nvSpPr>
          <p:cNvPr id="15" name="Text 12"/>
          <p:cNvSpPr/>
          <p:nvPr/>
        </p:nvSpPr>
        <p:spPr>
          <a:xfrm>
            <a:off x="493776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Bundled CLI</a:t>
            </a:r>
            <a:endParaRPr lang="en-US" sz="1600" dirty="0"/>
          </a:p>
        </p:txBody>
      </p:sp>
      <p:sp>
        <p:nvSpPr>
          <p:cNvPr id="16" name="Text 13"/>
          <p:cNvSpPr/>
          <p:nvPr/>
        </p:nvSpPr>
        <p:spPr>
          <a:xfrm>
            <a:off x="493776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Ship the CLI binary with your app. Standalone apps with zero external dependencies.</a:t>
            </a:r>
            <a:endParaRPr lang="en-US" sz="1100" dirty="0"/>
          </a:p>
        </p:txBody>
      </p:sp>
      <p:sp>
        <p:nvSpPr>
          <p:cNvPr id="17" name="Shape 14"/>
          <p:cNvSpPr/>
          <p:nvPr/>
        </p:nvSpPr>
        <p:spPr>
          <a:xfrm>
            <a:off x="54864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9" name="Shape 16"/>
          <p:cNvSpPr/>
          <p:nvPr/>
        </p:nvSpPr>
        <p:spPr>
          <a:xfrm>
            <a:off x="3383280" y="3063240"/>
            <a:ext cx="914400" cy="228600"/>
          </a:xfrm>
          <a:prstGeom prst="line">
            <a:avLst/>
          </a:prstGeom>
          <a:solidFill>
            <a:srgbClr val="BC8CFF">
              <a:alpha val="20000"/>
            </a:srgbClr>
          </a:solidFill>
          <a:ln>
            <a:noFill/>
          </a:ln>
        </p:spPr>
        <p:txBody>
          <a:bodyPr/>
          <a:lstStyle/>
          <a:p>
            <a:endParaRPr/>
          </a:p>
        </p:txBody>
      </p:sp>
      <p:sp>
        <p:nvSpPr>
          <p:cNvPr id="20" name="Text 17"/>
          <p:cNvSpPr/>
          <p:nvPr/>
        </p:nvSpPr>
        <p:spPr>
          <a:xfrm>
            <a:off x="338328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BC8CFF"/>
                </a:solidFill>
                <a:latin typeface="Calibri" pitchFamily="34" charset="0"/>
                <a:ea typeface="Calibri" pitchFamily="34" charset="-122"/>
                <a:cs typeface="Calibri" pitchFamily="34" charset="-120"/>
              </a:rPr>
              <a:t>Enterprise</a:t>
            </a:r>
            <a:endParaRPr lang="en-US" sz="800" dirty="0"/>
          </a:p>
        </p:txBody>
      </p:sp>
      <p:sp>
        <p:nvSpPr>
          <p:cNvPr id="21" name="Text 18"/>
          <p:cNvSpPr/>
          <p:nvPr/>
        </p:nvSpPr>
        <p:spPr>
          <a:xfrm>
            <a:off x="73152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Backend Services</a:t>
            </a:r>
            <a:endParaRPr lang="en-US" sz="1600" dirty="0"/>
          </a:p>
        </p:txBody>
      </p:sp>
      <p:sp>
        <p:nvSpPr>
          <p:cNvPr id="22" name="Text 19"/>
          <p:cNvSpPr/>
          <p:nvPr/>
        </p:nvSpPr>
        <p:spPr>
          <a:xfrm>
            <a:off x="73152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CLI as headless server over TCP. Web backends, APIs, and microservices.</a:t>
            </a:r>
            <a:endParaRPr lang="en-US" sz="1100" dirty="0"/>
          </a:p>
        </p:txBody>
      </p:sp>
      <p:sp>
        <p:nvSpPr>
          <p:cNvPr id="23" name="Shape 20"/>
          <p:cNvSpPr/>
          <p:nvPr/>
        </p:nvSpPr>
        <p:spPr>
          <a:xfrm>
            <a:off x="475488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5" name="Shape 22"/>
          <p:cNvSpPr/>
          <p:nvPr/>
        </p:nvSpPr>
        <p:spPr>
          <a:xfrm>
            <a:off x="7589520" y="3063240"/>
            <a:ext cx="914400" cy="228600"/>
          </a:xfrm>
          <a:prstGeom prst="line">
            <a:avLst/>
          </a:prstGeom>
          <a:solidFill>
            <a:srgbClr val="F0883E">
              <a:alpha val="20000"/>
            </a:srgbClr>
          </a:solidFill>
          <a:ln>
            <a:noFill/>
          </a:ln>
        </p:spPr>
        <p:txBody>
          <a:bodyPr/>
          <a:lstStyle/>
          <a:p>
            <a:endParaRPr/>
          </a:p>
        </p:txBody>
      </p:sp>
      <p:sp>
        <p:nvSpPr>
          <p:cNvPr id="26" name="Text 23"/>
          <p:cNvSpPr/>
          <p:nvPr/>
        </p:nvSpPr>
        <p:spPr>
          <a:xfrm>
            <a:off x="758952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F0883E"/>
                </a:solidFill>
                <a:latin typeface="Calibri" pitchFamily="34" charset="0"/>
                <a:ea typeface="Calibri" pitchFamily="34" charset="-122"/>
                <a:cs typeface="Calibri" pitchFamily="34" charset="-120"/>
              </a:rPr>
              <a:t>Platform</a:t>
            </a:r>
            <a:endParaRPr lang="en-US" sz="800" dirty="0"/>
          </a:p>
        </p:txBody>
      </p:sp>
      <p:sp>
        <p:nvSpPr>
          <p:cNvPr id="27" name="Text 24"/>
          <p:cNvSpPr/>
          <p:nvPr/>
        </p:nvSpPr>
        <p:spPr>
          <a:xfrm>
            <a:off x="493776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a:t>
            </a:r>
            <a:endParaRPr lang="en-US" sz="1600" dirty="0"/>
          </a:p>
        </p:txBody>
      </p:sp>
      <p:sp>
        <p:nvSpPr>
          <p:cNvPr id="28" name="Text 25"/>
          <p:cNvSpPr/>
          <p:nvPr/>
        </p:nvSpPr>
        <p:spPr>
          <a:xfrm>
            <a:off x="493776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Horizontal scaling with session isolation. Serve thousands of users reliably.</a:t>
            </a:r>
            <a:endParaRPr lang="en-US" sz="1100" dirty="0"/>
          </a:p>
        </p:txBody>
      </p:sp>
      <p:sp>
        <p:nvSpPr>
          <p:cNvPr id="31"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14 / 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Microsoft Agent Framework Integration</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Compose Copilot alongside Azure OpenAI, Anthropic, and others in orchestrated workflows</a:t>
            </a:r>
            <a:endParaRPr lang="en-US" sz="1200" dirty="0"/>
          </a:p>
        </p:txBody>
      </p:sp>
      <p:sp>
        <p:nvSpPr>
          <p:cNvPr id="6" name="Text 3"/>
          <p:cNvSpPr/>
          <p:nvPr/>
        </p:nvSpPr>
        <p:spPr>
          <a:xfrm>
            <a:off x="548640" y="12344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Sequential Workflow</a:t>
            </a:r>
            <a:endParaRPr lang="en-US" sz="1400" dirty="0"/>
          </a:p>
        </p:txBody>
      </p:sp>
      <p:sp>
        <p:nvSpPr>
          <p:cNvPr id="7" name="Shape 4"/>
          <p:cNvSpPr/>
          <p:nvPr/>
        </p:nvSpPr>
        <p:spPr>
          <a:xfrm>
            <a:off x="548640" y="1645920"/>
            <a:ext cx="2468880" cy="731520"/>
          </a:xfrm>
          <a:prstGeom prst="line">
            <a:avLst/>
          </a:prstGeom>
          <a:solidFill>
            <a:srgbClr val="161B22"/>
          </a:solidFill>
          <a:ln w="12700">
            <a:prstDash val="solid"/>
          </a:ln>
        </p:spPr>
        <p:txBody>
          <a:bodyPr/>
          <a:lstStyle/>
          <a:p>
            <a:endParaRPr/>
          </a:p>
        </p:txBody>
      </p:sp>
      <p:sp>
        <p:nvSpPr>
          <p:cNvPr id="8" name="Text 5"/>
          <p:cNvSpPr/>
          <p:nvPr/>
        </p:nvSpPr>
        <p:spPr>
          <a:xfrm>
            <a:off x="64008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Copilot Agent</a:t>
            </a:r>
            <a:endParaRPr lang="en-US" sz="1100" dirty="0"/>
          </a:p>
        </p:txBody>
      </p:sp>
      <p:sp>
        <p:nvSpPr>
          <p:cNvPr id="9" name="Text 6"/>
          <p:cNvSpPr/>
          <p:nvPr/>
        </p:nvSpPr>
        <p:spPr>
          <a:xfrm>
            <a:off x="64008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Code Review</a:t>
            </a:r>
            <a:endParaRPr lang="en-US" sz="900" dirty="0"/>
          </a:p>
        </p:txBody>
      </p:sp>
      <p:sp>
        <p:nvSpPr>
          <p:cNvPr id="10" name="Text 7"/>
          <p:cNvSpPr/>
          <p:nvPr/>
        </p:nvSpPr>
        <p:spPr>
          <a:xfrm>
            <a:off x="301752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74720" y="1645920"/>
            <a:ext cx="2468880" cy="731520"/>
          </a:xfrm>
          <a:prstGeom prst="line">
            <a:avLst/>
          </a:prstGeom>
          <a:solidFill>
            <a:srgbClr val="161B22"/>
          </a:solidFill>
          <a:ln w="12700">
            <a:prstDash val="solid"/>
          </a:ln>
        </p:spPr>
        <p:txBody>
          <a:bodyPr/>
          <a:lstStyle/>
          <a:p>
            <a:endParaRPr/>
          </a:p>
        </p:txBody>
      </p:sp>
      <p:sp>
        <p:nvSpPr>
          <p:cNvPr id="12" name="Text 9"/>
          <p:cNvSpPr/>
          <p:nvPr/>
        </p:nvSpPr>
        <p:spPr>
          <a:xfrm>
            <a:off x="356616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Azure Agent</a:t>
            </a:r>
            <a:endParaRPr lang="en-US" sz="1100" dirty="0"/>
          </a:p>
        </p:txBody>
      </p:sp>
      <p:sp>
        <p:nvSpPr>
          <p:cNvPr id="13" name="Text 10"/>
          <p:cNvSpPr/>
          <p:nvPr/>
        </p:nvSpPr>
        <p:spPr>
          <a:xfrm>
            <a:off x="356616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Documentation</a:t>
            </a:r>
            <a:endParaRPr lang="en-US" sz="900" dirty="0"/>
          </a:p>
        </p:txBody>
      </p:sp>
      <p:sp>
        <p:nvSpPr>
          <p:cNvPr id="14" name="Text 11"/>
          <p:cNvSpPr/>
          <p:nvPr/>
        </p:nvSpPr>
        <p:spPr>
          <a:xfrm>
            <a:off x="594360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5" name="Shape 12"/>
          <p:cNvSpPr/>
          <p:nvPr/>
        </p:nvSpPr>
        <p:spPr>
          <a:xfrm>
            <a:off x="6400800" y="1645920"/>
            <a:ext cx="2468880" cy="731520"/>
          </a:xfrm>
          <a:prstGeom prst="line">
            <a:avLst/>
          </a:prstGeom>
          <a:solidFill>
            <a:srgbClr val="161B22"/>
          </a:solidFill>
          <a:ln w="12700">
            <a:prstDash val="solid"/>
          </a:ln>
        </p:spPr>
        <p:txBody>
          <a:bodyPr/>
          <a:lstStyle/>
          <a:p>
            <a:endParaRPr/>
          </a:p>
        </p:txBody>
      </p:sp>
      <p:sp>
        <p:nvSpPr>
          <p:cNvPr id="16" name="Text 13"/>
          <p:cNvSpPr/>
          <p:nvPr/>
        </p:nvSpPr>
        <p:spPr>
          <a:xfrm>
            <a:off x="649224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Combined</a:t>
            </a:r>
            <a:endParaRPr lang="en-US" sz="1100" dirty="0"/>
          </a:p>
        </p:txBody>
      </p:sp>
      <p:sp>
        <p:nvSpPr>
          <p:cNvPr id="17" name="Text 14"/>
          <p:cNvSpPr/>
          <p:nvPr/>
        </p:nvSpPr>
        <p:spPr>
          <a:xfrm>
            <a:off x="649224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Final Output</a:t>
            </a:r>
            <a:endParaRPr lang="en-US" sz="900" dirty="0"/>
          </a:p>
        </p:txBody>
      </p:sp>
      <p:sp>
        <p:nvSpPr>
          <p:cNvPr id="18" name="Text 15"/>
          <p:cNvSpPr/>
          <p:nvPr/>
        </p:nvSpPr>
        <p:spPr>
          <a:xfrm>
            <a:off x="548640" y="26060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Concurrent Workflow</a:t>
            </a:r>
            <a:endParaRPr lang="en-US" sz="1400" dirty="0"/>
          </a:p>
        </p:txBody>
      </p:sp>
      <p:sp>
        <p:nvSpPr>
          <p:cNvPr id="19" name="Shape 16"/>
          <p:cNvSpPr/>
          <p:nvPr/>
        </p:nvSpPr>
        <p:spPr>
          <a:xfrm>
            <a:off x="548640" y="3017520"/>
            <a:ext cx="2468880" cy="548640"/>
          </a:xfrm>
          <a:prstGeom prst="line">
            <a:avLst/>
          </a:prstGeom>
          <a:solidFill>
            <a:srgbClr val="161B22"/>
          </a:solidFill>
          <a:ln w="12700">
            <a:prstDash val="solid"/>
          </a:ln>
        </p:spPr>
        <p:txBody>
          <a:bodyPr/>
          <a:lstStyle/>
          <a:p>
            <a:endParaRPr/>
          </a:p>
        </p:txBody>
      </p:sp>
      <p:sp>
        <p:nvSpPr>
          <p:cNvPr id="20" name="Text 17"/>
          <p:cNvSpPr/>
          <p:nvPr/>
        </p:nvSpPr>
        <p:spPr>
          <a:xfrm>
            <a:off x="64008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Security Reviewer</a:t>
            </a:r>
            <a:endParaRPr lang="en-US" sz="1100" dirty="0"/>
          </a:p>
        </p:txBody>
      </p:sp>
      <p:sp>
        <p:nvSpPr>
          <p:cNvPr id="21" name="Shape 18"/>
          <p:cNvSpPr/>
          <p:nvPr/>
        </p:nvSpPr>
        <p:spPr>
          <a:xfrm>
            <a:off x="3474720" y="3017520"/>
            <a:ext cx="2468880" cy="548640"/>
          </a:xfrm>
          <a:prstGeom prst="line">
            <a:avLst/>
          </a:prstGeom>
          <a:solidFill>
            <a:srgbClr val="161B22"/>
          </a:solidFill>
          <a:ln w="12700">
            <a:prstDash val="solid"/>
          </a:ln>
        </p:spPr>
        <p:txBody>
          <a:bodyPr/>
          <a:lstStyle/>
          <a:p>
            <a:endParaRPr/>
          </a:p>
        </p:txBody>
      </p:sp>
      <p:sp>
        <p:nvSpPr>
          <p:cNvPr id="22" name="Text 19"/>
          <p:cNvSpPr/>
          <p:nvPr/>
        </p:nvSpPr>
        <p:spPr>
          <a:xfrm>
            <a:off x="356616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Performance Reviewer</a:t>
            </a:r>
            <a:endParaRPr lang="en-US" sz="1100" dirty="0"/>
          </a:p>
        </p:txBody>
      </p:sp>
      <p:sp>
        <p:nvSpPr>
          <p:cNvPr id="23" name="Text 20"/>
          <p:cNvSpPr/>
          <p:nvPr/>
        </p:nvSpPr>
        <p:spPr>
          <a:xfrm>
            <a:off x="5852160" y="3017520"/>
            <a:ext cx="457200" cy="54864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24" name="Shape 21"/>
          <p:cNvSpPr/>
          <p:nvPr/>
        </p:nvSpPr>
        <p:spPr>
          <a:xfrm>
            <a:off x="6400800" y="3017520"/>
            <a:ext cx="2286000" cy="548640"/>
          </a:xfrm>
          <a:prstGeom prst="line">
            <a:avLst/>
          </a:prstGeom>
          <a:solidFill>
            <a:srgbClr val="161B22"/>
          </a:solidFill>
          <a:ln w="12700">
            <a:prstDash val="solid"/>
          </a:ln>
        </p:spPr>
        <p:txBody>
          <a:bodyPr/>
          <a:lstStyle/>
          <a:p>
            <a:endParaRPr/>
          </a:p>
        </p:txBody>
      </p:sp>
      <p:sp>
        <p:nvSpPr>
          <p:cNvPr id="25" name="Text 22"/>
          <p:cNvSpPr/>
          <p:nvPr/>
        </p:nvSpPr>
        <p:spPr>
          <a:xfrm>
            <a:off x="6492240" y="3017520"/>
            <a:ext cx="210312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Aggregated Result</a:t>
            </a:r>
            <a:endParaRPr lang="en-US" sz="1100" dirty="0"/>
          </a:p>
        </p:txBody>
      </p:sp>
      <p:pic>
        <p:nvPicPr>
          <p:cNvPr id="26" name="Image 1" descr="preencoded.png"/>
          <p:cNvPicPr>
            <a:picLocks noChangeAspect="1"/>
          </p:cNvPicPr>
          <p:nvPr/>
        </p:nvPicPr>
        <p:blipFill>
          <a:blip r:embed="rId4"/>
          <a:stretch>
            <a:fillRect/>
          </a:stretch>
        </p:blipFill>
        <p:spPr>
          <a:xfrm>
            <a:off x="548640" y="3840480"/>
            <a:ext cx="182880" cy="182880"/>
          </a:xfrm>
          <a:prstGeom prst="rect">
            <a:avLst/>
          </a:prstGeom>
        </p:spPr>
      </p:pic>
      <p:sp>
        <p:nvSpPr>
          <p:cNvPr id="27" name="Text 23"/>
          <p:cNvSpPr/>
          <p:nvPr/>
        </p:nvSpPr>
        <p:spPr>
          <a:xfrm>
            <a:off x="822960" y="384048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Unified successor to Semantic Kernel and AutoGen</a:t>
            </a:r>
            <a:endParaRPr lang="en-US" sz="1100" dirty="0"/>
          </a:p>
        </p:txBody>
      </p:sp>
      <p:pic>
        <p:nvPicPr>
          <p:cNvPr id="28" name="Image 2" descr="preencoded.png"/>
          <p:cNvPicPr>
            <a:picLocks noChangeAspect="1"/>
          </p:cNvPicPr>
          <p:nvPr/>
        </p:nvPicPr>
        <p:blipFill>
          <a:blip r:embed="rId4"/>
          <a:stretch>
            <a:fillRect/>
          </a:stretch>
        </p:blipFill>
        <p:spPr>
          <a:xfrm>
            <a:off x="548640" y="4114800"/>
            <a:ext cx="182880" cy="182880"/>
          </a:xfrm>
          <a:prstGeom prst="rect">
            <a:avLst/>
          </a:prstGeom>
        </p:spPr>
      </p:pic>
      <p:sp>
        <p:nvSpPr>
          <p:cNvPr id="29" name="Text 24"/>
          <p:cNvSpPr/>
          <p:nvPr/>
        </p:nvSpPr>
        <p:spPr>
          <a:xfrm>
            <a:off x="822960" y="411480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Available for .NET and Python</a:t>
            </a:r>
            <a:endParaRPr lang="en-US" sz="1100" dirty="0"/>
          </a:p>
        </p:txBody>
      </p:sp>
      <p:pic>
        <p:nvPicPr>
          <p:cNvPr id="30" name="Image 3" descr="preencoded.png"/>
          <p:cNvPicPr>
            <a:picLocks noChangeAspect="1"/>
          </p:cNvPicPr>
          <p:nvPr/>
        </p:nvPicPr>
        <p:blipFill>
          <a:blip r:embed="rId4"/>
          <a:stretch>
            <a:fillRect/>
          </a:stretch>
        </p:blipFill>
        <p:spPr>
          <a:xfrm>
            <a:off x="548640" y="4389120"/>
            <a:ext cx="182880" cy="182880"/>
          </a:xfrm>
          <a:prstGeom prst="rect">
            <a:avLst/>
          </a:prstGeom>
        </p:spPr>
      </p:pic>
      <p:sp>
        <p:nvSpPr>
          <p:cNvPr id="31" name="Text 25"/>
          <p:cNvSpPr/>
          <p:nvPr/>
        </p:nvSpPr>
        <p:spPr>
          <a:xfrm>
            <a:off x="822960" y="438912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Supports A2A (Agent-to-Agent) protocol</a:t>
            </a:r>
            <a:endParaRPr lang="en-US" sz="1100" dirty="0"/>
          </a:p>
        </p:txBody>
      </p:sp>
      <p:pic>
        <p:nvPicPr>
          <p:cNvPr id="32" name="Image 4" descr="preencoded.png"/>
          <p:cNvPicPr>
            <a:picLocks noChangeAspect="1"/>
          </p:cNvPicPr>
          <p:nvPr/>
        </p:nvPicPr>
        <p:blipFill>
          <a:blip r:embed="rId4"/>
          <a:stretch>
            <a:fillRect/>
          </a:stretch>
        </p:blipFill>
        <p:spPr>
          <a:xfrm>
            <a:off x="548640" y="4663440"/>
            <a:ext cx="182880" cy="182880"/>
          </a:xfrm>
          <a:prstGeom prst="rect">
            <a:avLst/>
          </a:prstGeom>
        </p:spPr>
      </p:pic>
      <p:sp>
        <p:nvSpPr>
          <p:cNvPr id="33" name="Text 26"/>
          <p:cNvSpPr/>
          <p:nvPr/>
        </p:nvSpPr>
        <p:spPr>
          <a:xfrm>
            <a:off x="822960" y="466344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Full streaming support with delta events</a:t>
            </a:r>
            <a:endParaRPr lang="en-US" sz="1100" dirty="0"/>
          </a:p>
        </p:txBody>
      </p:sp>
      <p:sp>
        <p:nvSpPr>
          <p:cNvPr id="36"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15 / 23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Demo 1: Simple Chat Assistant</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The simplest use case — a conversational assistant in just a few lines of code</a:t>
            </a:r>
            <a:endParaRPr lang="en-US" sz="1200" dirty="0"/>
          </a:p>
        </p:txBody>
      </p:sp>
      <p:sp>
        <p:nvSpPr>
          <p:cNvPr id="6" name="Shape 3"/>
          <p:cNvSpPr/>
          <p:nvPr/>
        </p:nvSpPr>
        <p:spPr>
          <a:xfrm>
            <a:off x="548640" y="1143000"/>
            <a:ext cx="3931920" cy="329184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a:t>
            </a:r>
            <a:endParaRPr lang="en-US" sz="900" dirty="0"/>
          </a:p>
        </p:txBody>
      </p:sp>
      <p:sp>
        <p:nvSpPr>
          <p:cNvPr id="9" name="Text 6"/>
          <p:cNvSpPr/>
          <p:nvPr/>
        </p:nvSpPr>
        <p:spPr>
          <a:xfrm>
            <a:off x="685800" y="1463040"/>
            <a:ext cx="3657600" cy="288036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import { CopilotClient } from "@github/copilot-sdk";</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client = new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onPermissionRequest: async () =&gt;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kind: "approved"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Send a prompt and wait for the response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response = await session.sendAndWait({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prompt: "Explain how async/await works"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console.log(response?.data.content);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client.stop();</a:t>
            </a:r>
            <a:endParaRPr lang="en-US" sz="850" dirty="0"/>
          </a:p>
        </p:txBody>
      </p:sp>
      <p:sp>
        <p:nvSpPr>
          <p:cNvPr id="10" name="Shape 7"/>
          <p:cNvSpPr/>
          <p:nvPr/>
        </p:nvSpPr>
        <p:spPr>
          <a:xfrm>
            <a:off x="4663440" y="1143000"/>
            <a:ext cx="3931920" cy="3291840"/>
          </a:xfrm>
          <a:prstGeom prst="line">
            <a:avLst/>
          </a:prstGeom>
          <a:solidFill>
            <a:srgbClr val="161B22"/>
          </a:solidFill>
          <a:ln w="12700">
            <a:prstDash val="solid"/>
          </a:ln>
        </p:spPr>
        <p:txBody>
          <a:bodyPr/>
          <a:lstStyle/>
          <a:p>
            <a:endParaRPr/>
          </a:p>
        </p:txBody>
      </p:sp>
      <p:sp>
        <p:nvSpPr>
          <p:cNvPr id="11" name="Shape 8"/>
          <p:cNvSpPr/>
          <p:nvPr/>
        </p:nvSpPr>
        <p:spPr>
          <a:xfrm>
            <a:off x="4663440" y="1143000"/>
            <a:ext cx="1371600" cy="256032"/>
          </a:xfrm>
          <a:prstGeom prst="line">
            <a:avLst/>
          </a:prstGeom>
          <a:solidFill>
            <a:srgbClr val="1F6FEB"/>
          </a:solidFill>
          <a:ln w="6350">
            <a:solidFill>
              <a:srgbClr val="30363D"/>
            </a:solidFill>
          </a:ln>
        </p:spPr>
        <p:txBody>
          <a:bodyPr/>
          <a:lstStyle/>
          <a:p>
            <a:endParaRPr/>
          </a:p>
        </p:txBody>
      </p:sp>
      <p:sp>
        <p:nvSpPr>
          <p:cNvPr id="12" name="Text 9"/>
          <p:cNvSpPr/>
          <p:nvPr/>
        </p:nvSpPr>
        <p:spPr>
          <a:xfrm>
            <a:off x="46634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13" name="Text 10"/>
          <p:cNvSpPr/>
          <p:nvPr/>
        </p:nvSpPr>
        <p:spPr>
          <a:xfrm>
            <a:off x="4800600" y="1463040"/>
            <a:ext cx="3657600" cy="288036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from copilot import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from copilot import PermissionHandler</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client =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client.start()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session = await client.create_session(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on_permission_request=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PermissionHandler.approve_all,</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Send a prompt and wait for the response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response = await session.send_and_wait({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"prompt": "Explain how async/await works"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print(response.data.content)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client.stop()</a:t>
            </a:r>
            <a:endParaRPr lang="en-US" sz="850" dirty="0"/>
          </a:p>
        </p:txBody>
      </p:sp>
      <p:sp>
        <p:nvSpPr>
          <p:cNvPr id="14" name="Shape 11"/>
          <p:cNvSpPr/>
          <p:nvPr/>
        </p:nvSpPr>
        <p:spPr>
          <a:xfrm>
            <a:off x="548640" y="4526280"/>
            <a:ext cx="8046720" cy="274320"/>
          </a:xfrm>
          <a:prstGeom prst="line">
            <a:avLst/>
          </a:prstGeom>
          <a:solidFill>
            <a:srgbClr val="161B22"/>
          </a:solidFill>
          <a:ln w="12700">
            <a:prstDash val="solid"/>
          </a:ln>
        </p:spPr>
        <p:txBody>
          <a:bodyPr/>
          <a:lstStyle/>
          <a:p>
            <a:endParaRPr/>
          </a:p>
        </p:txBody>
      </p:sp>
      <p:sp>
        <p:nvSpPr>
          <p:cNvPr id="15" name="Text 12"/>
          <p:cNvSpPr/>
          <p:nvPr/>
        </p:nvSpPr>
        <p:spPr>
          <a:xfrm>
            <a:off x="548640" y="4526280"/>
            <a:ext cx="8046720" cy="274320"/>
          </a:xfrm>
          <a:prstGeom prst="rect">
            <a:avLst/>
          </a:prstGeom>
          <a:noFill/>
          <a:ln>
            <a:noFill/>
          </a:ln>
        </p:spPr>
        <p:txBody>
          <a:bodyPr wrap="square" lIns="0" tIns="0" rIns="0" bIns="0" rtlCol="0" anchor="ctr"/>
          <a:lstStyle/>
          <a:p>
            <a:pPr marL="0" indent="0">
              <a:buNone/>
            </a:pPr>
            <a:r>
              <a:rPr lang="en-US" sz="1000" b="1" dirty="0">
                <a:solidFill>
                  <a:srgbClr val="3FB950"/>
                </a:solidFill>
                <a:latin typeface="Calibri" pitchFamily="34" charset="0"/>
                <a:ea typeface="Calibri" pitchFamily="34" charset="-122"/>
                <a:cs typeface="Calibri" pitchFamily="34" charset="-120"/>
              </a:rPr>
              <a:t xml:space="preserve">  What it does: </a:t>
            </a:r>
            <a:r>
              <a:rPr lang="en-US" sz="1000" dirty="0">
                <a:solidFill>
                  <a:srgbClr val="C9D1D9"/>
                </a:solidFill>
                <a:latin typeface="Calibri" pitchFamily="34" charset="0"/>
                <a:ea typeface="Calibri" pitchFamily="34" charset="-122"/>
                <a:cs typeface="Calibri" pitchFamily="34" charset="-120"/>
              </a:rPr>
              <a:t>Creates a client, opens a session, sends a prompt, and prints the AI response.</a:t>
            </a:r>
            <a:endParaRPr lang="en-US" sz="1000" dirty="0"/>
          </a:p>
        </p:txBody>
      </p:sp>
      <p:sp>
        <p:nvSpPr>
          <p:cNvPr id="18" name="Text 1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18 / 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Demo 2: Custom Tool — Ticket Lookup</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Give Copilot access to your internal systems by defining custom tools</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 — Custom Tool</a:t>
            </a:r>
            <a:endParaRPr lang="en-US" sz="900" dirty="0"/>
          </a:p>
        </p:txBody>
      </p:sp>
      <p:sp>
        <p:nvSpPr>
          <p:cNvPr id="9" name="Text 6"/>
          <p:cNvSpPr/>
          <p:nvPr/>
        </p:nvSpPr>
        <p:spPr>
          <a:xfrm>
            <a:off x="685800" y="1463040"/>
            <a:ext cx="7772400" cy="315468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import { CopilotClient, defineTool } from "@github/copilot-sdk";</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Define a tool that looks up tickets from your internal system</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lookupTicket = defineTool("lookup_ticket",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description: "Look up a support ticket by ID and return its details",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parameters: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type: "object",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properties: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ticketId: { type: "string", description: "Ticket ID (e.g. TICK-1234)"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required: ["ticketId"],</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handler: async (args)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ticket = await db.tickets.findById(args.ticketId);  // Your database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return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id: ticket.id, status: ticket.status,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title: ticket.title, assignee: ticket.assignee,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createdAt: ticket.createdAt, priority: ticket.priority,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client = new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 tools: [lookupTicket],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onPermissionRequest: async () =&gt; ({ kind: "approved"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response = await session.sendAndWait({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prompt: "What's the status of TICK-4521? Who is it assigned to?"</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Copilot automatically calls lookup_ticket("TICK-4521") and answers naturally</a:t>
            </a:r>
            <a:endParaRPr lang="en-US" sz="850" dirty="0"/>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20 / 23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Demo 3: Backend API Service</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Run Copilot as a backend service powering a web API with persistent sessions</a:t>
            </a:r>
            <a:endParaRPr lang="en-US" sz="1200" dirty="0"/>
          </a:p>
        </p:txBody>
      </p:sp>
      <p:sp>
        <p:nvSpPr>
          <p:cNvPr id="6" name="Shape 3"/>
          <p:cNvSpPr/>
          <p:nvPr/>
        </p:nvSpPr>
        <p:spPr>
          <a:xfrm>
            <a:off x="548640" y="1143000"/>
            <a:ext cx="8046720" cy="342900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 — Express API</a:t>
            </a:r>
            <a:endParaRPr lang="en-US" sz="900" dirty="0"/>
          </a:p>
        </p:txBody>
      </p:sp>
      <p:sp>
        <p:nvSpPr>
          <p:cNvPr id="9" name="Text 6"/>
          <p:cNvSpPr/>
          <p:nvPr/>
        </p:nvSpPr>
        <p:spPr>
          <a:xfrm>
            <a:off x="685800" y="1463040"/>
            <a:ext cx="7772400" cy="301752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import express from "express";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import { CopilotClient } from "@github/copilot-sdk";</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app = express();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app.use(express.json());</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Connect to headless CLI server (started with: copilot --headless --port 4321)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client = new CopilotClient({ cliUrl: "localhost:4321" });</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app.post("/api/chat", async (req, res)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 sessionId, message, userToken } = req.body;</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Create or resume a session for this user</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sessionId: `user-${sessionId}`,</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githubToken: userToken,          // Per-user OAuth token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Stream response back to the 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response = await session.sendAndWait({ prompt: message });</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res.json({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sessionId,</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content: response?.data.content,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app.listen(3000, () =&gt; console.log("API running on :3000"));</a:t>
            </a:r>
            <a:endParaRPr lang="en-US" sz="850" dirty="0"/>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22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Get Started Today</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731520" y="1051560"/>
            <a:ext cx="457200" cy="457200"/>
          </a:xfrm>
          <a:prstGeom prst="line">
            <a:avLst/>
          </a:prstGeom>
          <a:solidFill>
            <a:srgbClr val="1F6FEB"/>
          </a:solidFill>
          <a:ln w="6350">
            <a:solidFill>
              <a:srgbClr val="30363D"/>
            </a:solidFill>
          </a:ln>
        </p:spPr>
        <p:txBody>
          <a:bodyPr/>
          <a:lstStyle/>
          <a:p>
            <a:endParaRPr/>
          </a:p>
        </p:txBody>
      </p:sp>
      <p:sp>
        <p:nvSpPr>
          <p:cNvPr id="6" name="Text 3"/>
          <p:cNvSpPr/>
          <p:nvPr/>
        </p:nvSpPr>
        <p:spPr>
          <a:xfrm>
            <a:off x="731520" y="105156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p:nvPr/>
        </p:nvSpPr>
        <p:spPr>
          <a:xfrm>
            <a:off x="1371600" y="100584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Install Copilot CLI</a:t>
            </a:r>
            <a:endParaRPr lang="en-US" sz="1400" dirty="0"/>
          </a:p>
        </p:txBody>
      </p:sp>
      <p:sp>
        <p:nvSpPr>
          <p:cNvPr id="8" name="Text 5"/>
          <p:cNvSpPr/>
          <p:nvPr/>
        </p:nvSpPr>
        <p:spPr>
          <a:xfrm>
            <a:off x="1371600" y="128016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Follow the Copilot CLI installation guide</a:t>
            </a:r>
            <a:endParaRPr lang="en-US" sz="1100" dirty="0"/>
          </a:p>
        </p:txBody>
      </p:sp>
      <p:sp>
        <p:nvSpPr>
          <p:cNvPr id="9" name="Shape 6"/>
          <p:cNvSpPr/>
          <p:nvPr/>
        </p:nvSpPr>
        <p:spPr>
          <a:xfrm>
            <a:off x="731520" y="1828800"/>
            <a:ext cx="457200" cy="457200"/>
          </a:xfrm>
          <a:prstGeom prst="line">
            <a:avLst/>
          </a:prstGeom>
          <a:solidFill>
            <a:srgbClr val="1F6FEB"/>
          </a:solidFill>
          <a:ln w="6350">
            <a:solidFill>
              <a:srgbClr val="30363D"/>
            </a:solidFill>
          </a:ln>
        </p:spPr>
        <p:txBody>
          <a:bodyPr/>
          <a:lstStyle/>
          <a:p>
            <a:endParaRPr/>
          </a:p>
        </p:txBody>
      </p:sp>
      <p:sp>
        <p:nvSpPr>
          <p:cNvPr id="10" name="Text 7"/>
          <p:cNvSpPr/>
          <p:nvPr/>
        </p:nvSpPr>
        <p:spPr>
          <a:xfrm>
            <a:off x="731520" y="182880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p:nvPr/>
        </p:nvSpPr>
        <p:spPr>
          <a:xfrm>
            <a:off x="1371600" y="178308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Install Your Preferred SDK</a:t>
            </a:r>
            <a:endParaRPr lang="en-US" sz="1400" dirty="0"/>
          </a:p>
        </p:txBody>
      </p:sp>
      <p:sp>
        <p:nvSpPr>
          <p:cNvPr id="12" name="Text 9"/>
          <p:cNvSpPr/>
          <p:nvPr/>
        </p:nvSpPr>
        <p:spPr>
          <a:xfrm>
            <a:off x="1371600" y="205740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npm, pip, go get, dotnet add, or Maven/Gradle</a:t>
            </a:r>
            <a:endParaRPr lang="en-US" sz="1100" dirty="0"/>
          </a:p>
        </p:txBody>
      </p:sp>
      <p:sp>
        <p:nvSpPr>
          <p:cNvPr id="13" name="Shape 10"/>
          <p:cNvSpPr/>
          <p:nvPr/>
        </p:nvSpPr>
        <p:spPr>
          <a:xfrm>
            <a:off x="731520" y="2606040"/>
            <a:ext cx="457200" cy="457200"/>
          </a:xfrm>
          <a:prstGeom prst="line">
            <a:avLst/>
          </a:prstGeom>
          <a:solidFill>
            <a:srgbClr val="1F6FEB"/>
          </a:solidFill>
          <a:ln w="6350">
            <a:solidFill>
              <a:srgbClr val="30363D"/>
            </a:solidFill>
          </a:ln>
        </p:spPr>
        <p:txBody>
          <a:bodyPr/>
          <a:lstStyle/>
          <a:p>
            <a:endParaRPr/>
          </a:p>
        </p:txBody>
      </p:sp>
      <p:sp>
        <p:nvSpPr>
          <p:cNvPr id="14" name="Text 11"/>
          <p:cNvSpPr/>
          <p:nvPr/>
        </p:nvSpPr>
        <p:spPr>
          <a:xfrm>
            <a:off x="731520" y="260604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Text 12"/>
          <p:cNvSpPr/>
          <p:nvPr/>
        </p:nvSpPr>
        <p:spPr>
          <a:xfrm>
            <a:off x="1371600" y="256032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Create Your First Session</a:t>
            </a:r>
            <a:endParaRPr lang="en-US" sz="1400" dirty="0"/>
          </a:p>
        </p:txBody>
      </p:sp>
      <p:sp>
        <p:nvSpPr>
          <p:cNvPr id="16" name="Text 13"/>
          <p:cNvSpPr/>
          <p:nvPr/>
        </p:nvSpPr>
        <p:spPr>
          <a:xfrm>
            <a:off x="1371600" y="283464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client.createSession({ model: "gpt-4.1" })</a:t>
            </a:r>
            <a:endParaRPr lang="en-US" sz="1100" dirty="0"/>
          </a:p>
        </p:txBody>
      </p:sp>
      <p:sp>
        <p:nvSpPr>
          <p:cNvPr id="17" name="Shape 14"/>
          <p:cNvSpPr/>
          <p:nvPr/>
        </p:nvSpPr>
        <p:spPr>
          <a:xfrm>
            <a:off x="731520" y="3383280"/>
            <a:ext cx="457200" cy="457200"/>
          </a:xfrm>
          <a:prstGeom prst="line">
            <a:avLst/>
          </a:prstGeom>
          <a:solidFill>
            <a:srgbClr val="1F6FEB"/>
          </a:solidFill>
          <a:ln w="6350">
            <a:solidFill>
              <a:srgbClr val="30363D"/>
            </a:solidFill>
          </a:ln>
        </p:spPr>
        <p:txBody>
          <a:bodyPr/>
          <a:lstStyle/>
          <a:p>
            <a:endParaRPr/>
          </a:p>
        </p:txBody>
      </p:sp>
      <p:sp>
        <p:nvSpPr>
          <p:cNvPr id="18" name="Text 15"/>
          <p:cNvSpPr/>
          <p:nvPr/>
        </p:nvSpPr>
        <p:spPr>
          <a:xfrm>
            <a:off x="731520" y="338328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9" name="Text 16"/>
          <p:cNvSpPr/>
          <p:nvPr/>
        </p:nvSpPr>
        <p:spPr>
          <a:xfrm>
            <a:off x="1371600" y="333756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Add Custom Tools &amp; Agents</a:t>
            </a:r>
            <a:endParaRPr lang="en-US" sz="1400" dirty="0"/>
          </a:p>
        </p:txBody>
      </p:sp>
      <p:sp>
        <p:nvSpPr>
          <p:cNvPr id="20" name="Text 17"/>
          <p:cNvSpPr/>
          <p:nvPr/>
        </p:nvSpPr>
        <p:spPr>
          <a:xfrm>
            <a:off x="1371600" y="361188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Extend with defineTool, customAgents, MCP, and hooks</a:t>
            </a:r>
            <a:endParaRPr lang="en-US" sz="1100" dirty="0"/>
          </a:p>
        </p:txBody>
      </p:sp>
      <p:sp>
        <p:nvSpPr>
          <p:cNvPr id="21" name="Shape 18"/>
          <p:cNvSpPr/>
          <p:nvPr/>
        </p:nvSpPr>
        <p:spPr>
          <a:xfrm>
            <a:off x="5669280" y="1005840"/>
            <a:ext cx="3017520" cy="3200400"/>
          </a:xfrm>
          <a:prstGeom prst="line">
            <a:avLst/>
          </a:prstGeom>
          <a:solidFill>
            <a:srgbClr val="161B22"/>
          </a:solidFill>
          <a:ln w="12700">
            <a:prstDash val="solid"/>
          </a:ln>
        </p:spPr>
        <p:txBody>
          <a:bodyPr/>
          <a:lstStyle/>
          <a:p>
            <a:endParaRPr/>
          </a:p>
        </p:txBody>
      </p:sp>
      <p:sp>
        <p:nvSpPr>
          <p:cNvPr id="22" name="Text 19"/>
          <p:cNvSpPr/>
          <p:nvPr/>
        </p:nvSpPr>
        <p:spPr>
          <a:xfrm>
            <a:off x="5852160" y="1097280"/>
            <a:ext cx="2651760" cy="32004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Resources</a:t>
            </a:r>
            <a:endParaRPr lang="en-US" sz="1600" dirty="0"/>
          </a:p>
        </p:txBody>
      </p:sp>
      <p:sp>
        <p:nvSpPr>
          <p:cNvPr id="23" name="Text 20"/>
          <p:cNvSpPr/>
          <p:nvPr/>
        </p:nvSpPr>
        <p:spPr>
          <a:xfrm>
            <a:off x="5852160" y="15087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SDK Repository</a:t>
            </a:r>
            <a:endParaRPr lang="en-US" sz="1000" dirty="0"/>
          </a:p>
        </p:txBody>
      </p:sp>
      <p:sp>
        <p:nvSpPr>
          <p:cNvPr id="24" name="Text 21"/>
          <p:cNvSpPr/>
          <p:nvPr/>
        </p:nvSpPr>
        <p:spPr>
          <a:xfrm>
            <a:off x="5852160" y="16733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github.com/github/copilot-sdk</a:t>
            </a:r>
            <a:endParaRPr lang="en-US" sz="800" dirty="0"/>
          </a:p>
        </p:txBody>
      </p:sp>
      <p:sp>
        <p:nvSpPr>
          <p:cNvPr id="25" name="Text 22"/>
          <p:cNvSpPr/>
          <p:nvPr/>
        </p:nvSpPr>
        <p:spPr>
          <a:xfrm>
            <a:off x="5852160" y="192024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Documentation</a:t>
            </a:r>
            <a:endParaRPr lang="en-US" sz="1000" dirty="0"/>
          </a:p>
        </p:txBody>
      </p:sp>
      <p:sp>
        <p:nvSpPr>
          <p:cNvPr id="26" name="Text 23"/>
          <p:cNvSpPr/>
          <p:nvPr/>
        </p:nvSpPr>
        <p:spPr>
          <a:xfrm>
            <a:off x="5852160" y="208483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docs/ in the repository</a:t>
            </a:r>
            <a:endParaRPr lang="en-US" sz="800" dirty="0"/>
          </a:p>
        </p:txBody>
      </p:sp>
      <p:sp>
        <p:nvSpPr>
          <p:cNvPr id="27" name="Text 24"/>
          <p:cNvSpPr/>
          <p:nvPr/>
        </p:nvSpPr>
        <p:spPr>
          <a:xfrm>
            <a:off x="5852160" y="233172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Cookbook &amp; Recipes</a:t>
            </a:r>
            <a:endParaRPr lang="en-US" sz="1000" dirty="0"/>
          </a:p>
        </p:txBody>
      </p:sp>
      <p:sp>
        <p:nvSpPr>
          <p:cNvPr id="28" name="Text 25"/>
          <p:cNvSpPr/>
          <p:nvPr/>
        </p:nvSpPr>
        <p:spPr>
          <a:xfrm>
            <a:off x="5852160" y="249631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github.com/github/awesome-copilot</a:t>
            </a:r>
            <a:endParaRPr lang="en-US" sz="800" dirty="0"/>
          </a:p>
        </p:txBody>
      </p:sp>
      <p:sp>
        <p:nvSpPr>
          <p:cNvPr id="29" name="Text 26"/>
          <p:cNvSpPr/>
          <p:nvPr/>
        </p:nvSpPr>
        <p:spPr>
          <a:xfrm>
            <a:off x="5852160" y="274320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Java SDK</a:t>
            </a:r>
            <a:endParaRPr lang="en-US" sz="1000" dirty="0"/>
          </a:p>
        </p:txBody>
      </p:sp>
      <p:sp>
        <p:nvSpPr>
          <p:cNvPr id="30" name="Text 27"/>
          <p:cNvSpPr/>
          <p:nvPr/>
        </p:nvSpPr>
        <p:spPr>
          <a:xfrm>
            <a:off x="5852160" y="290779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github.com/github/copilot-sdk-java</a:t>
            </a:r>
            <a:endParaRPr lang="en-US" sz="800" dirty="0"/>
          </a:p>
        </p:txBody>
      </p:sp>
      <p:sp>
        <p:nvSpPr>
          <p:cNvPr id="31" name="Text 28"/>
          <p:cNvSpPr/>
          <p:nvPr/>
        </p:nvSpPr>
        <p:spPr>
          <a:xfrm>
            <a:off x="5852160" y="315468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GitHub MCP Server</a:t>
            </a:r>
            <a:endParaRPr lang="en-US" sz="1000" dirty="0"/>
          </a:p>
        </p:txBody>
      </p:sp>
      <p:sp>
        <p:nvSpPr>
          <p:cNvPr id="32" name="Text 29"/>
          <p:cNvSpPr/>
          <p:nvPr/>
        </p:nvSpPr>
        <p:spPr>
          <a:xfrm>
            <a:off x="5852160" y="331927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github.com/github/github-mcp-server</a:t>
            </a:r>
            <a:endParaRPr lang="en-US" sz="800" dirty="0"/>
          </a:p>
        </p:txBody>
      </p:sp>
      <p:sp>
        <p:nvSpPr>
          <p:cNvPr id="33" name="Text 30"/>
          <p:cNvSpPr/>
          <p:nvPr/>
        </p:nvSpPr>
        <p:spPr>
          <a:xfrm>
            <a:off x="5852160" y="35661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MAF Integration</a:t>
            </a:r>
            <a:endParaRPr lang="en-US" sz="1000" dirty="0"/>
          </a:p>
        </p:txBody>
      </p:sp>
      <p:sp>
        <p:nvSpPr>
          <p:cNvPr id="34" name="Text 31"/>
          <p:cNvSpPr/>
          <p:nvPr/>
        </p:nvSpPr>
        <p:spPr>
          <a:xfrm>
            <a:off x="5852160" y="37307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learn.microsoft.com</a:t>
            </a:r>
            <a:endParaRPr lang="en-US" sz="800" dirty="0"/>
          </a:p>
        </p:txBody>
      </p:sp>
      <p:sp>
        <p:nvSpPr>
          <p:cNvPr id="35" name="Shape 32"/>
          <p:cNvSpPr/>
          <p:nvPr/>
        </p:nvSpPr>
        <p:spPr>
          <a:xfrm>
            <a:off x="548640" y="4251960"/>
            <a:ext cx="8046720" cy="457200"/>
          </a:xfrm>
          <a:prstGeom prst="line">
            <a:avLst/>
          </a:prstGeom>
          <a:solidFill>
            <a:srgbClr val="1F6FEB">
              <a:alpha val="15000"/>
            </a:srgbClr>
          </a:solidFill>
          <a:ln w="6350">
            <a:solidFill>
              <a:srgbClr val="30363D"/>
            </a:solidFill>
          </a:ln>
        </p:spPr>
        <p:txBody>
          <a:bodyPr/>
          <a:lstStyle/>
          <a:p>
            <a:endParaRPr/>
          </a:p>
        </p:txBody>
      </p:sp>
      <p:sp>
        <p:nvSpPr>
          <p:cNvPr id="36" name="Text 33"/>
          <p:cNvSpPr/>
          <p:nvPr/>
        </p:nvSpPr>
        <p:spPr>
          <a:xfrm>
            <a:off x="548640" y="4251960"/>
            <a:ext cx="8046720" cy="457200"/>
          </a:xfrm>
          <a:prstGeom prst="rect">
            <a:avLst/>
          </a:prstGeom>
          <a:noFill/>
          <a:ln>
            <a:noFill/>
          </a:ln>
        </p:spPr>
        <p:txBody>
          <a:bodyPr wrap="square" lIns="0" tIns="0" rIns="0" bIns="0" rtlCol="0" anchor="ctr"/>
          <a:lstStyle/>
          <a:p>
            <a:pPr marL="0" indent="0" algn="ctr">
              <a:buNone/>
            </a:pPr>
            <a:r>
              <a:rPr lang="en-US" sz="1400" b="1" dirty="0">
                <a:solidFill>
                  <a:srgbClr val="58A6FF"/>
                </a:solidFill>
                <a:latin typeface="Calibri" pitchFamily="34" charset="0"/>
                <a:ea typeface="Calibri" pitchFamily="34" charset="-122"/>
                <a:cs typeface="Calibri" pitchFamily="34" charset="-120"/>
              </a:rPr>
              <a:t>Agents for Every App — Start building with the Copilot SDK today!</a:t>
            </a:r>
            <a:endParaRPr lang="en-US" sz="14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23 / 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Demo 4: Real-Time Streaming</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Stream AI responses token by token for interactive, real-time user experiences</a:t>
            </a:r>
            <a:endParaRPr lang="en-US" sz="1200" dirty="0"/>
          </a:p>
        </p:txBody>
      </p:sp>
      <p:sp>
        <p:nvSpPr>
          <p:cNvPr id="6" name="Shape 3"/>
          <p:cNvSpPr/>
          <p:nvPr/>
        </p:nvSpPr>
        <p:spPr>
          <a:xfrm>
            <a:off x="548640" y="1143000"/>
            <a:ext cx="8046720" cy="347472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 — Streaming Events</a:t>
            </a:r>
            <a:endParaRPr lang="en-US" sz="900" dirty="0"/>
          </a:p>
        </p:txBody>
      </p:sp>
      <p:sp>
        <p:nvSpPr>
          <p:cNvPr id="9" name="Text 6"/>
          <p:cNvSpPr/>
          <p:nvPr/>
        </p:nvSpPr>
        <p:spPr>
          <a:xfrm>
            <a:off x="685800" y="1463040"/>
            <a:ext cx="7772400" cy="306324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import { CopilotClient } from "@github/copilot-sdk";</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client = new CopilotClient();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streaming: true,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onPermissionRequest: async () =&gt; ({ kind: "approved"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Subscribe to real-time streaming events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session.on("assistant.message_delta", (event)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process.stdout.write(event.data.delta ?? "");   // Print each token as it arrives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session.on("assistant.message", (event)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console.log("\n\n--- Full response complete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console.log("Total tokens:", event.data.content?.length);</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Send a prompt — tokens stream in via the event handlers above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session.sendAndWait({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prompt: "Write a quicksort implementation in TypeScript with comments"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client.stop();</a:t>
            </a:r>
            <a:endParaRPr lang="en-US" sz="850" dirty="0"/>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19 / 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Demo 5: Security Audit with Hooks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Combine custom agents with hooks for enterprise-grade auditing and access control</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TypeScript — Agent + Hooks</a:t>
            </a:r>
            <a:endParaRPr lang="en-US" sz="900" dirty="0"/>
          </a:p>
        </p:txBody>
      </p:sp>
      <p:sp>
        <p:nvSpPr>
          <p:cNvPr id="9" name="Text 6"/>
          <p:cNvSpPr/>
          <p:nvPr/>
        </p:nvSpPr>
        <p:spPr>
          <a:xfrm>
            <a:off x="685800" y="1463040"/>
            <a:ext cx="7772400" cy="3154680"/>
          </a:xfrm>
          <a:prstGeom prst="rect">
            <a:avLst/>
          </a:prstGeom>
          <a:noFill/>
          <a:ln>
            <a:noFill/>
          </a:ln>
        </p:spPr>
        <p:txBody>
          <a:bodyPr wrap="square" lIns="0" tIns="0" rIns="0" bIns="0" rtlCol="0" anchor="t"/>
          <a:lstStyle/>
          <a:p>
            <a:pPr marL="0" indent="0">
              <a:buNone/>
            </a:pPr>
            <a:r>
              <a:rPr lang="en-US" sz="850" dirty="0">
                <a:solidFill>
                  <a:srgbClr val="C9D1D9"/>
                </a:solidFill>
                <a:latin typeface="Consolas" pitchFamily="34" charset="0"/>
                <a:ea typeface="Consolas" pitchFamily="34" charset="-122"/>
                <a:cs typeface="Consolas" pitchFamily="34" charset="-120"/>
              </a:rPr>
              <a:t>const READ_ONLY_TOOLS = ["read_file", "glob", "grep", "view"];</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const session = await client.createSession({</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model: "gpt-4.1",</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customAgents: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name: "security-auditor",</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displayName: "Security Auditor",</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prompt: "You are a security expert. Focus on OWASP Top 10 vulnerabilities. "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"Flag SQL injection, XSS, CSRF, and auth issues. Never modify files.",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tools: READ_ONLY_TOOLS,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hooks: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onPreToolUse: async (input)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Enforce read-only: deny any write operations</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if (!READ_ONLY_TOOLS.includes(input.toolName))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return { permissionDecision: "deny",</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permissionDecisionReason: `Tool "${input.toolName}" blocked in audit mode`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return { permissionDecision: "allow"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onPostToolUse: async (input) =&gt;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 Redact any secrets found in tool output</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if (typeof input.toolResult === "string")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const redacted = input.toolResult.replace(</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/api[_-]?key\s*[:=]\s*["']?[\w\-\.]+["']?/gi, "[REDACTED]");</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if (redacted !== input.toolResult) return { modifiedResult: redacted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return null;</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agent: "security-auditor",</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 xml:space="preserve">  onPermissionRequest: async () =&gt; ({ kind: "approved" }),</a:t>
            </a: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t>
            </a:r>
            <a:endParaRPr lang="en-US" sz="850" dirty="0"/>
          </a:p>
          <a:p>
            <a:pPr marL="0" indent="0">
              <a:buNone/>
            </a:pPr>
            <a:endParaRPr lang="en-US" sz="850" dirty="0"/>
          </a:p>
          <a:p>
            <a:pPr marL="0" indent="0">
              <a:buNone/>
            </a:pPr>
            <a:r>
              <a:rPr lang="en-US" sz="850" dirty="0">
                <a:solidFill>
                  <a:srgbClr val="C9D1D9"/>
                </a:solidFill>
                <a:latin typeface="Consolas" pitchFamily="34" charset="0"/>
                <a:ea typeface="Consolas" pitchFamily="34" charset="-122"/>
                <a:cs typeface="Consolas" pitchFamily="34" charset="-120"/>
              </a:rPr>
              <a:t>await session.sendAndWait({ prompt: "Audit src/ for security vulnerabilities" });</a:t>
            </a:r>
            <a:endParaRPr lang="en-US" sz="850" dirty="0"/>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21 / 23</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What's New in v0.2.0</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A major release with new capabilities, API refinements, and breaking changes</a:t>
            </a:r>
          </a:p>
        </p:txBody>
      </p:sp>
      <p:sp>
        <p:nvSpPr>
          <p:cNvPr id="4" name="Rectangle 3"/>
          <p:cNvSpPr/>
          <p:nvPr/>
        </p:nvSpPr>
        <p:spPr>
          <a:xfrm>
            <a:off x="5486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234440"/>
            <a:ext cx="3474720" cy="274320"/>
          </a:xfrm>
          <a:prstGeom prst="rect">
            <a:avLst/>
          </a:prstGeom>
          <a:noFill/>
        </p:spPr>
        <p:txBody>
          <a:bodyPr wrap="square">
            <a:spAutoFit/>
          </a:bodyPr>
          <a:lstStyle/>
          <a:p>
            <a:pPr algn="l">
              <a:spcBef>
                <a:spcPts val="0"/>
              </a:spcBef>
              <a:spcAft>
                <a:spcPts val="0"/>
              </a:spcAft>
            </a:pPr>
            <a:r>
              <a:rPr sz="1400" b="1" i="0">
                <a:solidFill>
                  <a:srgbClr val="3FB950"/>
                </a:solidFill>
                <a:latin typeface="Calibri"/>
              </a:rPr>
              <a:t>New Features</a:t>
            </a:r>
          </a:p>
        </p:txBody>
      </p:sp>
      <p:sp>
        <p:nvSpPr>
          <p:cNvPr id="7" name="TextBox 6"/>
          <p:cNvSpPr txBox="1"/>
          <p:nvPr/>
        </p:nvSpPr>
        <p:spPr>
          <a:xfrm>
            <a:off x="7772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System prompt customization</a:t>
            </a:r>
          </a:p>
        </p:txBody>
      </p:sp>
      <p:sp>
        <p:nvSpPr>
          <p:cNvPr id="8" name="TextBox 7"/>
          <p:cNvSpPr txBox="1"/>
          <p:nvPr/>
        </p:nvSpPr>
        <p:spPr>
          <a:xfrm>
            <a:off x="7772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Edit 10 prompt sections (identity, tone, safety, ...)</a:t>
            </a:r>
          </a:p>
        </p:txBody>
      </p:sp>
      <p:sp>
        <p:nvSpPr>
          <p:cNvPr id="9" name="TextBox 8"/>
          <p:cNvSpPr txBox="1"/>
          <p:nvPr/>
        </p:nvSpPr>
        <p:spPr>
          <a:xfrm>
            <a:off x="7772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Blob attachments</a:t>
            </a:r>
          </a:p>
        </p:txBody>
      </p:sp>
      <p:sp>
        <p:nvSpPr>
          <p:cNvPr id="10" name="TextBox 9"/>
          <p:cNvSpPr txBox="1"/>
          <p:nvPr/>
        </p:nvSpPr>
        <p:spPr>
          <a:xfrm>
            <a:off x="7772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Send images/binary inline without disk writes</a:t>
            </a:r>
          </a:p>
        </p:txBody>
      </p:sp>
      <p:sp>
        <p:nvSpPr>
          <p:cNvPr id="11" name="TextBox 10"/>
          <p:cNvSpPr txBox="1"/>
          <p:nvPr/>
        </p:nvSpPr>
        <p:spPr>
          <a:xfrm>
            <a:off x="7772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skipPermission on tools</a:t>
            </a:r>
          </a:p>
        </p:txBody>
      </p:sp>
      <p:sp>
        <p:nvSpPr>
          <p:cNvPr id="12" name="TextBox 11"/>
          <p:cNvSpPr txBox="1"/>
          <p:nvPr/>
        </p:nvSpPr>
        <p:spPr>
          <a:xfrm>
            <a:off x="7772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Bypass confirmation for low-risk read-only tools</a:t>
            </a:r>
          </a:p>
        </p:txBody>
      </p:sp>
      <p:sp>
        <p:nvSpPr>
          <p:cNvPr id="13" name="TextBox 12"/>
          <p:cNvSpPr txBox="1"/>
          <p:nvPr/>
        </p:nvSpPr>
        <p:spPr>
          <a:xfrm>
            <a:off x="7772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OpenTelemetry</a:t>
            </a:r>
          </a:p>
        </p:txBody>
      </p:sp>
      <p:sp>
        <p:nvSpPr>
          <p:cNvPr id="14" name="TextBox 13"/>
          <p:cNvSpPr txBox="1"/>
          <p:nvPr/>
        </p:nvSpPr>
        <p:spPr>
          <a:xfrm>
            <a:off x="7772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Full distributed tracing across all 4 SDKs</a:t>
            </a:r>
          </a:p>
        </p:txBody>
      </p:sp>
      <p:sp>
        <p:nvSpPr>
          <p:cNvPr id="15" name="TextBox 14"/>
          <p:cNvSpPr txBox="1"/>
          <p:nvPr/>
        </p:nvSpPr>
        <p:spPr>
          <a:xfrm>
            <a:off x="7772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New RPC methods</a:t>
            </a:r>
          </a:p>
        </p:txBody>
      </p:sp>
      <p:sp>
        <p:nvSpPr>
          <p:cNvPr id="16" name="TextBox 15"/>
          <p:cNvSpPr txBox="1"/>
          <p:nvPr/>
        </p:nvSpPr>
        <p:spPr>
          <a:xfrm>
            <a:off x="7772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Skills, MCP, extensions, shell, plugin management</a:t>
            </a:r>
          </a:p>
        </p:txBody>
      </p:sp>
      <p:sp>
        <p:nvSpPr>
          <p:cNvPr id="17" name="TextBox 16"/>
          <p:cNvSpPr txBox="1"/>
          <p:nvPr/>
        </p:nvSpPr>
        <p:spPr>
          <a:xfrm>
            <a:off x="777240" y="41148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Pre-select agents</a:t>
            </a:r>
          </a:p>
        </p:txBody>
      </p:sp>
      <p:sp>
        <p:nvSpPr>
          <p:cNvPr id="18" name="TextBox 17"/>
          <p:cNvSpPr txBox="1"/>
          <p:nvPr/>
        </p:nvSpPr>
        <p:spPr>
          <a:xfrm>
            <a:off x="777240" y="42976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Use agent="name" at session creation</a:t>
            </a:r>
          </a:p>
        </p:txBody>
      </p:sp>
      <p:sp>
        <p:nvSpPr>
          <p:cNvPr id="19" name="Rectangle 18"/>
          <p:cNvSpPr/>
          <p:nvPr/>
        </p:nvSpPr>
        <p:spPr>
          <a:xfrm>
            <a:off x="46634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92040" y="1234440"/>
            <a:ext cx="3474720" cy="274320"/>
          </a:xfrm>
          <a:prstGeom prst="rect">
            <a:avLst/>
          </a:prstGeom>
          <a:noFill/>
        </p:spPr>
        <p:txBody>
          <a:bodyPr wrap="square">
            <a:spAutoFit/>
          </a:bodyPr>
          <a:lstStyle/>
          <a:p>
            <a:pPr algn="l">
              <a:spcBef>
                <a:spcPts val="0"/>
              </a:spcBef>
              <a:spcAft>
                <a:spcPts val="0"/>
              </a:spcAft>
            </a:pPr>
            <a:r>
              <a:rPr sz="1400" b="1" i="0">
                <a:solidFill>
                  <a:srgbClr val="F0883E"/>
                </a:solidFill>
                <a:latin typeface="Calibri"/>
              </a:rPr>
              <a:t>Breaking Changes</a:t>
            </a:r>
          </a:p>
        </p:txBody>
      </p:sp>
      <p:sp>
        <p:nvSpPr>
          <p:cNvPr id="22" name="TextBox 21"/>
          <p:cNvSpPr txBox="1"/>
          <p:nvPr/>
        </p:nvSpPr>
        <p:spPr>
          <a:xfrm>
            <a:off x="48920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Python API overhaul</a:t>
            </a:r>
          </a:p>
        </p:txBody>
      </p:sp>
      <p:sp>
        <p:nvSpPr>
          <p:cNvPr id="23" name="TextBox 22"/>
          <p:cNvSpPr txBox="1"/>
          <p:nvPr/>
        </p:nvSpPr>
        <p:spPr>
          <a:xfrm>
            <a:off x="48920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TypedDicts → keyword args &amp; dataclasses</a:t>
            </a:r>
          </a:p>
        </p:txBody>
      </p:sp>
      <p:sp>
        <p:nvSpPr>
          <p:cNvPr id="24" name="TextBox 23"/>
          <p:cNvSpPr txBox="1"/>
          <p:nvPr/>
        </p:nvSpPr>
        <p:spPr>
          <a:xfrm>
            <a:off x="48920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autoRestart removed</a:t>
            </a:r>
          </a:p>
        </p:txBody>
      </p:sp>
      <p:sp>
        <p:nvSpPr>
          <p:cNvPr id="25" name="TextBox 24"/>
          <p:cNvSpPr txBox="1"/>
          <p:nvPr/>
        </p:nvSpPr>
        <p:spPr>
          <a:xfrm>
            <a:off x="48920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Deprecated across all SDKs, no effect</a:t>
            </a:r>
          </a:p>
        </p:txBody>
      </p:sp>
      <p:sp>
        <p:nvSpPr>
          <p:cNvPr id="26" name="TextBox 25"/>
          <p:cNvSpPr txBox="1"/>
          <p:nvPr/>
        </p:nvSpPr>
        <p:spPr>
          <a:xfrm>
            <a:off x="48920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Go Start() context</a:t>
            </a:r>
          </a:p>
        </p:txBody>
      </p:sp>
      <p:sp>
        <p:nvSpPr>
          <p:cNvPr id="27" name="TextBox 26"/>
          <p:cNvSpPr txBox="1"/>
          <p:nvPr/>
        </p:nvSpPr>
        <p:spPr>
          <a:xfrm>
            <a:off x="48920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Cancelling context no longer kills CLI</a:t>
            </a:r>
          </a:p>
        </p:txBody>
      </p:sp>
      <p:sp>
        <p:nvSpPr>
          <p:cNvPr id="28" name="TextBox 27"/>
          <p:cNvSpPr txBox="1"/>
          <p:nvPr/>
        </p:nvSpPr>
        <p:spPr>
          <a:xfrm>
            <a:off x="48920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Go LogOptions.Ephemeral</a:t>
            </a:r>
          </a:p>
        </p:txBody>
      </p:sp>
      <p:sp>
        <p:nvSpPr>
          <p:cNvPr id="29" name="TextBox 28"/>
          <p:cNvSpPr txBox="1"/>
          <p:nvPr/>
        </p:nvSpPr>
        <p:spPr>
          <a:xfrm>
            <a:off x="48920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bool → *bool (use copilot.Bool(true))</a:t>
            </a:r>
          </a:p>
        </p:txBody>
      </p:sp>
      <p:sp>
        <p:nvSpPr>
          <p:cNvPr id="30" name="TextBox 29"/>
          <p:cNvSpPr txBox="1"/>
          <p:nvPr/>
        </p:nvSpPr>
        <p:spPr>
          <a:xfrm>
            <a:off x="48920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Python internal modules</a:t>
            </a:r>
          </a:p>
        </p:txBody>
      </p:sp>
      <p:sp>
        <p:nvSpPr>
          <p:cNvPr id="31" name="TextBox 30"/>
          <p:cNvSpPr txBox="1"/>
          <p:nvPr/>
        </p:nvSpPr>
        <p:spPr>
          <a:xfrm>
            <a:off x="48920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copilot.jsonrpc → copilot._jsonrpc</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400" b="1" i="0">
                <a:solidFill>
                  <a:srgbClr val="C9D1D9"/>
                </a:solidFill>
                <a:latin typeface="Calibri"/>
              </a:rPr>
              <a:t>v0.2.0: System Prompt Customization</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Surgically edit individual sections of the Copilot system prompt</a:t>
            </a:r>
          </a:p>
        </p:txBody>
      </p:sp>
      <p:sp>
        <p:nvSpPr>
          <p:cNvPr id="4" name="Rectangle 3"/>
          <p:cNvSpPr/>
          <p:nvPr/>
        </p:nvSpPr>
        <p:spPr>
          <a:xfrm>
            <a:off x="548640"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4300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identity</a:t>
            </a:r>
          </a:p>
        </p:txBody>
      </p:sp>
      <p:sp>
        <p:nvSpPr>
          <p:cNvPr id="6" name="Rectangle 5"/>
          <p:cNvSpPr/>
          <p:nvPr/>
        </p:nvSpPr>
        <p:spPr>
          <a:xfrm>
            <a:off x="2249424"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49424" y="114300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tone</a:t>
            </a:r>
          </a:p>
        </p:txBody>
      </p:sp>
      <p:sp>
        <p:nvSpPr>
          <p:cNvPr id="8" name="Rectangle 7"/>
          <p:cNvSpPr/>
          <p:nvPr/>
        </p:nvSpPr>
        <p:spPr>
          <a:xfrm>
            <a:off x="3950208"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50208" y="114300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tool_efficiency</a:t>
            </a:r>
          </a:p>
        </p:txBody>
      </p:sp>
      <p:sp>
        <p:nvSpPr>
          <p:cNvPr id="10" name="Rectangle 9"/>
          <p:cNvSpPr/>
          <p:nvPr/>
        </p:nvSpPr>
        <p:spPr>
          <a:xfrm>
            <a:off x="5650992"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50992" y="114300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environment_context</a:t>
            </a:r>
          </a:p>
        </p:txBody>
      </p:sp>
      <p:sp>
        <p:nvSpPr>
          <p:cNvPr id="12" name="Rectangle 11"/>
          <p:cNvSpPr/>
          <p:nvPr/>
        </p:nvSpPr>
        <p:spPr>
          <a:xfrm>
            <a:off x="7351776"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51776" y="114300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code_change_rules</a:t>
            </a:r>
          </a:p>
        </p:txBody>
      </p:sp>
      <p:sp>
        <p:nvSpPr>
          <p:cNvPr id="14" name="Rectangle 13"/>
          <p:cNvSpPr/>
          <p:nvPr/>
        </p:nvSpPr>
        <p:spPr>
          <a:xfrm>
            <a:off x="548640"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55448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guidelines</a:t>
            </a:r>
          </a:p>
        </p:txBody>
      </p:sp>
      <p:sp>
        <p:nvSpPr>
          <p:cNvPr id="16" name="Rectangle 15"/>
          <p:cNvSpPr/>
          <p:nvPr/>
        </p:nvSpPr>
        <p:spPr>
          <a:xfrm>
            <a:off x="2249424"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49424" y="155448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safety</a:t>
            </a:r>
          </a:p>
        </p:txBody>
      </p:sp>
      <p:sp>
        <p:nvSpPr>
          <p:cNvPr id="18" name="Rectangle 17"/>
          <p:cNvSpPr/>
          <p:nvPr/>
        </p:nvSpPr>
        <p:spPr>
          <a:xfrm>
            <a:off x="3950208"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50208" y="155448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tool_instructions</a:t>
            </a:r>
          </a:p>
        </p:txBody>
      </p:sp>
      <p:sp>
        <p:nvSpPr>
          <p:cNvPr id="20" name="Rectangle 19"/>
          <p:cNvSpPr/>
          <p:nvPr/>
        </p:nvSpPr>
        <p:spPr>
          <a:xfrm>
            <a:off x="5650992"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50992" y="155448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custom_instructions</a:t>
            </a:r>
          </a:p>
        </p:txBody>
      </p:sp>
      <p:sp>
        <p:nvSpPr>
          <p:cNvPr id="22" name="Rectangle 21"/>
          <p:cNvSpPr/>
          <p:nvPr/>
        </p:nvSpPr>
        <p:spPr>
          <a:xfrm>
            <a:off x="7351776"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51776" y="155448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last_instructions</a:t>
            </a:r>
          </a:p>
        </p:txBody>
      </p:sp>
      <p:sp>
        <p:nvSpPr>
          <p:cNvPr id="24" name="Rectangle 23"/>
          <p:cNvSpPr/>
          <p:nvPr/>
        </p:nvSpPr>
        <p:spPr>
          <a:xfrm>
            <a:off x="548640" y="2057400"/>
            <a:ext cx="3931920" cy="182880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2103120"/>
            <a:ext cx="3566160"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Actions per Section</a:t>
            </a:r>
          </a:p>
        </p:txBody>
      </p:sp>
      <p:sp>
        <p:nvSpPr>
          <p:cNvPr id="26" name="TextBox 25"/>
          <p:cNvSpPr txBox="1"/>
          <p:nvPr/>
        </p:nvSpPr>
        <p:spPr>
          <a:xfrm>
            <a:off x="777240" y="2423160"/>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replace</a:t>
            </a:r>
          </a:p>
        </p:txBody>
      </p:sp>
      <p:sp>
        <p:nvSpPr>
          <p:cNvPr id="27" name="TextBox 26"/>
          <p:cNvSpPr txBox="1"/>
          <p:nvPr/>
        </p:nvSpPr>
        <p:spPr>
          <a:xfrm>
            <a:off x="1737360" y="2423160"/>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Replace entire section content</a:t>
            </a:r>
          </a:p>
        </p:txBody>
      </p:sp>
      <p:sp>
        <p:nvSpPr>
          <p:cNvPr id="28" name="TextBox 27"/>
          <p:cNvSpPr txBox="1"/>
          <p:nvPr/>
        </p:nvSpPr>
        <p:spPr>
          <a:xfrm>
            <a:off x="777240" y="2679191"/>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append</a:t>
            </a:r>
          </a:p>
        </p:txBody>
      </p:sp>
      <p:sp>
        <p:nvSpPr>
          <p:cNvPr id="29" name="TextBox 28"/>
          <p:cNvSpPr txBox="1"/>
          <p:nvPr/>
        </p:nvSpPr>
        <p:spPr>
          <a:xfrm>
            <a:off x="1737360" y="2679191"/>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Add content after the section</a:t>
            </a:r>
          </a:p>
        </p:txBody>
      </p:sp>
      <p:sp>
        <p:nvSpPr>
          <p:cNvPr id="30" name="TextBox 29"/>
          <p:cNvSpPr txBox="1"/>
          <p:nvPr/>
        </p:nvSpPr>
        <p:spPr>
          <a:xfrm>
            <a:off x="777240" y="2935224"/>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prepend</a:t>
            </a:r>
          </a:p>
        </p:txBody>
      </p:sp>
      <p:sp>
        <p:nvSpPr>
          <p:cNvPr id="31" name="TextBox 30"/>
          <p:cNvSpPr txBox="1"/>
          <p:nvPr/>
        </p:nvSpPr>
        <p:spPr>
          <a:xfrm>
            <a:off x="1737360" y="2935224"/>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Add content before the section</a:t>
            </a:r>
          </a:p>
        </p:txBody>
      </p:sp>
      <p:sp>
        <p:nvSpPr>
          <p:cNvPr id="32" name="TextBox 31"/>
          <p:cNvSpPr txBox="1"/>
          <p:nvPr/>
        </p:nvSpPr>
        <p:spPr>
          <a:xfrm>
            <a:off x="777240" y="3191256"/>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remove</a:t>
            </a:r>
          </a:p>
        </p:txBody>
      </p:sp>
      <p:sp>
        <p:nvSpPr>
          <p:cNvPr id="33" name="TextBox 32"/>
          <p:cNvSpPr txBox="1"/>
          <p:nvPr/>
        </p:nvSpPr>
        <p:spPr>
          <a:xfrm>
            <a:off x="1737360" y="3191256"/>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Remove the section entirely</a:t>
            </a:r>
          </a:p>
        </p:txBody>
      </p:sp>
      <p:sp>
        <p:nvSpPr>
          <p:cNvPr id="34" name="TextBox 33"/>
          <p:cNvSpPr txBox="1"/>
          <p:nvPr/>
        </p:nvSpPr>
        <p:spPr>
          <a:xfrm>
            <a:off x="777240" y="3447288"/>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transform</a:t>
            </a:r>
          </a:p>
        </p:txBody>
      </p:sp>
      <p:sp>
        <p:nvSpPr>
          <p:cNvPr id="35" name="TextBox 34"/>
          <p:cNvSpPr txBox="1"/>
          <p:nvPr/>
        </p:nvSpPr>
        <p:spPr>
          <a:xfrm>
            <a:off x="1737360" y="3447288"/>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Callback — receives text, returns modified</a:t>
            </a:r>
          </a:p>
        </p:txBody>
      </p:sp>
      <p:sp>
        <p:nvSpPr>
          <p:cNvPr id="36" name="Rectangle 35"/>
          <p:cNvSpPr/>
          <p:nvPr/>
        </p:nvSpPr>
        <p:spPr>
          <a:xfrm>
            <a:off x="4663440" y="2057400"/>
            <a:ext cx="3931920" cy="18288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663440" y="2057400"/>
            <a:ext cx="91440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663440" y="2057400"/>
            <a:ext cx="91440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TypeScript</a:t>
            </a:r>
          </a:p>
        </p:txBody>
      </p:sp>
      <p:sp>
        <p:nvSpPr>
          <p:cNvPr id="39" name="TextBox 38"/>
          <p:cNvSpPr txBox="1"/>
          <p:nvPr/>
        </p:nvSpPr>
        <p:spPr>
          <a:xfrm>
            <a:off x="4754880" y="2331720"/>
            <a:ext cx="3657600" cy="1463040"/>
          </a:xfrm>
          <a:prstGeom prst="rect">
            <a:avLst/>
          </a:prstGeom>
          <a:noFill/>
        </p:spPr>
        <p:txBody>
          <a:bodyPr wrap="square">
            <a:spAutoFit/>
          </a:bodyPr>
          <a:lstStyle/>
          <a:p>
            <a:pPr algn="l">
              <a:spcBef>
                <a:spcPts val="0"/>
              </a:spcBef>
              <a:spcAft>
                <a:spcPts val="0"/>
              </a:spcAft>
            </a:pPr>
            <a:r>
              <a:rPr sz="750" b="0" i="0">
                <a:solidFill>
                  <a:srgbClr val="C9D1D9"/>
                </a:solidFill>
                <a:latin typeface="Consolas"/>
              </a:rPr>
              <a:t>session = await client.createSession({
  systemMessage: {
    mode: "customize",
    sections: {
      identity: {
        action: (current) =&gt;
          current.replace(
            "GitHub Copilot",
            "Acme Assistant"),
      },
      tone: {
        action: "replace",
        content: "Be concise.",
      },
    },
  },
});</a:t>
            </a:r>
          </a:p>
        </p:txBody>
      </p:sp>
      <p:sp>
        <p:nvSpPr>
          <p:cNvPr id="40" name="Rectangle 39"/>
          <p:cNvSpPr/>
          <p:nvPr/>
        </p:nvSpPr>
        <p:spPr>
          <a:xfrm>
            <a:off x="548640" y="4023360"/>
            <a:ext cx="8046720" cy="640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1520" y="4069080"/>
            <a:ext cx="1097280" cy="228600"/>
          </a:xfrm>
          <a:prstGeom prst="rect">
            <a:avLst/>
          </a:prstGeom>
          <a:noFill/>
        </p:spPr>
        <p:txBody>
          <a:bodyPr wrap="square">
            <a:spAutoFit/>
          </a:bodyPr>
          <a:lstStyle/>
          <a:p>
            <a:pPr algn="l">
              <a:spcBef>
                <a:spcPts val="0"/>
              </a:spcBef>
              <a:spcAft>
                <a:spcPts val="0"/>
              </a:spcAft>
            </a:pPr>
            <a:r>
              <a:rPr sz="1000" b="1" i="0">
                <a:solidFill>
                  <a:srgbClr val="58A6FF"/>
                </a:solidFill>
                <a:latin typeface="Calibri"/>
              </a:rPr>
              <a:t>How it works:</a:t>
            </a:r>
          </a:p>
        </p:txBody>
      </p:sp>
      <p:sp>
        <p:nvSpPr>
          <p:cNvPr id="42" name="Rectangle 41"/>
          <p:cNvSpPr/>
          <p:nvPr/>
        </p:nvSpPr>
        <p:spPr>
          <a:xfrm>
            <a:off x="1920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920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Default Copilot
System Prompt</a:t>
            </a:r>
          </a:p>
        </p:txBody>
      </p:sp>
      <p:sp>
        <p:nvSpPr>
          <p:cNvPr id="44" name="TextBox 43"/>
          <p:cNvSpPr txBox="1"/>
          <p:nvPr/>
        </p:nvSpPr>
        <p:spPr>
          <a:xfrm>
            <a:off x="3886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5" name="Rectangle 44"/>
          <p:cNvSpPr/>
          <p:nvPr/>
        </p:nvSpPr>
        <p:spPr>
          <a:xfrm>
            <a:off x="4206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206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Your Section
Overrides</a:t>
            </a:r>
          </a:p>
        </p:txBody>
      </p:sp>
      <p:sp>
        <p:nvSpPr>
          <p:cNvPr id="47" name="TextBox 46"/>
          <p:cNvSpPr txBox="1"/>
          <p:nvPr/>
        </p:nvSpPr>
        <p:spPr>
          <a:xfrm>
            <a:off x="6172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8" name="Rectangle 47"/>
          <p:cNvSpPr/>
          <p:nvPr/>
        </p:nvSpPr>
        <p:spPr>
          <a:xfrm>
            <a:off x="6492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92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Final Customized
Prompt Sent to LLM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8441</Words>
  <Application>Microsoft Macintosh PowerPoint</Application>
  <PresentationFormat>Bildschirmpräsentation (16:9)</PresentationFormat>
  <Paragraphs>805</Paragraphs>
  <Slides>28</Slides>
  <Notes>28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28</vt:i4>
      </vt:variant>
    </vt:vector>
  </HeadingPairs>
  <TitlesOfParts>
    <vt:vector size="32"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SDK - Agents for Every App</dc:title>
  <dc:subject>PptxGenJS Presentation</dc:subject>
  <dc:creator>GitHub Copilot SDK Presentation</dc:creator>
  <cp:lastModifiedBy>Jeffrey Groneberg</cp:lastModifiedBy>
  <cp:revision>3</cp:revision>
  <dcterms:created xsi:type="dcterms:W3CDTF">2026-03-20T06:22:26Z</dcterms:created>
  <dcterms:modified xsi:type="dcterms:W3CDTF">2026-03-27T14:31:51Z</dcterms:modified>
</cp:coreProperties>
</file>