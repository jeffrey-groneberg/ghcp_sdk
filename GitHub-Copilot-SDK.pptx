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62" r:id="rId6"/>
    <p:sldId id="257" r:id="rId3"/>
    <p:sldId id="258" r:id="rId4"/>
    <p:sldId id="261" r:id="rId5"/>
    <p:sldId id="263" r:id="rId11"/>
    <p:sldId id="273" r:id="rId22"/>
    <p:sldId id="275" r:id="rId23"/>
    <p:sldId id="279" r:id="rId9"/>
    <p:sldId id="280" r:id="rId10"/>
    <p:sldId id="264" r:id="rId12"/>
    <p:sldId id="276" r:id="rId27"/>
    <p:sldId id="265" r:id="rId13"/>
    <p:sldId id="277" r:id="rId24"/>
    <p:sldId id="266" r:id="rId14"/>
    <p:sldId id="284" r:id="rId16"/>
    <p:sldId id="274" r:id="rId26"/>
    <p:sldId id="283" r:id="rId29"/>
    <p:sldId id="267" r:id="rId15"/>
    <p:sldId id="268" r:id="rId17"/>
    <p:sldId id="259" r:id="rId18"/>
    <p:sldId id="271" r:id="rId7"/>
    <p:sldId id="278" r:id="rId25"/>
    <p:sldId id="270"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23"/>
    <p:restoredTop sz="94610"/>
  </p:normalViewPr>
  <p:slideViewPr>
    <p:cSldViewPr snapToGrid="0" snapToObjects="1">
      <p:cViewPr varScale="1">
        <p:scale>
          <a:sx n="160" d="100"/>
          <a:sy n="160" d="100"/>
        </p:scale>
        <p:origin x="432" y="18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30162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Stable workshop baseline verified 14 September 2026. SDK 1.0.13 is the latest stable release and pins runtime 1.0.83. The workshop uses Python and eight runnable samples. Current main is newer but unreleased and is not the deck baseline.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GitHub describes the underlying agent runtime as production-tested. Do not expand that into a guarantee about the host application. The SDK packages the runtime; production identity, authorization, isolation, routing, and UI remain application responsibilities.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six SDKs communicate with the runtime using JSON-RPC. The default Python client owns a child runtime; an application can also connect to an existing server. Models and built-in tools vary by runtime, account, platform, policy, and session configuration.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general install uses ordinary PyPI. This repository's devcontainer additionally routes pip through the Microsoft package-feed proxy. Authentication is still required. The SDK-managed runtime is downloaded on first use if it was not pre-downloaded.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core deck teaches eight runnable Python patterns. Optional integrations and exhaustive catalogues are intentionally excluded from the core narrative. Every sample claim maps to the repository or an official stable source.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SDK is an agent engine, not a tenant boundary, authorization layer, load balancer, scheduler, or observability backend. Production hosts must provide identity, session ownership, workspace/state isolation, routing/concurrency, logging policy, network controls, and least-privilege credentials.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use cases reuse the same client/session patterns. For customer-facing apps the host must authenticate users, authorize session ownership, isolate working directories and credentials, and bound concurrency. Sessions and token callbacks alone do not provide tenant isolation. Persist session IDs server-side and validate ownership before resuming.</a:t>
            </a:r>
          </a:p>
          <a:p>
            <a:r>
              <a:t>SOURCE: https://github.com/github/copilot-sdk/blob/v1.0.13/docs/setup/multi-tenancy.md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exact runtime tool catalogue is not a stable exhaustive list. session_id is shown under lifecycle, not as a tool. Host custom tool handlers execute in the host process unless separately isolated.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on_permission_request is optional; without a handler, requests remain pending for manual resolution. Managed settings use Python dataclass instances, not the old nested dictionary shown previously. approve_all cannot be combined with managed settings. SandboxConfig is experimental.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model and permission callback are optional for a text-only session. available_tools=[] removes tool exposure. send_and_wait raises on timeout or session error; None means the session became idle without a final assistant message.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Custom agent tools are optional; omitted or null means the session's available tools. This workshop explicitly scopes researcher and reviewer to grep, glob, and view, selects the researcher, then verifies the reviewer after AgentSelectRequest.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hosted endpoint is configured as a generic remote MCP server. Copilot CLI sign-in is not copied into arbitrary MCP headers. This sample resolves GITHUB_TOKEN, GH_TOKEN, or gh auth token, scopes v1.12.1 issue tools, sends X-MCP-Readonly, and fails if no matching MCP start event is observed. OAuth via on_mcp_auth_request is an alternative.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Human input, action permission, and sandbox bypass are separate protocol events. The host must validate the request, identify the approving user, keep decisions bounded, and fail closed when no human response is available.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stable documentation covers signed-in users, explicit per-user tokens, environment tokens, server-to-server installation tokens, and BYOK. Environment precedence is COPILOT_GITHUB_TOKEN, then GH_TOKEN, then GITHUB_TOKEN. Installation tokens are supplied to the runtime environment and are not session github_token values. Generic MCP authentication remains separate.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Stable 1.0.13 supports ask_user_variant legacy and elicitation. The actual workshop sample verifies the model-facing tool schema contains message and requestedSchema. Runtime 1.0.83 in live validation exposed only the legacy schema, so the sample detaches the unused structured session and creates a validated freeform-only fallback.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Stable ProviderConfig types are openai, azure, and anthropic. OpenAI-compatible local providers can use type openai. A model is required for custom providers. bearer_token_provider takes precedence over static credentials and supports Entra/managed identity. Local inference alone does not make the whole application offline.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default Python client owns a managed stdio child. RuntimeConnection.for_stdio(path=...) uses an explicit complete runtime bundle. for_uri connects to an already-running server; for_tcp starts an owned TCP child. Protect non-loopback endpoints. Multi-tenant mode empty requires explicit storage and tool opt-in.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Python SDK 1.0.13 provisions/caches runtime 1.0.83. Pre-download with python -m copilot download-runtime; this does not install interactive copilot on PATH. Explicit binaries use connection=RuntimeConnection.for_stdio(path=...), not the removed cli_path keyword. The code belongs inside async main and uses a client context for error-safe startup/shutdown. for_uri connects to an existing server; for_tcp starts an owned TCP child. Handle platform binaries, credentials, updates and state storage.</a:t>
            </a:r>
          </a:p>
          <a:p>
            <a:r>
              <a:t>SOURCE: https://github.com/github/copilot-sdk/blob/v1.0.13/python/copilot/client.py</a:t>
            </a:r>
          </a:p>
          <a:p>
            <a:r>
              <a:t>SOURCE: https://github.com/github/copilot-sdk/blob/v1.0.13/python/copilot/_cli_download.py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deployment options, not guarantees of scalability. A service must implement authentication and authorization, session ownership, workspace isolation, storage routing and concurrency controls. For shared sessions, one owner's disconnect now detaches only that owner. For separate processes, resume must address the same CLI session state. Never trust arbitrary session IDs or user tokens from an unverified request body.</a:t>
            </a:r>
          </a:p>
          <a:p>
            <a:r>
              <a:t>SOURCE: https://github.com/github/copilot-sdk/blob/v1.0.13/docs/setup/backend-services.md</a:t>
            </a:r>
          </a:p>
          <a:p>
            <a:r>
              <a:t>SOURCE: https://github.com/github/copilot-sdk/blob/v1.0.13/docs/setup/scaling.md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eight samples demonstrate a progression, not a complete production platform. Start with a bounded session, add one capability with visible evidence, then add authorization, isolation, observability, routing, and operational controls appropriate to the host application.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full sample declares optional client_info, registers the listener before sending, uses a 60-second turn timeout inside a 180-second overall deadline, checks for an absent final message, and unsubscribes in finally.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tool schema comes from the module-level Pydantic model. The handler is async, returns explicitly fictional data, uses a source-qualified ToolSet filter, and propagates cancellation. The real sample checks for a missing final reply.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Persisted conversation context survives detach and process exit when the same CLI state storage is available. A generated session.session_id is resumable. Cold resume must re-register callbacks and tools and re-supply BYOK credentials, MCP authentication/configuration, and startup-only managed settings where applicable.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priority for this workshop: published v1.0.13 package and tag, generated stable types/tests, official language samples, then live runtime evidence. Current main is ahead and pins runtime 1.0.84-5, but it is not the stable workshop contract.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real sample rejects unexpected permission variants and sandbox-bypass requests, validates the POSIX command with shlex into one exact argument vector, surfaces managed_approval_required, and returns UserNotAvailable when human input is unavailable.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overview documents eight hooks; Python SessionHooks exposes ten, adding on_pre_mcp_tool_call and on_agent_stop. on_post_tool_use is success-only and failure uses on_post_tool_use_failure. Use context managers/finally for host cleanup because one client detach need not end a shared session.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Stable v1.0.13 was released 4 September 2026. New application-facing features: client_info application/integration attribution; session github_token_provider initial/refresh acquisition with positive expiresIn; ask_user_variant legacy/elicitation; async tool cancellation; startup managed_settings requiring CLI 1.0.79-5 or later; and Auto tier preferences. set_auto_tier stages a preference committed on the next successful auto turn, not a fixed-model turn. Injected managed settings must be re-supplied on resume and cannot be paired with approve_all. Session cleanup now detaches instead of destroying a shared session. Experimental Node Agent Factories are not part of these Python prototypes.</a:t>
            </a:r>
          </a:p>
          <a:p>
            <a:r>
              <a:t>SOURCE: https://github.com/github/copilot-sdk/releases/tag/v1.0.13</a:t>
            </a:r>
          </a:p>
          <a:p>
            <a:r>
              <a:t>SOURCE: https://github.com/github/copilot-sdk/blob/v1.0.13/docs/features/client-info.md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SandboxConfig is experimental in v1.0.13 and is applied through session.options.update. The sample denies a disposable vault and network access, then requires one explicit human decision for a bypass. The sandbox constrains runtime-launched tools, not arbitrary host-side Python handlers. The ToolExecutionComplete sandboxed flag alone is not bypass proof.</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6.xml.rels><?xml version="1.0" encoding="UTF-8"?><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9.png"/><Relationship Id="rId7"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2.png"/><Relationship Id="rId4" Type="http://schemas.openxmlformats.org/officeDocument/2006/relationships/image" Target="../media/image15.png"/><Relationship Id="rId9" Type="http://schemas.openxmlformats.org/officeDocument/2006/relationships/image" Target="../media/image23.png"/></Relationships>
</file>

<file path=ppt/slides/_rels/slide7.xml.rels><?xml version="1.0" encoding="UTF-8"?><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9.png"/><Relationship Id="rId7"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24.png"/><Relationship Id="rId4" Type="http://schemas.openxmlformats.org/officeDocument/2006/relationships/image" Target="../media/image9.png"/><Relationship Id="rId9" Type="http://schemas.openxmlformats.org/officeDocument/2006/relationships/image" Target="../media/image26.png"/></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3.png"/><Relationship Id="rId4" Type="http://schemas.openxmlformats.org/officeDocument/2006/relationships/image" Target="../media/image25.png"/></Relationships>
</file>

<file path=ppt/slides/_rels/slide12.xml.rels><?xml version="1.0" encoding="UTF-8"?><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8.xml.rels><?xml version="1.0" encoding="UTF-8"?><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4114800" y="640080"/>
            <a:ext cx="914400" cy="914400"/>
          </a:xfrm>
          <a:prstGeom prst="rect">
            <a:avLst/>
          </a:prstGeom>
        </p:spPr>
      </p:pic>
      <p:sp>
        <p:nvSpPr>
          <p:cNvPr id="4" name="Text 1"/>
          <p:cNvSpPr/>
          <p:nvPr/>
        </p:nvSpPr>
        <p:spPr>
          <a:xfrm>
            <a:off x="457200" y="1691640"/>
            <a:ext cx="8229600" cy="731520"/>
          </a:xfrm>
          <a:prstGeom prst="rect">
            <a:avLst/>
          </a:prstGeom>
          <a:noFill/>
          <a:ln>
            <a:noFill/>
          </a:ln>
        </p:spPr>
        <p:txBody>
          <a:bodyPr wrap="square" lIns="0" tIns="0" rIns="0" bIns="0" rtlCol="0" anchor="ctr"/>
          <a:lstStyle/>
          <a:p>
            <a:pPr marL="0" indent="0" algn="ctr">
              <a:buNone/>
            </a:pPr>
            <a:r>
              <a:rPr lang="en-US" sz="4200" b="1" dirty="0">
                <a:solidFill>
                  <a:srgbClr val="FFFFFF"/>
                </a:solidFill>
                <a:latin typeface="Calibri" pitchFamily="34" charset="0"/>
                <a:ea typeface="Calibri" pitchFamily="34" charset="-122"/>
                <a:cs typeface="Calibri" pitchFamily="34" charset="-120"/>
              </a:rPr>
              <a:t>GitHub Copilot SDK</a:t>
            </a:r>
            <a:endParaRPr lang="en-US" sz="4200" dirty="0"/>
          </a:p>
        </p:txBody>
      </p:sp>
      <p:sp>
        <p:nvSpPr>
          <p:cNvPr id="5" name="Text 2"/>
          <p:cNvSpPr/>
          <p:nvPr/>
        </p:nvSpPr>
        <p:spPr>
          <a:xfrm>
            <a:off x="457200" y="2423160"/>
            <a:ext cx="8229600" cy="457200"/>
          </a:xfrm>
          <a:prstGeom prst="rect">
            <a:avLst/>
          </a:prstGeom>
          <a:noFill/>
          <a:ln>
            <a:noFill/>
          </a:ln>
        </p:spPr>
        <p:txBody>
          <a:bodyPr wrap="square" lIns="0" tIns="0" rIns="0" bIns="0" rtlCol="0" anchor="ctr"/>
          <a:lstStyle/>
          <a:p>
            <a:pPr marL="0" indent="0" algn="ctr">
              <a:buNone/>
            </a:pPr>
            <a:r>
              <a:rPr lang="en-US" sz="2200" i="1" dirty="0">
                <a:solidFill>
                  <a:srgbClr val="58A6FF"/>
                </a:solidFill>
                <a:latin typeface="Calibri" pitchFamily="34" charset="0"/>
                <a:ea typeface="Calibri" pitchFamily="34" charset="-122"/>
                <a:cs typeface="Calibri" pitchFamily="34" charset="-120"/>
              </a:rPr>
              <a:t>Eight verified Python patterns</a:t>
            </a:r>
            <a:endParaRPr lang="en-US" sz="2200" dirty="0"/>
          </a:p>
        </p:txBody>
      </p:sp>
      <p:sp>
        <p:nvSpPr>
          <p:cNvPr id="6" name="Text 3"/>
          <p:cNvSpPr/>
          <p:nvPr/>
        </p:nvSpPr>
        <p:spPr>
          <a:xfrm>
            <a:off x="1371600" y="3063240"/>
            <a:ext cx="6400800" cy="365760"/>
          </a:xfrm>
          <a:prstGeom prst="rect">
            <a:avLst/>
          </a:prstGeom>
          <a:noFill/>
          <a:ln>
            <a:noFill/>
          </a:ln>
        </p:spPr>
        <p:txBody>
          <a:bodyPr wrap="square" lIns="0" tIns="0" rIns="0" bIns="0" rtlCol="0" anchor="ctr"/>
          <a:lstStyle/>
          <a:p>
            <a:pPr marL="0" indent="0" algn="ctr">
              <a:buNone/>
            </a:pPr>
            <a:r>
              <a:rPr lang="en-US" sz="1400" dirty="0">
                <a:solidFill>
                  <a:srgbClr val="8B949E"/>
                </a:solidFill>
                <a:latin typeface="Calibri" pitchFamily="34" charset="0"/>
                <a:ea typeface="Calibri" pitchFamily="34" charset="-122"/>
                <a:cs typeface="Calibri" pitchFamily="34" charset="-120"/>
              </a:rPr>
              <a:t>From a bounded first response to MCP, HITL, persistence, and sandboxing</a:t>
            </a:r>
            <a:endParaRPr lang="en-US" sz="1400" dirty="0"/>
          </a:p>
        </p:txBody>
      </p:sp>
      <p:sp>
        <p:nvSpPr>
          <p:cNvPr id="7" name="Shape 4"/>
          <p:cNvSpPr/>
          <p:nvPr/>
        </p:nvSpPr>
        <p:spPr>
          <a:xfrm>
            <a:off x="1463040" y="3749040"/>
            <a:ext cx="1097280" cy="320040"/>
          </a:xfrm>
          <a:prstGeom prst="line">
            <a:avLst/>
          </a:prstGeom>
          <a:solidFill>
            <a:srgbClr val="161B22"/>
          </a:solidFill>
          <a:ln w="12700">
            <a:prstDash val="solid"/>
          </a:ln>
        </p:spPr>
        <p:txBody>
          <a:bodyPr/>
          <a:lstStyle/>
          <a:p>
            <a:endParaRPr/>
          </a:p>
        </p:txBody>
      </p:sp>
      <p:sp>
        <p:nvSpPr>
          <p:cNvPr id="8" name="Text 5"/>
          <p:cNvSpPr/>
          <p:nvPr/>
        </p:nvSpPr>
        <p:spPr>
          <a:xfrm>
            <a:off x="146304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TypeScript</a:t>
            </a:r>
            <a:endParaRPr lang="en-US" sz="1100" dirty="0"/>
          </a:p>
        </p:txBody>
      </p:sp>
      <p:sp>
        <p:nvSpPr>
          <p:cNvPr id="9" name="Shape 6"/>
          <p:cNvSpPr/>
          <p:nvPr/>
        </p:nvSpPr>
        <p:spPr>
          <a:xfrm>
            <a:off x="2697480" y="3749040"/>
            <a:ext cx="1097280" cy="320040"/>
          </a:xfrm>
          <a:prstGeom prst="line">
            <a:avLst/>
          </a:prstGeom>
          <a:solidFill>
            <a:srgbClr val="161B22"/>
          </a:solidFill>
          <a:ln w="12700">
            <a:prstDash val="solid"/>
          </a:ln>
        </p:spPr>
        <p:txBody>
          <a:bodyPr/>
          <a:lstStyle/>
          <a:p>
            <a:endParaRPr/>
          </a:p>
        </p:txBody>
      </p:sp>
      <p:sp>
        <p:nvSpPr>
          <p:cNvPr id="10" name="Text 7"/>
          <p:cNvSpPr/>
          <p:nvPr/>
        </p:nvSpPr>
        <p:spPr>
          <a:xfrm>
            <a:off x="269748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Python</a:t>
            </a:r>
            <a:endParaRPr lang="en-US" sz="1100" dirty="0"/>
          </a:p>
        </p:txBody>
      </p:sp>
      <p:sp>
        <p:nvSpPr>
          <p:cNvPr id="11" name="Shape 8"/>
          <p:cNvSpPr/>
          <p:nvPr/>
        </p:nvSpPr>
        <p:spPr>
          <a:xfrm>
            <a:off x="3931920" y="3749040"/>
            <a:ext cx="1097280" cy="320040"/>
          </a:xfrm>
          <a:prstGeom prst="line">
            <a:avLst/>
          </a:prstGeom>
          <a:solidFill>
            <a:srgbClr val="161B22"/>
          </a:solidFill>
          <a:ln w="12700">
            <a:prstDash val="solid"/>
          </a:ln>
        </p:spPr>
        <p:txBody>
          <a:bodyPr/>
          <a:lstStyle/>
          <a:p>
            <a:endParaRPr/>
          </a:p>
        </p:txBody>
      </p:sp>
      <p:sp>
        <p:nvSpPr>
          <p:cNvPr id="12" name="Text 9"/>
          <p:cNvSpPr/>
          <p:nvPr/>
        </p:nvSpPr>
        <p:spPr>
          <a:xfrm>
            <a:off x="393192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Go</a:t>
            </a:r>
            <a:endParaRPr lang="en-US" sz="1100" dirty="0"/>
          </a:p>
        </p:txBody>
      </p:sp>
      <p:sp>
        <p:nvSpPr>
          <p:cNvPr id="13" name="Shape 10"/>
          <p:cNvSpPr/>
          <p:nvPr/>
        </p:nvSpPr>
        <p:spPr>
          <a:xfrm>
            <a:off x="5166360" y="3749040"/>
            <a:ext cx="1097280" cy="320040"/>
          </a:xfrm>
          <a:prstGeom prst="line">
            <a:avLst/>
          </a:prstGeom>
          <a:solidFill>
            <a:srgbClr val="161B22"/>
          </a:solidFill>
          <a:ln w="12700">
            <a:prstDash val="solid"/>
          </a:ln>
        </p:spPr>
        <p:txBody>
          <a:bodyPr/>
          <a:lstStyle/>
          <a:p>
            <a:endParaRPr/>
          </a:p>
        </p:txBody>
      </p:sp>
      <p:sp>
        <p:nvSpPr>
          <p:cNvPr id="14" name="Text 11"/>
          <p:cNvSpPr/>
          <p:nvPr/>
        </p:nvSpPr>
        <p:spPr>
          <a:xfrm>
            <a:off x="516636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.NET</a:t>
            </a:r>
            <a:endParaRPr lang="en-US" sz="1100" dirty="0"/>
          </a:p>
        </p:txBody>
      </p:sp>
      <p:sp>
        <p:nvSpPr>
          <p:cNvPr id="15" name="Shape 12"/>
          <p:cNvSpPr/>
          <p:nvPr/>
        </p:nvSpPr>
        <p:spPr>
          <a:xfrm>
            <a:off x="6400800" y="3749040"/>
            <a:ext cx="1097280" cy="320040"/>
          </a:xfrm>
          <a:prstGeom prst="line">
            <a:avLst/>
          </a:prstGeom>
          <a:solidFill>
            <a:srgbClr val="161B22"/>
          </a:solidFill>
          <a:ln w="12700">
            <a:prstDash val="solid"/>
          </a:ln>
        </p:spPr>
        <p:txBody>
          <a:bodyPr/>
          <a:lstStyle/>
          <a:p>
            <a:endParaRPr/>
          </a:p>
        </p:txBody>
      </p:sp>
      <p:sp>
        <p:nvSpPr>
          <p:cNvPr id="16" name="Text 13"/>
          <p:cNvSpPr/>
          <p:nvPr/>
        </p:nvSpPr>
        <p:spPr>
          <a:xfrm>
            <a:off x="6400800" y="3749040"/>
            <a:ext cx="1097280" cy="320040"/>
          </a:xfrm>
          <a:prstGeom prst="rect">
            <a:avLst/>
          </a:prstGeom>
          <a:noFill/>
          <a:ln>
            <a:noFill/>
          </a:ln>
        </p:spPr>
        <p:txBody>
          <a:bodyPr wrap="square" lIns="0" tIns="0" rIns="0" bIns="0" rtlCol="0" anchor="ctr"/>
          <a:lstStyle/>
          <a:p>
            <a:pPr marL="0" indent="0" algn="ctr">
              <a:buNone/>
            </a:pPr>
            <a:r>
              <a:rPr lang="en-US" sz="1100" dirty="0">
                <a:solidFill>
                  <a:srgbClr val="C9D1D9"/>
                </a:solidFill>
                <a:latin typeface="Calibri" pitchFamily="34" charset="0"/>
                <a:ea typeface="Calibri" pitchFamily="34" charset="-122"/>
                <a:cs typeface="Calibri" pitchFamily="34" charset="-120"/>
              </a:rPr>
              <a:t>Java / Rust</a:t>
            </a:r>
            <a:endParaRPr lang="en-US" sz="1100" dirty="0"/>
          </a:p>
        </p:txBody>
      </p:sp>
      <p:sp>
        <p:nvSpPr>
          <p:cNvPr id="17" name="Text 14"/>
          <p:cNvSpPr/>
          <p:nvPr/>
        </p:nvSpPr>
        <p:spPr>
          <a:xfrm>
            <a:off x="3383280" y="4297680"/>
            <a:ext cx="2377440" cy="274320"/>
          </a:xfrm>
          <a:prstGeom prst="rect">
            <a:avLst/>
          </a:prstGeom>
          <a:noFill/>
          <a:ln>
            <a:noFill/>
          </a:ln>
        </p:spPr>
        <p:txBody>
          <a:bodyPr wrap="square" lIns="0" tIns="0" rIns="0" bIns="0" rtlCol="0" anchor="ctr"/>
          <a:lstStyle/>
          <a:p>
            <a:pPr marL="0" indent="0" algn="ctr">
              <a:buNone/>
            </a:pPr>
            <a:r>
              <a:rPr lang="en-US" sz="1000" dirty="0">
                <a:solidFill>
                  <a:srgbClr val="F0883E"/>
                </a:solidFill>
                <a:latin typeface="Calibri" pitchFamily="34" charset="0"/>
                <a:ea typeface="Calibri" pitchFamily="34" charset="-122"/>
                <a:cs typeface="Calibri" pitchFamily="34" charset="-120"/>
              </a:rPr>
              <a:t>Stable · SDK 1.0.13 · runtime 1.0.83</a:t>
            </a:r>
            <a:endParaRPr lang="en-US" sz="1000" dirty="0"/>
          </a:p>
        </p:txBody>
      </p:sp>
      <p:sp>
        <p:nvSpPr>
          <p:cNvPr id="20" name="Text 16"/>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 / 24</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Why the GitHub Copilot SDK?</a:t>
            </a:r>
            <a:endParaRPr lang="en-US" sz="2600" dirty="0"/>
          </a:p>
        </p:txBody>
      </p:sp>
      <p:sp>
        <p:nvSpPr>
          <p:cNvPr id="4" name="Shape 2"/>
          <p:cNvSpPr/>
          <p:nvPr/>
        </p:nvSpPr>
        <p:spPr>
          <a:xfrm>
            <a:off x="548640" y="1005840"/>
            <a:ext cx="8046720" cy="128016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5" name="Text 3"/>
          <p:cNvSpPr/>
          <p:nvPr/>
        </p:nvSpPr>
        <p:spPr>
          <a:xfrm>
            <a:off x="822960" y="1097280"/>
            <a:ext cx="7680960" cy="1097280"/>
          </a:xfrm>
          <a:prstGeom prst="rect">
            <a:avLst/>
          </a:prstGeom>
          <a:noFill/>
          <a:ln>
            <a:noFill/>
          </a:ln>
        </p:spPr>
        <p:txBody>
          <a:bodyPr wrap="square" lIns="0" tIns="0" rIns="0" bIns="0" rtlCol="0" anchor="ctr"/>
          <a:lstStyle/>
          <a:p>
            <a:pPr marL="0" indent="0">
              <a:buNone/>
            </a:pPr>
            <a:r>
              <a:rPr lang="en-US" sz="1600" b="1" dirty="0">
                <a:solidFill>
                  <a:srgbClr val="58A6FF"/>
                </a:solidFill>
                <a:latin typeface="Calibri" pitchFamily="34" charset="0"/>
                <a:ea typeface="Calibri" pitchFamily="34" charset="-122"/>
                <a:cs typeface="Calibri" pitchFamily="34" charset="-120"/>
              </a:rPr>
              <a:t>Embed the same agent runtime behind Copilot CLI in your application.</a:t>
            </a:r>
            <a:endParaRPr lang="en-US" sz="1600" dirty="0"/>
          </a:p>
          <a:p>
            <a:pPr marL="0" indent="0">
              <a:buNone/>
            </a:pPr>
            <a:r>
              <a:rPr lang="en-US" sz="1300" dirty="0">
                <a:solidFill>
                  <a:srgbClr val="C9D1D9"/>
                </a:solidFill>
                <a:latin typeface="Calibri" pitchFamily="34" charset="0"/>
                <a:ea typeface="Calibri" pitchFamily="34" charset="-122"/>
                <a:cs typeface="Calibri" pitchFamily="34" charset="-120"/>
              </a:rPr>
              <a:t>The runtime handles planning and tool execution; your host still owns identity, authorization, isolation, routing, and UI.</a:t>
            </a:r>
            <a:endParaRPr lang="en-US" sz="1600" dirty="0"/>
          </a:p>
        </p:txBody>
      </p:sp>
      <p:sp>
        <p:nvSpPr>
          <p:cNvPr id="6" name="Shape 4"/>
          <p:cNvSpPr/>
          <p:nvPr/>
        </p:nvSpPr>
        <p:spPr>
          <a:xfrm>
            <a:off x="548640" y="2560320"/>
            <a:ext cx="2532888" cy="20116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7" name="Shape 5"/>
          <p:cNvSpPr/>
          <p:nvPr/>
        </p:nvSpPr>
        <p:spPr>
          <a:xfrm>
            <a:off x="1540764" y="2743200"/>
            <a:ext cx="548640" cy="548640"/>
          </a:xfrm>
          <a:prstGeom prst="line">
            <a:avLst/>
          </a:prstGeom>
          <a:solidFill>
            <a:srgbClr val="1F6FEB"/>
          </a:solidFill>
          <a:ln w="6350">
            <a:solidFill>
              <a:srgbClr val="30363D"/>
            </a:solidFill>
          </a:ln>
        </p:spPr>
        <p:txBody>
          <a:bodyPr/>
          <a:lstStyle/>
          <a:p>
            <a:endParaRPr/>
          </a:p>
        </p:txBody>
      </p:sp>
      <p:pic>
        <p:nvPicPr>
          <p:cNvPr id="8" name="Image 0" descr="preencoded.png"/>
          <p:cNvPicPr>
            <a:picLocks noChangeAspect="1"/>
          </p:cNvPicPr>
          <p:nvPr/>
        </p:nvPicPr>
        <p:blipFill>
          <a:blip r:embed="rId3"/>
          <a:stretch>
            <a:fillRect/>
          </a:stretch>
        </p:blipFill>
        <p:spPr>
          <a:xfrm>
            <a:off x="1632204" y="2834640"/>
            <a:ext cx="365760" cy="365760"/>
          </a:xfrm>
          <a:prstGeom prst="rect">
            <a:avLst/>
          </a:prstGeom>
        </p:spPr>
      </p:pic>
      <p:sp>
        <p:nvSpPr>
          <p:cNvPr id="9" name="Text 6"/>
          <p:cNvSpPr/>
          <p:nvPr/>
        </p:nvSpPr>
        <p:spPr>
          <a:xfrm>
            <a:off x="685800" y="3429000"/>
            <a:ext cx="2258568" cy="320040"/>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Shared Runtime</a:t>
            </a:r>
            <a:endParaRPr lang="en-US" sz="1400" dirty="0"/>
          </a:p>
        </p:txBody>
      </p:sp>
      <p:sp>
        <p:nvSpPr>
          <p:cNvPr id="10" name="Text 7"/>
          <p:cNvSpPr/>
          <p:nvPr/>
        </p:nvSpPr>
        <p:spPr>
          <a:xfrm>
            <a:off x="731520" y="3794760"/>
            <a:ext cx="2167128" cy="640080"/>
          </a:xfrm>
          <a:prstGeom prst="rect">
            <a:avLst/>
          </a:prstGeom>
          <a:noFill/>
          <a:ln>
            <a:noFill/>
          </a:ln>
        </p:spPr>
        <p:txBody>
          <a:bodyPr wrap="square" lIns="0" tIns="0" rIns="0" bIns="0" rtlCol="0" anchor="ctr"/>
          <a:lstStyle/>
          <a:p>
            <a:pPr marL="0" indent="0" algn="ctr">
              <a:buNone/>
            </a:pPr>
            <a:r>
              <a:rPr lang="en-US" sz="1100" dirty="0">
                <a:solidFill>
                  <a:srgbClr val="8B949E"/>
                </a:solidFill>
                <a:latin typeface="Calibri" pitchFamily="34" charset="0"/>
                <a:ea typeface="Calibri" pitchFamily="34" charset="-122"/>
                <a:cs typeface="Calibri" pitchFamily="34" charset="-120"/>
              </a:rPr>
              <a:t>Same engine as Copilot CLI; models and tools remain account- and configuration-dependent</a:t>
            </a:r>
            <a:endParaRPr lang="en-US" sz="1100" dirty="0"/>
          </a:p>
        </p:txBody>
      </p:sp>
      <p:sp>
        <p:nvSpPr>
          <p:cNvPr id="11" name="Shape 8"/>
          <p:cNvSpPr/>
          <p:nvPr/>
        </p:nvSpPr>
        <p:spPr>
          <a:xfrm>
            <a:off x="3355848" y="2560320"/>
            <a:ext cx="2532888" cy="20116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2" name="Shape 9"/>
          <p:cNvSpPr/>
          <p:nvPr/>
        </p:nvSpPr>
        <p:spPr>
          <a:xfrm>
            <a:off x="4347972" y="2743200"/>
            <a:ext cx="548640" cy="548640"/>
          </a:xfrm>
          <a:prstGeom prst="line">
            <a:avLst/>
          </a:prstGeom>
          <a:solidFill>
            <a:srgbClr val="238636"/>
          </a:solidFill>
          <a:ln w="6350">
            <a:solidFill>
              <a:srgbClr val="30363D"/>
            </a:solidFill>
          </a:ln>
        </p:spPr>
        <p:txBody>
          <a:bodyPr/>
          <a:lstStyle/>
          <a:p>
            <a:endParaRPr/>
          </a:p>
        </p:txBody>
      </p:sp>
      <p:pic>
        <p:nvPicPr>
          <p:cNvPr id="13" name="Image 1" descr="preencoded.png"/>
          <p:cNvPicPr>
            <a:picLocks noChangeAspect="1"/>
          </p:cNvPicPr>
          <p:nvPr/>
        </p:nvPicPr>
        <p:blipFill>
          <a:blip r:embed="rId4"/>
          <a:stretch>
            <a:fillRect/>
          </a:stretch>
        </p:blipFill>
        <p:spPr>
          <a:xfrm>
            <a:off x="4439412" y="2834640"/>
            <a:ext cx="365760" cy="365760"/>
          </a:xfrm>
          <a:prstGeom prst="rect">
            <a:avLst/>
          </a:prstGeom>
        </p:spPr>
      </p:pic>
      <p:sp>
        <p:nvSpPr>
          <p:cNvPr id="14" name="Text 10"/>
          <p:cNvSpPr/>
          <p:nvPr/>
        </p:nvSpPr>
        <p:spPr>
          <a:xfrm>
            <a:off x="3493008" y="3429000"/>
            <a:ext cx="2258568" cy="320040"/>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Six SDKs</a:t>
            </a:r>
            <a:endParaRPr lang="en-US" sz="1400" dirty="0"/>
          </a:p>
        </p:txBody>
      </p:sp>
      <p:sp>
        <p:nvSpPr>
          <p:cNvPr id="15" name="Text 11"/>
          <p:cNvSpPr/>
          <p:nvPr/>
        </p:nvSpPr>
        <p:spPr>
          <a:xfrm>
            <a:off x="3538728" y="3794760"/>
            <a:ext cx="2167128" cy="640080"/>
          </a:xfrm>
          <a:prstGeom prst="rect">
            <a:avLst/>
          </a:prstGeom>
          <a:noFill/>
          <a:ln>
            <a:noFill/>
          </a:ln>
        </p:spPr>
        <p:txBody>
          <a:bodyPr wrap="square" lIns="0" tIns="0" rIns="0" bIns="0" rtlCol="0" anchor="ctr"/>
          <a:lstStyle/>
          <a:p>
            <a:pPr marL="0" indent="0" algn="ctr">
              <a:buNone/>
            </a:pPr>
            <a:r>
              <a:rPr lang="en-US" sz="1100" dirty="0">
                <a:solidFill>
                  <a:srgbClr val="8B949E"/>
                </a:solidFill>
                <a:latin typeface="Calibri" pitchFamily="34" charset="0"/>
                <a:ea typeface="Calibri" pitchFamily="34" charset="-122"/>
                <a:cs typeface="Calibri" pitchFamily="34" charset="-120"/>
              </a:rPr>
              <a:t>TypeScript, Python, Go, .NET, Java, and Rust</a:t>
            </a:r>
            <a:endParaRPr lang="en-US" sz="1100" dirty="0"/>
          </a:p>
        </p:txBody>
      </p:sp>
      <p:sp>
        <p:nvSpPr>
          <p:cNvPr id="16" name="Shape 12"/>
          <p:cNvSpPr/>
          <p:nvPr/>
        </p:nvSpPr>
        <p:spPr>
          <a:xfrm>
            <a:off x="6163056" y="2560320"/>
            <a:ext cx="2532888" cy="20116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7" name="Shape 13"/>
          <p:cNvSpPr/>
          <p:nvPr/>
        </p:nvSpPr>
        <p:spPr>
          <a:xfrm>
            <a:off x="7155180" y="2743200"/>
            <a:ext cx="548640" cy="548640"/>
          </a:xfrm>
          <a:prstGeom prst="line">
            <a:avLst/>
          </a:prstGeom>
          <a:solidFill>
            <a:srgbClr val="8957E5"/>
          </a:solidFill>
          <a:ln w="6350">
            <a:solidFill>
              <a:srgbClr val="30363D"/>
            </a:solidFill>
          </a:ln>
        </p:spPr>
        <p:txBody>
          <a:bodyPr/>
          <a:lstStyle/>
          <a:p>
            <a:endParaRPr/>
          </a:p>
        </p:txBody>
      </p:sp>
      <p:pic>
        <p:nvPicPr>
          <p:cNvPr id="18" name="Image 2" descr="preencoded.png"/>
          <p:cNvPicPr>
            <a:picLocks noChangeAspect="1"/>
          </p:cNvPicPr>
          <p:nvPr/>
        </p:nvPicPr>
        <p:blipFill>
          <a:blip r:embed="rId5"/>
          <a:stretch>
            <a:fillRect/>
          </a:stretch>
        </p:blipFill>
        <p:spPr>
          <a:xfrm>
            <a:off x="7246620" y="2834640"/>
            <a:ext cx="365760" cy="365760"/>
          </a:xfrm>
          <a:prstGeom prst="rect">
            <a:avLst/>
          </a:prstGeom>
        </p:spPr>
      </p:pic>
      <p:sp>
        <p:nvSpPr>
          <p:cNvPr id="19" name="Text 14"/>
          <p:cNvSpPr/>
          <p:nvPr/>
        </p:nvSpPr>
        <p:spPr>
          <a:xfrm>
            <a:off x="6300216" y="3429000"/>
            <a:ext cx="2258568" cy="320040"/>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Extensible</a:t>
            </a:r>
            <a:endParaRPr lang="en-US" sz="1400" dirty="0"/>
          </a:p>
        </p:txBody>
      </p:sp>
      <p:sp>
        <p:nvSpPr>
          <p:cNvPr id="20" name="Text 15"/>
          <p:cNvSpPr/>
          <p:nvPr/>
        </p:nvSpPr>
        <p:spPr>
          <a:xfrm>
            <a:off x="6345936" y="3794760"/>
            <a:ext cx="2167128" cy="640080"/>
          </a:xfrm>
          <a:prstGeom prst="rect">
            <a:avLst/>
          </a:prstGeom>
          <a:noFill/>
          <a:ln>
            <a:noFill/>
          </a:ln>
        </p:spPr>
        <p:txBody>
          <a:bodyPr wrap="square" lIns="0" tIns="0" rIns="0" bIns="0" rtlCol="0" anchor="ctr"/>
          <a:lstStyle/>
          <a:p>
            <a:pPr marL="0" indent="0" algn="ctr">
              <a:buNone/>
            </a:pPr>
            <a:r>
              <a:rPr lang="en-US" sz="1100" dirty="0">
                <a:solidFill>
                  <a:srgbClr val="8B949E"/>
                </a:solidFill>
                <a:latin typeface="Calibri" pitchFamily="34" charset="0"/>
                <a:ea typeface="Calibri" pitchFamily="34" charset="-122"/>
                <a:cs typeface="Calibri" pitchFamily="34" charset="-120"/>
              </a:rPr>
              <a:t>Typed events, custom tools and agents, MCP, hooks, persistence, and BYOK</a:t>
            </a:r>
            <a:endParaRPr lang="en-US" sz="1100" dirty="0"/>
          </a:p>
        </p:txBody>
      </p:sp>
      <p:sp>
        <p:nvSpPr>
          <p:cNvPr id="23" name="Text 1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3 / 24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Architecture and Boundaries</a:t>
            </a:r>
            <a:endParaRPr lang="en-US" sz="2600" dirty="0"/>
          </a:p>
        </p:txBody>
      </p:sp>
      <p:sp>
        <p:nvSpPr>
          <p:cNvPr id="4" name="Shape 2"/>
          <p:cNvSpPr/>
          <p:nvPr/>
        </p:nvSpPr>
        <p:spPr>
          <a:xfrm>
            <a:off x="640080" y="1188720"/>
            <a:ext cx="2377440" cy="15544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5" name="Image 0" descr="preencoded.png"/>
          <p:cNvPicPr>
            <a:picLocks noChangeAspect="1"/>
          </p:cNvPicPr>
          <p:nvPr/>
        </p:nvPicPr>
        <p:blipFill>
          <a:blip r:embed="rId3"/>
          <a:stretch>
            <a:fillRect/>
          </a:stretch>
        </p:blipFill>
        <p:spPr>
          <a:xfrm>
            <a:off x="1600200" y="1325880"/>
            <a:ext cx="457200" cy="457200"/>
          </a:xfrm>
          <a:prstGeom prst="rect">
            <a:avLst/>
          </a:prstGeom>
        </p:spPr>
      </p:pic>
      <p:sp>
        <p:nvSpPr>
          <p:cNvPr id="6" name="Text 3"/>
          <p:cNvSpPr/>
          <p:nvPr/>
        </p:nvSpPr>
        <p:spPr>
          <a:xfrm>
            <a:off x="731520" y="1874520"/>
            <a:ext cx="2194560" cy="32004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Your Application</a:t>
            </a:r>
            <a:endParaRPr lang="en-US" sz="1300" dirty="0"/>
          </a:p>
        </p:txBody>
      </p:sp>
      <p:sp>
        <p:nvSpPr>
          <p:cNvPr id="7" name="Text 4"/>
          <p:cNvSpPr/>
          <p:nvPr/>
        </p:nvSpPr>
        <p:spPr>
          <a:xfrm>
            <a:off x="731520" y="2194560"/>
            <a:ext cx="2194560" cy="36576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TS / Python / Go / .NET / Java / Rust</a:t>
            </a:r>
            <a:endParaRPr lang="en-US" sz="900" dirty="0"/>
          </a:p>
        </p:txBody>
      </p:sp>
      <p:sp>
        <p:nvSpPr>
          <p:cNvPr id="8" name="Shape 5"/>
          <p:cNvSpPr/>
          <p:nvPr/>
        </p:nvSpPr>
        <p:spPr>
          <a:xfrm>
            <a:off x="3383280" y="1188720"/>
            <a:ext cx="2377440" cy="15544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9" name="Image 1" descr="preencoded.png"/>
          <p:cNvPicPr>
            <a:picLocks noChangeAspect="1"/>
          </p:cNvPicPr>
          <p:nvPr/>
        </p:nvPicPr>
        <p:blipFill>
          <a:blip r:embed="rId4"/>
          <a:stretch>
            <a:fillRect/>
          </a:stretch>
        </p:blipFill>
        <p:spPr>
          <a:xfrm>
            <a:off x="4343400" y="1325880"/>
            <a:ext cx="457200" cy="457200"/>
          </a:xfrm>
          <a:prstGeom prst="rect">
            <a:avLst/>
          </a:prstGeom>
        </p:spPr>
      </p:pic>
      <p:sp>
        <p:nvSpPr>
          <p:cNvPr id="10" name="Text 6"/>
          <p:cNvSpPr/>
          <p:nvPr/>
        </p:nvSpPr>
        <p:spPr>
          <a:xfrm>
            <a:off x="3474720" y="1874520"/>
            <a:ext cx="2194560" cy="32004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SDK Client</a:t>
            </a:r>
            <a:endParaRPr lang="en-US" sz="1300" dirty="0"/>
          </a:p>
        </p:txBody>
      </p:sp>
      <p:sp>
        <p:nvSpPr>
          <p:cNvPr id="11" name="Text 7"/>
          <p:cNvSpPr/>
          <p:nvPr/>
        </p:nvSpPr>
        <p:spPr>
          <a:xfrm>
            <a:off x="3474720" y="2194560"/>
            <a:ext cx="2194560" cy="36576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JSON-RPC Communication</a:t>
            </a:r>
            <a:endParaRPr lang="en-US" sz="900" dirty="0"/>
          </a:p>
        </p:txBody>
      </p:sp>
      <p:sp>
        <p:nvSpPr>
          <p:cNvPr id="12" name="Shape 8"/>
          <p:cNvSpPr/>
          <p:nvPr/>
        </p:nvSpPr>
        <p:spPr>
          <a:xfrm>
            <a:off x="6126480" y="1188720"/>
            <a:ext cx="2377440" cy="15544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3" name="Image 2" descr="preencoded.png"/>
          <p:cNvPicPr>
            <a:picLocks noChangeAspect="1"/>
          </p:cNvPicPr>
          <p:nvPr/>
        </p:nvPicPr>
        <p:blipFill>
          <a:blip r:embed="rId5"/>
          <a:stretch>
            <a:fillRect/>
          </a:stretch>
        </p:blipFill>
        <p:spPr>
          <a:xfrm>
            <a:off x="7086600" y="1325880"/>
            <a:ext cx="457200" cy="457200"/>
          </a:xfrm>
          <a:prstGeom prst="rect">
            <a:avLst/>
          </a:prstGeom>
        </p:spPr>
      </p:pic>
      <p:sp>
        <p:nvSpPr>
          <p:cNvPr id="14" name="Text 9"/>
          <p:cNvSpPr/>
          <p:nvPr/>
        </p:nvSpPr>
        <p:spPr>
          <a:xfrm>
            <a:off x="6217920" y="1874520"/>
            <a:ext cx="2194560" cy="32004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Copilot CLI</a:t>
            </a:r>
            <a:endParaRPr lang="en-US" sz="1300" dirty="0"/>
          </a:p>
        </p:txBody>
      </p:sp>
      <p:sp>
        <p:nvSpPr>
          <p:cNvPr id="15" name="Text 10"/>
          <p:cNvSpPr/>
          <p:nvPr/>
        </p:nvSpPr>
        <p:spPr>
          <a:xfrm>
            <a:off x="6217920" y="2194560"/>
            <a:ext cx="2194560" cy="36576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Server Mode (stdio / TCP)</a:t>
            </a:r>
            <a:endParaRPr lang="en-US" sz="900" dirty="0"/>
          </a:p>
        </p:txBody>
      </p:sp>
      <p:pic>
        <p:nvPicPr>
          <p:cNvPr id="16" name="Image 3" descr="preencoded.png"/>
          <p:cNvPicPr>
            <a:picLocks noChangeAspect="1"/>
          </p:cNvPicPr>
          <p:nvPr/>
        </p:nvPicPr>
        <p:blipFill>
          <a:blip r:embed="rId6"/>
          <a:stretch>
            <a:fillRect/>
          </a:stretch>
        </p:blipFill>
        <p:spPr>
          <a:xfrm>
            <a:off x="3063240" y="1737360"/>
            <a:ext cx="274320" cy="274320"/>
          </a:xfrm>
          <a:prstGeom prst="rect">
            <a:avLst/>
          </a:prstGeom>
        </p:spPr>
      </p:pic>
      <p:pic>
        <p:nvPicPr>
          <p:cNvPr id="17" name="Image 4" descr="preencoded.png"/>
          <p:cNvPicPr>
            <a:picLocks noChangeAspect="1"/>
          </p:cNvPicPr>
          <p:nvPr/>
        </p:nvPicPr>
        <p:blipFill>
          <a:blip r:embed="rId6"/>
          <a:stretch>
            <a:fillRect/>
          </a:stretch>
        </p:blipFill>
        <p:spPr>
          <a:xfrm>
            <a:off x="5806440" y="1737360"/>
            <a:ext cx="274320" cy="274320"/>
          </a:xfrm>
          <a:prstGeom prst="rect">
            <a:avLst/>
          </a:prstGeom>
        </p:spPr>
      </p:pic>
      <p:sp>
        <p:nvSpPr>
          <p:cNvPr id="18" name="Shape 11"/>
          <p:cNvSpPr/>
          <p:nvPr/>
        </p:nvSpPr>
        <p:spPr>
          <a:xfrm>
            <a:off x="2926080" y="3108960"/>
            <a:ext cx="3291840" cy="109728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9" name="Image 5" descr="preencoded.png"/>
          <p:cNvPicPr>
            <a:picLocks noChangeAspect="1"/>
          </p:cNvPicPr>
          <p:nvPr/>
        </p:nvPicPr>
        <p:blipFill>
          <a:blip r:embed="rId7"/>
          <a:stretch>
            <a:fillRect/>
          </a:stretch>
        </p:blipFill>
        <p:spPr>
          <a:xfrm>
            <a:off x="4343400" y="3200400"/>
            <a:ext cx="457200" cy="457200"/>
          </a:xfrm>
          <a:prstGeom prst="rect">
            <a:avLst/>
          </a:prstGeom>
        </p:spPr>
      </p:pic>
      <p:sp>
        <p:nvSpPr>
          <p:cNvPr id="20" name="Text 12"/>
          <p:cNvSpPr/>
          <p:nvPr/>
        </p:nvSpPr>
        <p:spPr>
          <a:xfrm>
            <a:off x="3017520" y="3657600"/>
            <a:ext cx="3108960" cy="22860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Model Provider</a:t>
            </a:r>
            <a:endParaRPr lang="en-US" sz="1200" dirty="0"/>
          </a:p>
        </p:txBody>
      </p:sp>
      <p:sp>
        <p:nvSpPr>
          <p:cNvPr id="21" name="Text 13"/>
          <p:cNvSpPr/>
          <p:nvPr/>
        </p:nvSpPr>
        <p:spPr>
          <a:xfrm>
            <a:off x="3017520" y="3886200"/>
            <a:ext cx="3108960" cy="228600"/>
          </a:xfrm>
          <a:prstGeom prst="rect">
            <a:avLst/>
          </a:prstGeom>
          <a:noFill/>
          <a:ln>
            <a:noFill/>
          </a:ln>
        </p:spPr>
        <p:txBody>
          <a:bodyPr wrap="square" lIns="0" tIns="0" rIns="0" bIns="0" rtlCol="0" anchor="ctr"/>
          <a:lstStyle/>
          <a:p>
            <a:pPr marL="0" indent="0" algn="ctr">
              <a:buNone/>
            </a:pPr>
            <a:r>
              <a:rPr lang="en-US" sz="850" dirty="0">
                <a:solidFill>
                  <a:srgbClr val="8B949E"/>
                </a:solidFill>
                <a:latin typeface="Calibri" pitchFamily="34" charset="0"/>
                <a:ea typeface="Calibri" pitchFamily="34" charset="-122"/>
                <a:cs typeface="Calibri" pitchFamily="34" charset="-120"/>
              </a:rPr>
              <a:t>GitHub Copilot  ·  OpenAI  ·  Azure  ·  Anthropic  ·  Local</a:t>
            </a:r>
            <a:endParaRPr lang="en-US" sz="850" dirty="0"/>
          </a:p>
        </p:txBody>
      </p:sp>
      <p:pic>
        <p:nvPicPr>
          <p:cNvPr id="23" name="Image 6" descr="preencoded.png"/>
          <p:cNvPicPr>
            <a:picLocks noChangeAspect="1"/>
          </p:cNvPicPr>
          <p:nvPr/>
        </p:nvPicPr>
        <p:blipFill>
          <a:blip r:embed="rId8"/>
          <a:stretch>
            <a:fillRect/>
          </a:stretch>
        </p:blipFill>
        <p:spPr>
          <a:xfrm>
            <a:off x="640080" y="3200400"/>
            <a:ext cx="182880" cy="182880"/>
          </a:xfrm>
          <a:prstGeom prst="rect">
            <a:avLst/>
          </a:prstGeom>
        </p:spPr>
      </p:pic>
      <p:sp>
        <p:nvSpPr>
          <p:cNvPr id="24" name="Text 15"/>
          <p:cNvSpPr/>
          <p:nvPr/>
        </p:nvSpPr>
        <p:spPr>
          <a:xfrm>
            <a:off x="914400" y="320040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Managed child or external runtime</a:t>
            </a:r>
            <a:endParaRPr lang="en-US" sz="1000" dirty="0"/>
          </a:p>
        </p:txBody>
      </p:sp>
      <p:pic>
        <p:nvPicPr>
          <p:cNvPr id="25" name="Image 7" descr="preencoded.png"/>
          <p:cNvPicPr>
            <a:picLocks noChangeAspect="1"/>
          </p:cNvPicPr>
          <p:nvPr/>
        </p:nvPicPr>
        <p:blipFill>
          <a:blip r:embed="rId8"/>
          <a:stretch>
            <a:fillRect/>
          </a:stretch>
        </p:blipFill>
        <p:spPr>
          <a:xfrm>
            <a:off x="640080" y="3566160"/>
            <a:ext cx="182880" cy="182880"/>
          </a:xfrm>
          <a:prstGeom prst="rect">
            <a:avLst/>
          </a:prstGeom>
        </p:spPr>
      </p:pic>
      <p:sp>
        <p:nvSpPr>
          <p:cNvPr id="26" name="Text 16"/>
          <p:cNvSpPr/>
          <p:nvPr/>
        </p:nvSpPr>
        <p:spPr>
          <a:xfrm>
            <a:off x="914400" y="356616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Detach per owner; persisted state remains</a:t>
            </a:r>
            <a:endParaRPr lang="en-US" sz="1000" dirty="0"/>
          </a:p>
        </p:txBody>
      </p:sp>
      <p:pic>
        <p:nvPicPr>
          <p:cNvPr id="27" name="Image 8" descr="preencoded.png"/>
          <p:cNvPicPr>
            <a:picLocks noChangeAspect="1"/>
          </p:cNvPicPr>
          <p:nvPr/>
        </p:nvPicPr>
        <p:blipFill>
          <a:blip r:embed="rId8"/>
          <a:stretch>
            <a:fillRect/>
          </a:stretch>
        </p:blipFill>
        <p:spPr>
          <a:xfrm>
            <a:off x="640080" y="3931920"/>
            <a:ext cx="182880" cy="182880"/>
          </a:xfrm>
          <a:prstGeom prst="rect">
            <a:avLst/>
          </a:prstGeom>
        </p:spPr>
      </p:pic>
      <p:sp>
        <p:nvSpPr>
          <p:cNvPr id="28" name="Text 17"/>
          <p:cNvSpPr/>
          <p:nvPr/>
        </p:nvSpPr>
        <p:spPr>
          <a:xfrm>
            <a:off x="914400" y="393192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Typed events and callbacks</a:t>
            </a:r>
            <a:endParaRPr lang="en-US" sz="1000" dirty="0"/>
          </a:p>
        </p:txBody>
      </p:sp>
      <p:pic>
        <p:nvPicPr>
          <p:cNvPr id="29" name="Image 9" descr="preencoded.png"/>
          <p:cNvPicPr>
            <a:picLocks noChangeAspect="1"/>
          </p:cNvPicPr>
          <p:nvPr/>
        </p:nvPicPr>
        <p:blipFill>
          <a:blip r:embed="rId8"/>
          <a:stretch>
            <a:fillRect/>
          </a:stretch>
        </p:blipFill>
        <p:spPr>
          <a:xfrm>
            <a:off x="6675120" y="3200400"/>
            <a:ext cx="182880" cy="182880"/>
          </a:xfrm>
          <a:prstGeom prst="rect">
            <a:avLst/>
          </a:prstGeom>
        </p:spPr>
      </p:pic>
      <p:sp>
        <p:nvSpPr>
          <p:cNvPr id="30" name="Text 18"/>
          <p:cNvSpPr/>
          <p:nvPr/>
        </p:nvSpPr>
        <p:spPr>
          <a:xfrm>
            <a:off x="6949440" y="320040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Resume when the same state storage is available</a:t>
            </a:r>
            <a:endParaRPr lang="en-US" sz="1000" dirty="0"/>
          </a:p>
        </p:txBody>
      </p:sp>
      <p:pic>
        <p:nvPicPr>
          <p:cNvPr id="31" name="Image 10" descr="preencoded.png"/>
          <p:cNvPicPr>
            <a:picLocks noChangeAspect="1"/>
          </p:cNvPicPr>
          <p:nvPr/>
        </p:nvPicPr>
        <p:blipFill>
          <a:blip r:embed="rId8"/>
          <a:stretch>
            <a:fillRect/>
          </a:stretch>
        </p:blipFill>
        <p:spPr>
          <a:xfrm>
            <a:off x="6675120" y="3566160"/>
            <a:ext cx="182880" cy="182880"/>
          </a:xfrm>
          <a:prstGeom prst="rect">
            <a:avLst/>
          </a:prstGeom>
        </p:spPr>
      </p:pic>
      <p:sp>
        <p:nvSpPr>
          <p:cNvPr id="32" name="Text 19"/>
          <p:cNvSpPr/>
          <p:nvPr/>
        </p:nvSpPr>
        <p:spPr>
          <a:xfrm>
            <a:off x="6949440" y="356616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App-owned identity, isolation, and routing</a:t>
            </a:r>
            <a:endParaRPr lang="en-US" sz="1000" dirty="0"/>
          </a:p>
        </p:txBody>
      </p:sp>
      <p:pic>
        <p:nvPicPr>
          <p:cNvPr id="33" name="Image 11" descr="preencoded.png"/>
          <p:cNvPicPr>
            <a:picLocks noChangeAspect="1"/>
          </p:cNvPicPr>
          <p:nvPr/>
        </p:nvPicPr>
        <p:blipFill>
          <a:blip r:embed="rId8"/>
          <a:stretch>
            <a:fillRect/>
          </a:stretch>
        </p:blipFill>
        <p:spPr>
          <a:xfrm>
            <a:off x="6675120" y="3931920"/>
            <a:ext cx="182880" cy="182880"/>
          </a:xfrm>
          <a:prstGeom prst="rect">
            <a:avLst/>
          </a:prstGeom>
        </p:spPr>
      </p:pic>
      <p:sp>
        <p:nvSpPr>
          <p:cNvPr id="34" name="Text 20"/>
          <p:cNvSpPr/>
          <p:nvPr/>
        </p:nvSpPr>
        <p:spPr>
          <a:xfrm>
            <a:off x="6949440" y="3931920"/>
            <a:ext cx="1920240" cy="22860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Optional OpenTelemetry tracing</a:t>
            </a:r>
            <a:endParaRPr lang="en-US" sz="1000" dirty="0"/>
          </a:p>
        </p:txBody>
      </p:sp>
      <p:sp>
        <p:nvSpPr>
          <p:cNvPr id="37" name="Text 22"/>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4 / 24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Get to Green</a:t>
            </a:r>
            <a:endParaRPr lang="en-US" sz="2600" dirty="0"/>
          </a:p>
        </p:txBody>
      </p:sp>
      <p:sp>
        <p:nvSpPr>
          <p:cNvPr id="4" name="Shape 2"/>
          <p:cNvSpPr/>
          <p:nvPr/>
        </p:nvSpPr>
        <p:spPr>
          <a:xfrm>
            <a:off x="548640" y="1051560"/>
            <a:ext cx="8046720" cy="621792"/>
          </a:xfrm>
          <a:prstGeom prst="line">
            <a:avLst/>
          </a:prstGeom>
          <a:solidFill>
            <a:srgbClr val="161B22"/>
          </a:solidFill>
          <a:ln w="12700">
            <a:prstDash val="solid"/>
          </a:ln>
        </p:spPr>
        <p:txBody>
          <a:bodyPr/>
          <a:lstStyle/>
          <a:p>
            <a:endParaRPr/>
          </a:p>
        </p:txBody>
      </p:sp>
      <p:sp>
        <p:nvSpPr>
          <p:cNvPr id="6" name="Text 4"/>
          <p:cNvSpPr/>
          <p:nvPr/>
        </p:nvSpPr>
        <p:spPr>
          <a:xfrm>
            <a:off x="822960" y="1051560"/>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1. Install</a:t>
            </a:r>
            <a:endParaRPr lang="en-US" sz="1400" dirty="0"/>
          </a:p>
        </p:txBody>
      </p:sp>
      <p:sp>
        <p:nvSpPr>
          <p:cNvPr id="7" name="Shape 5"/>
          <p:cNvSpPr/>
          <p:nvPr/>
        </p:nvSpPr>
        <p:spPr>
          <a:xfrm>
            <a:off x="3200400" y="1179576"/>
            <a:ext cx="5120640" cy="365760"/>
          </a:xfrm>
          <a:prstGeom prst="line">
            <a:avLst/>
          </a:prstGeom>
          <a:solidFill>
            <a:srgbClr val="0D1117"/>
          </a:solidFill>
          <a:ln w="12700">
            <a:prstDash val="solid"/>
          </a:ln>
        </p:spPr>
        <p:txBody>
          <a:bodyPr/>
          <a:lstStyle/>
          <a:p>
            <a:endParaRPr/>
          </a:p>
        </p:txBody>
      </p:sp>
      <p:sp>
        <p:nvSpPr>
          <p:cNvPr id="8" name="Text 6"/>
          <p:cNvSpPr/>
          <p:nvPr/>
        </p:nvSpPr>
        <p:spPr>
          <a:xfrm>
            <a:off x="3337560" y="1179576"/>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pip install github-copilot-sdk==1.0.13</a:t>
            </a:r>
            <a:endParaRPr lang="en-US" sz="1000" dirty="0"/>
          </a:p>
        </p:txBody>
      </p:sp>
      <p:sp>
        <p:nvSpPr>
          <p:cNvPr id="9" name="Shape 7"/>
          <p:cNvSpPr/>
          <p:nvPr/>
        </p:nvSpPr>
        <p:spPr>
          <a:xfrm>
            <a:off x="548640" y="1801368"/>
            <a:ext cx="8046720" cy="621792"/>
          </a:xfrm>
          <a:prstGeom prst="line">
            <a:avLst/>
          </a:prstGeom>
          <a:solidFill>
            <a:srgbClr val="161B22"/>
          </a:solidFill>
          <a:ln w="12700">
            <a:prstDash val="solid"/>
          </a:ln>
        </p:spPr>
        <p:txBody>
          <a:bodyPr/>
          <a:lstStyle/>
          <a:p>
            <a:endParaRPr/>
          </a:p>
        </p:txBody>
      </p:sp>
      <p:sp>
        <p:nvSpPr>
          <p:cNvPr id="11" name="Text 9"/>
          <p:cNvSpPr/>
          <p:nvPr/>
        </p:nvSpPr>
        <p:spPr>
          <a:xfrm>
            <a:off x="822960" y="1801368"/>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2. Authenticate</a:t>
            </a:r>
            <a:endParaRPr lang="en-US" sz="1400" dirty="0"/>
          </a:p>
        </p:txBody>
      </p:sp>
      <p:sp>
        <p:nvSpPr>
          <p:cNvPr id="12" name="Shape 10"/>
          <p:cNvSpPr/>
          <p:nvPr/>
        </p:nvSpPr>
        <p:spPr>
          <a:xfrm>
            <a:off x="3200400" y="1929384"/>
            <a:ext cx="5120640" cy="365760"/>
          </a:xfrm>
          <a:prstGeom prst="line">
            <a:avLst/>
          </a:prstGeom>
          <a:solidFill>
            <a:srgbClr val="0D1117"/>
          </a:solidFill>
          <a:ln w="12700">
            <a:prstDash val="solid"/>
          </a:ln>
        </p:spPr>
        <p:txBody>
          <a:bodyPr/>
          <a:lstStyle/>
          <a:p>
            <a:endParaRPr/>
          </a:p>
        </p:txBody>
      </p:sp>
      <p:sp>
        <p:nvSpPr>
          <p:cNvPr id="13" name="Text 11"/>
          <p:cNvSpPr/>
          <p:nvPr/>
        </p:nvSpPr>
        <p:spPr>
          <a:xfrm>
            <a:off x="3337560" y="1929384"/>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copilot login or eligible token / BYOK</a:t>
            </a:r>
            <a:endParaRPr lang="en-US" sz="1000" dirty="0"/>
          </a:p>
        </p:txBody>
      </p:sp>
      <p:sp>
        <p:nvSpPr>
          <p:cNvPr id="14" name="Shape 12"/>
          <p:cNvSpPr/>
          <p:nvPr/>
        </p:nvSpPr>
        <p:spPr>
          <a:xfrm>
            <a:off x="548640" y="2551176"/>
            <a:ext cx="8046720" cy="621792"/>
          </a:xfrm>
          <a:prstGeom prst="line">
            <a:avLst/>
          </a:prstGeom>
          <a:solidFill>
            <a:srgbClr val="161B22"/>
          </a:solidFill>
          <a:ln w="12700">
            <a:prstDash val="solid"/>
          </a:ln>
        </p:spPr>
        <p:txBody>
          <a:bodyPr/>
          <a:lstStyle/>
          <a:p>
            <a:endParaRPr/>
          </a:p>
        </p:txBody>
      </p:sp>
      <p:sp>
        <p:nvSpPr>
          <p:cNvPr id="16" name="Text 14"/>
          <p:cNvSpPr/>
          <p:nvPr/>
        </p:nvSpPr>
        <p:spPr>
          <a:xfrm>
            <a:off x="822960" y="2551176"/>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3. Verify runtime</a:t>
            </a:r>
            <a:endParaRPr lang="en-US" sz="1400" dirty="0"/>
          </a:p>
        </p:txBody>
      </p:sp>
      <p:sp>
        <p:nvSpPr>
          <p:cNvPr id="17" name="Shape 15"/>
          <p:cNvSpPr/>
          <p:nvPr/>
        </p:nvSpPr>
        <p:spPr>
          <a:xfrm>
            <a:off x="3200400" y="2679192"/>
            <a:ext cx="5120640" cy="365760"/>
          </a:xfrm>
          <a:prstGeom prst="line">
            <a:avLst/>
          </a:prstGeom>
          <a:solidFill>
            <a:srgbClr val="0D1117"/>
          </a:solidFill>
          <a:ln w="12700">
            <a:prstDash val="solid"/>
          </a:ln>
        </p:spPr>
        <p:txBody>
          <a:bodyPr/>
          <a:lstStyle/>
          <a:p>
            <a:endParaRPr/>
          </a:p>
        </p:txBody>
      </p:sp>
      <p:sp>
        <p:nvSpPr>
          <p:cNvPr id="18" name="Text 16"/>
          <p:cNvSpPr/>
          <p:nvPr/>
        </p:nvSpPr>
        <p:spPr>
          <a:xfrm>
            <a:off x="3337560" y="2679192"/>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python -m copilot download-runtime  # optional</a:t>
            </a:r>
            <a:endParaRPr lang="en-US" sz="1000" dirty="0"/>
          </a:p>
        </p:txBody>
      </p:sp>
      <p:sp>
        <p:nvSpPr>
          <p:cNvPr id="19" name="Shape 17"/>
          <p:cNvSpPr/>
          <p:nvPr/>
        </p:nvSpPr>
        <p:spPr>
          <a:xfrm>
            <a:off x="548640" y="3300984"/>
            <a:ext cx="8046720" cy="621792"/>
          </a:xfrm>
          <a:prstGeom prst="line">
            <a:avLst/>
          </a:prstGeom>
          <a:solidFill>
            <a:srgbClr val="161B22"/>
          </a:solidFill>
          <a:ln w="12700">
            <a:prstDash val="solid"/>
          </a:ln>
        </p:spPr>
        <p:txBody>
          <a:bodyPr/>
          <a:lstStyle/>
          <a:p>
            <a:endParaRPr/>
          </a:p>
        </p:txBody>
      </p:sp>
      <p:sp>
        <p:nvSpPr>
          <p:cNvPr id="21" name="Text 19"/>
          <p:cNvSpPr/>
          <p:nvPr/>
        </p:nvSpPr>
        <p:spPr>
          <a:xfrm>
            <a:off x="822960" y="3300984"/>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4. Run</a:t>
            </a:r>
            <a:endParaRPr lang="en-US" sz="1400" dirty="0"/>
          </a:p>
        </p:txBody>
      </p:sp>
      <p:sp>
        <p:nvSpPr>
          <p:cNvPr id="22" name="Shape 20"/>
          <p:cNvSpPr/>
          <p:nvPr/>
        </p:nvSpPr>
        <p:spPr>
          <a:xfrm>
            <a:off x="3200400" y="3429000"/>
            <a:ext cx="5120640" cy="365760"/>
          </a:xfrm>
          <a:prstGeom prst="line">
            <a:avLst/>
          </a:prstGeom>
          <a:solidFill>
            <a:srgbClr val="0D1117"/>
          </a:solidFill>
          <a:ln w="12700">
            <a:prstDash val="solid"/>
          </a:ln>
        </p:spPr>
        <p:txBody>
          <a:bodyPr/>
          <a:lstStyle/>
          <a:p>
            <a:endParaRPr/>
          </a:p>
        </p:txBody>
      </p:sp>
      <p:sp>
        <p:nvSpPr>
          <p:cNvPr id="23" name="Text 21"/>
          <p:cNvSpPr/>
          <p:nvPr/>
        </p:nvSpPr>
        <p:spPr>
          <a:xfrm>
            <a:off x="3337560" y="3429000"/>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python examples/01_simple_chat.py</a:t>
            </a:r>
            <a:endParaRPr lang="en-US" sz="1000" dirty="0"/>
          </a:p>
        </p:txBody>
      </p:sp>
      <p:sp>
        <p:nvSpPr>
          <p:cNvPr id="24" name="Shape 22"/>
          <p:cNvSpPr/>
          <p:nvPr/>
        </p:nvSpPr>
        <p:spPr>
          <a:xfrm>
            <a:off x="548640" y="4050792"/>
            <a:ext cx="8046720" cy="621792"/>
          </a:xfrm>
          <a:prstGeom prst="line">
            <a:avLst/>
          </a:prstGeom>
          <a:solidFill>
            <a:srgbClr val="161B22"/>
          </a:solidFill>
          <a:ln w="12700">
            <a:prstDash val="solid"/>
          </a:ln>
        </p:spPr>
        <p:txBody>
          <a:bodyPr/>
          <a:lstStyle/>
          <a:p>
            <a:endParaRPr/>
          </a:p>
        </p:txBody>
      </p:sp>
      <p:sp>
        <p:nvSpPr>
          <p:cNvPr id="26" name="Text 24"/>
          <p:cNvSpPr/>
          <p:nvPr/>
        </p:nvSpPr>
        <p:spPr>
          <a:xfrm>
            <a:off x="822960" y="4050792"/>
            <a:ext cx="2286000" cy="621792"/>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Success</a:t>
            </a:r>
            <a:endParaRPr lang="en-US" sz="1400" dirty="0"/>
          </a:p>
        </p:txBody>
      </p:sp>
      <p:sp>
        <p:nvSpPr>
          <p:cNvPr id="27" name="Shape 25"/>
          <p:cNvSpPr/>
          <p:nvPr/>
        </p:nvSpPr>
        <p:spPr>
          <a:xfrm>
            <a:off x="3200400" y="4178808"/>
            <a:ext cx="5120640" cy="365760"/>
          </a:xfrm>
          <a:prstGeom prst="line">
            <a:avLst/>
          </a:prstGeom>
          <a:solidFill>
            <a:srgbClr val="0D1117"/>
          </a:solidFill>
          <a:ln w="12700">
            <a:prstDash val="solid"/>
          </a:ln>
        </p:spPr>
        <p:txBody>
          <a:bodyPr/>
          <a:lstStyle/>
          <a:p>
            <a:endParaRPr/>
          </a:p>
        </p:txBody>
      </p:sp>
      <p:sp>
        <p:nvSpPr>
          <p:cNvPr id="28" name="Text 26"/>
          <p:cNvSpPr/>
          <p:nvPr/>
        </p:nvSpPr>
        <p:spPr>
          <a:xfrm>
            <a:off x="3337560" y="4178808"/>
            <a:ext cx="4846320" cy="365760"/>
          </a:xfrm>
          <a:prstGeom prst="rect">
            <a:avLst/>
          </a:prstGeom>
          <a:noFill/>
          <a:ln>
            <a:noFill/>
          </a:ln>
        </p:spPr>
        <p:txBody>
          <a:bodyPr wrap="square" lIns="0" tIns="0" rIns="0" bIns="0" rtlCol="0" anchor="ctr"/>
          <a:lstStyle/>
          <a:p>
            <a:pPr marL="0" indent="0">
              <a:buNone/>
            </a:pPr>
            <a:r>
              <a:rPr lang="en-US" sz="1000" dirty="0">
                <a:solidFill>
                  <a:srgbClr val="3FB950"/>
                </a:solidFill>
                <a:latin typeface="Consolas" pitchFamily="34" charset="0"/>
                <a:ea typeface="Consolas" pitchFamily="34" charset="-122"/>
                <a:cs typeface="Consolas" pitchFamily="34" charset="-120"/>
              </a:rPr>
              <a:t>Streamed response and exit code 0</a:t>
            </a:r>
            <a:endParaRPr lang="en-US" sz="1000" dirty="0"/>
          </a:p>
        </p:txBody>
      </p:sp>
      <p:sp>
        <p:nvSpPr>
          <p:cNvPr id="29" name="Text 27"/>
          <p:cNvSpPr/>
          <p:nvPr/>
        </p:nvSpPr>
        <p:spPr>
          <a:xfrm>
            <a:off x="548640" y="4572000"/>
            <a:ext cx="8046720" cy="228600"/>
          </a:xfrm>
          <a:prstGeom prst="rect">
            <a:avLst/>
          </a:prstGeom>
          <a:noFill/>
          <a:ln>
            <a:noFill/>
          </a:ln>
        </p:spPr>
        <p:txBody>
          <a:bodyPr wrap="square" lIns="0" tIns="0" rIns="0" bIns="0" rtlCol="0" anchor="ctr"/>
          <a:lstStyle/>
          <a:p>
            <a:pPr marL="0" indent="0" algn="ctr">
              <a:buNone/>
            </a:pPr>
            <a:r>
              <a:rPr lang="en-US" sz="1000" i="1" dirty="0">
                <a:solidFill>
                  <a:srgbClr val="8B949E"/>
                </a:solidFill>
                <a:latin typeface="Calibri" pitchFamily="34" charset="0"/>
                <a:ea typeface="Calibri" pitchFamily="34" charset="-122"/>
                <a:cs typeface="Calibri" pitchFamily="34" charset="-120"/>
              </a:rPr>
              <a:t>Six SDKs share the runtime protocol; this workshop uses Python.</a:t>
            </a:r>
            <a:endParaRPr lang="en-US" sz="1000" dirty="0"/>
          </a:p>
        </p:txBody>
      </p:sp>
      <p:sp>
        <p:nvSpPr>
          <p:cNvPr id="32" name="Text 29"/>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5 / 24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Workshop Contract</a:t>
            </a:r>
            <a:endParaRPr lang="en-US" sz="2600" dirty="0"/>
          </a:p>
        </p:txBody>
      </p:sp>
      <p:sp>
        <p:nvSpPr>
          <p:cNvPr id="4" name="Shape 2"/>
          <p:cNvSpPr/>
          <p:nvPr/>
        </p:nvSpPr>
        <p:spPr>
          <a:xfrm>
            <a:off x="54864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5" name="Image 0" descr="preencoded.png"/>
          <p:cNvPicPr>
            <a:picLocks noChangeAspect="1"/>
          </p:cNvPicPr>
          <p:nvPr/>
        </p:nvPicPr>
        <p:blipFill>
          <a:blip r:embed="rId3"/>
          <a:stretch>
            <a:fillRect/>
          </a:stretch>
        </p:blipFill>
        <p:spPr>
          <a:xfrm>
            <a:off x="1234440" y="1280160"/>
            <a:ext cx="502920" cy="502920"/>
          </a:xfrm>
          <a:prstGeom prst="rect">
            <a:avLst/>
          </a:prstGeom>
        </p:spPr>
      </p:pic>
      <p:sp>
        <p:nvSpPr>
          <p:cNvPr id="6" name="Text 3"/>
          <p:cNvSpPr/>
          <p:nvPr/>
        </p:nvSpPr>
        <p:spPr>
          <a:xfrm>
            <a:off x="64008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01 · Streaming</a:t>
            </a:r>
            <a:endParaRPr lang="en-US" sz="1200" dirty="0"/>
          </a:p>
        </p:txBody>
      </p:sp>
      <p:sp>
        <p:nvSpPr>
          <p:cNvPr id="7" name="Text 4"/>
          <p:cNvSpPr/>
          <p:nvPr/>
        </p:nvSpPr>
        <p:spPr>
          <a:xfrm>
            <a:off x="64008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Bounded response and typed deltas</a:t>
            </a:r>
            <a:endParaRPr lang="en-US" sz="950" dirty="0"/>
          </a:p>
        </p:txBody>
      </p:sp>
      <p:sp>
        <p:nvSpPr>
          <p:cNvPr id="8" name="Shape 5"/>
          <p:cNvSpPr/>
          <p:nvPr/>
        </p:nvSpPr>
        <p:spPr>
          <a:xfrm>
            <a:off x="265176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9" name="Image 1" descr="preencoded.png"/>
          <p:cNvPicPr>
            <a:picLocks noChangeAspect="1"/>
          </p:cNvPicPr>
          <p:nvPr/>
        </p:nvPicPr>
        <p:blipFill>
          <a:blip r:embed="rId4"/>
          <a:stretch>
            <a:fillRect/>
          </a:stretch>
        </p:blipFill>
        <p:spPr>
          <a:xfrm>
            <a:off x="3337560" y="1280160"/>
            <a:ext cx="502920" cy="502920"/>
          </a:xfrm>
          <a:prstGeom prst="rect">
            <a:avLst/>
          </a:prstGeom>
        </p:spPr>
      </p:pic>
      <p:sp>
        <p:nvSpPr>
          <p:cNvPr id="10" name="Text 6"/>
          <p:cNvSpPr/>
          <p:nvPr/>
        </p:nvSpPr>
        <p:spPr>
          <a:xfrm>
            <a:off x="274320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02 · Custom tool</a:t>
            </a:r>
            <a:endParaRPr lang="en-US" sz="1200" dirty="0"/>
          </a:p>
        </p:txBody>
      </p:sp>
      <p:sp>
        <p:nvSpPr>
          <p:cNvPr id="11" name="Text 7"/>
          <p:cNvSpPr/>
          <p:nvPr/>
        </p:nvSpPr>
        <p:spPr>
          <a:xfrm>
            <a:off x="274320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Pydantic schema and host handler</a:t>
            </a:r>
            <a:endParaRPr lang="en-US" sz="950" dirty="0"/>
          </a:p>
        </p:txBody>
      </p:sp>
      <p:sp>
        <p:nvSpPr>
          <p:cNvPr id="12" name="Shape 8"/>
          <p:cNvSpPr/>
          <p:nvPr/>
        </p:nvSpPr>
        <p:spPr>
          <a:xfrm>
            <a:off x="475488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3" name="Image 2" descr="preencoded.png"/>
          <p:cNvPicPr>
            <a:picLocks noChangeAspect="1"/>
          </p:cNvPicPr>
          <p:nvPr/>
        </p:nvPicPr>
        <p:blipFill>
          <a:blip r:embed="rId5"/>
          <a:stretch>
            <a:fillRect/>
          </a:stretch>
        </p:blipFill>
        <p:spPr>
          <a:xfrm>
            <a:off x="5440680" y="1280160"/>
            <a:ext cx="502920" cy="502920"/>
          </a:xfrm>
          <a:prstGeom prst="rect">
            <a:avLst/>
          </a:prstGeom>
        </p:spPr>
      </p:pic>
      <p:sp>
        <p:nvSpPr>
          <p:cNvPr id="14" name="Text 9"/>
          <p:cNvSpPr/>
          <p:nvPr/>
        </p:nvSpPr>
        <p:spPr>
          <a:xfrm>
            <a:off x="484632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03 · Agents</a:t>
            </a:r>
            <a:endParaRPr lang="en-US" sz="1200" dirty="0"/>
          </a:p>
        </p:txBody>
      </p:sp>
      <p:sp>
        <p:nvSpPr>
          <p:cNvPr id="15" name="Text 10"/>
          <p:cNvSpPr/>
          <p:nvPr/>
        </p:nvSpPr>
        <p:spPr>
          <a:xfrm>
            <a:off x="484632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Explicit persona selection and handoff</a:t>
            </a:r>
            <a:endParaRPr lang="en-US" sz="950" dirty="0"/>
          </a:p>
        </p:txBody>
      </p:sp>
      <p:sp>
        <p:nvSpPr>
          <p:cNvPr id="16" name="Shape 11"/>
          <p:cNvSpPr/>
          <p:nvPr/>
        </p:nvSpPr>
        <p:spPr>
          <a:xfrm>
            <a:off x="6858000" y="109728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7" name="Image 3" descr="preencoded.png"/>
          <p:cNvPicPr>
            <a:picLocks noChangeAspect="1"/>
          </p:cNvPicPr>
          <p:nvPr/>
        </p:nvPicPr>
        <p:blipFill>
          <a:blip r:embed="rId6"/>
          <a:stretch>
            <a:fillRect/>
          </a:stretch>
        </p:blipFill>
        <p:spPr>
          <a:xfrm>
            <a:off x="7543800" y="1280160"/>
            <a:ext cx="502920" cy="502920"/>
          </a:xfrm>
          <a:prstGeom prst="rect">
            <a:avLst/>
          </a:prstGeom>
        </p:spPr>
      </p:pic>
      <p:sp>
        <p:nvSpPr>
          <p:cNvPr id="18" name="Text 12"/>
          <p:cNvSpPr/>
          <p:nvPr/>
        </p:nvSpPr>
        <p:spPr>
          <a:xfrm>
            <a:off x="6949440" y="187452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04 · Hooks</a:t>
            </a:r>
            <a:endParaRPr lang="en-US" sz="1200" dirty="0"/>
          </a:p>
        </p:txBody>
      </p:sp>
      <p:sp>
        <p:nvSpPr>
          <p:cNvPr id="19" name="Text 13"/>
          <p:cNvSpPr/>
          <p:nvPr/>
        </p:nvSpPr>
        <p:spPr>
          <a:xfrm>
            <a:off x="6949440" y="219456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Pre-call, success, and failure</a:t>
            </a:r>
            <a:endParaRPr lang="en-US" sz="950" dirty="0"/>
          </a:p>
        </p:txBody>
      </p:sp>
      <p:sp>
        <p:nvSpPr>
          <p:cNvPr id="20" name="Shape 14"/>
          <p:cNvSpPr/>
          <p:nvPr/>
        </p:nvSpPr>
        <p:spPr>
          <a:xfrm>
            <a:off x="54864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1" name="Image 4" descr="preencoded.png"/>
          <p:cNvPicPr>
            <a:picLocks noChangeAspect="1"/>
          </p:cNvPicPr>
          <p:nvPr/>
        </p:nvPicPr>
        <p:blipFill>
          <a:blip r:embed="rId7"/>
          <a:stretch>
            <a:fillRect/>
          </a:stretch>
        </p:blipFill>
        <p:spPr>
          <a:xfrm>
            <a:off x="1234440" y="3154680"/>
            <a:ext cx="502920" cy="502920"/>
          </a:xfrm>
          <a:prstGeom prst="rect">
            <a:avLst/>
          </a:prstGeom>
        </p:spPr>
      </p:pic>
      <p:sp>
        <p:nvSpPr>
          <p:cNvPr id="22" name="Text 15"/>
          <p:cNvSpPr/>
          <p:nvPr/>
        </p:nvSpPr>
        <p:spPr>
          <a:xfrm>
            <a:off x="64008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05 · MCP</a:t>
            </a:r>
            <a:endParaRPr lang="en-US" sz="1200" dirty="0"/>
          </a:p>
        </p:txBody>
      </p:sp>
      <p:sp>
        <p:nvSpPr>
          <p:cNvPr id="23" name="Text 16"/>
          <p:cNvSpPr/>
          <p:nvPr/>
        </p:nvSpPr>
        <p:spPr>
          <a:xfrm>
            <a:off x="64008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Separate connection and authentication</a:t>
            </a:r>
            <a:endParaRPr lang="en-US" sz="950" dirty="0"/>
          </a:p>
        </p:txBody>
      </p:sp>
      <p:sp>
        <p:nvSpPr>
          <p:cNvPr id="24" name="Shape 17"/>
          <p:cNvSpPr/>
          <p:nvPr/>
        </p:nvSpPr>
        <p:spPr>
          <a:xfrm>
            <a:off x="265176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5" name="Image 5" descr="preencoded.png"/>
          <p:cNvPicPr>
            <a:picLocks noChangeAspect="1"/>
          </p:cNvPicPr>
          <p:nvPr/>
        </p:nvPicPr>
        <p:blipFill>
          <a:blip r:embed="rId8"/>
          <a:stretch>
            <a:fillRect/>
          </a:stretch>
        </p:blipFill>
        <p:spPr>
          <a:xfrm>
            <a:off x="3337560" y="3154680"/>
            <a:ext cx="502920" cy="502920"/>
          </a:xfrm>
          <a:prstGeom prst="rect">
            <a:avLst/>
          </a:prstGeom>
        </p:spPr>
      </p:pic>
      <p:sp>
        <p:nvSpPr>
          <p:cNvPr id="26" name="Text 18"/>
          <p:cNvSpPr/>
          <p:nvPr/>
        </p:nvSpPr>
        <p:spPr>
          <a:xfrm>
            <a:off x="274320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06 · Persistence</a:t>
            </a:r>
            <a:endParaRPr lang="en-US" sz="1200" dirty="0"/>
          </a:p>
        </p:txBody>
      </p:sp>
      <p:sp>
        <p:nvSpPr>
          <p:cNvPr id="27" name="Text 19"/>
          <p:cNvSpPr/>
          <p:nvPr/>
        </p:nvSpPr>
        <p:spPr>
          <a:xfrm>
            <a:off x="274320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Create, detach, and cold resume</a:t>
            </a:r>
            <a:endParaRPr lang="en-US" sz="950" dirty="0"/>
          </a:p>
        </p:txBody>
      </p:sp>
      <p:sp>
        <p:nvSpPr>
          <p:cNvPr id="28" name="Shape 20"/>
          <p:cNvSpPr/>
          <p:nvPr/>
        </p:nvSpPr>
        <p:spPr>
          <a:xfrm>
            <a:off x="475488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9" name="Image 6" descr="preencoded.png"/>
          <p:cNvPicPr>
            <a:picLocks noChangeAspect="1"/>
          </p:cNvPicPr>
          <p:nvPr/>
        </p:nvPicPr>
        <p:blipFill>
          <a:blip r:embed="rId9"/>
          <a:stretch>
            <a:fillRect/>
          </a:stretch>
        </p:blipFill>
        <p:spPr>
          <a:xfrm>
            <a:off x="5440680" y="3154680"/>
            <a:ext cx="502920" cy="502920"/>
          </a:xfrm>
          <a:prstGeom prst="rect">
            <a:avLst/>
          </a:prstGeom>
        </p:spPr>
      </p:pic>
      <p:sp>
        <p:nvSpPr>
          <p:cNvPr id="30" name="Text 21"/>
          <p:cNvSpPr/>
          <p:nvPr/>
        </p:nvSpPr>
        <p:spPr>
          <a:xfrm>
            <a:off x="484632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07 · Human control</a:t>
            </a:r>
            <a:endParaRPr lang="en-US" sz="1200" dirty="0"/>
          </a:p>
        </p:txBody>
      </p:sp>
      <p:sp>
        <p:nvSpPr>
          <p:cNvPr id="31" name="Text 22"/>
          <p:cNvSpPr/>
          <p:nvPr/>
        </p:nvSpPr>
        <p:spPr>
          <a:xfrm>
            <a:off x="484632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Structured input and exact approval</a:t>
            </a:r>
            <a:endParaRPr lang="en-US" sz="950" dirty="0"/>
          </a:p>
        </p:txBody>
      </p:sp>
      <p:sp>
        <p:nvSpPr>
          <p:cNvPr id="32" name="Shape 23"/>
          <p:cNvSpPr/>
          <p:nvPr/>
        </p:nvSpPr>
        <p:spPr>
          <a:xfrm>
            <a:off x="6858000" y="2971800"/>
            <a:ext cx="1874520" cy="16459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33" name="Image 7" descr="preencoded.png"/>
          <p:cNvPicPr>
            <a:picLocks noChangeAspect="1"/>
          </p:cNvPicPr>
          <p:nvPr/>
        </p:nvPicPr>
        <p:blipFill>
          <a:blip r:embed="rId10"/>
          <a:stretch>
            <a:fillRect/>
          </a:stretch>
        </p:blipFill>
        <p:spPr>
          <a:xfrm>
            <a:off x="7543800" y="3154680"/>
            <a:ext cx="502920" cy="502920"/>
          </a:xfrm>
          <a:prstGeom prst="rect">
            <a:avLst/>
          </a:prstGeom>
        </p:spPr>
      </p:pic>
      <p:sp>
        <p:nvSpPr>
          <p:cNvPr id="34" name="Text 24"/>
          <p:cNvSpPr/>
          <p:nvPr/>
        </p:nvSpPr>
        <p:spPr>
          <a:xfrm>
            <a:off x="6949440" y="3749040"/>
            <a:ext cx="1691640" cy="274320"/>
          </a:xfrm>
          <a:prstGeom prst="rect">
            <a:avLst/>
          </a:prstGeom>
          <a:noFill/>
          <a:ln>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08 · Sandbox</a:t>
            </a:r>
            <a:endParaRPr lang="en-US" sz="1200" dirty="0"/>
          </a:p>
        </p:txBody>
      </p:sp>
      <p:sp>
        <p:nvSpPr>
          <p:cNvPr id="35" name="Text 25"/>
          <p:cNvSpPr/>
          <p:nvPr/>
        </p:nvSpPr>
        <p:spPr>
          <a:xfrm>
            <a:off x="6949440" y="4069080"/>
            <a:ext cx="1691640" cy="365760"/>
          </a:xfrm>
          <a:prstGeom prst="rect">
            <a:avLst/>
          </a:prstGeom>
          <a:noFill/>
          <a:ln>
            <a:noFill/>
          </a:ln>
        </p:spPr>
        <p:txBody>
          <a:bodyPr wrap="square" lIns="0" tIns="0" rIns="0" bIns="0" rtlCol="0" anchor="ctr"/>
          <a:lstStyle/>
          <a:p>
            <a:pPr marL="0" indent="0" algn="ctr">
              <a:buNone/>
            </a:pPr>
            <a:r>
              <a:rPr lang="en-US" sz="950" dirty="0">
                <a:solidFill>
                  <a:srgbClr val="8B949E"/>
                </a:solidFill>
                <a:latin typeface="Calibri" pitchFamily="34" charset="0"/>
                <a:ea typeface="Calibri" pitchFamily="34" charset="-122"/>
                <a:cs typeface="Calibri" pitchFamily="34" charset="-120"/>
              </a:rPr>
              <a:t>Experimental containment and bypass</a:t>
            </a:r>
            <a:endParaRPr lang="en-US" sz="950" dirty="0"/>
          </a:p>
        </p:txBody>
      </p:sp>
      <p:sp>
        <p:nvSpPr>
          <p:cNvPr id="38"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 / 24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Production Responsibilities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1097280"/>
          </a:xfrm>
          <a:prstGeom prst="line">
            <a:avLst/>
          </a:prstGeom>
          <a:solidFill>
            <a:srgbClr val="161B22"/>
          </a:solidFill>
          <a:ln w="12700">
            <a:prstDash val="solid"/>
          </a:ln>
        </p:spPr>
        <p:txBody>
          <a:bodyPr/>
          <a:lstStyle/>
          <a:p>
            <a:endParaRPr/>
          </a:p>
        </p:txBody>
      </p:sp>
      <p:pic>
        <p:nvPicPr>
          <p:cNvPr id="6" name="Image 1" descr="preencoded.png"/>
          <p:cNvPicPr>
            <a:picLocks noChangeAspect="1"/>
          </p:cNvPicPr>
          <p:nvPr/>
        </p:nvPicPr>
        <p:blipFill>
          <a:blip r:embed="rId4"/>
          <a:stretch>
            <a:fillRect/>
          </a:stretch>
        </p:blipFill>
        <p:spPr>
          <a:xfrm>
            <a:off x="731520" y="1143000"/>
            <a:ext cx="365760" cy="365760"/>
          </a:xfrm>
          <a:prstGeom prst="rect">
            <a:avLst/>
          </a:prstGeom>
        </p:spPr>
      </p:pic>
      <p:sp>
        <p:nvSpPr>
          <p:cNvPr id="7" name="Text 3"/>
          <p:cNvSpPr/>
          <p:nvPr/>
        </p:nvSpPr>
        <p:spPr>
          <a:xfrm>
            <a:off x="365760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Identity</a:t>
            </a:r>
            <a:endParaRPr lang="en-US" sz="700" dirty="0"/>
          </a:p>
        </p:txBody>
      </p:sp>
      <p:sp>
        <p:nvSpPr>
          <p:cNvPr id="8" name="Text 4"/>
          <p:cNvSpPr/>
          <p:nvPr/>
        </p:nvSpPr>
        <p:spPr>
          <a:xfrm>
            <a:off x="118872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Authenticate every principal</a:t>
            </a:r>
            <a:endParaRPr lang="en-US" sz="1300" dirty="0"/>
          </a:p>
        </p:txBody>
      </p:sp>
      <p:sp>
        <p:nvSpPr>
          <p:cNvPr id="9" name="Text 5"/>
          <p:cNvSpPr/>
          <p:nvPr/>
        </p:nvSpPr>
        <p:spPr>
          <a:xfrm>
            <a:off x="118872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Bind clients and sessions to verified users or services</a:t>
            </a:r>
            <a:endParaRPr lang="en-US" sz="1000" dirty="0"/>
          </a:p>
        </p:txBody>
      </p:sp>
      <p:sp>
        <p:nvSpPr>
          <p:cNvPr id="10" name="Shape 6"/>
          <p:cNvSpPr/>
          <p:nvPr/>
        </p:nvSpPr>
        <p:spPr>
          <a:xfrm>
            <a:off x="4754880" y="1005840"/>
            <a:ext cx="3931920" cy="1097280"/>
          </a:xfrm>
          <a:prstGeom prst="line">
            <a:avLst/>
          </a:prstGeom>
          <a:solidFill>
            <a:srgbClr val="161B22"/>
          </a:solidFill>
          <a:ln w="12700">
            <a:prstDash val="solid"/>
          </a:ln>
        </p:spPr>
        <p:txBody>
          <a:bodyPr/>
          <a:lstStyle/>
          <a:p>
            <a:endParaRPr/>
          </a:p>
        </p:txBody>
      </p:sp>
      <p:pic>
        <p:nvPicPr>
          <p:cNvPr id="11" name="Image 2" descr="preencoded.png"/>
          <p:cNvPicPr>
            <a:picLocks noChangeAspect="1"/>
          </p:cNvPicPr>
          <p:nvPr/>
        </p:nvPicPr>
        <p:blipFill>
          <a:blip r:embed="rId5"/>
          <a:stretch>
            <a:fillRect/>
          </a:stretch>
        </p:blipFill>
        <p:spPr>
          <a:xfrm>
            <a:off x="4937760" y="1143000"/>
            <a:ext cx="365760" cy="365760"/>
          </a:xfrm>
          <a:prstGeom prst="rect">
            <a:avLst/>
          </a:prstGeom>
        </p:spPr>
      </p:pic>
      <p:sp>
        <p:nvSpPr>
          <p:cNvPr id="12" name="Text 7"/>
          <p:cNvSpPr/>
          <p:nvPr/>
        </p:nvSpPr>
        <p:spPr>
          <a:xfrm>
            <a:off x="786384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Ownership</a:t>
            </a:r>
            <a:endParaRPr lang="en-US" sz="700" dirty="0"/>
          </a:p>
        </p:txBody>
      </p:sp>
      <p:sp>
        <p:nvSpPr>
          <p:cNvPr id="13" name="Text 8"/>
          <p:cNvSpPr/>
          <p:nvPr/>
        </p:nvSpPr>
        <p:spPr>
          <a:xfrm>
            <a:off x="539496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Authorize session lifecycle</a:t>
            </a:r>
            <a:endParaRPr lang="en-US" sz="1300" dirty="0"/>
          </a:p>
        </p:txBody>
      </p:sp>
      <p:sp>
        <p:nvSpPr>
          <p:cNvPr id="14" name="Text 9"/>
          <p:cNvSpPr/>
          <p:nvPr/>
        </p:nvSpPr>
        <p:spPr>
          <a:xfrm>
            <a:off x="539496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Create, resume, steer, and delete only for the owning principal</a:t>
            </a:r>
            <a:endParaRPr lang="en-US" sz="1000" dirty="0"/>
          </a:p>
        </p:txBody>
      </p:sp>
      <p:sp>
        <p:nvSpPr>
          <p:cNvPr id="15" name="Shape 10"/>
          <p:cNvSpPr/>
          <p:nvPr/>
        </p:nvSpPr>
        <p:spPr>
          <a:xfrm>
            <a:off x="548640" y="2286000"/>
            <a:ext cx="3931920" cy="1097280"/>
          </a:xfrm>
          <a:prstGeom prst="line">
            <a:avLst/>
          </a:prstGeom>
          <a:solidFill>
            <a:srgbClr val="161B22"/>
          </a:solidFill>
          <a:ln w="12700">
            <a:prstDash val="solid"/>
          </a:ln>
        </p:spPr>
        <p:txBody>
          <a:bodyPr/>
          <a:lstStyle/>
          <a:p>
            <a:endParaRPr/>
          </a:p>
        </p:txBody>
      </p:sp>
      <p:pic>
        <p:nvPicPr>
          <p:cNvPr id="16" name="Image 3" descr="preencoded.png"/>
          <p:cNvPicPr>
            <a:picLocks noChangeAspect="1"/>
          </p:cNvPicPr>
          <p:nvPr/>
        </p:nvPicPr>
        <p:blipFill>
          <a:blip r:embed="rId6"/>
          <a:stretch>
            <a:fillRect/>
          </a:stretch>
        </p:blipFill>
        <p:spPr>
          <a:xfrm>
            <a:off x="731520" y="2423160"/>
            <a:ext cx="365760" cy="365760"/>
          </a:xfrm>
          <a:prstGeom prst="rect">
            <a:avLst/>
          </a:prstGeom>
        </p:spPr>
      </p:pic>
      <p:sp>
        <p:nvSpPr>
          <p:cNvPr id="17" name="Text 11"/>
          <p:cNvSpPr/>
          <p:nvPr/>
        </p:nvSpPr>
        <p:spPr>
          <a:xfrm>
            <a:off x="365760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Isolation</a:t>
            </a:r>
            <a:endParaRPr lang="en-US" sz="700" dirty="0"/>
          </a:p>
        </p:txBody>
      </p:sp>
      <p:sp>
        <p:nvSpPr>
          <p:cNvPr id="18" name="Text 12"/>
          <p:cNvSpPr/>
          <p:nvPr/>
        </p:nvSpPr>
        <p:spPr>
          <a:xfrm>
            <a:off x="118872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Separate workspaces and state</a:t>
            </a:r>
            <a:endParaRPr lang="en-US" sz="1300" dirty="0"/>
          </a:p>
        </p:txBody>
      </p:sp>
      <p:sp>
        <p:nvSpPr>
          <p:cNvPr id="19" name="Text 13"/>
          <p:cNvSpPr/>
          <p:nvPr/>
        </p:nvSpPr>
        <p:spPr>
          <a:xfrm>
            <a:off x="118872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Repositories, temp files, custom tools, credentials, and storage</a:t>
            </a:r>
            <a:endParaRPr lang="en-US" sz="1000" dirty="0"/>
          </a:p>
        </p:txBody>
      </p:sp>
      <p:sp>
        <p:nvSpPr>
          <p:cNvPr id="20" name="Shape 14"/>
          <p:cNvSpPr/>
          <p:nvPr/>
        </p:nvSpPr>
        <p:spPr>
          <a:xfrm>
            <a:off x="4754880" y="2286000"/>
            <a:ext cx="3931920" cy="1097280"/>
          </a:xfrm>
          <a:prstGeom prst="line">
            <a:avLst/>
          </a:prstGeom>
          <a:solidFill>
            <a:srgbClr val="161B22"/>
          </a:solidFill>
          <a:ln w="12700">
            <a:prstDash val="solid"/>
          </a:ln>
        </p:spPr>
        <p:txBody>
          <a:bodyPr/>
          <a:lstStyle/>
          <a:p>
            <a:endParaRPr/>
          </a:p>
        </p:txBody>
      </p:sp>
      <p:pic>
        <p:nvPicPr>
          <p:cNvPr id="21" name="Image 4" descr="preencoded.png"/>
          <p:cNvPicPr>
            <a:picLocks noChangeAspect="1"/>
          </p:cNvPicPr>
          <p:nvPr/>
        </p:nvPicPr>
        <p:blipFill>
          <a:blip r:embed="rId7"/>
          <a:stretch>
            <a:fillRect/>
          </a:stretch>
        </p:blipFill>
        <p:spPr>
          <a:xfrm>
            <a:off x="4937760" y="2423160"/>
            <a:ext cx="365760" cy="365760"/>
          </a:xfrm>
          <a:prstGeom prst="rect">
            <a:avLst/>
          </a:prstGeom>
        </p:spPr>
      </p:pic>
      <p:sp>
        <p:nvSpPr>
          <p:cNvPr id="22" name="Text 15"/>
          <p:cNvSpPr/>
          <p:nvPr/>
        </p:nvSpPr>
        <p:spPr>
          <a:xfrm>
            <a:off x="786384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Flow Control</a:t>
            </a:r>
            <a:endParaRPr lang="en-US" sz="700" dirty="0"/>
          </a:p>
        </p:txBody>
      </p:sp>
      <p:sp>
        <p:nvSpPr>
          <p:cNvPr id="23" name="Text 16"/>
          <p:cNvSpPr/>
          <p:nvPr/>
        </p:nvSpPr>
        <p:spPr>
          <a:xfrm>
            <a:off x="539496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Route and serialize turns</a:t>
            </a:r>
            <a:endParaRPr lang="en-US" sz="1300" dirty="0"/>
          </a:p>
        </p:txBody>
      </p:sp>
      <p:sp>
        <p:nvSpPr>
          <p:cNvPr id="24" name="Text 17"/>
          <p:cNvSpPr/>
          <p:nvPr/>
        </p:nvSpPr>
        <p:spPr>
          <a:xfrm>
            <a:off x="539496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Bound concurrency, credits, time, and queued work</a:t>
            </a:r>
            <a:endParaRPr lang="en-US" sz="1000" dirty="0"/>
          </a:p>
        </p:txBody>
      </p:sp>
      <p:sp>
        <p:nvSpPr>
          <p:cNvPr id="25" name="Shape 18"/>
          <p:cNvSpPr/>
          <p:nvPr/>
        </p:nvSpPr>
        <p:spPr>
          <a:xfrm>
            <a:off x="548640" y="3566160"/>
            <a:ext cx="3931920" cy="1097280"/>
          </a:xfrm>
          <a:prstGeom prst="line">
            <a:avLst/>
          </a:prstGeom>
          <a:solidFill>
            <a:srgbClr val="161B22"/>
          </a:solidFill>
          <a:ln w="12700">
            <a:prstDash val="solid"/>
          </a:ln>
        </p:spPr>
        <p:txBody>
          <a:bodyPr/>
          <a:lstStyle/>
          <a:p>
            <a:endParaRPr/>
          </a:p>
        </p:txBody>
      </p:sp>
      <p:pic>
        <p:nvPicPr>
          <p:cNvPr id="26" name="Image 5" descr="preencoded.png"/>
          <p:cNvPicPr>
            <a:picLocks noChangeAspect="1"/>
          </p:cNvPicPr>
          <p:nvPr/>
        </p:nvPicPr>
        <p:blipFill>
          <a:blip r:embed="rId8"/>
          <a:stretch>
            <a:fillRect/>
          </a:stretch>
        </p:blipFill>
        <p:spPr>
          <a:xfrm>
            <a:off x="731520" y="3703320"/>
            <a:ext cx="365760" cy="365760"/>
          </a:xfrm>
          <a:prstGeom prst="rect">
            <a:avLst/>
          </a:prstGeom>
        </p:spPr>
      </p:pic>
      <p:sp>
        <p:nvSpPr>
          <p:cNvPr id="27" name="Text 19"/>
          <p:cNvSpPr/>
          <p:nvPr/>
        </p:nvSpPr>
        <p:spPr>
          <a:xfrm>
            <a:off x="365760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Observability</a:t>
            </a:r>
            <a:endParaRPr lang="en-US" sz="700" dirty="0"/>
          </a:p>
        </p:txBody>
      </p:sp>
      <p:sp>
        <p:nvSpPr>
          <p:cNvPr id="28" name="Text 20"/>
          <p:cNvSpPr/>
          <p:nvPr/>
        </p:nvSpPr>
        <p:spPr>
          <a:xfrm>
            <a:off x="118872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Trace without leaking content</a:t>
            </a:r>
            <a:endParaRPr lang="en-US" sz="1300" dirty="0"/>
          </a:p>
        </p:txBody>
      </p:sp>
      <p:sp>
        <p:nvSpPr>
          <p:cNvPr id="29" name="Text 21"/>
          <p:cNvSpPr/>
          <p:nvPr/>
        </p:nvSpPr>
        <p:spPr>
          <a:xfrm>
            <a:off x="118872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Record decisions and outcomes; redact secrets and private payloads</a:t>
            </a:r>
            <a:endParaRPr lang="en-US" sz="1000" dirty="0"/>
          </a:p>
        </p:txBody>
      </p:sp>
      <p:sp>
        <p:nvSpPr>
          <p:cNvPr id="30" name="Shape 22"/>
          <p:cNvSpPr/>
          <p:nvPr/>
        </p:nvSpPr>
        <p:spPr>
          <a:xfrm>
            <a:off x="4754880" y="3566160"/>
            <a:ext cx="3931920" cy="1097280"/>
          </a:xfrm>
          <a:prstGeom prst="line">
            <a:avLst/>
          </a:prstGeom>
          <a:solidFill>
            <a:srgbClr val="161B22"/>
          </a:solidFill>
          <a:ln w="12700">
            <a:prstDash val="solid"/>
          </a:ln>
        </p:spPr>
        <p:txBody>
          <a:bodyPr/>
          <a:lstStyle/>
          <a:p>
            <a:endParaRPr/>
          </a:p>
        </p:txBody>
      </p:sp>
      <p:pic>
        <p:nvPicPr>
          <p:cNvPr id="31" name="Image 6" descr="preencoded.png"/>
          <p:cNvPicPr>
            <a:picLocks noChangeAspect="1"/>
          </p:cNvPicPr>
          <p:nvPr/>
        </p:nvPicPr>
        <p:blipFill>
          <a:blip r:embed="rId9"/>
          <a:stretch>
            <a:fillRect/>
          </a:stretch>
        </p:blipFill>
        <p:spPr>
          <a:xfrm>
            <a:off x="4937760" y="3703320"/>
            <a:ext cx="365760" cy="365760"/>
          </a:xfrm>
          <a:prstGeom prst="rect">
            <a:avLst/>
          </a:prstGeom>
        </p:spPr>
      </p:pic>
      <p:sp>
        <p:nvSpPr>
          <p:cNvPr id="32" name="Text 23"/>
          <p:cNvSpPr/>
          <p:nvPr/>
        </p:nvSpPr>
        <p:spPr>
          <a:xfrm>
            <a:off x="786384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Network and Secrets</a:t>
            </a:r>
            <a:endParaRPr lang="en-US" sz="700" dirty="0"/>
          </a:p>
        </p:txBody>
      </p:sp>
      <p:sp>
        <p:nvSpPr>
          <p:cNvPr id="33" name="Text 24"/>
          <p:cNvSpPr/>
          <p:nvPr/>
        </p:nvSpPr>
        <p:spPr>
          <a:xfrm>
            <a:off x="539496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Use least privilege</a:t>
            </a:r>
            <a:endParaRPr lang="en-US" sz="1300" dirty="0"/>
          </a:p>
        </p:txBody>
      </p:sp>
      <p:sp>
        <p:nvSpPr>
          <p:cNvPr id="34" name="Text 25"/>
          <p:cNvSpPr/>
          <p:nvPr/>
        </p:nvSpPr>
        <p:spPr>
          <a:xfrm>
            <a:off x="539496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Control egress and authenticate each generic MCP connection separately</a:t>
            </a:r>
            <a:endParaRPr lang="en-US" sz="1000" dirty="0"/>
          </a:p>
        </p:txBody>
      </p:sp>
      <p:sp>
        <p:nvSpPr>
          <p:cNvPr id="37"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22 / 24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More Use Cases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1097280"/>
          </a:xfrm>
          <a:prstGeom prst="line">
            <a:avLst/>
          </a:prstGeom>
          <a:solidFill>
            <a:srgbClr val="161B22"/>
          </a:solidFill>
          <a:ln w="12700">
            <a:prstDash val="solid"/>
          </a:ln>
        </p:spPr>
        <p:txBody>
          <a:bodyPr/>
          <a:lstStyle/>
          <a:p>
            <a:endParaRPr/>
          </a:p>
        </p:txBody>
      </p:sp>
      <p:pic>
        <p:nvPicPr>
          <p:cNvPr id="6" name="Image 1" descr="preencoded.png"/>
          <p:cNvPicPr>
            <a:picLocks noChangeAspect="1"/>
          </p:cNvPicPr>
          <p:nvPr/>
        </p:nvPicPr>
        <p:blipFill>
          <a:blip r:embed="rId4"/>
          <a:stretch>
            <a:fillRect/>
          </a:stretch>
        </p:blipFill>
        <p:spPr>
          <a:xfrm>
            <a:off x="731520" y="1143000"/>
            <a:ext cx="365760" cy="365760"/>
          </a:xfrm>
          <a:prstGeom prst="rect">
            <a:avLst/>
          </a:prstGeom>
        </p:spPr>
      </p:pic>
      <p:sp>
        <p:nvSpPr>
          <p:cNvPr id="7" name="Text 3"/>
          <p:cNvSpPr/>
          <p:nvPr/>
        </p:nvSpPr>
        <p:spPr>
          <a:xfrm>
            <a:off x="365760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Product</a:t>
            </a:r>
            <a:endParaRPr lang="en-US" sz="700" dirty="0"/>
          </a:p>
        </p:txBody>
      </p:sp>
      <p:sp>
        <p:nvSpPr>
          <p:cNvPr id="8" name="Text 4"/>
          <p:cNvSpPr/>
          <p:nvPr/>
        </p:nvSpPr>
        <p:spPr>
          <a:xfrm>
            <a:off x="118872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AI-Powered SaaS Products</a:t>
            </a:r>
            <a:endParaRPr lang="en-US" sz="1300" dirty="0"/>
          </a:p>
        </p:txBody>
      </p:sp>
      <p:sp>
        <p:nvSpPr>
          <p:cNvPr id="9" name="Text 5"/>
          <p:cNvSpPr/>
          <p:nvPr/>
        </p:nvSpPr>
        <p:spPr>
          <a:xfrm>
            <a:off x="118872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Embed agentic AI in customer-facing apps with per-user OAuth and session isolation</a:t>
            </a:r>
            <a:endParaRPr lang="en-US" sz="1000" dirty="0"/>
          </a:p>
        </p:txBody>
      </p:sp>
      <p:sp>
        <p:nvSpPr>
          <p:cNvPr id="10" name="Shape 6"/>
          <p:cNvSpPr/>
          <p:nvPr/>
        </p:nvSpPr>
        <p:spPr>
          <a:xfrm>
            <a:off x="4754880" y="1005840"/>
            <a:ext cx="3931920" cy="1097280"/>
          </a:xfrm>
          <a:prstGeom prst="line">
            <a:avLst/>
          </a:prstGeom>
          <a:solidFill>
            <a:srgbClr val="161B22"/>
          </a:solidFill>
          <a:ln w="12700">
            <a:prstDash val="solid"/>
          </a:ln>
        </p:spPr>
        <p:txBody>
          <a:bodyPr/>
          <a:lstStyle/>
          <a:p>
            <a:endParaRPr/>
          </a:p>
        </p:txBody>
      </p:sp>
      <p:pic>
        <p:nvPicPr>
          <p:cNvPr id="11" name="Image 2" descr="preencoded.png"/>
          <p:cNvPicPr>
            <a:picLocks noChangeAspect="1"/>
          </p:cNvPicPr>
          <p:nvPr/>
        </p:nvPicPr>
        <p:blipFill>
          <a:blip r:embed="rId5"/>
          <a:stretch>
            <a:fillRect/>
          </a:stretch>
        </p:blipFill>
        <p:spPr>
          <a:xfrm>
            <a:off x="4937760" y="1143000"/>
            <a:ext cx="365760" cy="365760"/>
          </a:xfrm>
          <a:prstGeom prst="rect">
            <a:avLst/>
          </a:prstGeom>
        </p:spPr>
      </p:pic>
      <p:sp>
        <p:nvSpPr>
          <p:cNvPr id="12" name="Text 7"/>
          <p:cNvSpPr/>
          <p:nvPr/>
        </p:nvSpPr>
        <p:spPr>
          <a:xfrm>
            <a:off x="7863840" y="109728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Developer</a:t>
            </a:r>
            <a:endParaRPr lang="en-US" sz="700" dirty="0"/>
          </a:p>
        </p:txBody>
      </p:sp>
      <p:sp>
        <p:nvSpPr>
          <p:cNvPr id="13" name="Text 8"/>
          <p:cNvSpPr/>
          <p:nvPr/>
        </p:nvSpPr>
        <p:spPr>
          <a:xfrm>
            <a:off x="5394960" y="111556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Custom IDE Extensions</a:t>
            </a:r>
            <a:endParaRPr lang="en-US" sz="1300" dirty="0"/>
          </a:p>
        </p:txBody>
      </p:sp>
      <p:sp>
        <p:nvSpPr>
          <p:cNvPr id="14" name="Text 9"/>
          <p:cNvSpPr/>
          <p:nvPr/>
        </p:nvSpPr>
        <p:spPr>
          <a:xfrm>
            <a:off x="5394960" y="146304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Build specialized coding assistants for domain-specific languages or frameworks</a:t>
            </a:r>
            <a:endParaRPr lang="en-US" sz="1000" dirty="0"/>
          </a:p>
        </p:txBody>
      </p:sp>
      <p:sp>
        <p:nvSpPr>
          <p:cNvPr id="15" name="Shape 10"/>
          <p:cNvSpPr/>
          <p:nvPr/>
        </p:nvSpPr>
        <p:spPr>
          <a:xfrm>
            <a:off x="548640" y="2286000"/>
            <a:ext cx="3931920" cy="1097280"/>
          </a:xfrm>
          <a:prstGeom prst="line">
            <a:avLst/>
          </a:prstGeom>
          <a:solidFill>
            <a:srgbClr val="161B22"/>
          </a:solidFill>
          <a:ln w="12700">
            <a:prstDash val="solid"/>
          </a:ln>
        </p:spPr>
        <p:txBody>
          <a:bodyPr/>
          <a:lstStyle/>
          <a:p>
            <a:endParaRPr/>
          </a:p>
        </p:txBody>
      </p:sp>
      <p:pic>
        <p:nvPicPr>
          <p:cNvPr id="16" name="Image 3" descr="preencoded.png"/>
          <p:cNvPicPr>
            <a:picLocks noChangeAspect="1"/>
          </p:cNvPicPr>
          <p:nvPr/>
        </p:nvPicPr>
        <p:blipFill>
          <a:blip r:embed="rId6"/>
          <a:stretch>
            <a:fillRect/>
          </a:stretch>
        </p:blipFill>
        <p:spPr>
          <a:xfrm>
            <a:off x="731520" y="2423160"/>
            <a:ext cx="365760" cy="365760"/>
          </a:xfrm>
          <a:prstGeom prst="rect">
            <a:avLst/>
          </a:prstGeom>
        </p:spPr>
      </p:pic>
      <p:sp>
        <p:nvSpPr>
          <p:cNvPr id="17" name="Text 11"/>
          <p:cNvSpPr/>
          <p:nvPr/>
        </p:nvSpPr>
        <p:spPr>
          <a:xfrm>
            <a:off x="365760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Product</a:t>
            </a:r>
            <a:endParaRPr lang="en-US" sz="700" dirty="0"/>
          </a:p>
        </p:txBody>
      </p:sp>
      <p:sp>
        <p:nvSpPr>
          <p:cNvPr id="18" name="Text 12"/>
          <p:cNvSpPr/>
          <p:nvPr/>
        </p:nvSpPr>
        <p:spPr>
          <a:xfrm>
            <a:off x="118872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API-Powered Chatbots</a:t>
            </a:r>
            <a:endParaRPr lang="en-US" sz="1300" dirty="0"/>
          </a:p>
        </p:txBody>
      </p:sp>
      <p:sp>
        <p:nvSpPr>
          <p:cNvPr id="19" name="Text 13"/>
          <p:cNvSpPr/>
          <p:nvPr/>
        </p:nvSpPr>
        <p:spPr>
          <a:xfrm>
            <a:off x="118872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Backend services powering conversational AI with persistent sessions and streaming</a:t>
            </a:r>
            <a:endParaRPr lang="en-US" sz="1000" dirty="0"/>
          </a:p>
        </p:txBody>
      </p:sp>
      <p:sp>
        <p:nvSpPr>
          <p:cNvPr id="20" name="Shape 14"/>
          <p:cNvSpPr/>
          <p:nvPr/>
        </p:nvSpPr>
        <p:spPr>
          <a:xfrm>
            <a:off x="4754880" y="2286000"/>
            <a:ext cx="3931920" cy="1097280"/>
          </a:xfrm>
          <a:prstGeom prst="line">
            <a:avLst/>
          </a:prstGeom>
          <a:solidFill>
            <a:srgbClr val="161B22"/>
          </a:solidFill>
          <a:ln w="12700">
            <a:prstDash val="solid"/>
          </a:ln>
        </p:spPr>
        <p:txBody>
          <a:bodyPr/>
          <a:lstStyle/>
          <a:p>
            <a:endParaRPr/>
          </a:p>
        </p:txBody>
      </p:sp>
      <p:pic>
        <p:nvPicPr>
          <p:cNvPr id="21" name="Image 4" descr="preencoded.png"/>
          <p:cNvPicPr>
            <a:picLocks noChangeAspect="1"/>
          </p:cNvPicPr>
          <p:nvPr/>
        </p:nvPicPr>
        <p:blipFill>
          <a:blip r:embed="rId7"/>
          <a:stretch>
            <a:fillRect/>
          </a:stretch>
        </p:blipFill>
        <p:spPr>
          <a:xfrm>
            <a:off x="4937760" y="2423160"/>
            <a:ext cx="365760" cy="365760"/>
          </a:xfrm>
          <a:prstGeom prst="rect">
            <a:avLst/>
          </a:prstGeom>
        </p:spPr>
      </p:pic>
      <p:sp>
        <p:nvSpPr>
          <p:cNvPr id="22" name="Text 15"/>
          <p:cNvSpPr/>
          <p:nvPr/>
        </p:nvSpPr>
        <p:spPr>
          <a:xfrm>
            <a:off x="7863840" y="237744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DevOps</a:t>
            </a:r>
            <a:endParaRPr lang="en-US" sz="700" dirty="0"/>
          </a:p>
        </p:txBody>
      </p:sp>
      <p:sp>
        <p:nvSpPr>
          <p:cNvPr id="23" name="Text 16"/>
          <p:cNvSpPr/>
          <p:nvPr/>
        </p:nvSpPr>
        <p:spPr>
          <a:xfrm>
            <a:off x="5394960" y="239572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DevOps Automation</a:t>
            </a:r>
            <a:endParaRPr lang="en-US" sz="1300" dirty="0"/>
          </a:p>
        </p:txBody>
      </p:sp>
      <p:sp>
        <p:nvSpPr>
          <p:cNvPr id="24" name="Text 17"/>
          <p:cNvSpPr/>
          <p:nvPr/>
        </p:nvSpPr>
        <p:spPr>
          <a:xfrm>
            <a:off x="5394960" y="274320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Agents managing infrastructure, diagnosing issues, and automating deployments</a:t>
            </a:r>
            <a:endParaRPr lang="en-US" sz="1000" dirty="0"/>
          </a:p>
        </p:txBody>
      </p:sp>
      <p:sp>
        <p:nvSpPr>
          <p:cNvPr id="25" name="Shape 18"/>
          <p:cNvSpPr/>
          <p:nvPr/>
        </p:nvSpPr>
        <p:spPr>
          <a:xfrm>
            <a:off x="548640" y="3566160"/>
            <a:ext cx="3931920" cy="1097280"/>
          </a:xfrm>
          <a:prstGeom prst="line">
            <a:avLst/>
          </a:prstGeom>
          <a:solidFill>
            <a:srgbClr val="161B22"/>
          </a:solidFill>
          <a:ln w="12700">
            <a:prstDash val="solid"/>
          </a:ln>
        </p:spPr>
        <p:txBody>
          <a:bodyPr/>
          <a:lstStyle/>
          <a:p>
            <a:endParaRPr/>
          </a:p>
        </p:txBody>
      </p:sp>
      <p:pic>
        <p:nvPicPr>
          <p:cNvPr id="26" name="Image 5" descr="preencoded.png"/>
          <p:cNvPicPr>
            <a:picLocks noChangeAspect="1"/>
          </p:cNvPicPr>
          <p:nvPr/>
        </p:nvPicPr>
        <p:blipFill>
          <a:blip r:embed="rId8"/>
          <a:stretch>
            <a:fillRect/>
          </a:stretch>
        </p:blipFill>
        <p:spPr>
          <a:xfrm>
            <a:off x="731520" y="3703320"/>
            <a:ext cx="365760" cy="365760"/>
          </a:xfrm>
          <a:prstGeom prst="rect">
            <a:avLst/>
          </a:prstGeom>
        </p:spPr>
      </p:pic>
      <p:sp>
        <p:nvSpPr>
          <p:cNvPr id="27" name="Text 19"/>
          <p:cNvSpPr/>
          <p:nvPr/>
        </p:nvSpPr>
        <p:spPr>
          <a:xfrm>
            <a:off x="365760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Enterprise</a:t>
            </a:r>
            <a:endParaRPr lang="en-US" sz="700" dirty="0"/>
          </a:p>
        </p:txBody>
      </p:sp>
      <p:sp>
        <p:nvSpPr>
          <p:cNvPr id="28" name="Text 20"/>
          <p:cNvSpPr/>
          <p:nvPr/>
        </p:nvSpPr>
        <p:spPr>
          <a:xfrm>
            <a:off x="118872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Code Search &amp; Analysis</a:t>
            </a:r>
            <a:endParaRPr lang="en-US" sz="1300" dirty="0"/>
          </a:p>
        </p:txBody>
      </p:sp>
      <p:sp>
        <p:nvSpPr>
          <p:cNvPr id="29" name="Text 21"/>
          <p:cNvSpPr/>
          <p:nvPr/>
        </p:nvSpPr>
        <p:spPr>
          <a:xfrm>
            <a:off x="118872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Build intelligent code exploration tools with read-only agents for large codebases</a:t>
            </a:r>
            <a:endParaRPr lang="en-US" sz="1000" dirty="0"/>
          </a:p>
        </p:txBody>
      </p:sp>
      <p:sp>
        <p:nvSpPr>
          <p:cNvPr id="30" name="Shape 22"/>
          <p:cNvSpPr/>
          <p:nvPr/>
        </p:nvSpPr>
        <p:spPr>
          <a:xfrm>
            <a:off x="4754880" y="3566160"/>
            <a:ext cx="3931920" cy="1097280"/>
          </a:xfrm>
          <a:prstGeom prst="line">
            <a:avLst/>
          </a:prstGeom>
          <a:solidFill>
            <a:srgbClr val="161B22"/>
          </a:solidFill>
          <a:ln w="12700">
            <a:prstDash val="solid"/>
          </a:ln>
        </p:spPr>
        <p:txBody>
          <a:bodyPr/>
          <a:lstStyle/>
          <a:p>
            <a:endParaRPr/>
          </a:p>
        </p:txBody>
      </p:sp>
      <p:pic>
        <p:nvPicPr>
          <p:cNvPr id="31" name="Image 6" descr="preencoded.png"/>
          <p:cNvPicPr>
            <a:picLocks noChangeAspect="1"/>
          </p:cNvPicPr>
          <p:nvPr/>
        </p:nvPicPr>
        <p:blipFill>
          <a:blip r:embed="rId9"/>
          <a:stretch>
            <a:fillRect/>
          </a:stretch>
        </p:blipFill>
        <p:spPr>
          <a:xfrm>
            <a:off x="4937760" y="3703320"/>
            <a:ext cx="365760" cy="365760"/>
          </a:xfrm>
          <a:prstGeom prst="rect">
            <a:avLst/>
          </a:prstGeom>
        </p:spPr>
      </p:pic>
      <p:sp>
        <p:nvSpPr>
          <p:cNvPr id="32" name="Text 23"/>
          <p:cNvSpPr/>
          <p:nvPr/>
        </p:nvSpPr>
        <p:spPr>
          <a:xfrm>
            <a:off x="7863840" y="3657600"/>
            <a:ext cx="640080" cy="201168"/>
          </a:xfrm>
          <a:prstGeom prst="rect">
            <a:avLst/>
          </a:prstGeom>
          <a:noFill/>
          <a:ln>
            <a:noFill/>
          </a:ln>
        </p:spPr>
        <p:txBody>
          <a:bodyPr wrap="square" lIns="0" tIns="0" rIns="0" bIns="0" rtlCol="0" anchor="ctr"/>
          <a:lstStyle/>
          <a:p>
            <a:pPr marL="0" indent="0" algn="ctr">
              <a:buNone/>
            </a:pPr>
            <a:r>
              <a:rPr lang="en-US" sz="700" b="1" dirty="0">
                <a:solidFill>
                  <a:srgbClr val="58A6FF"/>
                </a:solidFill>
                <a:latin typeface="Calibri" pitchFamily="34" charset="0"/>
                <a:ea typeface="Calibri" pitchFamily="34" charset="-122"/>
                <a:cs typeface="Calibri" pitchFamily="34" charset="-120"/>
              </a:rPr>
              <a:t>Platform</a:t>
            </a:r>
            <a:endParaRPr lang="en-US" sz="700" dirty="0"/>
          </a:p>
        </p:txBody>
      </p:sp>
      <p:sp>
        <p:nvSpPr>
          <p:cNvPr id="33" name="Text 24"/>
          <p:cNvSpPr/>
          <p:nvPr/>
        </p:nvSpPr>
        <p:spPr>
          <a:xfrm>
            <a:off x="5394960" y="3675888"/>
            <a:ext cx="237744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Platform SDKs</a:t>
            </a:r>
            <a:endParaRPr lang="en-US" sz="1300" dirty="0"/>
          </a:p>
        </p:txBody>
      </p:sp>
      <p:sp>
        <p:nvSpPr>
          <p:cNvPr id="34" name="Text 25"/>
          <p:cNvSpPr/>
          <p:nvPr/>
        </p:nvSpPr>
        <p:spPr>
          <a:xfrm>
            <a:off x="5394960" y="4023360"/>
            <a:ext cx="3108960" cy="5029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Enable third-party developers to build on Copilot's agent runtime as part of your platform</a:t>
            </a:r>
            <a:endParaRPr lang="en-US" sz="1000" dirty="0"/>
          </a:p>
        </p:txBody>
      </p:sp>
      <p:sp>
        <p:nvSpPr>
          <p:cNvPr id="37"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7 / 28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600" b="1" i="0">
                <a:solidFill>
                  <a:srgbClr val="C9D1D9"/>
                </a:solidFill>
                <a:latin typeface="Calibri"/>
              </a:rPr>
              <a:t>Tool Taxonomy</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Three sources share one filtered catalogue; exact tools depend on runtime and configuration</a:t>
            </a:r>
          </a:p>
        </p:txBody>
      </p:sp>
      <p:sp>
        <p:nvSpPr>
          <p:cNvPr id="4" name="Rectangle 3"/>
          <p:cNvSpPr/>
          <p:nvPr/>
        </p:nvSpPr>
        <p:spPr>
          <a:xfrm>
            <a:off x="548640" y="1143000"/>
            <a:ext cx="2624328" cy="19202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85800" y="1234440"/>
            <a:ext cx="2350008" cy="274320"/>
          </a:xfrm>
          <a:prstGeom prst="rect">
            <a:avLst/>
          </a:prstGeom>
          <a:noFill/>
        </p:spPr>
        <p:txBody>
          <a:bodyPr wrap="square">
            <a:spAutoFit/>
          </a:bodyPr>
          <a:lstStyle/>
          <a:p>
            <a:pPr algn="l">
              <a:spcBef>
                <a:spcPts val="0"/>
              </a:spcBef>
              <a:spcAft>
                <a:spcPts val="0"/>
              </a:spcAft>
            </a:pPr>
            <a:r>
              <a:rPr sz="1200" b="1" i="0">
                <a:solidFill>
                  <a:srgbClr val="58A6FF"/>
                </a:solidFill>
                <a:latin typeface="Calibri"/>
              </a:rPr>
              <a:t>Runtime Built-ins</a:t>
            </a:r>
          </a:p>
        </p:txBody>
      </p:sp>
      <p:sp>
        <p:nvSpPr>
          <p:cNvPr id="6" name="TextBox 5"/>
          <p:cNvSpPr txBox="1"/>
          <p:nvPr/>
        </p:nvSpPr>
        <p:spPr>
          <a:xfrm>
            <a:off x="685800" y="155448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view</a:t>
            </a:r>
          </a:p>
        </p:txBody>
      </p:sp>
      <p:sp>
        <p:nvSpPr>
          <p:cNvPr id="7" name="TextBox 6"/>
          <p:cNvSpPr txBox="1"/>
          <p:nvPr/>
        </p:nvSpPr>
        <p:spPr>
          <a:xfrm>
            <a:off x="1783080" y="155448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Read files or directories</a:t>
            </a:r>
          </a:p>
        </p:txBody>
      </p:sp>
      <p:sp>
        <p:nvSpPr>
          <p:cNvPr id="8" name="TextBox 7"/>
          <p:cNvSpPr txBox="1"/>
          <p:nvPr/>
        </p:nvSpPr>
        <p:spPr>
          <a:xfrm>
            <a:off x="685800" y="182880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glob</a:t>
            </a:r>
          </a:p>
        </p:txBody>
      </p:sp>
      <p:sp>
        <p:nvSpPr>
          <p:cNvPr id="9" name="TextBox 8"/>
          <p:cNvSpPr txBox="1"/>
          <p:nvPr/>
        </p:nvSpPr>
        <p:spPr>
          <a:xfrm>
            <a:off x="1783080" y="182880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Find paths by pattern</a:t>
            </a:r>
          </a:p>
        </p:txBody>
      </p:sp>
      <p:sp>
        <p:nvSpPr>
          <p:cNvPr id="10" name="TextBox 9"/>
          <p:cNvSpPr txBox="1"/>
          <p:nvPr/>
        </p:nvSpPr>
        <p:spPr>
          <a:xfrm>
            <a:off x="685800" y="210312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grep</a:t>
            </a:r>
          </a:p>
        </p:txBody>
      </p:sp>
      <p:sp>
        <p:nvSpPr>
          <p:cNvPr id="11" name="TextBox 10"/>
          <p:cNvSpPr txBox="1"/>
          <p:nvPr/>
        </p:nvSpPr>
        <p:spPr>
          <a:xfrm>
            <a:off x="1783080" y="210312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Search file contents</a:t>
            </a:r>
          </a:p>
        </p:txBody>
      </p:sp>
      <p:sp>
        <p:nvSpPr>
          <p:cNvPr id="12" name="TextBox 11"/>
          <p:cNvSpPr txBox="1"/>
          <p:nvPr/>
        </p:nvSpPr>
        <p:spPr>
          <a:xfrm>
            <a:off x="685800" y="2377439"/>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Filter</a:t>
            </a:r>
          </a:p>
        </p:txBody>
      </p:sp>
      <p:sp>
        <p:nvSpPr>
          <p:cNvPr id="13" name="TextBox 12"/>
          <p:cNvSpPr txBox="1"/>
          <p:nvPr/>
        </p:nvSpPr>
        <p:spPr>
          <a:xfrm>
            <a:off x="1783080" y="2377439"/>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ToolSet / available_tools</a:t>
            </a:r>
          </a:p>
        </p:txBody>
      </p:sp>
      <p:sp>
        <p:nvSpPr>
          <p:cNvPr id="14" name="TextBox 13"/>
          <p:cNvSpPr txBox="1"/>
          <p:nvPr/>
        </p:nvSpPr>
        <p:spPr>
          <a:xfrm>
            <a:off x="685800" y="265176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Boundary</a:t>
            </a:r>
          </a:p>
        </p:txBody>
      </p:sp>
      <p:sp>
        <p:nvSpPr>
          <p:cNvPr id="15" name="TextBox 14"/>
          <p:cNvSpPr txBox="1"/>
          <p:nvPr/>
        </p:nvSpPr>
        <p:spPr>
          <a:xfrm>
            <a:off x="1783080" y="265176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Tool scope is not a sandbox</a:t>
            </a:r>
          </a:p>
        </p:txBody>
      </p:sp>
      <p:sp>
        <p:nvSpPr>
          <p:cNvPr id="16" name="Rectangle 15"/>
          <p:cNvSpPr/>
          <p:nvPr/>
        </p:nvSpPr>
        <p:spPr>
          <a:xfrm>
            <a:off x="3264408" y="1143000"/>
            <a:ext cx="2624328" cy="19202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01568" y="1234440"/>
            <a:ext cx="2350008" cy="274320"/>
          </a:xfrm>
          <a:prstGeom prst="rect">
            <a:avLst/>
          </a:prstGeom>
          <a:noFill/>
        </p:spPr>
        <p:txBody>
          <a:bodyPr wrap="square">
            <a:spAutoFit/>
          </a:bodyPr>
          <a:lstStyle/>
          <a:p>
            <a:pPr algn="l">
              <a:spcBef>
                <a:spcPts val="0"/>
              </a:spcBef>
              <a:spcAft>
                <a:spcPts val="0"/>
              </a:spcAft>
            </a:pPr>
            <a:r>
              <a:rPr sz="1200" b="1" i="0">
                <a:solidFill>
                  <a:srgbClr val="3FB950"/>
                </a:solidFill>
                <a:latin typeface="Calibri"/>
              </a:rPr>
              <a:t>Host Custom Tools</a:t>
            </a:r>
          </a:p>
        </p:txBody>
      </p:sp>
      <p:sp>
        <p:nvSpPr>
          <p:cNvPr id="18" name="TextBox 17"/>
          <p:cNvSpPr txBox="1"/>
          <p:nvPr/>
        </p:nvSpPr>
        <p:spPr>
          <a:xfrm>
            <a:off x="3401568" y="155448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@define_tool</a:t>
            </a:r>
          </a:p>
        </p:txBody>
      </p:sp>
      <p:sp>
        <p:nvSpPr>
          <p:cNvPr id="19" name="TextBox 18"/>
          <p:cNvSpPr txBox="1"/>
          <p:nvPr/>
        </p:nvSpPr>
        <p:spPr>
          <a:xfrm>
            <a:off x="4498848" y="155448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Sync or async handler</a:t>
            </a:r>
          </a:p>
        </p:txBody>
      </p:sp>
      <p:sp>
        <p:nvSpPr>
          <p:cNvPr id="20" name="TextBox 19"/>
          <p:cNvSpPr txBox="1"/>
          <p:nvPr/>
        </p:nvSpPr>
        <p:spPr>
          <a:xfrm>
            <a:off x="3401568" y="182880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Host process</a:t>
            </a:r>
          </a:p>
        </p:txBody>
      </p:sp>
      <p:sp>
        <p:nvSpPr>
          <p:cNvPr id="21" name="TextBox 20"/>
          <p:cNvSpPr txBox="1"/>
          <p:nvPr/>
        </p:nvSpPr>
        <p:spPr>
          <a:xfrm>
            <a:off x="4498848" y="182880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Needs separate isolation</a:t>
            </a:r>
          </a:p>
        </p:txBody>
      </p:sp>
      <p:sp>
        <p:nvSpPr>
          <p:cNvPr id="22" name="TextBox 21"/>
          <p:cNvSpPr txBox="1"/>
          <p:nvPr/>
        </p:nvSpPr>
        <p:spPr>
          <a:xfrm>
            <a:off x="3401568" y="210312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
            </a:r>
          </a:p>
        </p:txBody>
      </p:sp>
      <p:sp>
        <p:nvSpPr>
          <p:cNvPr id="23" name="TextBox 22"/>
          <p:cNvSpPr txBox="1"/>
          <p:nvPr/>
        </p:nvSpPr>
        <p:spPr>
          <a:xfrm>
            <a:off x="4498848" y="210312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
            </a:r>
          </a:p>
        </p:txBody>
      </p:sp>
      <p:sp>
        <p:nvSpPr>
          <p:cNvPr id="24" name="Rectangle 23"/>
          <p:cNvSpPr/>
          <p:nvPr/>
        </p:nvSpPr>
        <p:spPr>
          <a:xfrm>
            <a:off x="5971032" y="1143000"/>
            <a:ext cx="2624328" cy="19202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108192" y="1234440"/>
            <a:ext cx="2350008" cy="274320"/>
          </a:xfrm>
          <a:prstGeom prst="rect">
            <a:avLst/>
          </a:prstGeom>
          <a:noFill/>
        </p:spPr>
        <p:txBody>
          <a:bodyPr wrap="square">
            <a:spAutoFit/>
          </a:bodyPr>
          <a:lstStyle/>
          <a:p>
            <a:pPr algn="l">
              <a:spcBef>
                <a:spcPts val="0"/>
              </a:spcBef>
              <a:spcAft>
                <a:spcPts val="0"/>
              </a:spcAft>
            </a:pPr>
            <a:r>
              <a:rPr sz="1200" b="1" i="0">
                <a:solidFill>
                  <a:srgbClr val="F0883E"/>
                </a:solidFill>
                <a:latin typeface="Calibri"/>
              </a:rPr>
              <a:t>MCP Servers</a:t>
            </a:r>
          </a:p>
        </p:txBody>
      </p:sp>
      <p:sp>
        <p:nvSpPr>
          <p:cNvPr id="26" name="TextBox 25"/>
          <p:cNvSpPr txBox="1"/>
          <p:nvPr/>
        </p:nvSpPr>
        <p:spPr>
          <a:xfrm>
            <a:off x="6108192" y="155448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stdio / HTTP</a:t>
            </a:r>
          </a:p>
        </p:txBody>
      </p:sp>
      <p:sp>
        <p:nvSpPr>
          <p:cNvPr id="27" name="TextBox 26"/>
          <p:cNvSpPr txBox="1"/>
          <p:nvPr/>
        </p:nvSpPr>
        <p:spPr>
          <a:xfrm>
            <a:off x="7205472" y="155448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Separate process or service</a:t>
            </a:r>
          </a:p>
        </p:txBody>
      </p:sp>
      <p:sp>
        <p:nvSpPr>
          <p:cNvPr id="28" name="TextBox 27"/>
          <p:cNvSpPr txBox="1"/>
          <p:nvPr/>
        </p:nvSpPr>
        <p:spPr>
          <a:xfrm>
            <a:off x="6108192" y="1828800"/>
            <a:ext cx="109728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Authentication</a:t>
            </a:r>
          </a:p>
        </p:txBody>
      </p:sp>
      <p:sp>
        <p:nvSpPr>
          <p:cNvPr id="29" name="TextBox 28"/>
          <p:cNvSpPr txBox="1"/>
          <p:nvPr/>
        </p:nvSpPr>
        <p:spPr>
          <a:xfrm>
            <a:off x="7205472" y="1828800"/>
            <a:ext cx="1207008"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Independent headers or OAuth</a:t>
            </a:r>
          </a:p>
        </p:txBody>
      </p:sp>
      <p:sp>
        <p:nvSpPr>
          <p:cNvPr id="30" name="Rectangle 29"/>
          <p:cNvSpPr/>
          <p:nvPr/>
        </p:nvSpPr>
        <p:spPr>
          <a:xfrm>
            <a:off x="548640" y="3246120"/>
            <a:ext cx="3931920" cy="1463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85800" y="3337560"/>
            <a:ext cx="3657600" cy="274320"/>
          </a:xfrm>
          <a:prstGeom prst="rect">
            <a:avLst/>
          </a:prstGeom>
          <a:noFill/>
        </p:spPr>
        <p:txBody>
          <a:bodyPr wrap="square">
            <a:spAutoFit/>
          </a:bodyPr>
          <a:lstStyle/>
          <a:p>
            <a:pPr algn="l">
              <a:spcBef>
                <a:spcPts val="0"/>
              </a:spcBef>
              <a:spcAft>
                <a:spcPts val="0"/>
              </a:spcAft>
            </a:pPr>
            <a:r>
              <a:rPr sz="1200" b="1" i="0">
                <a:solidFill>
                  <a:srgbClr val="39D2C0"/>
                </a:solidFill>
                <a:latin typeface="Calibri"/>
              </a:rPr>
              <a:t>Human Input</a:t>
            </a:r>
          </a:p>
        </p:txBody>
      </p:sp>
      <p:sp>
        <p:nvSpPr>
          <p:cNvPr id="32" name="TextBox 31"/>
          <p:cNvSpPr txBox="1"/>
          <p:nvPr/>
        </p:nvSpPr>
        <p:spPr>
          <a:xfrm>
            <a:off x="685800" y="365760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ask_user</a:t>
            </a:r>
          </a:p>
        </p:txBody>
      </p:sp>
      <p:sp>
        <p:nvSpPr>
          <p:cNvPr id="33" name="TextBox 32"/>
          <p:cNvSpPr txBox="1"/>
          <p:nvPr/>
        </p:nvSpPr>
        <p:spPr>
          <a:xfrm>
            <a:off x="1920240" y="365760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Legacy or elicitation</a:t>
            </a:r>
          </a:p>
        </p:txBody>
      </p:sp>
      <p:sp>
        <p:nvSpPr>
          <p:cNvPr id="34" name="Rectangle 33"/>
          <p:cNvSpPr/>
          <p:nvPr/>
        </p:nvSpPr>
        <p:spPr>
          <a:xfrm>
            <a:off x="4663440" y="3246120"/>
            <a:ext cx="3931920" cy="1463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800600" y="3337560"/>
            <a:ext cx="3657600" cy="274320"/>
          </a:xfrm>
          <a:prstGeom prst="rect">
            <a:avLst/>
          </a:prstGeom>
          <a:noFill/>
        </p:spPr>
        <p:txBody>
          <a:bodyPr wrap="square">
            <a:spAutoFit/>
          </a:bodyPr>
          <a:lstStyle/>
          <a:p>
            <a:pPr algn="l">
              <a:spcBef>
                <a:spcPts val="0"/>
              </a:spcBef>
              <a:spcAft>
                <a:spcPts val="0"/>
              </a:spcAft>
            </a:pPr>
            <a:r>
              <a:rPr sz="1200" b="1" i="0">
                <a:solidFill>
                  <a:srgbClr val="BC8CFF"/>
                </a:solidFill>
                <a:latin typeface="Calibri"/>
              </a:rPr>
              <a:t>Session Lifecycle</a:t>
            </a:r>
          </a:p>
        </p:txBody>
      </p:sp>
      <p:sp>
        <p:nvSpPr>
          <p:cNvPr id="36" name="TextBox 35"/>
          <p:cNvSpPr txBox="1"/>
          <p:nvPr/>
        </p:nvSpPr>
        <p:spPr>
          <a:xfrm>
            <a:off x="4800600" y="365760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session_id</a:t>
            </a:r>
          </a:p>
        </p:txBody>
      </p:sp>
      <p:sp>
        <p:nvSpPr>
          <p:cNvPr id="37" name="TextBox 36"/>
          <p:cNvSpPr txBox="1"/>
          <p:nvPr/>
        </p:nvSpPr>
        <p:spPr>
          <a:xfrm>
            <a:off x="6035040" y="365760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Not a tool; used for resume</a:t>
            </a:r>
          </a:p>
        </p:txBody>
      </p:sp>
      <p:sp>
        <p:nvSpPr>
          <p:cNvPr id="38" name="TextBox 37"/>
          <p:cNvSpPr txBox="1"/>
          <p:nvPr/>
        </p:nvSpPr>
        <p:spPr>
          <a:xfrm>
            <a:off x="4800600" y="393192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
            </a:r>
          </a:p>
        </p:txBody>
      </p:sp>
      <p:sp>
        <p:nvSpPr>
          <p:cNvPr id="39" name="TextBox 38"/>
          <p:cNvSpPr txBox="1"/>
          <p:nvPr/>
        </p:nvSpPr>
        <p:spPr>
          <a:xfrm>
            <a:off x="6035040" y="393192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
            </a:r>
          </a:p>
        </p:txBody>
      </p:sp>
      <p:sp>
        <p:nvSpPr>
          <p:cNvPr id="40" name="TextBox 39"/>
          <p:cNvSpPr txBox="1"/>
          <p:nvPr/>
        </p:nvSpPr>
        <p:spPr>
          <a:xfrm>
            <a:off x="4800600" y="4206240"/>
            <a:ext cx="1188720" cy="228600"/>
          </a:xfrm>
          <a:prstGeom prst="rect">
            <a:avLst/>
          </a:prstGeom>
          <a:noFill/>
        </p:spPr>
        <p:txBody>
          <a:bodyPr wrap="square">
            <a:spAutoFit/>
          </a:bodyPr>
          <a:lstStyle/>
          <a:p>
            <a:pPr algn="l">
              <a:spcBef>
                <a:spcPts val="0"/>
              </a:spcBef>
              <a:spcAft>
                <a:spcPts val="0"/>
              </a:spcAft>
            </a:pPr>
            <a:r>
              <a:rPr sz="950" b="1" i="0">
                <a:solidFill>
                  <a:srgbClr val="3FB950"/>
                </a:solidFill>
                <a:latin typeface="Consolas"/>
              </a:rPr>
              <a:t/>
            </a:r>
          </a:p>
        </p:txBody>
      </p:sp>
      <p:sp>
        <p:nvSpPr>
          <p:cNvPr id="41" name="TextBox 40"/>
          <p:cNvSpPr txBox="1"/>
          <p:nvPr/>
        </p:nvSpPr>
        <p:spPr>
          <a:xfrm>
            <a:off x="6035040" y="4206240"/>
            <a:ext cx="2377439" cy="228600"/>
          </a:xfrm>
          <a:prstGeom prst="rect">
            <a:avLst/>
          </a:prstGeom>
          <a:noFill/>
        </p:spPr>
        <p:txBody>
          <a:bodyPr wrap="square">
            <a:spAutoFit/>
          </a:bodyPr>
          <a:lstStyle/>
          <a:p>
            <a:pPr algn="l">
              <a:spcBef>
                <a:spcPts val="0"/>
              </a:spcBef>
              <a:spcAft>
                <a:spcPts val="0"/>
              </a:spcAft>
            </a:pPr>
            <a:r>
              <a:rPr sz="950" b="0" i="0">
                <a:solidFill>
                  <a:srgbClr val="C9D1D9"/>
                </a:solidFill>
                <a:latin typeface="Calibri"/>
              </a:rPr>
              <a:t/>
            </a:r>
          </a:p>
        </p:txBody>
      </p:sp>
      <p:sp>
        <p:nvSpPr>
          <p:cNvPr id="42" name="TextBox 41"/>
          <p:cNvSpPr txBox="1"/>
          <p:nvPr/>
        </p:nvSpPr>
        <p:spPr>
          <a:xfrm>
            <a:off x="548640" y="4443480"/>
            <a:ext cx="8046720" cy="228600"/>
          </a:xfrm>
          <a:prstGeom prst="rect">
            <a:avLst/>
          </a:prstGeom>
          <a:noFill/>
        </p:spPr>
        <p:txBody>
          <a:bodyPr wrap="square">
            <a:spAutoFit/>
          </a:bodyPr>
          <a:lstStyle/>
          <a:p>
            <a:pPr algn="ctr">
              <a:spcBef>
                <a:spcPts val="0"/>
              </a:spcBef>
              <a:spcAft>
                <a:spcPts val="0"/>
              </a:spcAft>
            </a:pPr>
            <a:r>
              <a:rPr sz="950" b="0" i="1">
                <a:solidFill>
                  <a:srgbClr val="8B949E"/>
                </a:solidFill>
                <a:latin typeface="Calibri"/>
              </a:rPr>
              <a:t>Filter canonical names by source: builtin:, custom:, and mcp:.</a:t>
            </a:r>
          </a:p>
        </p:txBody>
      </p:sp>
      <p:sp>
        <p:nvSpPr>
          <p:cNvPr id="43" name="TextBox 42"/>
          <p:cNvSpPr txBox="1"/>
          <p:nvPr/>
        </p:nvSpPr>
        <p:spPr>
          <a:xfrm>
            <a:off x="8046720" y="4754880"/>
            <a:ext cx="914400" cy="274320"/>
          </a:xfrm>
          <a:prstGeom prst="rect">
            <a:avLst/>
          </a:prstGeom>
          <a:noFill/>
        </p:spPr>
        <p:txBody>
          <a:bodyPr wrap="square">
            <a:spAutoFit/>
          </a:bodyPr>
          <a:lstStyle/>
          <a:p>
            <a:pPr algn="r">
              <a:spcBef>
                <a:spcPts val="0"/>
              </a:spcBef>
              <a:spcAft>
                <a:spcPts val="0"/>
              </a:spcAft>
            </a:pPr>
            <a:r>
              <a:rPr sz="900" b="0" i="0">
                <a:solidFill>
                  <a:srgbClr val="8B949E"/>
                </a:solidFill>
                <a:latin typeface="Calibri"/>
              </a:rPr>
              <a:t>9 / 24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600" b="1" i="0">
                <a:solidFill>
                  <a:srgbClr val="C9D1D9"/>
                </a:solidFill>
                <a:latin typeface="Calibri"/>
              </a:rPr>
              <a:t>Three Boundaries</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Exposure is not approval. Approval is not containment.</a:t>
            </a:r>
          </a:p>
        </p:txBody>
      </p:sp>
      <p:sp>
        <p:nvSpPr>
          <p:cNvPr id="4" name="Rectangle 3"/>
          <p:cNvSpPr/>
          <p:nvPr/>
        </p:nvSpPr>
        <p:spPr>
          <a:xfrm>
            <a:off x="548640" y="1143000"/>
            <a:ext cx="2624328" cy="35204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85800" y="1234440"/>
            <a:ext cx="2350008" cy="274320"/>
          </a:xfrm>
          <a:prstGeom prst="rect">
            <a:avLst/>
          </a:prstGeom>
          <a:noFill/>
        </p:spPr>
        <p:txBody>
          <a:bodyPr wrap="square">
            <a:spAutoFit/>
          </a:bodyPr>
          <a:lstStyle/>
          <a:p>
            <a:pPr algn="l">
              <a:spcBef>
                <a:spcPts val="0"/>
              </a:spcBef>
              <a:spcAft>
                <a:spcPts val="0"/>
              </a:spcAft>
            </a:pPr>
            <a:r>
              <a:rPr sz="1300" b="1" i="0">
                <a:solidFill>
                  <a:srgbClr val="58A6FF"/>
                </a:solidFill>
                <a:latin typeface="Calibri"/>
              </a:rPr>
              <a:t>1. Exposure</a:t>
            </a:r>
          </a:p>
        </p:txBody>
      </p:sp>
      <p:sp>
        <p:nvSpPr>
          <p:cNvPr id="6" name="TextBox 5"/>
          <p:cNvSpPr txBox="1"/>
          <p:nvPr/>
        </p:nvSpPr>
        <p:spPr>
          <a:xfrm>
            <a:off x="685800" y="1508760"/>
            <a:ext cx="2350008" cy="228600"/>
          </a:xfrm>
          <a:prstGeom prst="rect">
            <a:avLst/>
          </a:prstGeom>
          <a:noFill/>
        </p:spPr>
        <p:txBody>
          <a:bodyPr wrap="square">
            <a:spAutoFit/>
          </a:bodyPr>
          <a:lstStyle/>
          <a:p>
            <a:pPr algn="l">
              <a:spcBef>
                <a:spcPts val="0"/>
              </a:spcBef>
              <a:spcAft>
                <a:spcPts val="0"/>
              </a:spcAft>
            </a:pPr>
            <a:r>
              <a:rPr sz="950" b="0" i="1">
                <a:solidFill>
                  <a:srgbClr val="8B949E"/>
                </a:solidFill>
                <a:latin typeface="Calibri"/>
              </a:rPr>
              <a:t>Shape the model-visible catalogue</a:t>
            </a:r>
          </a:p>
        </p:txBody>
      </p:sp>
      <p:sp>
        <p:nvSpPr>
          <p:cNvPr id="7" name="Rectangle 6"/>
          <p:cNvSpPr/>
          <p:nvPr/>
        </p:nvSpPr>
        <p:spPr>
          <a:xfrm>
            <a:off x="640080" y="1828800"/>
            <a:ext cx="2441448" cy="265176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40080" y="1828800"/>
            <a:ext cx="73152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828800"/>
            <a:ext cx="73152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Python</a:t>
            </a:r>
          </a:p>
        </p:txBody>
      </p:sp>
      <p:sp>
        <p:nvSpPr>
          <p:cNvPr id="10" name="TextBox 9"/>
          <p:cNvSpPr txBox="1"/>
          <p:nvPr/>
        </p:nvSpPr>
        <p:spPr>
          <a:xfrm>
            <a:off x="731520" y="2103120"/>
            <a:ext cx="2258568" cy="2286000"/>
          </a:xfrm>
          <a:prstGeom prst="rect">
            <a:avLst/>
          </a:prstGeom>
          <a:noFill/>
        </p:spPr>
        <p:txBody>
          <a:bodyPr wrap="none" lIns="25400" rIns="25400" tIns="25400" bIns="25400" anchor="t">
            <a:spAutoFit/>
          </a:bodyPr>
          <a:lstStyle/>
          <a:p>
            <a:pPr algn="l">
              <a:lnSpc>
                <a:spcPts val="1100"/>
              </a:lnSpc>
              <a:spcBef>
                <a:spcPts val="0"/>
              </a:spcBef>
              <a:spcAft>
                <a:spcPts val="0"/>
              </a:spcAft>
            </a:pPr>
            <a:r>
              <a:rPr sz="1000">
                <a:solidFill>
                  <a:srgbClr val="E6EDF3"/>
                </a:solidFill>
                <a:latin typeface="Courier New"/>
              </a:rPr>
              <a:t xml:space="preserve">tools = ToolSet().add_builtin(["view"])
# available_tools=tools</a:t>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p:txBody>
      </p:sp>
      <p:sp>
        <p:nvSpPr>
          <p:cNvPr id="11" name="Rectangle 10"/>
          <p:cNvSpPr/>
          <p:nvPr/>
        </p:nvSpPr>
        <p:spPr>
          <a:xfrm>
            <a:off x="3410712" y="1143000"/>
            <a:ext cx="2624328" cy="35204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47872" y="1234440"/>
            <a:ext cx="2350008" cy="274320"/>
          </a:xfrm>
          <a:prstGeom prst="rect">
            <a:avLst/>
          </a:prstGeom>
          <a:noFill/>
        </p:spPr>
        <p:txBody>
          <a:bodyPr wrap="square">
            <a:spAutoFit/>
          </a:bodyPr>
          <a:lstStyle/>
          <a:p>
            <a:pPr algn="l">
              <a:spcBef>
                <a:spcPts val="0"/>
              </a:spcBef>
              <a:spcAft>
                <a:spcPts val="0"/>
              </a:spcAft>
            </a:pPr>
            <a:r>
              <a:rPr sz="1300" b="1" i="0">
                <a:solidFill>
                  <a:srgbClr val="3FB950"/>
                </a:solidFill>
                <a:latin typeface="Calibri"/>
              </a:rPr>
              <a:t>2. Decision</a:t>
            </a:r>
          </a:p>
        </p:txBody>
      </p:sp>
      <p:sp>
        <p:nvSpPr>
          <p:cNvPr id="13" name="TextBox 12"/>
          <p:cNvSpPr txBox="1"/>
          <p:nvPr/>
        </p:nvSpPr>
        <p:spPr>
          <a:xfrm>
            <a:off x="3547872" y="1508760"/>
            <a:ext cx="2350008" cy="228600"/>
          </a:xfrm>
          <a:prstGeom prst="rect">
            <a:avLst/>
          </a:prstGeom>
          <a:noFill/>
        </p:spPr>
        <p:txBody>
          <a:bodyPr wrap="square">
            <a:spAutoFit/>
          </a:bodyPr>
          <a:lstStyle/>
          <a:p>
            <a:pPr algn="l">
              <a:spcBef>
                <a:spcPts val="0"/>
              </a:spcBef>
              <a:spcAft>
                <a:spcPts val="0"/>
              </a:spcAft>
            </a:pPr>
            <a:r>
              <a:rPr sz="950" b="0" i="1">
                <a:solidFill>
                  <a:srgbClr val="8B949E"/>
                </a:solidFill>
                <a:latin typeface="Calibri"/>
              </a:rPr>
              <a:t>Permission callbacks, hooks, managed settings</a:t>
            </a:r>
          </a:p>
        </p:txBody>
      </p:sp>
      <p:sp>
        <p:nvSpPr>
          <p:cNvPr id="14" name="Rectangle 13"/>
          <p:cNvSpPr/>
          <p:nvPr/>
        </p:nvSpPr>
        <p:spPr>
          <a:xfrm>
            <a:off x="3502152" y="1828800"/>
            <a:ext cx="2441448" cy="265176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502152" y="1828800"/>
            <a:ext cx="73152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02152" y="1828800"/>
            <a:ext cx="73152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Python</a:t>
            </a:r>
          </a:p>
        </p:txBody>
      </p:sp>
      <p:sp>
        <p:nvSpPr>
          <p:cNvPr id="17" name="TextBox 16"/>
          <p:cNvSpPr txBox="1"/>
          <p:nvPr/>
        </p:nvSpPr>
        <p:spPr>
          <a:xfrm>
            <a:off x="3593592" y="2103120"/>
            <a:ext cx="2258568" cy="2286000"/>
          </a:xfrm>
          <a:prstGeom prst="rect">
            <a:avLst/>
          </a:prstGeom>
          <a:noFill/>
        </p:spPr>
        <p:txBody>
          <a:bodyPr wrap="none" lIns="25400" rIns="25400" tIns="25400" bIns="25400" anchor="t">
            <a:spAutoFit/>
          </a:bodyPr>
          <a:lstStyle/>
          <a:p>
            <a:pPr algn="l">
              <a:lnSpc>
                <a:spcPts val="1100"/>
              </a:lnSpc>
              <a:spcBef>
                <a:spcPts val="0"/>
              </a:spcBef>
              <a:spcAft>
                <a:spcPts val="0"/>
              </a:spcAft>
            </a:pPr>
            <a:r>
              <a:rPr sz="1000">
                <a:solidFill>
                  <a:srgbClr val="E6EDF3"/>
                </a:solidFill>
                <a:latin typeface="Courier New"/>
              </a:rPr>
              <a:t xml:space="preserve">ManagedSettings(
  permissions=ManagedSettingsPermissions(
    deny=["shell(rm*)"], ask=["write"]
  )
)</a:t>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p:txBody>
      </p:sp>
      <p:sp>
        <p:nvSpPr>
          <p:cNvPr id="18" name="Rectangle 17"/>
          <p:cNvSpPr/>
          <p:nvPr/>
        </p:nvSpPr>
        <p:spPr>
          <a:xfrm>
            <a:off x="6272783" y="1143000"/>
            <a:ext cx="2624328" cy="35204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9944" y="1234440"/>
            <a:ext cx="2350008" cy="274320"/>
          </a:xfrm>
          <a:prstGeom prst="rect">
            <a:avLst/>
          </a:prstGeom>
          <a:noFill/>
        </p:spPr>
        <p:txBody>
          <a:bodyPr wrap="square">
            <a:spAutoFit/>
          </a:bodyPr>
          <a:lstStyle/>
          <a:p>
            <a:pPr algn="l">
              <a:spcBef>
                <a:spcPts val="0"/>
              </a:spcBef>
              <a:spcAft>
                <a:spcPts val="0"/>
              </a:spcAft>
            </a:pPr>
            <a:r>
              <a:rPr sz="1300" b="1" i="0">
                <a:solidFill>
                  <a:srgbClr val="F0883E"/>
                </a:solidFill>
                <a:latin typeface="Calibri"/>
              </a:rPr>
              <a:t>3. Containment</a:t>
            </a:r>
          </a:p>
        </p:txBody>
      </p:sp>
      <p:sp>
        <p:nvSpPr>
          <p:cNvPr id="20" name="TextBox 19"/>
          <p:cNvSpPr txBox="1"/>
          <p:nvPr/>
        </p:nvSpPr>
        <p:spPr>
          <a:xfrm>
            <a:off x="6409944" y="1508760"/>
            <a:ext cx="2350008" cy="228600"/>
          </a:xfrm>
          <a:prstGeom prst="rect">
            <a:avLst/>
          </a:prstGeom>
          <a:noFill/>
        </p:spPr>
        <p:txBody>
          <a:bodyPr wrap="square">
            <a:spAutoFit/>
          </a:bodyPr>
          <a:lstStyle/>
          <a:p>
            <a:pPr algn="l">
              <a:spcBef>
                <a:spcPts val="0"/>
              </a:spcBef>
              <a:spcAft>
                <a:spcPts val="0"/>
              </a:spcAft>
            </a:pPr>
            <a:r>
              <a:rPr sz="950" b="0" i="1">
                <a:solidFill>
                  <a:srgbClr val="8B949E"/>
                </a:solidFill>
                <a:latin typeface="Calibri"/>
              </a:rPr>
              <a:t>Runtime sandbox plus host isolation</a:t>
            </a:r>
          </a:p>
        </p:txBody>
      </p:sp>
      <p:sp>
        <p:nvSpPr>
          <p:cNvPr id="21" name="Rectangle 20"/>
          <p:cNvSpPr/>
          <p:nvPr/>
        </p:nvSpPr>
        <p:spPr>
          <a:xfrm>
            <a:off x="6364223" y="1828800"/>
            <a:ext cx="2441448" cy="265176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364223" y="1828800"/>
            <a:ext cx="73152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64223" y="1828800"/>
            <a:ext cx="73152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Python</a:t>
            </a:r>
          </a:p>
        </p:txBody>
      </p:sp>
      <p:sp>
        <p:nvSpPr>
          <p:cNvPr id="24" name="TextBox 23"/>
          <p:cNvSpPr txBox="1"/>
          <p:nvPr/>
        </p:nvSpPr>
        <p:spPr>
          <a:xfrm>
            <a:off x="6455664" y="2103120"/>
            <a:ext cx="2258568" cy="2286000"/>
          </a:xfrm>
          <a:prstGeom prst="rect">
            <a:avLst/>
          </a:prstGeom>
          <a:noFill/>
        </p:spPr>
        <p:txBody>
          <a:bodyPr wrap="none" lIns="25400" rIns="25400" tIns="25400" bIns="25400" anchor="t">
            <a:spAutoFit/>
          </a:bodyPr>
          <a:lstStyle/>
          <a:p>
            <a:pPr algn="l">
              <a:lnSpc>
                <a:spcPts val="1100"/>
              </a:lnSpc>
              <a:spcBef>
                <a:spcPts val="0"/>
              </a:spcBef>
              <a:spcAft>
                <a:spcPts val="0"/>
              </a:spcAft>
            </a:pPr>
            <a:r>
              <a:rPr sz="1000">
                <a:solidFill>
                  <a:srgbClr val="E6EDF3"/>
                </a:solidFill>
                <a:latin typeface="Courier New"/>
              </a:rPr>
              <a:t xml:space="preserve">SandboxConfig(
  enabled=True,
  allow_bypass=False,
)
# Host still owns tenant/process boundaries</a:t>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a:p>
            <a:pPr algn="l">
              <a:lnSpc>
                <a:spcPts val="1100"/>
              </a:lnSpc>
              <a:spcBef>
                <a:spcPts val="0"/>
              </a:spcBef>
              <a:spcAft>
                <a:spcPts val="0"/>
              </a:spcAft>
            </a:pPr>
            <a:r>
              <a:rPr sz="1000">
                <a:solidFill>
                  <a:srgbClr val="E6EDF3"/>
                </a:solidFill>
                <a:latin typeface="Courier New"/>
              </a:rPr>
              <a:t xml:space="preserve"/>
            </a:r>
          </a:p>
        </p:txBody>
      </p:sp>
      <p:sp>
        <p:nvSpPr>
          <p:cNvPr id="25" name="TextBox 24"/>
          <p:cNvSpPr txBox="1"/>
          <p:nvPr/>
        </p:nvSpPr>
        <p:spPr>
          <a:xfrm>
            <a:off x="8046720" y="4754880"/>
            <a:ext cx="914400" cy="274320"/>
          </a:xfrm>
          <a:prstGeom prst="rect">
            <a:avLst/>
          </a:prstGeom>
          <a:noFill/>
        </p:spPr>
        <p:txBody>
          <a:bodyPr wrap="square">
            <a:spAutoFit/>
          </a:bodyPr>
          <a:lstStyle/>
          <a:p>
            <a:pPr algn="r">
              <a:spcBef>
                <a:spcPts val="0"/>
              </a:spcBef>
              <a:spcAft>
                <a:spcPts val="0"/>
              </a:spcAft>
            </a:pPr>
            <a:r>
              <a:rPr sz="900" b="0" i="0">
                <a:solidFill>
                  <a:srgbClr val="8B949E"/>
                </a:solidFill>
                <a:latin typeface="Calibri"/>
              </a:rPr>
              <a:t>10 / 24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Canonical Session Skeleton</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Text-only, bounded, explicit lifecycle; permission callbacks are optional</a:t>
            </a:r>
            <a:endParaRPr lang="en-US" sz="1200" dirty="0"/>
          </a:p>
        </p:txBody>
      </p:sp>
      <p:sp>
        <p:nvSpPr>
          <p:cNvPr id="6" name="Shape 3"/>
          <p:cNvSpPr/>
          <p:nvPr/>
        </p:nvSpPr>
        <p:spPr>
          <a:xfrm>
            <a:off x="548640" y="1188720"/>
            <a:ext cx="8046720" cy="3291840"/>
          </a:xfrm>
          <a:prstGeom prst="line">
            <a:avLst/>
          </a:prstGeom>
          <a:solidFill>
            <a:srgbClr val="161B22"/>
          </a:solidFill>
          <a:ln w="12700">
            <a:prstDash val="solid"/>
          </a:ln>
        </p:spPr>
        <p:txBody>
          <a:bodyPr/>
          <a:lstStyle/>
          <a:p>
            <a:endParaRPr/>
          </a:p>
        </p:txBody>
      </p:sp>
      <p:sp>
        <p:nvSpPr>
          <p:cNvPr id="8" name="Text 5"/>
          <p:cNvSpPr/>
          <p:nvPr/>
        </p:nvSpPr>
        <p:spPr>
          <a:xfrm>
            <a:off x="548640" y="118872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9" name="Text 6"/>
          <p:cNvSpPr/>
          <p:nvPr/>
        </p:nvSpPr>
        <p:spPr>
          <a:xfrm>
            <a:off x="685800" y="1508760"/>
            <a:ext cx="7772400" cy="3154680"/>
          </a:xfrm>
          <a:prstGeom prst="rect">
            <a:avLst/>
          </a:prstGeom>
          <a:noFill/>
          <a:ln>
            <a:noFill/>
          </a:ln>
        </p:spPr>
        <p:txBody>
          <a:bodyPr wrap="none" lIns="25400" tIns="25400" rIns="25400" bIns="25400" rtlCol="0" anchor="t"/>
          <a:lstStyle/>
          <a:p>
            <a:pPr algn="l">
              <a:lnSpc>
                <a:spcPts val="1430"/>
              </a:lnSpc>
              <a:spcBef>
                <a:spcPts val="0"/>
              </a:spcBef>
              <a:spcAft>
                <a:spcPts val="0"/>
              </a:spcAft>
            </a:pPr>
            <a:r>
              <a:rPr sz="1600">
                <a:solidFill>
                  <a:srgbClr val="E6EDF3"/>
                </a:solidFill>
                <a:latin typeface="Courier New"/>
              </a:rPr>
              <a:t xml:space="preserve">from copilot import CopilotClient</a:t>
            </a:r>
          </a:p>
          <a:p>
            <a:pPr algn="l">
              <a:lnSpc>
                <a:spcPts val="1430"/>
              </a:lnSpc>
              <a:spcBef>
                <a:spcPts val="0"/>
              </a:spcBef>
              <a:spcAft>
                <a:spcPts val="0"/>
              </a:spcAft>
            </a:pPr>
            <a:r>
              <a:rPr sz="1600">
                <a:solidFill>
                  <a:srgbClr val="E6EDF3"/>
                </a:solidFill>
                <a:latin typeface="Courier New"/>
              </a:rPr>
              <a:t xml:space="preserve">async with CopilotClient() as client:</a:t>
            </a:r>
          </a:p>
          <a:p>
            <a:pPr algn="l">
              <a:lnSpc>
                <a:spcPts val="1430"/>
              </a:lnSpc>
              <a:spcBef>
                <a:spcPts val="0"/>
              </a:spcBef>
              <a:spcAft>
                <a:spcPts val="0"/>
              </a:spcAft>
            </a:pPr>
            <a:r>
              <a:rPr sz="1600">
                <a:solidFill>
                  <a:srgbClr val="E6EDF3"/>
                </a:solidFill>
                <a:latin typeface="Courier New"/>
              </a:rPr>
              <a:t xml:space="preserve">    async with await client.create_session(</a:t>
            </a:r>
          </a:p>
          <a:p>
            <a:pPr algn="l">
              <a:lnSpc>
                <a:spcPts val="1430"/>
              </a:lnSpc>
              <a:spcBef>
                <a:spcPts val="0"/>
              </a:spcBef>
              <a:spcAft>
                <a:spcPts val="0"/>
              </a:spcAft>
            </a:pPr>
            <a:r>
              <a:rPr sz="1600">
                <a:solidFill>
                  <a:srgbClr val="E6EDF3"/>
                </a:solidFill>
                <a:latin typeface="Courier New"/>
              </a:rPr>
              <a:t xml:space="preserve">        available_tools=[],</a:t>
            </a:r>
          </a:p>
          <a:p>
            <a:pPr algn="l">
              <a:lnSpc>
                <a:spcPts val="1430"/>
              </a:lnSpc>
              <a:spcBef>
                <a:spcPts val="0"/>
              </a:spcBef>
              <a:spcAft>
                <a:spcPts val="0"/>
              </a:spcAft>
            </a:pPr>
            <a:r>
              <a:rPr sz="1600">
                <a:solidFill>
                  <a:srgbClr val="E6EDF3"/>
                </a:solidFill>
                <a:latin typeface="Courier New"/>
              </a:rPr>
              <a:t xml:space="preserve">    ) as session:</a:t>
            </a:r>
          </a:p>
          <a:p>
            <a:pPr algn="l">
              <a:lnSpc>
                <a:spcPts val="1430"/>
              </a:lnSpc>
              <a:spcBef>
                <a:spcPts val="0"/>
              </a:spcBef>
              <a:spcAft>
                <a:spcPts val="0"/>
              </a:spcAft>
            </a:pPr>
            <a:r>
              <a:rPr sz="1600">
                <a:solidFill>
                  <a:srgbClr val="E6EDF3"/>
                </a:solidFill>
                <a:latin typeface="Courier New"/>
              </a:rPr>
              <a:t xml:space="preserve">        reply = await session.send_and_wait(</a:t>
            </a:r>
          </a:p>
          <a:p>
            <a:pPr algn="l">
              <a:lnSpc>
                <a:spcPts val="1430"/>
              </a:lnSpc>
              <a:spcBef>
                <a:spcPts val="0"/>
              </a:spcBef>
              <a:spcAft>
                <a:spcPts val="0"/>
              </a:spcAft>
            </a:pPr>
            <a:r>
              <a:rPr sz="1600">
                <a:solidFill>
                  <a:srgbClr val="E6EDF3"/>
                </a:solidFill>
                <a:latin typeface="Courier New"/>
              </a:rPr>
              <a:t xml:space="preserve">            "Explain the SDK in 3 sentences.", timeout=60,</a:t>
            </a:r>
          </a:p>
          <a:p>
            <a:pPr algn="l">
              <a:lnSpc>
                <a:spcPts val="1430"/>
              </a:lnSpc>
              <a:spcBef>
                <a:spcPts val="0"/>
              </a:spcBef>
              <a:spcAft>
                <a:spcPts val="0"/>
              </a:spcAft>
            </a:pPr>
            <a:r>
              <a:rPr sz="1600">
                <a:solidFill>
                  <a:srgbClr val="E6EDF3"/>
                </a:solidFill>
                <a:latin typeface="Courier New"/>
              </a:rPr>
              <a:t xml:space="preserve">        )</a:t>
            </a:r>
          </a:p>
          <a:p>
            <a:pPr algn="l">
              <a:lnSpc>
                <a:spcPts val="1430"/>
              </a:lnSpc>
              <a:spcBef>
                <a:spcPts val="0"/>
              </a:spcBef>
              <a:spcAft>
                <a:spcPts val="0"/>
              </a:spcAft>
            </a:pPr>
            <a:r>
              <a:rPr sz="1600">
                <a:solidFill>
                  <a:srgbClr val="E6EDF3"/>
                </a:solidFill>
                <a:latin typeface="Courier New"/>
              </a:rPr>
              <a:t xml:space="preserve">        if reply is None:</a:t>
            </a:r>
          </a:p>
          <a:p>
            <a:pPr algn="l">
              <a:lnSpc>
                <a:spcPts val="1430"/>
              </a:lnSpc>
              <a:spcBef>
                <a:spcPts val="0"/>
              </a:spcBef>
              <a:spcAft>
                <a:spcPts val="0"/>
              </a:spcAft>
            </a:pPr>
            <a:r>
              <a:rPr sz="1600">
                <a:solidFill>
                  <a:srgbClr val="E6EDF3"/>
                </a:solidFill>
                <a:latin typeface="Courier New"/>
              </a:rPr>
              <a:t xml:space="preserve">            raise RuntimeError("No final message")</a:t>
            </a:r>
          </a:p>
          <a:p>
            <a:pPr algn="l">
              <a:lnSpc>
                <a:spcPts val="1430"/>
              </a:lnSpc>
              <a:spcBef>
                <a:spcPts val="0"/>
              </a:spcBef>
              <a:spcAft>
                <a:spcPts val="0"/>
              </a:spcAft>
            </a:pPr>
            <a:r>
              <a:rPr sz="1600">
                <a:solidFill>
                  <a:srgbClr val="E6EDF3"/>
                </a:solidFill>
                <a:latin typeface="Courier New"/>
              </a:rPr>
              <a:t xml:space="preserve">        print(reply.data.content)</a:t>
            </a:r>
          </a:p>
          <a:p>
            <a:pPr algn="l">
              <a:lnSpc>
                <a:spcPts val="1430"/>
              </a:lnSpc>
              <a:spcBef>
                <a:spcPts val="0"/>
              </a:spcBef>
              <a:spcAft>
                <a:spcPts val="0"/>
              </a:spcAft>
            </a:pPr>
            <a:r>
              <a:rPr sz="1300">
                <a:solidFill>
                  <a:srgbClr val="E6EDF3"/>
                </a:solidFill>
                <a:latin typeface="Courier New"/>
              </a:rPr>
              <a:t xml:space="preserve"/>
            </a:r>
          </a:p>
          <a:p>
            <a:pPr algn="l">
              <a:lnSpc>
                <a:spcPts val="1430"/>
              </a:lnSpc>
              <a:spcBef>
                <a:spcPts val="0"/>
              </a:spcBef>
              <a:spcAft>
                <a:spcPts val="0"/>
              </a:spcAft>
            </a:pPr>
            <a:r>
              <a:rPr sz="1300">
                <a:solidFill>
                  <a:srgbClr val="E6EDF3"/>
                </a:solidFill>
                <a:latin typeface="Courier New"/>
              </a:rPr>
              <a:t xml:space="preserve"/>
            </a:r>
          </a:p>
          <a:p>
            <a:pPr algn="l">
              <a:lnSpc>
                <a:spcPts val="1430"/>
              </a:lnSpc>
              <a:spcBef>
                <a:spcPts val="0"/>
              </a:spcBef>
              <a:spcAft>
                <a:spcPts val="0"/>
              </a:spcAft>
            </a:pPr>
            <a:r>
              <a:rPr sz="1300">
                <a:solidFill>
                  <a:srgbClr val="E6EDF3"/>
                </a:solidFill>
                <a:latin typeface="Courier New"/>
              </a:rPr>
              <a:t xml:space="preserve"/>
            </a:r>
          </a:p>
        </p:txBody>
      </p:sp>
      <p:sp>
        <p:nvSpPr>
          <p:cNvPr id="12" name="Text 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6 / 24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03 · Custom Agents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One conversation, explicit persona handoff; agent selection RPC is experimental</a:t>
            </a:r>
            <a:endParaRPr lang="en-US" sz="1200" dirty="0"/>
          </a:p>
        </p:txBody>
      </p:sp>
      <p:sp>
        <p:nvSpPr>
          <p:cNvPr id="6" name="Shape 3"/>
          <p:cNvSpPr/>
          <p:nvPr/>
        </p:nvSpPr>
        <p:spPr>
          <a:xfrm>
            <a:off x="548640" y="1234440"/>
            <a:ext cx="2560320" cy="228600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8" name="Image 1" descr="preencoded.png"/>
          <p:cNvPicPr>
            <a:picLocks noChangeAspect="1"/>
          </p:cNvPicPr>
          <p:nvPr/>
        </p:nvPicPr>
        <p:blipFill>
          <a:blip r:embed="rId4"/>
          <a:stretch>
            <a:fillRect/>
          </a:stretch>
        </p:blipFill>
        <p:spPr>
          <a:xfrm>
            <a:off x="1627632" y="1417320"/>
            <a:ext cx="402336" cy="402336"/>
          </a:xfrm>
          <a:prstGeom prst="rect">
            <a:avLst/>
          </a:prstGeom>
        </p:spPr>
      </p:pic>
      <p:sp>
        <p:nvSpPr>
          <p:cNvPr id="9" name="Text 5"/>
          <p:cNvSpPr/>
          <p:nvPr/>
        </p:nvSpPr>
        <p:spPr>
          <a:xfrm>
            <a:off x="685800" y="1920240"/>
            <a:ext cx="2286000" cy="27432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Research Agent</a:t>
            </a:r>
            <a:endParaRPr lang="en-US" sz="1300" dirty="0"/>
          </a:p>
        </p:txBody>
      </p:sp>
      <p:sp>
        <p:nvSpPr>
          <p:cNvPr id="10" name="Text 6"/>
          <p:cNvSpPr/>
          <p:nvPr/>
        </p:nvSpPr>
        <p:spPr>
          <a:xfrm>
            <a:off x="731520" y="2286000"/>
            <a:ext cx="548640" cy="228600"/>
          </a:xfrm>
          <a:prstGeom prst="rect">
            <a:avLst/>
          </a:prstGeom>
          <a:noFill/>
          <a:ln>
            <a:noFill/>
          </a:ln>
        </p:spPr>
        <p:txBody>
          <a:bodyPr wrap="square" lIns="0" tIns="0" rIns="0" bIns="0" rtlCol="0" anchor="ctr"/>
          <a:lstStyle/>
          <a:p>
            <a:pPr marL="0" indent="0">
              <a:buNone/>
            </a:pPr>
            <a:r>
              <a:rPr lang="en-US" sz="900" b="1" dirty="0">
                <a:solidFill>
                  <a:srgbClr val="8B949E"/>
                </a:solidFill>
                <a:latin typeface="Calibri" pitchFamily="34" charset="0"/>
                <a:ea typeface="Calibri" pitchFamily="34" charset="-122"/>
                <a:cs typeface="Calibri" pitchFamily="34" charset="-120"/>
              </a:rPr>
              <a:t>Tools:</a:t>
            </a:r>
            <a:endParaRPr lang="en-US" sz="900" dirty="0"/>
          </a:p>
        </p:txBody>
      </p:sp>
      <p:sp>
        <p:nvSpPr>
          <p:cNvPr id="11" name="Text 7"/>
          <p:cNvSpPr/>
          <p:nvPr/>
        </p:nvSpPr>
        <p:spPr>
          <a:xfrm>
            <a:off x="1280160" y="2286000"/>
            <a:ext cx="1645920" cy="228600"/>
          </a:xfrm>
          <a:prstGeom prst="rect">
            <a:avLst/>
          </a:prstGeom>
          <a:noFill/>
          <a:ln>
            <a:noFill/>
          </a:ln>
        </p:spPr>
        <p:txBody>
          <a:bodyPr wrap="square" lIns="0" tIns="0" rIns="0" bIns="0" rtlCol="0" anchor="ctr"/>
          <a:lstStyle/>
          <a:p>
            <a:pPr marL="0" indent="0">
              <a:buNone/>
            </a:pPr>
            <a:r>
              <a:rPr lang="en-US" sz="900" dirty="0">
                <a:solidFill>
                  <a:srgbClr val="3FB950"/>
                </a:solidFill>
                <a:latin typeface="Consolas" pitchFamily="34" charset="0"/>
                <a:ea typeface="Consolas" pitchFamily="34" charset="-122"/>
                <a:cs typeface="Consolas" pitchFamily="34" charset="-120"/>
              </a:rPr>
              <a:t>grep, glob, view</a:t>
            </a:r>
            <a:endParaRPr lang="en-US" sz="900" dirty="0"/>
          </a:p>
        </p:txBody>
      </p:sp>
      <p:sp>
        <p:nvSpPr>
          <p:cNvPr id="12" name="Text 8"/>
          <p:cNvSpPr/>
          <p:nvPr/>
        </p:nvSpPr>
        <p:spPr>
          <a:xfrm>
            <a:off x="731520" y="2606040"/>
            <a:ext cx="2194560" cy="731520"/>
          </a:xfrm>
          <a:prstGeom prst="rect">
            <a:avLst/>
          </a:prstGeom>
          <a:noFill/>
          <a:ln>
            <a:noFill/>
          </a:ln>
        </p:spPr>
        <p:txBody>
          <a:bodyPr wrap="square" lIns="0" tIns="0" rIns="0" bIns="0" rtlCol="0" anchor="ctr"/>
          <a:lstStyle/>
          <a:p>
            <a:pPr marL="0" indent="0">
              <a:buNone/>
            </a:pPr>
            <a:r>
              <a:rPr lang="en-US" sz="1000" i="1" dirty="0">
                <a:solidFill>
                  <a:srgbClr val="C9D1D9"/>
                </a:solidFill>
                <a:latin typeface="Calibri" pitchFamily="34" charset="0"/>
                <a:ea typeface="Calibri" pitchFamily="34" charset="-122"/>
                <a:cs typeface="Calibri" pitchFamily="34" charset="-120"/>
              </a:rPr>
              <a:t>Analyze code, answer questions. Read-only.</a:t>
            </a:r>
            <a:endParaRPr lang="en-US" sz="1000" dirty="0"/>
          </a:p>
        </p:txBody>
      </p:sp>
      <p:sp>
        <p:nvSpPr>
          <p:cNvPr id="13" name="Shape 9"/>
          <p:cNvSpPr/>
          <p:nvPr/>
        </p:nvSpPr>
        <p:spPr>
          <a:xfrm>
            <a:off x="3355848" y="1234440"/>
            <a:ext cx="2560320" cy="228600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15" name="Image 2" descr="preencoded.png"/>
          <p:cNvPicPr>
            <a:picLocks noChangeAspect="1"/>
          </p:cNvPicPr>
          <p:nvPr/>
        </p:nvPicPr>
        <p:blipFill>
          <a:blip r:embed="rId5"/>
          <a:stretch>
            <a:fillRect/>
          </a:stretch>
        </p:blipFill>
        <p:spPr>
          <a:xfrm>
            <a:off x="4434840" y="1417320"/>
            <a:ext cx="402336" cy="402336"/>
          </a:xfrm>
          <a:prstGeom prst="rect">
            <a:avLst/>
          </a:prstGeom>
        </p:spPr>
      </p:pic>
      <p:sp>
        <p:nvSpPr>
          <p:cNvPr id="16" name="Text 11"/>
          <p:cNvSpPr/>
          <p:nvPr/>
        </p:nvSpPr>
        <p:spPr>
          <a:xfrm>
            <a:off x="3493008" y="1920240"/>
            <a:ext cx="2286000" cy="27432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Explicit Handoff</a:t>
            </a:r>
            <a:endParaRPr lang="en-US" sz="1300" dirty="0"/>
          </a:p>
        </p:txBody>
      </p:sp>
      <p:sp>
        <p:nvSpPr>
          <p:cNvPr id="17" name="Text 12"/>
          <p:cNvSpPr/>
          <p:nvPr/>
        </p:nvSpPr>
        <p:spPr>
          <a:xfrm>
            <a:off x="3538728" y="2286000"/>
            <a:ext cx="548640" cy="228600"/>
          </a:xfrm>
          <a:prstGeom prst="rect">
            <a:avLst/>
          </a:prstGeom>
          <a:noFill/>
          <a:ln>
            <a:noFill/>
          </a:ln>
        </p:spPr>
        <p:txBody>
          <a:bodyPr wrap="square" lIns="0" tIns="0" rIns="0" bIns="0" rtlCol="0" anchor="ctr"/>
          <a:lstStyle/>
          <a:p>
            <a:pPr marL="0" indent="0">
              <a:buNone/>
            </a:pPr>
            <a:r>
              <a:rPr lang="en-US" sz="900" b="1" dirty="0">
                <a:solidFill>
                  <a:srgbClr val="8B949E"/>
                </a:solidFill>
                <a:latin typeface="Calibri" pitchFamily="34" charset="0"/>
                <a:ea typeface="Calibri" pitchFamily="34" charset="-122"/>
                <a:cs typeface="Calibri" pitchFamily="34" charset="-120"/>
              </a:rPr>
              <a:t>RPC:</a:t>
            </a:r>
            <a:endParaRPr lang="en-US" sz="900" dirty="0"/>
          </a:p>
        </p:txBody>
      </p:sp>
      <p:sp>
        <p:nvSpPr>
          <p:cNvPr id="18" name="Text 13"/>
          <p:cNvSpPr/>
          <p:nvPr/>
        </p:nvSpPr>
        <p:spPr>
          <a:xfrm>
            <a:off x="4087368" y="2286000"/>
            <a:ext cx="1645920" cy="228600"/>
          </a:xfrm>
          <a:prstGeom prst="rect">
            <a:avLst/>
          </a:prstGeom>
          <a:noFill/>
          <a:ln>
            <a:noFill/>
          </a:ln>
        </p:spPr>
        <p:txBody>
          <a:bodyPr wrap="square" lIns="0" tIns="0" rIns="0" bIns="0" rtlCol="0" anchor="ctr"/>
          <a:lstStyle/>
          <a:p>
            <a:pPr marL="0" indent="0">
              <a:buNone/>
            </a:pPr>
            <a:r>
              <a:rPr lang="en-US" sz="900" dirty="0">
                <a:solidFill>
                  <a:srgbClr val="3FB950"/>
                </a:solidFill>
                <a:latin typeface="Consolas" pitchFamily="34" charset="0"/>
                <a:ea typeface="Consolas" pitchFamily="34" charset="-122"/>
                <a:cs typeface="Consolas" pitchFamily="34" charset="-120"/>
              </a:rPr>
              <a:t>agent.select(AgentSelectRequest(...))</a:t>
            </a:r>
            <a:endParaRPr lang="en-US" sz="900" dirty="0"/>
          </a:p>
        </p:txBody>
      </p:sp>
      <p:sp>
        <p:nvSpPr>
          <p:cNvPr id="19" name="Text 14"/>
          <p:cNvSpPr/>
          <p:nvPr/>
        </p:nvSpPr>
        <p:spPr>
          <a:xfrm>
            <a:off x="3538728" y="2606040"/>
            <a:ext cx="2194560" cy="731520"/>
          </a:xfrm>
          <a:prstGeom prst="rect">
            <a:avLst/>
          </a:prstGeom>
          <a:noFill/>
          <a:ln>
            <a:noFill/>
          </a:ln>
        </p:spPr>
        <p:txBody>
          <a:bodyPr wrap="square" lIns="0" tIns="0" rIns="0" bIns="0" rtlCol="0" anchor="ctr"/>
          <a:lstStyle/>
          <a:p>
            <a:pPr marL="0" indent="0">
              <a:buNone/>
            </a:pPr>
            <a:r>
              <a:rPr lang="en-US" sz="1000" i="1" dirty="0">
                <a:solidFill>
                  <a:srgbClr val="C9D1D9"/>
                </a:solidFill>
                <a:latin typeface="Calibri" pitchFamily="34" charset="0"/>
                <a:ea typeface="Calibri" pitchFamily="34" charset="-122"/>
                <a:cs typeface="Calibri" pitchFamily="34" charset="-120"/>
              </a:rPr>
              <a:t>Verify with agent.get_current()</a:t>
            </a:r>
            <a:endParaRPr lang="en-US" sz="1000" dirty="0"/>
          </a:p>
        </p:txBody>
      </p:sp>
      <p:sp>
        <p:nvSpPr>
          <p:cNvPr id="20" name="Shape 15"/>
          <p:cNvSpPr/>
          <p:nvPr/>
        </p:nvSpPr>
        <p:spPr>
          <a:xfrm>
            <a:off x="6163056" y="1234440"/>
            <a:ext cx="2560320" cy="228600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pic>
        <p:nvPicPr>
          <p:cNvPr id="22" name="Image 3" descr="preencoded.png"/>
          <p:cNvPicPr>
            <a:picLocks noChangeAspect="1"/>
          </p:cNvPicPr>
          <p:nvPr/>
        </p:nvPicPr>
        <p:blipFill>
          <a:blip r:embed="rId6"/>
          <a:stretch>
            <a:fillRect/>
          </a:stretch>
        </p:blipFill>
        <p:spPr>
          <a:xfrm>
            <a:off x="7242048" y="1417320"/>
            <a:ext cx="402336" cy="402336"/>
          </a:xfrm>
          <a:prstGeom prst="rect">
            <a:avLst/>
          </a:prstGeom>
        </p:spPr>
      </p:pic>
      <p:sp>
        <p:nvSpPr>
          <p:cNvPr id="23" name="Text 17"/>
          <p:cNvSpPr/>
          <p:nvPr/>
        </p:nvSpPr>
        <p:spPr>
          <a:xfrm>
            <a:off x="6300216" y="1920240"/>
            <a:ext cx="2286000" cy="274320"/>
          </a:xfrm>
          <a:prstGeom prst="rect">
            <a:avLst/>
          </a:prstGeom>
          <a:no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Code Reviewer</a:t>
            </a:r>
            <a:endParaRPr lang="en-US" sz="1300" dirty="0"/>
          </a:p>
        </p:txBody>
      </p:sp>
      <p:sp>
        <p:nvSpPr>
          <p:cNvPr id="24" name="Text 18"/>
          <p:cNvSpPr/>
          <p:nvPr/>
        </p:nvSpPr>
        <p:spPr>
          <a:xfrm>
            <a:off x="6345936" y="2286000"/>
            <a:ext cx="548640" cy="228600"/>
          </a:xfrm>
          <a:prstGeom prst="rect">
            <a:avLst/>
          </a:prstGeom>
          <a:noFill/>
          <a:ln>
            <a:noFill/>
          </a:ln>
        </p:spPr>
        <p:txBody>
          <a:bodyPr wrap="square" lIns="0" tIns="0" rIns="0" bIns="0" rtlCol="0" anchor="ctr"/>
          <a:lstStyle/>
          <a:p>
            <a:pPr marL="0" indent="0">
              <a:buNone/>
            </a:pPr>
            <a:r>
              <a:rPr lang="en-US" sz="900" b="1" dirty="0">
                <a:solidFill>
                  <a:srgbClr val="8B949E"/>
                </a:solidFill>
                <a:latin typeface="Calibri" pitchFamily="34" charset="0"/>
                <a:ea typeface="Calibri" pitchFamily="34" charset="-122"/>
                <a:cs typeface="Calibri" pitchFamily="34" charset="-120"/>
              </a:rPr>
              <a:t>Tools:</a:t>
            </a:r>
            <a:endParaRPr lang="en-US" sz="900" dirty="0"/>
          </a:p>
        </p:txBody>
      </p:sp>
      <p:sp>
        <p:nvSpPr>
          <p:cNvPr id="25" name="Text 19"/>
          <p:cNvSpPr/>
          <p:nvPr/>
        </p:nvSpPr>
        <p:spPr>
          <a:xfrm>
            <a:off x="6894576" y="2286000"/>
            <a:ext cx="1645920" cy="228600"/>
          </a:xfrm>
          <a:prstGeom prst="rect">
            <a:avLst/>
          </a:prstGeom>
          <a:noFill/>
          <a:ln>
            <a:noFill/>
          </a:ln>
        </p:spPr>
        <p:txBody>
          <a:bodyPr wrap="square" lIns="0" tIns="0" rIns="0" bIns="0" rtlCol="0" anchor="ctr"/>
          <a:lstStyle/>
          <a:p>
            <a:pPr marL="0" indent="0">
              <a:buNone/>
            </a:pPr>
            <a:r>
              <a:rPr lang="en-US" sz="900" dirty="0">
                <a:solidFill>
                  <a:srgbClr val="3FB950"/>
                </a:solidFill>
                <a:latin typeface="Consolas" pitchFamily="34" charset="0"/>
                <a:ea typeface="Consolas" pitchFamily="34" charset="-122"/>
                <a:cs typeface="Consolas" pitchFamily="34" charset="-120"/>
              </a:rPr>
              <a:t>grep, glob, view</a:t>
            </a:r>
            <a:endParaRPr lang="en-US" sz="900" dirty="0"/>
          </a:p>
        </p:txBody>
      </p:sp>
      <p:sp>
        <p:nvSpPr>
          <p:cNvPr id="26" name="Text 20"/>
          <p:cNvSpPr/>
          <p:nvPr/>
        </p:nvSpPr>
        <p:spPr>
          <a:xfrm>
            <a:off x="6345936" y="2606040"/>
            <a:ext cx="2194560" cy="731520"/>
          </a:xfrm>
          <a:prstGeom prst="rect">
            <a:avLst/>
          </a:prstGeom>
          <a:noFill/>
          <a:ln>
            <a:noFill/>
          </a:ln>
        </p:spPr>
        <p:txBody>
          <a:bodyPr wrap="square" lIns="0" tIns="0" rIns="0" bIns="0" rtlCol="0" anchor="ctr"/>
          <a:lstStyle/>
          <a:p>
            <a:pPr marL="0" indent="0">
              <a:buNone/>
            </a:pPr>
            <a:r>
              <a:rPr lang="en-US" sz="1000" i="1" dirty="0">
                <a:solidFill>
                  <a:srgbClr val="C9D1D9"/>
                </a:solidFill>
                <a:latin typeface="Calibri" pitchFamily="34" charset="0"/>
                <a:ea typeface="Calibri" pitchFamily="34" charset="-122"/>
                <a:cs typeface="Calibri" pitchFamily="34" charset="-120"/>
              </a:rPr>
              <a:t>Review code for bugs, security, and best practices.</a:t>
            </a:r>
            <a:endParaRPr lang="en-US" sz="1000" dirty="0"/>
          </a:p>
        </p:txBody>
      </p:sp>
      <p:sp>
        <p:nvSpPr>
          <p:cNvPr id="27" name="Shape 21"/>
          <p:cNvSpPr/>
          <p:nvPr/>
        </p:nvSpPr>
        <p:spPr>
          <a:xfrm>
            <a:off x="548640" y="3749040"/>
            <a:ext cx="8046720" cy="822960"/>
          </a:xfrm>
          <a:prstGeom prst="line">
            <a:avLst/>
          </a:prstGeom>
          <a:solidFill>
            <a:srgbClr val="161B22"/>
          </a:solidFill>
          <a:ln w="12700">
            <a:prstDash val="solid"/>
          </a:ln>
        </p:spPr>
        <p:txBody>
          <a:bodyPr/>
          <a:lstStyle/>
          <a:p>
            <a:endParaRPr/>
          </a:p>
        </p:txBody>
      </p:sp>
      <p:pic>
        <p:nvPicPr>
          <p:cNvPr id="28" name="Image 4" descr="preencoded.png"/>
          <p:cNvPicPr>
            <a:picLocks noChangeAspect="1"/>
          </p:cNvPicPr>
          <p:nvPr/>
        </p:nvPicPr>
        <p:blipFill>
          <a:blip r:embed="rId7"/>
          <a:stretch>
            <a:fillRect/>
          </a:stretch>
        </p:blipFill>
        <p:spPr>
          <a:xfrm>
            <a:off x="777240" y="3886200"/>
            <a:ext cx="365760" cy="365760"/>
          </a:xfrm>
          <a:prstGeom prst="rect">
            <a:avLst/>
          </a:prstGeom>
        </p:spPr>
      </p:pic>
      <p:sp>
        <p:nvSpPr>
          <p:cNvPr id="29" name="Text 22"/>
          <p:cNvSpPr/>
          <p:nvPr/>
        </p:nvSpPr>
        <p:spPr>
          <a:xfrm>
            <a:off x="1280160" y="3794760"/>
            <a:ext cx="7132320" cy="731520"/>
          </a:xfrm>
          <a:prstGeom prst="rect">
            <a:avLst/>
          </a:prstGeom>
          <a:noFill/>
          <a:ln>
            <a:noFill/>
          </a:ln>
        </p:spPr>
        <p:txBody>
          <a:bodyPr wrap="square" lIns="0" tIns="0" rIns="0" bIns="0" rtlCol="0" anchor="ctr"/>
          <a:lstStyle/>
          <a:p>
            <a:pPr marL="0" indent="0">
              <a:buNone/>
            </a:pPr>
            <a:r>
              <a:rPr lang="en-US" sz="1200" b="1" dirty="0">
                <a:solidFill>
                  <a:srgbClr val="58A6FF"/>
                </a:solidFill>
                <a:latin typeface="Calibri" pitchFamily="34" charset="0"/>
                <a:ea typeface="Calibri" pitchFamily="34" charset="-122"/>
                <a:cs typeface="Calibri" pitchFamily="34" charset="-120"/>
              </a:rPr>
              <a:t xml:space="preserve">Register display_name, prompt, and explicit tool restrictions; start with agent="researcher".</a:t>
            </a:r>
            <a:r>
              <a:rPr lang="en-US" sz="1100" dirty="0">
                <a:solidFill>
                  <a:srgbClr val="C9D1D9"/>
                </a:solidFill>
                <a:latin typeface="Calibri" pitchFamily="34" charset="0"/>
                <a:ea typeface="Calibri" pitchFamily="34" charset="-122"/>
                <a:cs typeface="Calibri" pitchFamily="34" charset="-120"/>
              </a:rPr>
              <a:t xml:space="preserve"/>
            </a:r>
            <a:r>
              <a:rPr lang="en-US" sz="1100" dirty="0">
                <a:solidFill>
                  <a:srgbClr val="3FB950"/>
                </a:solidFill>
                <a:latin typeface="Consolas" pitchFamily="34" charset="0"/>
                <a:ea typeface="Consolas" pitchFamily="34" charset="-122"/>
                <a:cs typeface="Consolas" pitchFamily="34" charset="-120"/>
              </a:rPr>
              <a:t/>
            </a:r>
            <a:r>
              <a:rPr lang="en-US" sz="1100" dirty="0">
                <a:solidFill>
                  <a:srgbClr val="C9D1D9"/>
                </a:solidFill>
                <a:latin typeface="Calibri" pitchFamily="34" charset="0"/>
                <a:ea typeface="Calibri" pitchFamily="34" charset="-122"/>
                <a:cs typeface="Calibri" pitchFamily="34" charset="-120"/>
              </a:rPr>
              <a:t xml:space="preserve"/>
            </a:r>
            <a:endParaRPr lang="en-US" sz="1200" dirty="0"/>
          </a:p>
        </p:txBody>
      </p:sp>
      <p:sp>
        <p:nvSpPr>
          <p:cNvPr id="32" name="Text 24"/>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11 / 24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05 · Remote GitHub MCP</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Generic MCP connections own separate authentication; the sample requires a live tool event</a:t>
            </a:r>
            <a:endParaRPr lang="en-US" sz="1200" dirty="0"/>
          </a:p>
        </p:txBody>
      </p:sp>
      <p:sp>
        <p:nvSpPr>
          <p:cNvPr id="6" name="Shape 3"/>
          <p:cNvSpPr/>
          <p:nvPr/>
        </p:nvSpPr>
        <p:spPr>
          <a:xfrm>
            <a:off x="548640" y="1188720"/>
            <a:ext cx="3931920" cy="11887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8" name="Text 5"/>
          <p:cNvSpPr/>
          <p:nvPr/>
        </p:nvSpPr>
        <p:spPr>
          <a:xfrm>
            <a:off x="731520" y="1325880"/>
            <a:ext cx="356616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Connection</a:t>
            </a:r>
            <a:endParaRPr lang="en-US" sz="1400" dirty="0"/>
          </a:p>
        </p:txBody>
      </p:sp>
      <p:sp>
        <p:nvSpPr>
          <p:cNvPr id="9" name="Text 6"/>
          <p:cNvSpPr/>
          <p:nvPr/>
        </p:nvSpPr>
        <p:spPr>
          <a:xfrm>
            <a:off x="731520" y="1600200"/>
            <a:ext cx="3566160" cy="2743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Remote HTTP endpoint</a:t>
            </a:r>
            <a:endParaRPr lang="en-US" sz="1000" dirty="0"/>
          </a:p>
        </p:txBody>
      </p:sp>
      <p:sp>
        <p:nvSpPr>
          <p:cNvPr id="10" name="Text 7"/>
          <p:cNvSpPr/>
          <p:nvPr/>
        </p:nvSpPr>
        <p:spPr>
          <a:xfrm>
            <a:off x="731520" y="1920240"/>
            <a:ext cx="3566160" cy="274320"/>
          </a:xfrm>
          <a:prstGeom prst="rect">
            <a:avLst/>
          </a:prstGeom>
          <a:noFill/>
          <a:ln>
            <a:noFill/>
          </a:ln>
        </p:spPr>
        <p:txBody>
          <a:bodyPr wrap="square" lIns="0" tIns="0" rIns="0" bIns="0" rtlCol="0" anchor="ctr"/>
          <a:lstStyle/>
          <a:p>
            <a:pPr marL="0" indent="0">
              <a:buNone/>
            </a:pPr>
            <a:r>
              <a:rPr lang="en-US" sz="900" i="1" dirty="0">
                <a:solidFill>
                  <a:srgbClr val="8B949E"/>
                </a:solidFill>
                <a:latin typeface="Calibri" pitchFamily="34" charset="0"/>
                <a:ea typeface="Calibri" pitchFamily="34" charset="-122"/>
                <a:cs typeface="Calibri" pitchFamily="34" charset="-120"/>
              </a:rPr>
              <a:t>Bearer token in this sample; OAuth is also supported</a:t>
            </a:r>
            <a:endParaRPr lang="en-US" sz="900" dirty="0"/>
          </a:p>
        </p:txBody>
      </p:sp>
      <p:sp>
        <p:nvSpPr>
          <p:cNvPr id="11" name="Shape 8"/>
          <p:cNvSpPr/>
          <p:nvPr/>
        </p:nvSpPr>
        <p:spPr>
          <a:xfrm>
            <a:off x="4754880" y="1188720"/>
            <a:ext cx="3931920" cy="118872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3" name="Text 10"/>
          <p:cNvSpPr/>
          <p:nvPr/>
        </p:nvSpPr>
        <p:spPr>
          <a:xfrm>
            <a:off x="4937760" y="1325880"/>
            <a:ext cx="356616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p>
        </p:txBody>
      </p:sp>
      <p:sp>
        <p:nvSpPr>
          <p:cNvPr id="14" name="Text 11"/>
          <p:cNvSpPr/>
          <p:nvPr/>
        </p:nvSpPr>
        <p:spPr>
          <a:xfrm>
            <a:off x="4937760" y="1600200"/>
            <a:ext cx="3566160" cy="274320"/>
          </a:xfrm>
          <a:prstGeom prst="rect">
            <a:avLst/>
          </a:prstGeom>
          <a:noFill/>
          <a:ln>
            <a:noFill/>
          </a:ln>
        </p:spPr>
        <p:txBody>
          <a:bodyPr wrap="square" lIns="0" tIns="0" rIns="0" bIns="0" rtlCol="0" anchor="ctr"/>
          <a:lstStyle/>
          <a:p>
            <a:pPr marL="0" indent="0">
              <a:buNone/>
            </a:pPr>
            <a:r>
              <a:rPr lang="en-US" sz="1000" dirty="0">
                <a:solidFill>
                  <a:srgbClr val="C9D1D9"/>
                </a:solidFill>
                <a:latin typeface="Calibri" pitchFamily="34" charset="0"/>
                <a:ea typeface="Calibri" pitchFamily="34" charset="-122"/>
                <a:cs typeface="Calibri" pitchFamily="34" charset="-120"/>
              </a:rPr>
              <a:t>ToolExecutionStartData</a:t>
            </a:r>
            <a:endParaRPr lang="en-US" sz="1000" dirty="0"/>
          </a:p>
        </p:txBody>
      </p:sp>
      <p:sp>
        <p:nvSpPr>
          <p:cNvPr id="15" name="Text 12"/>
          <p:cNvSpPr/>
          <p:nvPr/>
        </p:nvSpPr>
        <p:spPr>
          <a:xfrm>
            <a:off x="4937760" y="1920240"/>
            <a:ext cx="3566160" cy="274320"/>
          </a:xfrm>
          <a:prstGeom prst="rect">
            <a:avLst/>
          </a:prstGeom>
          <a:noFill/>
          <a:ln>
            <a:noFill/>
          </a:ln>
        </p:spPr>
        <p:txBody>
          <a:bodyPr wrap="square" lIns="0" tIns="0" rIns="0" bIns="0" rtlCol="0" anchor="ctr"/>
          <a:lstStyle/>
          <a:p>
            <a:pPr marL="0" indent="0">
              <a:buNone/>
            </a:pPr>
            <a:r>
              <a:rPr lang="en-US" sz="900" i="1" dirty="0">
                <a:solidFill>
                  <a:srgbClr val="8B949E"/>
                </a:solidFill>
                <a:latin typeface="Calibri" pitchFamily="34" charset="0"/>
                <a:ea typeface="Calibri" pitchFamily="34" charset="-122"/>
                <a:cs typeface="Calibri" pitchFamily="34" charset="-120"/>
              </a:rPr>
              <a:t>No matching event means sample failure</a:t>
            </a:r>
            <a:endParaRPr lang="en-US" sz="900" dirty="0"/>
          </a:p>
        </p:txBody>
      </p:sp>
      <p:sp>
        <p:nvSpPr>
          <p:cNvPr id="16" name="Shape 13"/>
          <p:cNvSpPr/>
          <p:nvPr/>
        </p:nvSpPr>
        <p:spPr>
          <a:xfrm>
            <a:off x="548640" y="2606040"/>
            <a:ext cx="8046720" cy="2103120"/>
          </a:xfrm>
          <a:prstGeom prst="line">
            <a:avLst/>
          </a:prstGeom>
          <a:solidFill>
            <a:srgbClr val="161B22"/>
          </a:solidFill>
          <a:ln w="12700">
            <a:prstDash val="solid"/>
          </a:ln>
        </p:spPr>
        <p:txBody>
          <a:bodyPr/>
          <a:lstStyle/>
          <a:p>
            <a:endParaRPr/>
          </a:p>
        </p:txBody>
      </p:sp>
      <p:sp>
        <p:nvSpPr>
          <p:cNvPr id="17" name="Shape 14"/>
          <p:cNvSpPr/>
          <p:nvPr/>
        </p:nvSpPr>
        <p:spPr>
          <a:xfrm>
            <a:off x="548640" y="2606040"/>
            <a:ext cx="1371600" cy="256032"/>
          </a:xfrm>
          <a:prstGeom prst="line">
            <a:avLst/>
          </a:prstGeom>
          <a:solidFill>
            <a:srgbClr val="1F6FEB"/>
          </a:solidFill>
          <a:ln w="6350">
            <a:solidFill>
              <a:srgbClr val="30363D"/>
            </a:solidFill>
          </a:ln>
        </p:spPr>
        <p:txBody>
          <a:bodyPr/>
          <a:lstStyle/>
          <a:p>
            <a:endParaRPr/>
          </a:p>
        </p:txBody>
      </p:sp>
      <p:sp>
        <p:nvSpPr>
          <p:cNvPr id="18" name="Text 15"/>
          <p:cNvSpPr/>
          <p:nvPr/>
        </p:nvSpPr>
        <p:spPr>
          <a:xfrm>
            <a:off x="548640" y="260604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19" name="Text 16"/>
          <p:cNvSpPr/>
          <p:nvPr/>
        </p:nvSpPr>
        <p:spPr>
          <a:xfrm>
            <a:off x="685800" y="2926080"/>
            <a:ext cx="7772400" cy="1691640"/>
          </a:xfrm>
          <a:prstGeom prst="rect">
            <a:avLst/>
          </a:prstGeom>
          <a:noFill/>
          <a:ln>
            <a:noFill/>
          </a:ln>
        </p:spPr>
        <p:txBody>
          <a:bodyPr wrap="none" lIns="25400" tIns="25400" rIns="25400" bIns="25400" rtlCol="0" anchor="t"/>
          <a:lstStyle/>
          <a:p>
            <a:pPr algn="l">
              <a:lnSpc>
                <a:spcPts val="1100"/>
              </a:lnSpc>
              <a:spcBef>
                <a:spcPts val="0"/>
              </a:spcBef>
              <a:spcAft>
                <a:spcPts val="0"/>
              </a:spcAft>
            </a:pPr>
            <a:r>
              <a:rPr sz="1400">
                <a:solidFill>
                  <a:srgbClr val="E6EDF3"/>
                </a:solidFill>
                <a:latin typeface="Courier New"/>
              </a:rPr>
              <a:t xml:space="preserve">token = github_token()</a:t>
            </a:r>
          </a:p>
          <a:p>
            <a:pPr algn="l">
              <a:lnSpc>
                <a:spcPts val="1100"/>
              </a:lnSpc>
              <a:spcBef>
                <a:spcPts val="0"/>
              </a:spcBef>
              <a:spcAft>
                <a:spcPts val="0"/>
              </a:spcAft>
            </a:pPr>
            <a:r>
              <a:rPr sz="1400">
                <a:solidFill>
                  <a:srgbClr val="E6EDF3"/>
                </a:solidFill>
                <a:latin typeface="Courier New"/>
              </a:rPr>
              <a:t xml:space="preserve">mcp_servers = {"github": {</a:t>
            </a:r>
          </a:p>
          <a:p>
            <a:pPr algn="l">
              <a:lnSpc>
                <a:spcPts val="1100"/>
              </a:lnSpc>
              <a:spcBef>
                <a:spcPts val="0"/>
              </a:spcBef>
              <a:spcAft>
                <a:spcPts val="0"/>
              </a:spcAft>
            </a:pPr>
            <a:r>
              <a:rPr sz="1400">
                <a:solidFill>
                  <a:srgbClr val="E6EDF3"/>
                </a:solidFill>
                <a:latin typeface="Courier New"/>
              </a:rPr>
              <a:t xml:space="preserve">  "type": "http", "url": "https://api.githubcopilot.com/mcp/",</a:t>
            </a:r>
          </a:p>
          <a:p>
            <a:pPr algn="l">
              <a:lnSpc>
                <a:spcPts val="1100"/>
              </a:lnSpc>
              <a:spcBef>
                <a:spcPts val="0"/>
              </a:spcBef>
              <a:spcAft>
                <a:spcPts val="0"/>
              </a:spcAft>
            </a:pPr>
            <a:r>
              <a:rPr sz="1400">
                <a:solidFill>
                  <a:srgbClr val="E6EDF3"/>
                </a:solidFill>
                <a:latin typeface="Courier New"/>
              </a:rPr>
              <a:t xml:space="preserve">  "headers": {"Authorization": f"Bearer {token}",</a:t>
            </a:r>
          </a:p>
          <a:p>
            <a:pPr algn="l">
              <a:lnSpc>
                <a:spcPts val="1100"/>
              </a:lnSpc>
              <a:spcBef>
                <a:spcPts val="0"/>
              </a:spcBef>
              <a:spcAft>
                <a:spcPts val="0"/>
              </a:spcAft>
            </a:pPr>
            <a:r>
              <a:rPr sz="1400">
                <a:solidFill>
                  <a:srgbClr val="E6EDF3"/>
                </a:solidFill>
                <a:latin typeface="Courier New"/>
              </a:rPr>
              <a:t xml:space="preserve">              "X-MCP-Readonly": "true"},</a:t>
            </a:r>
          </a:p>
          <a:p>
            <a:pPr algn="l">
              <a:lnSpc>
                <a:spcPts val="1100"/>
              </a:lnSpc>
              <a:spcBef>
                <a:spcPts val="0"/>
              </a:spcBef>
              <a:spcAft>
                <a:spcPts val="0"/>
              </a:spcAft>
            </a:pPr>
            <a:r>
              <a:rPr sz="1400">
                <a:solidFill>
                  <a:srgbClr val="E6EDF3"/>
                </a:solidFill>
                <a:latin typeface="Courier New"/>
              </a:rPr>
              <a:t xml:space="preserve">  "tools": GITHUB_TOOLS,</a:t>
            </a:r>
          </a:p>
          <a:p>
            <a:pPr algn="l">
              <a:lnSpc>
                <a:spcPts val="1100"/>
              </a:lnSpc>
              <a:spcBef>
                <a:spcPts val="0"/>
              </a:spcBef>
              <a:spcAft>
                <a:spcPts val="0"/>
              </a:spcAft>
            </a:pPr>
            <a:r>
              <a:rPr sz="1400">
                <a:solidFill>
                  <a:srgbClr val="E6EDF3"/>
                </a:solidFill>
                <a:latin typeface="Courier New"/>
              </a:rPr>
              <a:t xml:space="preserve">}}</a:t>
            </a:r>
          </a:p>
          <a:p>
            <a:pPr algn="l">
              <a:lnSpc>
                <a:spcPts val="1100"/>
              </a:lnSpc>
              <a:spcBef>
                <a:spcPts val="0"/>
              </a:spcBef>
              <a:spcAft>
                <a:spcPts val="0"/>
              </a:spcAft>
            </a:pPr>
            <a:r>
              <a:rPr sz="1400">
                <a:solidFill>
                  <a:srgbClr val="E6EDF3"/>
                </a:solidFill>
                <a:latin typeface="Courier New"/>
              </a:rPr>
              <a:t xml:space="preserve">available = ToolSet().add_mcp("github-list_issues")</a:t>
            </a:r>
          </a:p>
          <a:p>
            <a:pPr algn="l">
              <a:lnSpc>
                <a:spcPts val="1100"/>
              </a:lnSpc>
              <a:spcBef>
                <a:spcPts val="0"/>
              </a:spcBef>
              <a:spcAft>
                <a:spcPts val="0"/>
              </a:spcAft>
            </a:pPr>
            <a:r>
              <a:rPr sz="1400">
                <a:solidFill>
                  <a:srgbClr val="E6EDF3"/>
                </a:solidFill>
                <a:latin typeface="Courier New"/>
              </a:rPr>
              <a:t xml:space="preserve">session = await client.create_session(</a:t>
            </a:r>
          </a:p>
          <a:p>
            <a:pPr algn="l">
              <a:lnSpc>
                <a:spcPts val="1100"/>
              </a:lnSpc>
              <a:spcBef>
                <a:spcPts val="0"/>
              </a:spcBef>
              <a:spcAft>
                <a:spcPts val="0"/>
              </a:spcAft>
            </a:pPr>
            <a:r>
              <a:rPr sz="1400">
                <a:solidFill>
                  <a:srgbClr val="E6EDF3"/>
                </a:solidFill>
                <a:latin typeface="Courier New"/>
              </a:rPr>
              <a:t xml:space="preserve">  mcp_servers=mcp_servers, available_tools=available,</a:t>
            </a:r>
          </a:p>
          <a:p>
            <a:pPr algn="l">
              <a:lnSpc>
                <a:spcPts val="1100"/>
              </a:lnSpc>
              <a:spcBef>
                <a:spcPts val="0"/>
              </a:spcBef>
              <a:spcAft>
                <a:spcPts val="0"/>
              </a:spcAft>
            </a:pPr>
            <a:r>
              <a:rPr sz="1400">
                <a:solidFill>
                  <a:srgbClr val="E6EDF3"/>
                </a:solidFill>
                <a:latin typeface="Courier New"/>
              </a:rPr>
              <a:t xml:space="preserve">  on_permission_request=PermissionHandler.approve_all)</a:t>
            </a:r>
          </a:p>
        </p:txBody>
      </p:sp>
      <p:sp>
        <p:nvSpPr>
          <p:cNvPr id="22" name="Text 1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13 / 24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HITL Mental Model</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960120"/>
          </a:xfrm>
          <a:prstGeom prst="line">
            <a:avLst/>
          </a:prstGeom>
          <a:solidFill>
            <a:srgbClr val="161B22"/>
          </a:solidFill>
          <a:ln w="12700">
            <a:prstDash val="solid"/>
          </a:ln>
        </p:spPr>
        <p:txBody>
          <a:bodyPr/>
          <a:lstStyle/>
          <a:p>
            <a:endParaRPr/>
          </a:p>
        </p:txBody>
      </p:sp>
      <p:sp>
        <p:nvSpPr>
          <p:cNvPr id="7" name="Text 4"/>
          <p:cNvSpPr/>
          <p:nvPr/>
        </p:nvSpPr>
        <p:spPr>
          <a:xfrm>
            <a:off x="731520" y="1097280"/>
            <a:ext cx="3566160" cy="320040"/>
          </a:xfrm>
          <a:prstGeom prst="rect">
            <a:avLst/>
          </a:prstGeom>
          <a:noFill/>
          <a:ln>
            <a:noFill/>
          </a:ln>
        </p:spPr>
        <p:txBody>
          <a:bodyPr wrap="square" lIns="0" tIns="0" rIns="0" bIns="0" rtlCol="0" anchor="ctr"/>
          <a:lstStyle/>
          <a:p>
            <a:pPr marL="0" indent="0">
              <a:buNone/>
            </a:pPr>
            <a:r>
              <a:rPr lang="en-US" sz="1200" b="1" dirty="0">
                <a:solidFill>
                  <a:srgbClr val="3FB950"/>
                </a:solidFill>
                <a:latin typeface="Consolas" pitchFamily="34" charset="0"/>
                <a:ea typeface="Consolas" pitchFamily="34" charset="-122"/>
                <a:cs typeface="Consolas" pitchFamily="34" charset="-120"/>
              </a:rPr>
              <a:t>Information request</a:t>
            </a:r>
            <a:endParaRPr lang="en-US" sz="1200" dirty="0"/>
          </a:p>
        </p:txBody>
      </p:sp>
      <p:sp>
        <p:nvSpPr>
          <p:cNvPr id="8" name="Text 5"/>
          <p:cNvSpPr/>
          <p:nvPr/>
        </p:nvSpPr>
        <p:spPr>
          <a:xfrm>
            <a:off x="731520" y="146304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Legacy Q&amp;A or structured elicitation</a:t>
            </a:r>
            <a:endParaRPr lang="en-US" sz="1100" dirty="0"/>
          </a:p>
        </p:txBody>
      </p:sp>
      <p:sp>
        <p:nvSpPr>
          <p:cNvPr id="9" name="Shape 6"/>
          <p:cNvSpPr/>
          <p:nvPr/>
        </p:nvSpPr>
        <p:spPr>
          <a:xfrm>
            <a:off x="4754880" y="1005840"/>
            <a:ext cx="3931920" cy="960120"/>
          </a:xfrm>
          <a:prstGeom prst="line">
            <a:avLst/>
          </a:prstGeom>
          <a:solidFill>
            <a:srgbClr val="161B22"/>
          </a:solidFill>
          <a:ln w="12700">
            <a:prstDash val="solid"/>
          </a:ln>
        </p:spPr>
        <p:txBody>
          <a:bodyPr/>
          <a:lstStyle/>
          <a:p>
            <a:endParaRPr/>
          </a:p>
        </p:txBody>
      </p:sp>
      <p:sp>
        <p:nvSpPr>
          <p:cNvPr id="11" name="Text 8"/>
          <p:cNvSpPr/>
          <p:nvPr/>
        </p:nvSpPr>
        <p:spPr>
          <a:xfrm>
            <a:off x="4937760" y="1097280"/>
            <a:ext cx="3566160" cy="320040"/>
          </a:xfrm>
          <a:prstGeom prst="rect">
            <a:avLst/>
          </a:prstGeom>
          <a:noFill/>
          <a:ln>
            <a:noFill/>
          </a:ln>
        </p:spPr>
        <p:txBody>
          <a:bodyPr wrap="square" lIns="0" tIns="0" rIns="0" bIns="0" rtlCol="0" anchor="ctr"/>
          <a:lstStyle/>
          <a:p>
            <a:pPr marL="0" indent="0">
              <a:buNone/>
            </a:pPr>
            <a:r>
              <a:rPr lang="en-US" sz="1200" b="1" dirty="0">
                <a:solidFill>
                  <a:srgbClr val="58A6FF"/>
                </a:solidFill>
                <a:latin typeface="Consolas" pitchFamily="34" charset="0"/>
                <a:ea typeface="Consolas" pitchFamily="34" charset="-122"/>
                <a:cs typeface="Consolas" pitchFamily="34" charset="-120"/>
              </a:rPr>
              <a:t>Host validates schema</a:t>
            </a:r>
            <a:endParaRPr lang="en-US" sz="1200" dirty="0"/>
          </a:p>
        </p:txBody>
      </p:sp>
      <p:sp>
        <p:nvSpPr>
          <p:cNvPr id="12" name="Text 9"/>
          <p:cNvSpPr/>
          <p:nvPr/>
        </p:nvSpPr>
        <p:spPr>
          <a:xfrm>
            <a:off x="4937760" y="146304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Collect only expected fields</a:t>
            </a:r>
            <a:endParaRPr lang="en-US" sz="1100" dirty="0"/>
          </a:p>
        </p:txBody>
      </p:sp>
      <p:sp>
        <p:nvSpPr>
          <p:cNvPr id="13" name="Shape 10"/>
          <p:cNvSpPr/>
          <p:nvPr/>
        </p:nvSpPr>
        <p:spPr>
          <a:xfrm>
            <a:off x="548640" y="2194560"/>
            <a:ext cx="3931920" cy="960120"/>
          </a:xfrm>
          <a:prstGeom prst="line">
            <a:avLst/>
          </a:prstGeom>
          <a:solidFill>
            <a:srgbClr val="161B22"/>
          </a:solidFill>
          <a:ln w="12700">
            <a:prstDash val="solid"/>
          </a:ln>
        </p:spPr>
        <p:txBody>
          <a:bodyPr/>
          <a:lstStyle/>
          <a:p>
            <a:endParaRPr/>
          </a:p>
        </p:txBody>
      </p:sp>
      <p:sp>
        <p:nvSpPr>
          <p:cNvPr id="15" name="Text 12"/>
          <p:cNvSpPr/>
          <p:nvPr/>
        </p:nvSpPr>
        <p:spPr>
          <a:xfrm>
            <a:off x="731520" y="2286000"/>
            <a:ext cx="3566160" cy="320040"/>
          </a:xfrm>
          <a:prstGeom prst="rect">
            <a:avLst/>
          </a:prstGeom>
          <a:noFill/>
          <a:ln>
            <a:noFill/>
          </a:ln>
        </p:spPr>
        <p:txBody>
          <a:bodyPr wrap="square" lIns="0" tIns="0" rIns="0" bIns="0" rtlCol="0" anchor="ctr"/>
          <a:lstStyle/>
          <a:p>
            <a:pPr marL="0" indent="0">
              <a:buNone/>
            </a:pPr>
            <a:r>
              <a:rPr lang="en-US" sz="1200" b="1" dirty="0">
                <a:solidFill>
                  <a:srgbClr val="F0883E"/>
                </a:solidFill>
                <a:latin typeface="Consolas" pitchFamily="34" charset="0"/>
                <a:ea typeface="Consolas" pitchFamily="34" charset="-122"/>
                <a:cs typeface="Consolas" pitchFamily="34" charset="-120"/>
              </a:rPr>
              <a:t>Action approval</a:t>
            </a:r>
            <a:endParaRPr lang="en-US" sz="1200" dirty="0"/>
          </a:p>
        </p:txBody>
      </p:sp>
      <p:sp>
        <p:nvSpPr>
          <p:cNvPr id="16" name="Text 13"/>
          <p:cNvSpPr/>
          <p:nvPr/>
        </p:nvSpPr>
        <p:spPr>
          <a:xfrm>
            <a:off x="731520" y="265176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Typed permission request</a:t>
            </a:r>
            <a:endParaRPr lang="en-US" sz="1100" dirty="0"/>
          </a:p>
        </p:txBody>
      </p:sp>
      <p:sp>
        <p:nvSpPr>
          <p:cNvPr id="17" name="Shape 14"/>
          <p:cNvSpPr/>
          <p:nvPr/>
        </p:nvSpPr>
        <p:spPr>
          <a:xfrm>
            <a:off x="4754880" y="2194560"/>
            <a:ext cx="3931920" cy="960120"/>
          </a:xfrm>
          <a:prstGeom prst="line">
            <a:avLst/>
          </a:prstGeom>
          <a:solidFill>
            <a:srgbClr val="161B22"/>
          </a:solidFill>
          <a:ln w="12700">
            <a:prstDash val="solid"/>
          </a:ln>
        </p:spPr>
        <p:txBody>
          <a:bodyPr/>
          <a:lstStyle/>
          <a:p>
            <a:endParaRPr/>
          </a:p>
        </p:txBody>
      </p:sp>
      <p:sp>
        <p:nvSpPr>
          <p:cNvPr id="19" name="Text 16"/>
          <p:cNvSpPr/>
          <p:nvPr/>
        </p:nvSpPr>
        <p:spPr>
          <a:xfrm>
            <a:off x="4937760" y="2286000"/>
            <a:ext cx="3566160" cy="320040"/>
          </a:xfrm>
          <a:prstGeom prst="rect">
            <a:avLst/>
          </a:prstGeom>
          <a:noFill/>
          <a:ln>
            <a:noFill/>
          </a:ln>
        </p:spPr>
        <p:txBody>
          <a:bodyPr wrap="square" lIns="0" tIns="0" rIns="0" bIns="0" rtlCol="0" anchor="ctr"/>
          <a:lstStyle/>
          <a:p>
            <a:pPr marL="0" indent="0">
              <a:buNone/>
            </a:pPr>
            <a:r>
              <a:rPr lang="en-US" sz="1200" b="1" dirty="0">
                <a:solidFill>
                  <a:srgbClr val="BC8CFF"/>
                </a:solidFill>
                <a:latin typeface="Consolas" pitchFamily="34" charset="0"/>
                <a:ea typeface="Consolas" pitchFamily="34" charset="-122"/>
                <a:cs typeface="Consolas" pitchFamily="34" charset="-120"/>
              </a:rPr>
              <a:t>Policy before prompt</a:t>
            </a:r>
            <a:endParaRPr lang="en-US" sz="1200" dirty="0"/>
          </a:p>
        </p:txBody>
      </p:sp>
      <p:sp>
        <p:nvSpPr>
          <p:cNvPr id="20" name="Text 17"/>
          <p:cNvSpPr/>
          <p:nvPr/>
        </p:nvSpPr>
        <p:spPr>
          <a:xfrm>
            <a:off x="4937760" y="265176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Approve once, reject, or unavailable</a:t>
            </a:r>
            <a:endParaRPr lang="en-US" sz="1100" dirty="0"/>
          </a:p>
        </p:txBody>
      </p:sp>
      <p:sp>
        <p:nvSpPr>
          <p:cNvPr id="21" name="Shape 18"/>
          <p:cNvSpPr/>
          <p:nvPr/>
        </p:nvSpPr>
        <p:spPr>
          <a:xfrm>
            <a:off x="548640" y="3383280"/>
            <a:ext cx="3931920" cy="960120"/>
          </a:xfrm>
          <a:prstGeom prst="line">
            <a:avLst/>
          </a:prstGeom>
          <a:solidFill>
            <a:srgbClr val="161B22"/>
          </a:solidFill>
          <a:ln w="12700">
            <a:prstDash val="solid"/>
          </a:ln>
        </p:spPr>
        <p:txBody>
          <a:bodyPr/>
          <a:lstStyle/>
          <a:p>
            <a:endParaRPr/>
          </a:p>
        </p:txBody>
      </p:sp>
      <p:sp>
        <p:nvSpPr>
          <p:cNvPr id="23" name="Text 20"/>
          <p:cNvSpPr/>
          <p:nvPr/>
        </p:nvSpPr>
        <p:spPr>
          <a:xfrm>
            <a:off x="731520" y="3474720"/>
            <a:ext cx="3566160" cy="320040"/>
          </a:xfrm>
          <a:prstGeom prst="rect">
            <a:avLst/>
          </a:prstGeom>
          <a:noFill/>
          <a:ln>
            <a:noFill/>
          </a:ln>
        </p:spPr>
        <p:txBody>
          <a:bodyPr wrap="square" lIns="0" tIns="0" rIns="0" bIns="0" rtlCol="0" anchor="ctr"/>
          <a:lstStyle/>
          <a:p>
            <a:pPr marL="0" indent="0">
              <a:buNone/>
            </a:pPr>
            <a:r>
              <a:rPr lang="en-US" sz="1200" b="1" dirty="0">
                <a:solidFill>
                  <a:srgbClr val="F85149"/>
                </a:solidFill>
                <a:latin typeface="Consolas" pitchFamily="34" charset="0"/>
                <a:ea typeface="Consolas" pitchFamily="34" charset="-122"/>
                <a:cs typeface="Consolas" pitchFamily="34" charset="-120"/>
              </a:rPr>
              <a:t>Sandbox bypass</a:t>
            </a:r>
            <a:endParaRPr lang="en-US" sz="1200" dirty="0"/>
          </a:p>
        </p:txBody>
      </p:sp>
      <p:sp>
        <p:nvSpPr>
          <p:cNvPr id="24" name="Text 21"/>
          <p:cNvSpPr/>
          <p:nvPr/>
        </p:nvSpPr>
        <p:spPr>
          <a:xfrm>
            <a:off x="731520" y="384048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Separate request outside containment</a:t>
            </a:r>
            <a:endParaRPr lang="en-US" sz="1100" dirty="0"/>
          </a:p>
        </p:txBody>
      </p:sp>
      <p:sp>
        <p:nvSpPr>
          <p:cNvPr id="25" name="Shape 22"/>
          <p:cNvSpPr/>
          <p:nvPr/>
        </p:nvSpPr>
        <p:spPr>
          <a:xfrm>
            <a:off x="4754880" y="3383280"/>
            <a:ext cx="3931920" cy="960120"/>
          </a:xfrm>
          <a:prstGeom prst="line">
            <a:avLst/>
          </a:prstGeom>
          <a:solidFill>
            <a:srgbClr val="161B22"/>
          </a:solidFill>
          <a:ln w="12700">
            <a:prstDash val="solid"/>
          </a:ln>
        </p:spPr>
        <p:txBody>
          <a:bodyPr/>
          <a:lstStyle/>
          <a:p>
            <a:endParaRPr/>
          </a:p>
        </p:txBody>
      </p:sp>
      <p:sp>
        <p:nvSpPr>
          <p:cNvPr id="27" name="Text 24"/>
          <p:cNvSpPr/>
          <p:nvPr/>
        </p:nvSpPr>
        <p:spPr>
          <a:xfrm>
            <a:off x="4937760" y="3474720"/>
            <a:ext cx="3566160" cy="320040"/>
          </a:xfrm>
          <a:prstGeom prst="rect">
            <a:avLst/>
          </a:prstGeom>
          <a:noFill/>
          <a:ln>
            <a:noFill/>
          </a:ln>
        </p:spPr>
        <p:txBody>
          <a:bodyPr wrap="square" lIns="0" tIns="0" rIns="0" bIns="0" rtlCol="0" anchor="ctr"/>
          <a:lstStyle/>
          <a:p>
            <a:pPr marL="0" indent="0">
              <a:buNone/>
            </a:pPr>
            <a:r>
              <a:rPr lang="en-US" sz="1200" b="1" dirty="0">
                <a:solidFill>
                  <a:srgbClr val="39D2C0"/>
                </a:solidFill>
                <a:latin typeface="Consolas" pitchFamily="34" charset="0"/>
                <a:ea typeface="Consolas" pitchFamily="34" charset="-122"/>
                <a:cs typeface="Consolas" pitchFamily="34" charset="-120"/>
              </a:rPr>
              <a:t>Fail closed</a:t>
            </a:r>
            <a:endParaRPr lang="en-US" sz="1200" dirty="0"/>
          </a:p>
        </p:txBody>
      </p:sp>
      <p:sp>
        <p:nvSpPr>
          <p:cNvPr id="28" name="Text 25"/>
          <p:cNvSpPr/>
          <p:nvPr/>
        </p:nvSpPr>
        <p:spPr>
          <a:xfrm>
            <a:off x="4937760" y="3840480"/>
            <a:ext cx="3566160" cy="32004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Timeout and missing human are not approval</a:t>
            </a:r>
            <a:endParaRPr lang="en-US" sz="1100" dirty="0"/>
          </a:p>
        </p:txBody>
      </p:sp>
      <p:sp>
        <p:nvSpPr>
          <p:cNvPr id="29" name="Text 26"/>
          <p:cNvSpPr/>
          <p:nvPr/>
        </p:nvSpPr>
        <p:spPr>
          <a:xfrm>
            <a:off x="548640" y="4526280"/>
            <a:ext cx="8046720" cy="228600"/>
          </a:xfrm>
          <a:prstGeom prst="rect">
            <a:avLst/>
          </a:prstGeom>
          <a:noFill/>
          <a:ln>
            <a:noFill/>
          </a:ln>
        </p:spPr>
        <p:txBody>
          <a:bodyPr wrap="square" lIns="0" tIns="0" rIns="0" bIns="0" rtlCol="0" anchor="ctr"/>
          <a:lstStyle/>
          <a:p>
            <a:pPr marL="0" indent="0" algn="ctr">
              <a:buNone/>
            </a:pPr>
            <a:r>
              <a:rPr lang="en-US" sz="1000" i="1" dirty="0">
                <a:solidFill>
                  <a:srgbClr val="8B949E"/>
                </a:solidFill>
                <a:latin typeface="Calibri" pitchFamily="34" charset="0"/>
                <a:ea typeface="Calibri" pitchFamily="34" charset="-122"/>
                <a:cs typeface="Calibri" pitchFamily="34" charset="-120"/>
              </a:rPr>
              <a:t>Never reuse an information answer as action or bypass consent.</a:t>
            </a:r>
            <a:endParaRPr lang="en-US" sz="1000" dirty="0"/>
          </a:p>
        </p:txBody>
      </p:sp>
      <p:sp>
        <p:nvSpPr>
          <p:cNvPr id="32" name="Text 2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15 / 24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Multi-User Identity</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8046720" cy="2286000"/>
        </p:xfrm>
        <a:graphic>
          <a:graphicData uri="http://schemas.openxmlformats.org/drawingml/2006/table">
            <a:tbl>
              <a:tblPr/>
              <a:tblGrid>
                <a:gridCol w="256032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r>
                        <a:t>Method</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F6FEB"/>
                    </a:solidFill>
                  </a:tcPr>
                </a:tc>
                <a:tc>
                  <a:txBody>
                    <a:bodyPr/>
                    <a:lstStyle/>
                    <a:p>
                      <a:r>
                        <a:t>Use case</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F6FEB"/>
                    </a:solidFill>
                  </a:tcPr>
                </a:tc>
                <a:tc>
                  <a:txBody>
                    <a:bodyPr/>
                    <a:lstStyle/>
                    <a:p>
                      <a:r>
                        <a:t>Billing / identity boundary</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F6FEB"/>
                    </a:solidFill>
                  </a:tcPr>
                </a:tc>
                <a:extLst>
                  <a:ext uri="{0D108BD9-81ED-4DB2-BD59-A6C34878D82A}">
                    <a16:rowId xmlns:a16="http://schemas.microsoft.com/office/drawing/2014/main" val="10000"/>
                  </a:ext>
                </a:extLst>
              </a:tr>
              <a:tr h="457200">
                <a:tc>
                  <a:txBody>
                    <a:bodyPr/>
                    <a:lstStyle/>
                    <a:p>
                      <a:r>
                        <a:t>Signed-in user (CLI login)</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r>
                        <a:t>Local and desktop</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r>
                        <a:t>User entitlement</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1"/>
                  </a:ext>
                </a:extLst>
              </a:tr>
              <a:tr h="457200">
                <a:tc>
                  <a:txBody>
                    <a:bodyPr/>
                    <a:lstStyle/>
                    <a:p>
                      <a:r>
                        <a:t>OAuth App / GitHub App user token</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r>
                        <a:t>Multi-user SaaS</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r>
                        <a:t>User + organization</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2"/>
                  </a:ext>
                </a:extLst>
              </a:tr>
              <a:tr h="457200">
                <a:tc>
                  <a:txBody>
                    <a:bodyPr/>
                    <a:lstStyle/>
                    <a:p>
                      <a:r>
                        <a:t>Environment / installation token</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r>
                        <a:t>Automation / backend</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r>
                        <a:t>Token owner + organization policy</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3"/>
                  </a:ext>
                </a:extLst>
              </a:tr>
              <a:tr h="457200">
                <a:tc>
                  <a:txBody>
                    <a:bodyPr/>
                    <a:lstStyle/>
                    <a:p>
                      <a:r>
                        <a:t>BYOK provider</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r>
                        <a:t>Custom inference</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r>
                        <a:t>Provider billing</a:t>
                      </a:r>
                    </a:p>
                  </a:txBody>
                  <a:tcPr marL="182880" marR="182880" marT="91440" marB="91440">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extLst>
                  <a:ext uri="{0D108BD9-81ED-4DB2-BD59-A6C34878D82A}">
                    <a16:rowId xmlns:a16="http://schemas.microsoft.com/office/drawing/2014/main" val="10004"/>
                  </a:ext>
                </a:extLst>
              </a:tr>
            </a:tbl>
          </a:graphicData>
        </a:graphic>
      </p:graphicFrame>
      <p:sp>
        <p:nvSpPr>
          <p:cNvPr id="6" name="Text 2"/>
          <p:cNvSpPr/>
          <p:nvPr/>
        </p:nvSpPr>
        <p:spPr>
          <a:xfrm>
            <a:off x="548640" y="3383280"/>
            <a:ext cx="80467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Rotation: github_token_provider for Copilot identity · bearer_token_provider for BYOK</a:t>
            </a:r>
            <a:endParaRPr lang="en-US" sz="1200" dirty="0"/>
          </a:p>
        </p:txBody>
      </p:sp>
      <p:sp>
        <p:nvSpPr>
          <p:cNvPr id="7" name="Shape 3"/>
          <p:cNvSpPr/>
          <p:nvPr/>
        </p:nvSpPr>
        <p:spPr>
          <a:xfrm>
            <a:off x="548640" y="3749040"/>
            <a:ext cx="1234440" cy="411480"/>
          </a:xfrm>
          <a:prstGeom prst="line">
            <a:avLst/>
          </a:prstGeom>
          <a:solidFill>
            <a:srgbClr val="161B22"/>
          </a:solidFill>
          <a:ln w="12700">
            <a:prstDash val="solid"/>
          </a:ln>
        </p:spPr>
        <p:txBody>
          <a:bodyPr/>
          <a:lstStyle/>
          <a:p>
            <a:endParaRPr/>
          </a:p>
        </p:txBody>
      </p:sp>
      <p:sp>
        <p:nvSpPr>
          <p:cNvPr id="8" name="Text 4"/>
          <p:cNvSpPr/>
          <p:nvPr/>
        </p:nvSpPr>
        <p:spPr>
          <a:xfrm>
            <a:off x="548640"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
            </a:r>
            <a:endParaRPr lang="en-US" sz="850" dirty="0"/>
          </a:p>
        </p:txBody>
      </p:sp>
      <p:sp>
        <p:nvSpPr>
          <p:cNvPr id="9" name="Text 5"/>
          <p:cNvSpPr/>
          <p:nvPr/>
        </p:nvSpPr>
        <p:spPr>
          <a:xfrm>
            <a:off x="1783080"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
            </a:r>
            <a:endParaRPr lang="en-US" sz="1200" dirty="0"/>
          </a:p>
        </p:txBody>
      </p:sp>
      <p:sp>
        <p:nvSpPr>
          <p:cNvPr id="10" name="Shape 6"/>
          <p:cNvSpPr/>
          <p:nvPr/>
        </p:nvSpPr>
        <p:spPr>
          <a:xfrm>
            <a:off x="1938528" y="3749040"/>
            <a:ext cx="1234440" cy="411480"/>
          </a:xfrm>
          <a:prstGeom prst="line">
            <a:avLst/>
          </a:prstGeom>
          <a:solidFill>
            <a:srgbClr val="161B22"/>
          </a:solidFill>
          <a:ln w="12700">
            <a:prstDash val="solid"/>
          </a:ln>
        </p:spPr>
        <p:txBody>
          <a:bodyPr/>
          <a:lstStyle/>
          <a:p>
            <a:endParaRPr/>
          </a:p>
        </p:txBody>
      </p:sp>
      <p:sp>
        <p:nvSpPr>
          <p:cNvPr id="11" name="Text 7"/>
          <p:cNvSpPr/>
          <p:nvPr/>
        </p:nvSpPr>
        <p:spPr>
          <a:xfrm>
            <a:off x="1938528"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
            </a:r>
            <a:endParaRPr lang="en-US" sz="850" dirty="0"/>
          </a:p>
        </p:txBody>
      </p:sp>
      <p:sp>
        <p:nvSpPr>
          <p:cNvPr id="12" name="Text 8"/>
          <p:cNvSpPr/>
          <p:nvPr/>
        </p:nvSpPr>
        <p:spPr>
          <a:xfrm>
            <a:off x="3172968"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
            </a:r>
            <a:endParaRPr lang="en-US" sz="1200" dirty="0"/>
          </a:p>
        </p:txBody>
      </p:sp>
      <p:sp>
        <p:nvSpPr>
          <p:cNvPr id="2" name="Shape 9"/>
          <p:cNvSpPr/>
          <p:nvPr/>
        </p:nvSpPr>
        <p:spPr>
          <a:xfrm>
            <a:off x="3328416" y="3749040"/>
            <a:ext cx="1234440" cy="411480"/>
          </a:xfrm>
          <a:prstGeom prst="line">
            <a:avLst/>
          </a:prstGeom>
          <a:solidFill>
            <a:srgbClr val="161B22"/>
          </a:solidFill>
          <a:ln w="12700">
            <a:prstDash val="solid"/>
          </a:ln>
        </p:spPr>
        <p:txBody>
          <a:bodyPr/>
          <a:lstStyle/>
          <a:p>
            <a:endParaRPr/>
          </a:p>
        </p:txBody>
      </p:sp>
      <p:sp>
        <p:nvSpPr>
          <p:cNvPr id="14" name="Text 10"/>
          <p:cNvSpPr/>
          <p:nvPr/>
        </p:nvSpPr>
        <p:spPr>
          <a:xfrm>
            <a:off x="3328416"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
            </a:r>
            <a:endParaRPr lang="en-US" sz="850" dirty="0"/>
          </a:p>
        </p:txBody>
      </p:sp>
      <p:sp>
        <p:nvSpPr>
          <p:cNvPr id="15" name="Text 11"/>
          <p:cNvSpPr/>
          <p:nvPr/>
        </p:nvSpPr>
        <p:spPr>
          <a:xfrm>
            <a:off x="4562856"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
            </a:r>
            <a:endParaRPr lang="en-US" sz="1200" dirty="0"/>
          </a:p>
        </p:txBody>
      </p:sp>
      <p:sp>
        <p:nvSpPr>
          <p:cNvPr id="16" name="Shape 12"/>
          <p:cNvSpPr/>
          <p:nvPr/>
        </p:nvSpPr>
        <p:spPr>
          <a:xfrm>
            <a:off x="4718304" y="3749040"/>
            <a:ext cx="1234440" cy="411480"/>
          </a:xfrm>
          <a:prstGeom prst="line">
            <a:avLst/>
          </a:prstGeom>
          <a:solidFill>
            <a:srgbClr val="161B22"/>
          </a:solidFill>
          <a:ln w="12700">
            <a:prstDash val="solid"/>
          </a:ln>
        </p:spPr>
        <p:txBody>
          <a:bodyPr/>
          <a:lstStyle/>
          <a:p>
            <a:endParaRPr/>
          </a:p>
        </p:txBody>
      </p:sp>
      <p:sp>
        <p:nvSpPr>
          <p:cNvPr id="17" name="Text 13"/>
          <p:cNvSpPr/>
          <p:nvPr/>
        </p:nvSpPr>
        <p:spPr>
          <a:xfrm>
            <a:off x="4718304"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
            </a:r>
            <a:endParaRPr lang="en-US" sz="850" dirty="0"/>
          </a:p>
        </p:txBody>
      </p:sp>
      <p:sp>
        <p:nvSpPr>
          <p:cNvPr id="18" name="Text 14"/>
          <p:cNvSpPr/>
          <p:nvPr/>
        </p:nvSpPr>
        <p:spPr>
          <a:xfrm>
            <a:off x="5952744"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
            </a:r>
            <a:endParaRPr lang="en-US" sz="1200" dirty="0"/>
          </a:p>
        </p:txBody>
      </p:sp>
      <p:sp>
        <p:nvSpPr>
          <p:cNvPr id="19" name="Shape 15"/>
          <p:cNvSpPr/>
          <p:nvPr/>
        </p:nvSpPr>
        <p:spPr>
          <a:xfrm>
            <a:off x="6108192" y="3749040"/>
            <a:ext cx="1234440" cy="411480"/>
          </a:xfrm>
          <a:prstGeom prst="line">
            <a:avLst/>
          </a:prstGeom>
          <a:solidFill>
            <a:srgbClr val="161B22"/>
          </a:solidFill>
          <a:ln w="12700">
            <a:prstDash val="solid"/>
          </a:ln>
        </p:spPr>
        <p:txBody>
          <a:bodyPr/>
          <a:lstStyle/>
          <a:p>
            <a:endParaRPr/>
          </a:p>
        </p:txBody>
      </p:sp>
      <p:sp>
        <p:nvSpPr>
          <p:cNvPr id="20" name="Text 16"/>
          <p:cNvSpPr/>
          <p:nvPr/>
        </p:nvSpPr>
        <p:spPr>
          <a:xfrm>
            <a:off x="6108192"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
            </a:r>
            <a:endParaRPr lang="en-US" sz="850" dirty="0"/>
          </a:p>
        </p:txBody>
      </p:sp>
      <p:sp>
        <p:nvSpPr>
          <p:cNvPr id="21" name="Text 17"/>
          <p:cNvSpPr/>
          <p:nvPr/>
        </p:nvSpPr>
        <p:spPr>
          <a:xfrm>
            <a:off x="7342632" y="3749040"/>
            <a:ext cx="155448" cy="411480"/>
          </a:xfrm>
          <a:prstGeom prst="rect">
            <a:avLst/>
          </a:prstGeom>
          <a:noFill/>
          <a:ln>
            <a:noFill/>
          </a:ln>
        </p:spPr>
        <p:txBody>
          <a:bodyPr wrap="square" lIns="0" tIns="0" rIns="0" bIns="0" rtlCol="0" anchor="ctr"/>
          <a:lstStyle/>
          <a:p>
            <a:pPr marL="0" indent="0" algn="ctr">
              <a:buNone/>
            </a:pPr>
            <a:r>
              <a:rPr lang="en-US" sz="1200" dirty="0">
                <a:solidFill>
                  <a:srgbClr val="58A6FF"/>
                </a:solidFill>
                <a:latin typeface="Calibri" pitchFamily="34" charset="0"/>
                <a:ea typeface="Calibri" pitchFamily="34" charset="-122"/>
                <a:cs typeface="Calibri" pitchFamily="34" charset="-120"/>
              </a:rPr>
              <a:t/>
            </a:r>
            <a:endParaRPr lang="en-US" sz="1200" dirty="0"/>
          </a:p>
        </p:txBody>
      </p:sp>
      <p:sp>
        <p:nvSpPr>
          <p:cNvPr id="22" name="Shape 18"/>
          <p:cNvSpPr/>
          <p:nvPr/>
        </p:nvSpPr>
        <p:spPr>
          <a:xfrm>
            <a:off x="7498080" y="3749040"/>
            <a:ext cx="1234440" cy="411480"/>
          </a:xfrm>
          <a:prstGeom prst="line">
            <a:avLst/>
          </a:prstGeom>
          <a:solidFill>
            <a:srgbClr val="161B22"/>
          </a:solidFill>
          <a:ln w="12700">
            <a:prstDash val="solid"/>
          </a:ln>
        </p:spPr>
        <p:txBody>
          <a:bodyPr/>
          <a:lstStyle/>
          <a:p>
            <a:endParaRPr/>
          </a:p>
        </p:txBody>
      </p:sp>
      <p:sp>
        <p:nvSpPr>
          <p:cNvPr id="23" name="Text 19"/>
          <p:cNvSpPr/>
          <p:nvPr/>
        </p:nvSpPr>
        <p:spPr>
          <a:xfrm>
            <a:off x="7498080" y="3749040"/>
            <a:ext cx="1234440" cy="411480"/>
          </a:xfrm>
          <a:prstGeom prst="rect">
            <a:avLst/>
          </a:prstGeom>
          <a:noFill/>
          <a:ln>
            <a:noFill/>
          </a:ln>
        </p:spPr>
        <p:txBody>
          <a:bodyPr wrap="square" lIns="0" tIns="0" rIns="0" bIns="0" rtlCol="0" anchor="ctr"/>
          <a:lstStyle/>
          <a:p>
            <a:pPr marL="0" indent="0" algn="ctr">
              <a:buNone/>
            </a:pPr>
            <a:r>
              <a:rPr lang="en-US" sz="850" dirty="0">
                <a:solidFill>
                  <a:srgbClr val="C9D1D9"/>
                </a:solidFill>
                <a:latin typeface="Calibri" pitchFamily="34" charset="0"/>
                <a:ea typeface="Calibri" pitchFamily="34" charset="-122"/>
                <a:cs typeface="Calibri" pitchFamily="34" charset="-120"/>
              </a:rPr>
              <a:t/>
            </a:r>
            <a:endParaRPr lang="en-US" sz="850" dirty="0"/>
          </a:p>
        </p:txBody>
      </p:sp>
      <p:sp>
        <p:nvSpPr>
          <p:cNvPr id="26" name="Text 21"/>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19 / 24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7" name="Rectangle 6"/>
          <p:cNvSpPr/>
          <p:nvPr/>
        </p:nvSpPr>
        <p:spPr>
          <a:xfrm>
            <a:off x="4754880" y="1097280"/>
            <a:ext cx="3840480" cy="29260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097280"/>
            <a:ext cx="3931920" cy="29260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p:cNvSpPr txBox="1"/>
          <p:nvPr/>
        </p:nvSpPr>
        <p:spPr>
          <a:xfrm>
            <a:off x="457200" y="274320"/>
            <a:ext cx="7315200" cy="548640"/>
          </a:xfrm>
          <a:prstGeom prst="rect">
            <a:avLst/>
          </a:prstGeom>
          <a:noFill/>
        </p:spPr>
        <p:txBody>
          <a:bodyPr wrap="square">
            <a:spAutoFit/>
          </a:bodyPr>
          <a:lstStyle/>
          <a:p>
            <a:pPr algn="l"/>
            <a:r>
              <a:rPr sz="2800" b="1">
                <a:solidFill>
                  <a:srgbClr val="C9D1D9"/>
                </a:solidFill>
              </a:rPr>
              <a:t>Example 07A · Structured Elicitation</a:t>
            </a:r>
          </a:p>
        </p:txBody>
      </p:sp>
      <p:sp>
        <p:nvSpPr>
          <p:cNvPr id="3" name="TextBox 2"/>
          <p:cNvSpPr txBox="1"/>
          <p:nvPr/>
        </p:nvSpPr>
        <p:spPr>
          <a:xfrm>
            <a:off x="457200" y="822960"/>
            <a:ext cx="7315200" cy="365760"/>
          </a:xfrm>
          <a:prstGeom prst="rect">
            <a:avLst/>
          </a:prstGeom>
          <a:noFill/>
        </p:spPr>
        <p:txBody>
          <a:bodyPr wrap="square">
            <a:spAutoFit/>
          </a:bodyPr>
          <a:lstStyle/>
          <a:p>
            <a:r>
              <a:rPr sz="1400" b="0">
                <a:solidFill>
                  <a:srgbClr val="8B949E"/>
                </a:solidFill>
              </a:rPr>
              <a:t>Prefer the structured ask_user schema; detect runtime mismatch and fall back explicitly</a:t>
            </a:r>
          </a:p>
        </p:txBody>
      </p:sp>
      <p:sp>
        <p:nvSpPr>
          <p:cNvPr id="4" name="TextBox 3"/>
          <p:cNvSpPr txBox="1"/>
          <p:nvPr/>
        </p:nvSpPr>
        <p:spPr>
          <a:xfrm>
            <a:off x="640080" y="1234440"/>
            <a:ext cx="3931920" cy="2743200"/>
          </a:xfrm>
          <a:prstGeom prst="rect">
            <a:avLst/>
          </a:prstGeom>
          <a:noFill/>
        </p:spPr>
        <p:txBody>
          <a:bodyPr wrap="square">
            <a:spAutoFit/>
          </a:bodyPr>
          <a:lstStyle/>
          <a:p>
            <a:pPr>
              <a:spcAft>
                <a:spcPts val="600"/>
              </a:spcAft>
            </a:pPr>
            <a:r>
              <a:rPr sz="1300" b="1" dirty="0">
                <a:solidFill>
                  <a:srgbClr val="58A6FF"/>
                </a:solidFill>
              </a:rPr>
              <a:t xml:space="preserve">1. Request ask_user_variant="elicitation"</a:t>
            </a:r>
            <a:r>
              <a:rPr sz="1300" b="0" dirty="0">
                <a:solidFill>
                  <a:srgbClr val="C9D1D9"/>
                </a:solidFill>
              </a:rPr>
              <a:t xml:space="preserve"/>
            </a:r>
            <a:r>
              <a:rPr sz="1300" b="1" dirty="0">
                <a:solidFill>
                  <a:srgbClr val="3FB950"/>
                </a:solidFill>
              </a:rPr>
              <a:t/>
            </a:r>
          </a:p>
          <a:p>
            <a:pPr>
              <a:spcAft>
                <a:spcPts val="600"/>
              </a:spcAft>
            </a:pPr>
            <a:r>
              <a:rPr sz="1300" b="1" dirty="0">
                <a:solidFill>
                  <a:srgbClr val="58A6FF"/>
                </a:solidFill>
              </a:rPr>
              <a:t xml:space="preserve">2. Register on_elicitation_request</a:t>
            </a:r>
            <a:r>
              <a:rPr sz="1300" b="0" dirty="0">
                <a:solidFill>
                  <a:srgbClr val="C9D1D9"/>
                </a:solidFill>
              </a:rPr>
              <a:t xml:space="preserve"/>
            </a:r>
            <a:r>
              <a:rPr sz="1300" b="1" dirty="0">
                <a:solidFill>
                  <a:srgbClr val="3FB950"/>
                </a:solidFill>
              </a:rPr>
              <a:t/>
            </a:r>
          </a:p>
          <a:p>
            <a:pPr>
              <a:spcAft>
                <a:spcPts val="600"/>
              </a:spcAft>
            </a:pPr>
            <a:r>
              <a:rPr sz="1300" b="1" dirty="0">
                <a:solidFill>
                  <a:srgbClr val="58A6FF"/>
                </a:solidFill>
              </a:rPr>
              <a:t xml:space="preserve">3. Validate type, properties, and required fields</a:t>
            </a:r>
            <a:r>
              <a:rPr sz="1300" b="0" dirty="0">
                <a:solidFill>
                  <a:srgbClr val="C9D1D9"/>
                </a:solidFill>
              </a:rPr>
              <a:t xml:space="preserve"/>
            </a:r>
            <a:r>
              <a:rPr sz="1300" b="1" dirty="0" err="1">
                <a:solidFill>
                  <a:srgbClr val="3FB950"/>
                </a:solidFill>
              </a:rPr>
              <a:t/>
            </a:r>
            <a:r>
              <a:rPr sz="1300" b="1" dirty="0">
                <a:solidFill>
                  <a:srgbClr val="3FB950"/>
                </a:solidFill>
              </a:rPr>
              <a:t/>
            </a:r>
          </a:p>
          <a:p>
            <a:pPr>
              <a:spcAft>
                <a:spcPts val="600"/>
              </a:spcAft>
            </a:pPr>
            <a:r>
              <a:rPr sz="1300" b="1" dirty="0">
                <a:solidFill>
                  <a:srgbClr val="58A6FF"/>
                </a:solidFill>
              </a:rPr>
              <a:t xml:space="preserve">4. Return accept, decline, or cancel</a:t>
            </a:r>
            <a:r>
              <a:rPr sz="1300" b="0" dirty="0">
                <a:solidFill>
                  <a:srgbClr val="C9D1D9"/>
                </a:solidFill>
              </a:rPr>
              <a:t xml:space="preserve"/>
            </a:r>
            <a:r>
              <a:rPr sz="1300" b="1" dirty="0" err="1">
                <a:solidFill>
                  <a:srgbClr val="3FB950"/>
                </a:solidFill>
              </a:rPr>
              <a:t/>
            </a:r>
            <a:endParaRPr sz="1300" b="1" dirty="0">
              <a:solidFill>
                <a:srgbClr val="3FB950"/>
              </a:solidFill>
            </a:endParaRPr>
          </a:p>
          <a:p>
            <a:pPr>
              <a:spcAft>
                <a:spcPts val="600"/>
              </a:spcAft>
            </a:pPr>
            <a:r>
              <a:rPr sz="1300" b="1" dirty="0">
                <a:solidFill>
                  <a:srgbClr val="58A6FF"/>
                </a:solidFill>
              </a:rPr>
              <a:t xml:space="preserve">5. Bound terminal/UI waiting to 120 seconds</a:t>
            </a:r>
            <a:r>
              <a:rPr sz="1300" b="0" dirty="0">
                <a:solidFill>
                  <a:srgbClr val="C9D1D9"/>
                </a:solidFill>
              </a:rPr>
              <a:t xml:space="preserve"/>
            </a:r>
            <a:r>
              <a:rPr sz="1300" b="1" dirty="0">
                <a:solidFill>
                  <a:srgbClr val="3FB950"/>
                </a:solidFill>
              </a:rPr>
              <a:t/>
            </a:r>
          </a:p>
        </p:txBody>
      </p:sp>
      <p:sp>
        <p:nvSpPr>
          <p:cNvPr id="5" name="TextBox 4"/>
          <p:cNvSpPr txBox="1"/>
          <p:nvPr/>
        </p:nvSpPr>
        <p:spPr>
          <a:xfrm>
            <a:off x="4754880" y="1188720"/>
            <a:ext cx="3474720" cy="2286000"/>
          </a:xfrm>
          <a:prstGeom prst="rect">
            <a:avLst/>
          </a:prstGeom>
          <a:noFill/>
        </p:spPr>
        <p:txBody>
          <a:bodyPr wrap="square">
            <a:spAutoFit/>
          </a:bodyPr>
          <a:lstStyle/>
          <a:p>
            <a:r>
              <a:rPr sz="1400" b="1" dirty="0">
                <a:solidFill>
                  <a:srgbClr val="58A6FF"/>
                </a:solidFill>
              </a:rPr>
              <a:t>Runtime capability check</a:t>
            </a:r>
          </a:p>
          <a:p>
            <a:pPr>
              <a:spcAft>
                <a:spcPts val="400"/>
              </a:spcAft>
            </a:pPr>
            <a:r>
              <a:rPr sz="1300" b="0" dirty="0">
                <a:solidFill>
                  <a:srgbClr val="C9D1D9"/>
                </a:solidFill>
              </a:rPr>
              <a:t xml:space="preserve">ask_user schema contains message</a:t>
            </a:r>
            <a:r>
              <a:rPr sz="1300" b="0" dirty="0" err="1">
                <a:solidFill>
                  <a:srgbClr val="C9D1D9"/>
                </a:solidFill>
              </a:rPr>
              <a:t/>
            </a:r>
            <a:r>
              <a:rPr sz="1300" b="0" dirty="0">
                <a:solidFill>
                  <a:srgbClr val="C9D1D9"/>
                </a:solidFill>
              </a:rPr>
              <a:t xml:space="preserve"/>
            </a:r>
            <a:r>
              <a:rPr sz="1300" b="1" dirty="0">
                <a:solidFill>
                  <a:srgbClr val="3FB950"/>
                </a:solidFill>
              </a:rPr>
              <a:t/>
            </a:r>
          </a:p>
          <a:p>
            <a:pPr>
              <a:spcAft>
                <a:spcPts val="400"/>
              </a:spcAft>
            </a:pPr>
            <a:r>
              <a:rPr sz="1300" b="0" dirty="0">
                <a:solidFill>
                  <a:srgbClr val="C9D1D9"/>
                </a:solidFill>
              </a:rPr>
              <a:t xml:space="preserve">and requestedSchema</a:t>
            </a:r>
            <a:r>
              <a:rPr sz="1300" b="0" dirty="0" err="1">
                <a:solidFill>
                  <a:srgbClr val="C9D1D9"/>
                </a:solidFill>
              </a:rPr>
              <a:t/>
            </a:r>
            <a:r>
              <a:rPr sz="1300" b="0" dirty="0">
                <a:solidFill>
                  <a:srgbClr val="C9D1D9"/>
                </a:solidFill>
              </a:rPr>
              <a:t xml:space="preserve"/>
            </a:r>
            <a:r>
              <a:rPr sz="1300" b="1" dirty="0">
                <a:solidFill>
                  <a:srgbClr val="3FB950"/>
                </a:solidFill>
              </a:rPr>
              <a:t/>
            </a:r>
          </a:p>
          <a:p>
            <a:pPr>
              <a:spcAft>
                <a:spcPts val="400"/>
              </a:spcAft>
            </a:pPr>
            <a:r>
              <a:rPr sz="1300" b="0" dirty="0">
                <a:solidFill>
                  <a:srgbClr val="C9D1D9"/>
                </a:solidFill>
              </a:rPr>
              <a:t xml:space="preserve">Otherwise detach the unused session</a:t>
            </a:r>
            <a:r>
              <a:rPr sz="1300" b="0" dirty="0" err="1">
                <a:solidFill>
                  <a:srgbClr val="C9D1D9"/>
                </a:solidFill>
              </a:rPr>
              <a:t/>
            </a:r>
            <a:r>
              <a:rPr sz="1300" b="0" dirty="0">
                <a:solidFill>
                  <a:srgbClr val="C9D1D9"/>
                </a:solidFill>
              </a:rPr>
              <a:t xml:space="preserve"/>
            </a:r>
            <a:r>
              <a:rPr sz="1300" b="1" dirty="0">
                <a:solidFill>
                  <a:srgbClr val="3FB950"/>
                </a:solidFill>
              </a:rPr>
              <a:t/>
            </a:r>
          </a:p>
          <a:p>
            <a:pPr>
              <a:spcAft>
                <a:spcPts val="400"/>
              </a:spcAft>
            </a:pPr>
            <a:r>
              <a:rPr sz="1300" b="0" dirty="0">
                <a:solidFill>
                  <a:srgbClr val="C9D1D9"/>
                </a:solidFill>
              </a:rPr>
              <a:t xml:space="preserve">Create a narrowly validated legacy callback session</a:t>
            </a:r>
            <a:r>
              <a:rPr sz="1300" b="0" dirty="0" err="1">
                <a:solidFill>
                  <a:srgbClr val="C9D1D9"/>
                </a:solidFill>
              </a:rPr>
              <a:t/>
            </a:r>
            <a:r>
              <a:rPr sz="1300" b="0" dirty="0">
                <a:solidFill>
                  <a:srgbClr val="C9D1D9"/>
                </a:solidFill>
              </a:rPr>
              <a:t xml:space="preserve"/>
            </a:r>
            <a:r>
              <a:rPr sz="1300" b="1" dirty="0">
                <a:solidFill>
                  <a:srgbClr val="F85149"/>
                </a:solidFill>
              </a:rPr>
              <a:t/>
            </a:r>
          </a:p>
        </p:txBody>
      </p:sp>
      <p:sp>
        <p:nvSpPr>
          <p:cNvPr id="8" name="TextBox 8"/>
          <p:cNvSpPr txBox="1"/>
          <p:nvPr/>
        </p:nvSpPr>
        <p:spPr>
          <a:xfrm>
            <a:off x="8046720" y="4754880"/>
            <a:ext cx="914400" cy="274320"/>
          </a:xfrm>
          <a:prstGeom prst="rect">
            <a:avLst/>
          </a:prstGeom>
        </p:spPr>
        <p:txBody>
          <a:bodyPr wrap="square" rtlCol="0">
            <a:spAutoFit/>
          </a:bodyPr>
          <a:lstStyle/>
          <a:p>
            <a:r>
              <a:rPr sz="900">
                <a:solidFill>
                  <a:srgbClr val="8B949E"/>
                </a:solidFill>
              </a:rPr>
              <a:t>16 / 24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BYOK · Bring Your Own Provider</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Your provider, model, billing, residency, and access policy; keys are optional</a:t>
            </a:r>
            <a:endParaRPr lang="en-US" sz="1200" dirty="0"/>
          </a:p>
        </p:txBody>
      </p:sp>
      <p:sp>
        <p:nvSpPr>
          <p:cNvPr id="6" name="Shape 3"/>
          <p:cNvSpPr/>
          <p:nvPr/>
        </p:nvSpPr>
        <p:spPr>
          <a:xfrm>
            <a:off x="548640" y="1188720"/>
            <a:ext cx="2560320" cy="640080"/>
          </a:xfrm>
          <a:prstGeom prst="line">
            <a:avLst/>
          </a:prstGeom>
          <a:solidFill>
            <a:srgbClr val="161B22"/>
          </a:solidFill>
          <a:ln w="12700">
            <a:prstDash val="solid"/>
          </a:ln>
        </p:spPr>
        <p:txBody>
          <a:bodyPr/>
          <a:lstStyle/>
          <a:p>
            <a:endParaRPr/>
          </a:p>
        </p:txBody>
      </p:sp>
      <p:sp>
        <p:nvSpPr>
          <p:cNvPr id="7" name="Text 4"/>
          <p:cNvSpPr/>
          <p:nvPr/>
        </p:nvSpPr>
        <p:spPr>
          <a:xfrm>
            <a:off x="685800" y="123444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OpenAI</a:t>
            </a:r>
            <a:endParaRPr lang="en-US" sz="1200" dirty="0"/>
          </a:p>
        </p:txBody>
      </p:sp>
      <p:sp>
        <p:nvSpPr>
          <p:cNvPr id="8" name="Text 5"/>
          <p:cNvSpPr/>
          <p:nvPr/>
        </p:nvSpPr>
        <p:spPr>
          <a:xfrm>
            <a:off x="2286000" y="123444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9" name="Text 6"/>
          <p:cNvSpPr/>
          <p:nvPr/>
        </p:nvSpPr>
        <p:spPr>
          <a:xfrm>
            <a:off x="685800" y="150876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Direct API access</a:t>
            </a:r>
            <a:endParaRPr lang="en-US" sz="900" dirty="0"/>
          </a:p>
        </p:txBody>
      </p:sp>
      <p:sp>
        <p:nvSpPr>
          <p:cNvPr id="10" name="Shape 7"/>
          <p:cNvSpPr/>
          <p:nvPr/>
        </p:nvSpPr>
        <p:spPr>
          <a:xfrm>
            <a:off x="3355848" y="1188720"/>
            <a:ext cx="2560320" cy="640080"/>
          </a:xfrm>
          <a:prstGeom prst="line">
            <a:avLst/>
          </a:prstGeom>
          <a:solidFill>
            <a:srgbClr val="161B22"/>
          </a:solidFill>
          <a:ln w="12700">
            <a:prstDash val="solid"/>
          </a:ln>
        </p:spPr>
        <p:txBody>
          <a:bodyPr/>
          <a:lstStyle/>
          <a:p>
            <a:endParaRPr/>
          </a:p>
        </p:txBody>
      </p:sp>
      <p:sp>
        <p:nvSpPr>
          <p:cNvPr id="11" name="Text 8"/>
          <p:cNvSpPr/>
          <p:nvPr/>
        </p:nvSpPr>
        <p:spPr>
          <a:xfrm>
            <a:off x="3493008" y="123444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Microsoft Foundry</a:t>
            </a:r>
            <a:endParaRPr lang="en-US" sz="1200" dirty="0"/>
          </a:p>
        </p:txBody>
      </p:sp>
      <p:sp>
        <p:nvSpPr>
          <p:cNvPr id="12" name="Text 9"/>
          <p:cNvSpPr/>
          <p:nvPr/>
        </p:nvSpPr>
        <p:spPr>
          <a:xfrm>
            <a:off x="5093208" y="123444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 / "azure"</a:t>
            </a:r>
            <a:endParaRPr lang="en-US" sz="800" dirty="0"/>
          </a:p>
        </p:txBody>
      </p:sp>
      <p:sp>
        <p:nvSpPr>
          <p:cNvPr id="13" name="Text 10"/>
          <p:cNvSpPr/>
          <p:nvPr/>
        </p:nvSpPr>
        <p:spPr>
          <a:xfrm>
            <a:off x="3493008" y="150876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Keys or managed identity</a:t>
            </a:r>
            <a:endParaRPr lang="en-US" sz="900" dirty="0"/>
          </a:p>
        </p:txBody>
      </p:sp>
      <p:sp>
        <p:nvSpPr>
          <p:cNvPr id="14" name="Shape 11"/>
          <p:cNvSpPr/>
          <p:nvPr/>
        </p:nvSpPr>
        <p:spPr>
          <a:xfrm>
            <a:off x="6163056" y="1188720"/>
            <a:ext cx="2560320" cy="640080"/>
          </a:xfrm>
          <a:prstGeom prst="line">
            <a:avLst/>
          </a:prstGeom>
          <a:solidFill>
            <a:srgbClr val="161B22"/>
          </a:solidFill>
          <a:ln w="12700">
            <a:prstDash val="solid"/>
          </a:ln>
        </p:spPr>
        <p:txBody>
          <a:bodyPr/>
          <a:lstStyle/>
          <a:p>
            <a:endParaRPr/>
          </a:p>
        </p:txBody>
      </p:sp>
      <p:sp>
        <p:nvSpPr>
          <p:cNvPr id="15" name="Text 12"/>
          <p:cNvSpPr/>
          <p:nvPr/>
        </p:nvSpPr>
        <p:spPr>
          <a:xfrm>
            <a:off x="6300216" y="123444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Anthropic</a:t>
            </a:r>
            <a:endParaRPr lang="en-US" sz="1200" dirty="0"/>
          </a:p>
        </p:txBody>
      </p:sp>
      <p:sp>
        <p:nvSpPr>
          <p:cNvPr id="16" name="Text 13"/>
          <p:cNvSpPr/>
          <p:nvPr/>
        </p:nvSpPr>
        <p:spPr>
          <a:xfrm>
            <a:off x="7900416" y="123444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"anthropic"</a:t>
            </a:r>
            <a:endParaRPr lang="en-US" sz="800" dirty="0"/>
          </a:p>
        </p:txBody>
      </p:sp>
      <p:sp>
        <p:nvSpPr>
          <p:cNvPr id="17" name="Text 14"/>
          <p:cNvSpPr/>
          <p:nvPr/>
        </p:nvSpPr>
        <p:spPr>
          <a:xfrm>
            <a:off x="6300216" y="150876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Claude models</a:t>
            </a:r>
            <a:endParaRPr lang="en-US" sz="900" dirty="0"/>
          </a:p>
        </p:txBody>
      </p:sp>
      <p:sp>
        <p:nvSpPr>
          <p:cNvPr id="18" name="Shape 15"/>
          <p:cNvSpPr/>
          <p:nvPr/>
        </p:nvSpPr>
        <p:spPr>
          <a:xfrm>
            <a:off x="548640" y="2011680"/>
            <a:ext cx="2560320" cy="640080"/>
          </a:xfrm>
          <a:prstGeom prst="line">
            <a:avLst/>
          </a:prstGeom>
          <a:solidFill>
            <a:srgbClr val="161B22"/>
          </a:solidFill>
          <a:ln w="12700">
            <a:prstDash val="solid"/>
          </a:ln>
        </p:spPr>
        <p:txBody>
          <a:bodyPr/>
          <a:lstStyle/>
          <a:p>
            <a:endParaRPr/>
          </a:p>
        </p:txBody>
      </p:sp>
      <p:sp>
        <p:nvSpPr>
          <p:cNvPr id="19" name="Text 16"/>
          <p:cNvSpPr/>
          <p:nvPr/>
        </p:nvSpPr>
        <p:spPr>
          <a:xfrm>
            <a:off x="685800" y="205740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Ollama</a:t>
            </a:r>
            <a:endParaRPr lang="en-US" sz="1200" dirty="0"/>
          </a:p>
        </p:txBody>
      </p:sp>
      <p:sp>
        <p:nvSpPr>
          <p:cNvPr id="20" name="Text 17"/>
          <p:cNvSpPr/>
          <p:nvPr/>
        </p:nvSpPr>
        <p:spPr>
          <a:xfrm>
            <a:off x="2286000" y="205740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21" name="Text 18"/>
          <p:cNvSpPr/>
          <p:nvPr/>
        </p:nvSpPr>
        <p:spPr>
          <a:xfrm>
            <a:off x="685800" y="233172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Local models</a:t>
            </a:r>
            <a:endParaRPr lang="en-US" sz="900" dirty="0"/>
          </a:p>
        </p:txBody>
      </p:sp>
      <p:sp>
        <p:nvSpPr>
          <p:cNvPr id="22" name="Shape 19"/>
          <p:cNvSpPr/>
          <p:nvPr/>
        </p:nvSpPr>
        <p:spPr>
          <a:xfrm>
            <a:off x="3355848" y="2011680"/>
            <a:ext cx="2560320" cy="640080"/>
          </a:xfrm>
          <a:prstGeom prst="line">
            <a:avLst/>
          </a:prstGeom>
          <a:solidFill>
            <a:srgbClr val="161B22"/>
          </a:solidFill>
          <a:ln w="12700">
            <a:prstDash val="solid"/>
          </a:ln>
        </p:spPr>
        <p:txBody>
          <a:bodyPr/>
          <a:lstStyle/>
          <a:p>
            <a:endParaRPr/>
          </a:p>
        </p:txBody>
      </p:sp>
      <p:sp>
        <p:nvSpPr>
          <p:cNvPr id="23" name="Text 20"/>
          <p:cNvSpPr/>
          <p:nvPr/>
        </p:nvSpPr>
        <p:spPr>
          <a:xfrm>
            <a:off x="3493008" y="205740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Foundry Local</a:t>
            </a:r>
            <a:endParaRPr lang="en-US" sz="1200" dirty="0"/>
          </a:p>
        </p:txBody>
      </p:sp>
      <p:sp>
        <p:nvSpPr>
          <p:cNvPr id="24" name="Text 21"/>
          <p:cNvSpPr/>
          <p:nvPr/>
        </p:nvSpPr>
        <p:spPr>
          <a:xfrm>
            <a:off x="5093208" y="205740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25" name="Text 22"/>
          <p:cNvSpPr/>
          <p:nvPr/>
        </p:nvSpPr>
        <p:spPr>
          <a:xfrm>
            <a:off x="3493008" y="233172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On-device AI</a:t>
            </a:r>
            <a:endParaRPr lang="en-US" sz="900" dirty="0"/>
          </a:p>
        </p:txBody>
      </p:sp>
      <p:sp>
        <p:nvSpPr>
          <p:cNvPr id="26" name="Shape 23"/>
          <p:cNvSpPr/>
          <p:nvPr/>
        </p:nvSpPr>
        <p:spPr>
          <a:xfrm>
            <a:off x="6163056" y="2011680"/>
            <a:ext cx="2560320" cy="640080"/>
          </a:xfrm>
          <a:prstGeom prst="line">
            <a:avLst/>
          </a:prstGeom>
          <a:solidFill>
            <a:srgbClr val="161B22"/>
          </a:solidFill>
          <a:ln w="12700">
            <a:prstDash val="solid"/>
          </a:ln>
        </p:spPr>
        <p:txBody>
          <a:bodyPr/>
          <a:lstStyle/>
          <a:p>
            <a:endParaRPr/>
          </a:p>
        </p:txBody>
      </p:sp>
      <p:sp>
        <p:nvSpPr>
          <p:cNvPr id="27" name="Text 24"/>
          <p:cNvSpPr/>
          <p:nvPr/>
        </p:nvSpPr>
        <p:spPr>
          <a:xfrm>
            <a:off x="6300216" y="2057400"/>
            <a:ext cx="1645920" cy="274320"/>
          </a:xfrm>
          <a:prstGeom prst="rect">
            <a:avLst/>
          </a:prstGeom>
          <a:noFill/>
          <a:ln>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Other</a:t>
            </a:r>
            <a:endParaRPr lang="en-US" sz="1200" dirty="0"/>
          </a:p>
        </p:txBody>
      </p:sp>
      <p:sp>
        <p:nvSpPr>
          <p:cNvPr id="28" name="Text 25"/>
          <p:cNvSpPr/>
          <p:nvPr/>
        </p:nvSpPr>
        <p:spPr>
          <a:xfrm>
            <a:off x="7900416" y="2057400"/>
            <a:ext cx="685800" cy="274320"/>
          </a:xfrm>
          <a:prstGeom prst="rect">
            <a:avLst/>
          </a:prstGeom>
          <a:noFill/>
          <a:ln>
            <a:noFill/>
          </a:ln>
        </p:spPr>
        <p:txBody>
          <a:bodyPr wrap="square" lIns="0" tIns="0" rIns="0" bIns="0" rtlCol="0" anchor="ctr"/>
          <a:lstStyle/>
          <a:p>
            <a:pPr marL="0" indent="0" algn="r">
              <a:buNone/>
            </a:pPr>
            <a:r>
              <a:rPr lang="en-US" sz="800" dirty="0">
                <a:solidFill>
                  <a:srgbClr val="3FB950"/>
                </a:solidFill>
                <a:latin typeface="Consolas" pitchFamily="34" charset="0"/>
                <a:ea typeface="Consolas" pitchFamily="34" charset="-122"/>
                <a:cs typeface="Consolas" pitchFamily="34" charset="-120"/>
              </a:rPr>
              <a:t>"openai"</a:t>
            </a:r>
            <a:endParaRPr lang="en-US" sz="800" dirty="0"/>
          </a:p>
        </p:txBody>
      </p:sp>
      <p:sp>
        <p:nvSpPr>
          <p:cNvPr id="29" name="Text 26"/>
          <p:cNvSpPr/>
          <p:nvPr/>
        </p:nvSpPr>
        <p:spPr>
          <a:xfrm>
            <a:off x="6300216" y="2331720"/>
            <a:ext cx="2286000" cy="228600"/>
          </a:xfrm>
          <a:prstGeom prst="rect">
            <a:avLst/>
          </a:prstGeom>
          <a:noFill/>
          <a:ln>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vLLM, LiteLLM, etc.</a:t>
            </a:r>
            <a:endParaRPr lang="en-US" sz="900" dirty="0"/>
          </a:p>
        </p:txBody>
      </p:sp>
      <p:sp>
        <p:nvSpPr>
          <p:cNvPr id="30" name="Shape 27"/>
          <p:cNvSpPr/>
          <p:nvPr/>
        </p:nvSpPr>
        <p:spPr>
          <a:xfrm>
            <a:off x="548640" y="3017520"/>
            <a:ext cx="8046720" cy="1645920"/>
          </a:xfrm>
          <a:prstGeom prst="line">
            <a:avLst/>
          </a:prstGeom>
          <a:solidFill>
            <a:srgbClr val="161B22"/>
          </a:solidFill>
          <a:ln w="12700">
            <a:prstDash val="solid"/>
          </a:ln>
        </p:spPr>
        <p:txBody>
          <a:bodyPr/>
          <a:lstStyle/>
          <a:p>
            <a:endParaRPr/>
          </a:p>
        </p:txBody>
      </p:sp>
      <p:sp>
        <p:nvSpPr>
          <p:cNvPr id="31" name="Shape 28"/>
          <p:cNvSpPr/>
          <p:nvPr/>
        </p:nvSpPr>
        <p:spPr>
          <a:xfrm>
            <a:off x="548640" y="3017520"/>
            <a:ext cx="1371600" cy="256032"/>
          </a:xfrm>
          <a:prstGeom prst="line">
            <a:avLst/>
          </a:prstGeom>
          <a:solidFill>
            <a:srgbClr val="1F6FEB"/>
          </a:solidFill>
          <a:ln w="6350">
            <a:solidFill>
              <a:srgbClr val="30363D"/>
            </a:solidFill>
          </a:ln>
        </p:spPr>
        <p:txBody>
          <a:bodyPr/>
          <a:lstStyle/>
          <a:p>
            <a:endParaRPr/>
          </a:p>
        </p:txBody>
      </p:sp>
      <p:sp>
        <p:nvSpPr>
          <p:cNvPr id="32" name="Text 29"/>
          <p:cNvSpPr/>
          <p:nvPr/>
        </p:nvSpPr>
        <p:spPr>
          <a:xfrm>
            <a:off x="548640" y="301752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33" name="Text 30"/>
          <p:cNvSpPr/>
          <p:nvPr/>
        </p:nvSpPr>
        <p:spPr>
          <a:xfrm>
            <a:off x="685800" y="3337560"/>
            <a:ext cx="7772400" cy="1234440"/>
          </a:xfrm>
          <a:prstGeom prst="rect">
            <a:avLst/>
          </a:prstGeom>
          <a:noFill/>
          <a:ln>
            <a:noFill/>
          </a:ln>
        </p:spPr>
        <p:txBody>
          <a:bodyPr wrap="none" lIns="25400" tIns="25400" rIns="25400" bIns="25400" rtlCol="0" anchor="t"/>
          <a:lstStyle/>
          <a:p>
            <a:pPr algn="l">
              <a:lnSpc>
                <a:spcPts val="1100"/>
              </a:lnSpc>
              <a:spcBef>
                <a:spcPts val="0"/>
              </a:spcBef>
              <a:spcAft>
                <a:spcPts val="0"/>
              </a:spcAft>
            </a:pPr>
            <a:r>
              <a:rPr sz="1400">
                <a:solidFill>
                  <a:srgbClr val="E6EDF3"/>
                </a:solidFill>
                <a:latin typeface="Courier New"/>
              </a:rPr>
              <a:t xml:space="preserve">async with await client.create_session(</a:t>
            </a:r>
          </a:p>
          <a:p>
            <a:pPr algn="l">
              <a:lnSpc>
                <a:spcPts val="1100"/>
              </a:lnSpc>
              <a:spcBef>
                <a:spcPts val="0"/>
              </a:spcBef>
              <a:spcAft>
                <a:spcPts val="0"/>
              </a:spcAft>
            </a:pPr>
            <a:r>
              <a:rPr sz="1400">
                <a:solidFill>
                  <a:srgbClr val="E6EDF3"/>
                </a:solidFill>
                <a:latin typeface="Courier New"/>
              </a:rPr>
              <a:t xml:space="preserve">    model=os.environ["FOUNDRY_MODEL"], available_tools=[],</a:t>
            </a:r>
          </a:p>
          <a:p>
            <a:pPr algn="l">
              <a:lnSpc>
                <a:spcPts val="1100"/>
              </a:lnSpc>
              <a:spcBef>
                <a:spcPts val="0"/>
              </a:spcBef>
              <a:spcAft>
                <a:spcPts val="0"/>
              </a:spcAft>
            </a:pPr>
            <a:r>
              <a:rPr sz="1400">
                <a:solidFill>
                  <a:srgbClr val="E6EDF3"/>
                </a:solidFill>
                <a:latin typeface="Courier New"/>
              </a:rPr>
              <a:t xml:space="preserve">    provider={"type": "openai", "wire_api": "responses",</a:t>
            </a:r>
          </a:p>
          <a:p>
            <a:pPr algn="l">
              <a:lnSpc>
                <a:spcPts val="1100"/>
              </a:lnSpc>
              <a:spcBef>
                <a:spcPts val="0"/>
              </a:spcBef>
              <a:spcAft>
                <a:spcPts val="0"/>
              </a:spcAft>
            </a:pPr>
            <a:r>
              <a:rPr sz="1400">
                <a:solidFill>
                  <a:srgbClr val="E6EDF3"/>
                </a:solidFill>
                <a:latin typeface="Courier New"/>
              </a:rPr>
              <a:t xml:space="preserve">              "base_url": os.environ["FOUNDRY_MODEL_URL"],</a:t>
            </a:r>
          </a:p>
          <a:p>
            <a:pPr algn="l">
              <a:lnSpc>
                <a:spcPts val="1100"/>
              </a:lnSpc>
              <a:spcBef>
                <a:spcPts val="0"/>
              </a:spcBef>
              <a:spcAft>
                <a:spcPts val="0"/>
              </a:spcAft>
            </a:pPr>
            <a:r>
              <a:rPr sz="1400">
                <a:solidFill>
                  <a:srgbClr val="E6EDF3"/>
                </a:solidFill>
                <a:latin typeface="Courier New"/>
              </a:rPr>
              <a:t xml:space="preserve">              "api_key": os.environ["FOUNDRY_API_KEY"]},</a:t>
            </a:r>
          </a:p>
          <a:p>
            <a:pPr algn="l">
              <a:lnSpc>
                <a:spcPts val="1100"/>
              </a:lnSpc>
              <a:spcBef>
                <a:spcPts val="0"/>
              </a:spcBef>
              <a:spcAft>
                <a:spcPts val="0"/>
              </a:spcAft>
            </a:pPr>
            <a:r>
              <a:rPr sz="1400">
                <a:solidFill>
                  <a:srgbClr val="E6EDF3"/>
                </a:solidFill>
                <a:latin typeface="Courier New"/>
              </a:rPr>
              <a:t xml:space="preserve">) as session:</a:t>
            </a:r>
          </a:p>
          <a:p>
            <a:pPr algn="l">
              <a:lnSpc>
                <a:spcPts val="1100"/>
              </a:lnSpc>
              <a:spcBef>
                <a:spcPts val="0"/>
              </a:spcBef>
              <a:spcAft>
                <a:spcPts val="0"/>
              </a:spcAft>
            </a:pPr>
            <a:r>
              <a:rPr sz="1400">
                <a:solidFill>
                  <a:srgbClr val="E6EDF3"/>
                </a:solidFill>
                <a:latin typeface="Courier New"/>
              </a:rPr>
              <a:t xml:space="preserve">    await session.send_and_wait("Hi", timeout=120)</a:t>
            </a:r>
          </a:p>
          <a:p>
            <a:pPr algn="l">
              <a:lnSpc>
                <a:spcPts val="1100"/>
              </a:lnSpc>
              <a:spcBef>
                <a:spcPts val="0"/>
              </a:spcBef>
              <a:spcAft>
                <a:spcPts val="0"/>
              </a:spcAft>
            </a:pPr>
            <a:r>
              <a:rPr sz="1000">
                <a:solidFill>
                  <a:srgbClr val="E6EDF3"/>
                </a:solidFill>
                <a:latin typeface="Courier New"/>
              </a:rPr>
              <a:t xml:space="preserve"/>
            </a:r>
          </a:p>
        </p:txBody>
      </p:sp>
      <p:sp>
        <p:nvSpPr>
          <p:cNvPr id="36" name="Text 32"/>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20 / 24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46" name="Rectangle 45"/>
          <p:cNvSpPr/>
          <p:nvPr/>
        </p:nvSpPr>
        <p:spPr>
          <a:xfrm>
            <a:off x="4663440" y="1188720"/>
            <a:ext cx="3931920" cy="3438144"/>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94360" y="1188720"/>
            <a:ext cx="3840480" cy="3438144"/>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Deployment Choices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All SDKs use JSON-RPC; choose who owns the runtime process and state</a:t>
            </a:r>
            <a:endParaRPr lang="en-US" sz="1200" dirty="0"/>
          </a:p>
        </p:txBody>
      </p:sp>
      <p:sp>
        <p:nvSpPr>
          <p:cNvPr id="6" name="Shape 3"/>
          <p:cNvSpPr/>
          <p:nvPr/>
        </p:nvSpPr>
        <p:spPr>
          <a:xfrm>
            <a:off x="548640" y="1188720"/>
            <a:ext cx="3931920" cy="32918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8" name="Text 5"/>
          <p:cNvSpPr/>
          <p:nvPr/>
        </p:nvSpPr>
        <p:spPr>
          <a:xfrm>
            <a:off x="731520" y="1325880"/>
            <a:ext cx="3566160" cy="274320"/>
          </a:xfrm>
          <a:prstGeom prst="rect">
            <a:avLst/>
          </a:prstGeom>
          <a:noFill/>
          <a:ln>
            <a:noFill/>
          </a:ln>
        </p:spPr>
        <p:txBody>
          <a:bodyPr wrap="square" lIns="0" tIns="0" rIns="0" bIns="0" rtlCol="0" anchor="ctr"/>
          <a:lstStyle/>
          <a:p>
            <a:pPr marL="0" indent="0">
              <a:buNone/>
            </a:pPr>
            <a:r>
              <a:rPr lang="en-US" sz="1400" b="1" dirty="0">
                <a:solidFill>
                  <a:srgbClr val="3FB950"/>
                </a:solidFill>
                <a:latin typeface="Calibri" pitchFamily="34" charset="0"/>
                <a:ea typeface="Calibri" pitchFamily="34" charset="-122"/>
                <a:cs typeface="Calibri" pitchFamily="34" charset="-120"/>
              </a:rPr>
              <a:t>Mode 1: Managed stdio child</a:t>
            </a:r>
            <a:endParaRPr lang="en-US" sz="1400" dirty="0"/>
          </a:p>
        </p:txBody>
      </p:sp>
      <p:sp>
        <p:nvSpPr>
          <p:cNvPr id="9" name="Text 6"/>
          <p:cNvSpPr/>
          <p:nvPr/>
        </p:nvSpPr>
        <p:spPr>
          <a:xfrm>
            <a:off x="731520" y="1645920"/>
            <a:ext cx="3566160" cy="228600"/>
          </a:xfrm>
          <a:prstGeom prst="rect">
            <a:avLst/>
          </a:prstGeom>
          <a:noFill/>
          <a:ln>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SDK provisions runtime 1.0.83 and owns lifecycle</a:t>
            </a:r>
            <a:endParaRPr lang="en-US" sz="1000" dirty="0"/>
          </a:p>
        </p:txBody>
      </p:sp>
      <p:sp>
        <p:nvSpPr>
          <p:cNvPr id="10" name="Shape 7"/>
          <p:cNvSpPr/>
          <p:nvPr/>
        </p:nvSpPr>
        <p:spPr>
          <a:xfrm>
            <a:off x="1005840" y="2011680"/>
            <a:ext cx="3017520" cy="411480"/>
          </a:xfrm>
          <a:prstGeom prst="line">
            <a:avLst/>
          </a:prstGeom>
          <a:solidFill>
            <a:srgbClr val="0D1117"/>
          </a:solidFill>
          <a:ln w="12700">
            <a:prstDash val="solid"/>
          </a:ln>
        </p:spPr>
        <p:txBody>
          <a:bodyPr/>
          <a:lstStyle/>
          <a:p>
            <a:endParaRPr/>
          </a:p>
        </p:txBody>
      </p:sp>
      <p:sp>
        <p:nvSpPr>
          <p:cNvPr id="11" name="Text 8"/>
          <p:cNvSpPr/>
          <p:nvPr/>
        </p:nvSpPr>
        <p:spPr>
          <a:xfrm>
            <a:off x="1005840" y="201168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Your App + SDK</a:t>
            </a:r>
            <a:endParaRPr lang="en-US" sz="1000" dirty="0"/>
          </a:p>
        </p:txBody>
      </p:sp>
      <p:sp>
        <p:nvSpPr>
          <p:cNvPr id="12" name="Shape 9"/>
          <p:cNvSpPr/>
          <p:nvPr/>
        </p:nvSpPr>
        <p:spPr>
          <a:xfrm>
            <a:off x="1005840" y="2606040"/>
            <a:ext cx="3017520" cy="411480"/>
          </a:xfrm>
          <a:prstGeom prst="line">
            <a:avLst/>
          </a:prstGeom>
          <a:solidFill>
            <a:srgbClr val="0D1117"/>
          </a:solidFill>
          <a:ln w="12700">
            <a:prstDash val="solid"/>
          </a:ln>
        </p:spPr>
        <p:txBody>
          <a:bodyPr/>
          <a:lstStyle/>
          <a:p>
            <a:endParaRPr/>
          </a:p>
        </p:txBody>
      </p:sp>
      <p:sp>
        <p:nvSpPr>
          <p:cNvPr id="13" name="Text 10"/>
          <p:cNvSpPr/>
          <p:nvPr/>
        </p:nvSpPr>
        <p:spPr>
          <a:xfrm>
            <a:off x="1005840" y="260604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JSON-RPC over stdin/stdout</a:t>
            </a:r>
            <a:endParaRPr lang="en-US" sz="1000" dirty="0"/>
          </a:p>
        </p:txBody>
      </p:sp>
      <p:sp>
        <p:nvSpPr>
          <p:cNvPr id="14" name="Shape 11"/>
          <p:cNvSpPr/>
          <p:nvPr/>
        </p:nvSpPr>
        <p:spPr>
          <a:xfrm>
            <a:off x="1005840" y="3200400"/>
            <a:ext cx="3017520" cy="411480"/>
          </a:xfrm>
          <a:prstGeom prst="line">
            <a:avLst/>
          </a:prstGeom>
          <a:solidFill>
            <a:srgbClr val="0D1117"/>
          </a:solidFill>
          <a:ln w="12700">
            <a:prstDash val="solid"/>
          </a:ln>
        </p:spPr>
        <p:txBody>
          <a:bodyPr/>
          <a:lstStyle/>
          <a:p>
            <a:endParaRPr/>
          </a:p>
        </p:txBody>
      </p:sp>
      <p:sp>
        <p:nvSpPr>
          <p:cNvPr id="15" name="Text 12"/>
          <p:cNvSpPr/>
          <p:nvPr/>
        </p:nvSpPr>
        <p:spPr>
          <a:xfrm>
            <a:off x="1005840" y="320040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Copilot CLI (child process)</a:t>
            </a:r>
            <a:endParaRPr lang="en-US" sz="1000" dirty="0"/>
          </a:p>
        </p:txBody>
      </p:sp>
      <p:pic>
        <p:nvPicPr>
          <p:cNvPr id="18" name="Image 1" descr="preencoded.png"/>
          <p:cNvPicPr>
            <a:picLocks noChangeAspect="1"/>
          </p:cNvPicPr>
          <p:nvPr/>
        </p:nvPicPr>
        <p:blipFill>
          <a:blip r:embed="rId4"/>
          <a:stretch>
            <a:fillRect/>
          </a:stretch>
        </p:blipFill>
        <p:spPr>
          <a:xfrm>
            <a:off x="822960" y="3794760"/>
            <a:ext cx="155448" cy="155448"/>
          </a:xfrm>
          <a:prstGeom prst="rect">
            <a:avLst/>
          </a:prstGeom>
        </p:spPr>
      </p:pic>
      <p:sp>
        <p:nvSpPr>
          <p:cNvPr id="19" name="Text 15"/>
          <p:cNvSpPr/>
          <p:nvPr/>
        </p:nvSpPr>
        <p:spPr>
          <a:xfrm>
            <a:off x="1051560" y="3794760"/>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async with CopilotClient()</a:t>
            </a:r>
            <a:endParaRPr lang="en-US" sz="950" dirty="0"/>
          </a:p>
        </p:txBody>
      </p:sp>
      <p:pic>
        <p:nvPicPr>
          <p:cNvPr id="20" name="Image 2" descr="preencoded.png"/>
          <p:cNvPicPr>
            <a:picLocks noChangeAspect="1"/>
          </p:cNvPicPr>
          <p:nvPr/>
        </p:nvPicPr>
        <p:blipFill>
          <a:blip r:embed="rId4"/>
          <a:stretch>
            <a:fillRect/>
          </a:stretch>
        </p:blipFill>
        <p:spPr>
          <a:xfrm>
            <a:off x="822960" y="4041648"/>
            <a:ext cx="155448" cy="155448"/>
          </a:xfrm>
          <a:prstGeom prst="rect">
            <a:avLst/>
          </a:prstGeom>
        </p:spPr>
      </p:pic>
      <p:sp>
        <p:nvSpPr>
          <p:cNvPr id="21" name="Text 16"/>
          <p:cNvSpPr/>
          <p:nvPr/>
        </p:nvSpPr>
        <p:spPr>
          <a:xfrm>
            <a:off x="1051560" y="4041648"/>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Client exit stops its owned child</a:t>
            </a:r>
            <a:endParaRPr lang="en-US" sz="950" dirty="0"/>
          </a:p>
        </p:txBody>
      </p:sp>
      <p:pic>
        <p:nvPicPr>
          <p:cNvPr id="22" name="Image 3" descr="preencoded.png"/>
          <p:cNvPicPr>
            <a:picLocks noChangeAspect="1"/>
          </p:cNvPicPr>
          <p:nvPr/>
        </p:nvPicPr>
        <p:blipFill>
          <a:blip r:embed="rId4"/>
          <a:stretch>
            <a:fillRect/>
          </a:stretch>
        </p:blipFill>
        <p:spPr>
          <a:xfrm>
            <a:off x="822960" y="4288536"/>
            <a:ext cx="155448" cy="155448"/>
          </a:xfrm>
          <a:prstGeom prst="rect">
            <a:avLst/>
          </a:prstGeom>
        </p:spPr>
      </p:pic>
      <p:sp>
        <p:nvSpPr>
          <p:cNvPr id="23" name="Text 17"/>
          <p:cNvSpPr/>
          <p:nvPr/>
        </p:nvSpPr>
        <p:spPr>
          <a:xfrm>
            <a:off x="1051560" y="4288536"/>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Best for local apps and workshops</a:t>
            </a:r>
            <a:endParaRPr lang="en-US" sz="950" dirty="0"/>
          </a:p>
        </p:txBody>
      </p:sp>
      <p:sp>
        <p:nvSpPr>
          <p:cNvPr id="24" name="Shape 18"/>
          <p:cNvSpPr/>
          <p:nvPr/>
        </p:nvSpPr>
        <p:spPr>
          <a:xfrm>
            <a:off x="4663440" y="1188720"/>
            <a:ext cx="3931920" cy="32918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26" name="Text 20"/>
          <p:cNvSpPr/>
          <p:nvPr/>
        </p:nvSpPr>
        <p:spPr>
          <a:xfrm>
            <a:off x="4846320" y="1325880"/>
            <a:ext cx="3566160" cy="274320"/>
          </a:xfrm>
          <a:prstGeom prst="rect">
            <a:avLst/>
          </a:prstGeom>
          <a:noFill/>
          <a:ln>
            <a:noFill/>
          </a:ln>
        </p:spPr>
        <p:txBody>
          <a:bodyPr wrap="square" lIns="0" tIns="0" rIns="0" bIns="0" rtlCol="0" anchor="ctr"/>
          <a:lstStyle/>
          <a:p>
            <a:pPr marL="0" indent="0">
              <a:buNone/>
            </a:pPr>
            <a:r>
              <a:rPr lang="en-US" sz="1400" b="1" dirty="0">
                <a:solidFill>
                  <a:srgbClr val="58A6FF"/>
                </a:solidFill>
                <a:latin typeface="Calibri" pitchFamily="34" charset="0"/>
                <a:ea typeface="Calibri" pitchFamily="34" charset="-122"/>
                <a:cs typeface="Calibri" pitchFamily="34" charset="-120"/>
              </a:rPr>
              <a:t>Mode 2: Existing runtime URI</a:t>
            </a:r>
            <a:endParaRPr lang="en-US" sz="1400" dirty="0"/>
          </a:p>
        </p:txBody>
      </p:sp>
      <p:sp>
        <p:nvSpPr>
          <p:cNvPr id="27" name="Text 21"/>
          <p:cNvSpPr/>
          <p:nvPr/>
        </p:nvSpPr>
        <p:spPr>
          <a:xfrm>
            <a:off x="4846320" y="1645920"/>
            <a:ext cx="3566160" cy="228600"/>
          </a:xfrm>
          <a:prstGeom prst="rect">
            <a:avLst/>
          </a:prstGeom>
          <a:noFill/>
          <a:ln>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Host runs and protects the service endpoint</a:t>
            </a:r>
            <a:endParaRPr lang="en-US" sz="1000" dirty="0"/>
          </a:p>
        </p:txBody>
      </p:sp>
      <p:sp>
        <p:nvSpPr>
          <p:cNvPr id="28" name="Shape 22"/>
          <p:cNvSpPr/>
          <p:nvPr/>
        </p:nvSpPr>
        <p:spPr>
          <a:xfrm>
            <a:off x="5120640" y="2011680"/>
            <a:ext cx="3017520" cy="411480"/>
          </a:xfrm>
          <a:prstGeom prst="line">
            <a:avLst/>
          </a:prstGeom>
          <a:solidFill>
            <a:srgbClr val="0D1117"/>
          </a:solidFill>
          <a:ln w="12700">
            <a:prstDash val="solid"/>
          </a:ln>
        </p:spPr>
        <p:txBody>
          <a:bodyPr/>
          <a:lstStyle/>
          <a:p>
            <a:endParaRPr/>
          </a:p>
        </p:txBody>
      </p:sp>
      <p:sp>
        <p:nvSpPr>
          <p:cNvPr id="29" name="Text 23"/>
          <p:cNvSpPr/>
          <p:nvPr/>
        </p:nvSpPr>
        <p:spPr>
          <a:xfrm>
            <a:off x="5120640" y="201168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Your App + SDK</a:t>
            </a:r>
            <a:endParaRPr lang="en-US" sz="1000" dirty="0"/>
          </a:p>
        </p:txBody>
      </p:sp>
      <p:sp>
        <p:nvSpPr>
          <p:cNvPr id="30" name="Shape 24"/>
          <p:cNvSpPr/>
          <p:nvPr/>
        </p:nvSpPr>
        <p:spPr>
          <a:xfrm>
            <a:off x="5120640" y="2606040"/>
            <a:ext cx="3017520" cy="411480"/>
          </a:xfrm>
          <a:prstGeom prst="line">
            <a:avLst/>
          </a:prstGeom>
          <a:solidFill>
            <a:srgbClr val="0D1117"/>
          </a:solidFill>
          <a:ln w="12700">
            <a:prstDash val="solid"/>
          </a:ln>
        </p:spPr>
        <p:txBody>
          <a:bodyPr/>
          <a:lstStyle/>
          <a:p>
            <a:endParaRPr/>
          </a:p>
        </p:txBody>
      </p:sp>
      <p:sp>
        <p:nvSpPr>
          <p:cNvPr id="31" name="Text 25"/>
          <p:cNvSpPr/>
          <p:nvPr/>
        </p:nvSpPr>
        <p:spPr>
          <a:xfrm>
            <a:off x="5120640" y="260604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JSON-RPC over protected TCP/URI</a:t>
            </a:r>
            <a:endParaRPr lang="en-US" sz="1000" dirty="0"/>
          </a:p>
        </p:txBody>
      </p:sp>
      <p:sp>
        <p:nvSpPr>
          <p:cNvPr id="32" name="Shape 26"/>
          <p:cNvSpPr/>
          <p:nvPr/>
        </p:nvSpPr>
        <p:spPr>
          <a:xfrm>
            <a:off x="5120640" y="3200400"/>
            <a:ext cx="3017520" cy="411480"/>
          </a:xfrm>
          <a:prstGeom prst="line">
            <a:avLst/>
          </a:prstGeom>
          <a:solidFill>
            <a:srgbClr val="0D1117"/>
          </a:solidFill>
          <a:ln w="12700">
            <a:prstDash val="solid"/>
          </a:ln>
        </p:spPr>
        <p:txBody>
          <a:bodyPr/>
          <a:lstStyle/>
          <a:p>
            <a:endParaRPr/>
          </a:p>
        </p:txBody>
      </p:sp>
      <p:sp>
        <p:nvSpPr>
          <p:cNvPr id="33" name="Text 27"/>
          <p:cNvSpPr/>
          <p:nvPr/>
        </p:nvSpPr>
        <p:spPr>
          <a:xfrm>
            <a:off x="5120640" y="3200400"/>
            <a:ext cx="3017520" cy="411480"/>
          </a:xfrm>
          <a:prstGeom prst="rect">
            <a:avLst/>
          </a:prstGeom>
          <a:noFill/>
          <a:ln>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Copilot CLI (headless server)</a:t>
            </a:r>
            <a:endParaRPr lang="en-US" sz="1000" dirty="0"/>
          </a:p>
        </p:txBody>
      </p:sp>
      <p:pic>
        <p:nvPicPr>
          <p:cNvPr id="36" name="Image 4" descr="preencoded.png"/>
          <p:cNvPicPr>
            <a:picLocks noChangeAspect="1"/>
          </p:cNvPicPr>
          <p:nvPr/>
        </p:nvPicPr>
        <p:blipFill>
          <a:blip r:embed="rId4"/>
          <a:stretch>
            <a:fillRect/>
          </a:stretch>
        </p:blipFill>
        <p:spPr>
          <a:xfrm>
            <a:off x="4937760" y="3794760"/>
            <a:ext cx="155448" cy="155448"/>
          </a:xfrm>
          <a:prstGeom prst="rect">
            <a:avLst/>
          </a:prstGeom>
        </p:spPr>
      </p:pic>
      <p:sp>
        <p:nvSpPr>
          <p:cNvPr id="37" name="Text 30"/>
          <p:cNvSpPr/>
          <p:nvPr/>
        </p:nvSpPr>
        <p:spPr>
          <a:xfrm>
            <a:off x="5166360" y="3794760"/>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onsolas" pitchFamily="34" charset="0"/>
                <a:ea typeface="Consolas" pitchFamily="34" charset="-122"/>
                <a:cs typeface="Consolas" pitchFamily="34" charset="-120"/>
              </a:rPr>
              <a:t>RuntimeConnection.for_uri("localhost:4321")</a:t>
            </a:r>
            <a:endParaRPr lang="en-US" sz="950" dirty="0"/>
          </a:p>
        </p:txBody>
      </p:sp>
      <p:pic>
        <p:nvPicPr>
          <p:cNvPr id="38" name="Image 5" descr="preencoded.png"/>
          <p:cNvPicPr>
            <a:picLocks noChangeAspect="1"/>
          </p:cNvPicPr>
          <p:nvPr/>
        </p:nvPicPr>
        <p:blipFill>
          <a:blip r:embed="rId4"/>
          <a:stretch>
            <a:fillRect/>
          </a:stretch>
        </p:blipFill>
        <p:spPr>
          <a:xfrm>
            <a:off x="4937760" y="4041648"/>
            <a:ext cx="155448" cy="155448"/>
          </a:xfrm>
          <a:prstGeom prst="rect">
            <a:avLst/>
          </a:prstGeom>
        </p:spPr>
      </p:pic>
      <p:sp>
        <p:nvSpPr>
          <p:cNvPr id="39" name="Text 31"/>
          <p:cNvSpPr/>
          <p:nvPr/>
        </p:nvSpPr>
        <p:spPr>
          <a:xfrm>
            <a:off x="5166360" y="4041648"/>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Independent lifecycle; multi-client capable</a:t>
            </a:r>
            <a:endParaRPr lang="en-US" sz="950" dirty="0"/>
          </a:p>
        </p:txBody>
      </p:sp>
      <p:pic>
        <p:nvPicPr>
          <p:cNvPr id="40" name="Image 6" descr="preencoded.png"/>
          <p:cNvPicPr>
            <a:picLocks noChangeAspect="1"/>
          </p:cNvPicPr>
          <p:nvPr/>
        </p:nvPicPr>
        <p:blipFill>
          <a:blip r:embed="rId4"/>
          <a:stretch>
            <a:fillRect/>
          </a:stretch>
        </p:blipFill>
        <p:spPr>
          <a:xfrm>
            <a:off x="4937760" y="4288536"/>
            <a:ext cx="155448" cy="155448"/>
          </a:xfrm>
          <a:prstGeom prst="rect">
            <a:avLst/>
          </a:prstGeom>
        </p:spPr>
      </p:pic>
      <p:sp>
        <p:nvSpPr>
          <p:cNvPr id="41" name="Text 32"/>
          <p:cNvSpPr/>
          <p:nvPr/>
        </p:nvSpPr>
        <p:spPr>
          <a:xfrm>
            <a:off x="5166360" y="4288536"/>
            <a:ext cx="3200400" cy="201168"/>
          </a:xfrm>
          <a:prstGeom prst="rect">
            <a:avLst/>
          </a:prstGeom>
          <a:noFill/>
          <a:ln>
            <a:noFill/>
          </a:ln>
        </p:spPr>
        <p:txBody>
          <a:bodyPr wrap="square" lIns="0" tIns="0" rIns="0" bIns="0" rtlCol="0" anchor="ctr"/>
          <a:lstStyle/>
          <a:p>
            <a:pPr marL="0" indent="0">
              <a:buNone/>
            </a:pPr>
            <a:r>
              <a:rPr lang="en-US" sz="950" dirty="0">
                <a:solidFill>
                  <a:srgbClr val="C9D1D9"/>
                </a:solidFill>
                <a:latin typeface="Calibri" pitchFamily="34" charset="0"/>
                <a:ea typeface="Calibri" pitchFamily="34" charset="-122"/>
                <a:cs typeface="Calibri" pitchFamily="34" charset="-120"/>
              </a:rPr>
              <a:t>Shared/multi-user hosts: mode="empty" plus explicit storage</a:t>
            </a:r>
            <a:endParaRPr lang="en-US" sz="950" dirty="0"/>
          </a:p>
        </p:txBody>
      </p:sp>
      <p:sp>
        <p:nvSpPr>
          <p:cNvPr id="44" name="Text 34"/>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21 / 24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Ship It: Runtime Provisioning</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SDK-managed runtime 1.0.83 — the interactive copilot command is a separate installation</a:t>
            </a:r>
            <a:endParaRPr lang="en-US" sz="1200" dirty="0"/>
          </a:p>
        </p:txBody>
      </p:sp>
      <p:sp>
        <p:nvSpPr>
          <p:cNvPr id="6" name="Shape 3"/>
          <p:cNvSpPr/>
          <p:nvPr/>
        </p:nvSpPr>
        <p:spPr>
          <a:xfrm>
            <a:off x="548640" y="1188720"/>
            <a:ext cx="3931920" cy="19202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7" name="Text 4"/>
          <p:cNvSpPr/>
          <p:nvPr/>
        </p:nvSpPr>
        <p:spPr>
          <a:xfrm>
            <a:off x="731520" y="1280160"/>
            <a:ext cx="3566160" cy="274320"/>
          </a:xfrm>
          <a:prstGeom prst="rect">
            <a:avLst/>
          </a:prstGeom>
          <a:noFill/>
          <a:ln>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How Bundled Deployment Works</a:t>
            </a:r>
            <a:endParaRPr lang="en-US" sz="1300" dirty="0"/>
          </a:p>
        </p:txBody>
      </p:sp>
      <p:sp>
        <p:nvSpPr>
          <p:cNvPr id="8" name="Shape 5"/>
          <p:cNvSpPr/>
          <p:nvPr/>
        </p:nvSpPr>
        <p:spPr>
          <a:xfrm>
            <a:off x="822960" y="1691640"/>
            <a:ext cx="3383280" cy="1234440"/>
          </a:xfrm>
          <a:prstGeom prst="line">
            <a:avLst/>
          </a:prstGeom>
          <a:solidFill>
            <a:srgbClr val="0D1117"/>
          </a:solidFill>
          <a:ln w="12700">
            <a:prstDash val="dash"/>
          </a:ln>
        </p:spPr>
        <p:txBody>
          <a:bodyPr/>
          <a:lstStyle/>
          <a:p>
            <a:endParaRPr/>
          </a:p>
        </p:txBody>
      </p:sp>
      <p:sp>
        <p:nvSpPr>
          <p:cNvPr id="9" name="Text 6"/>
          <p:cNvSpPr/>
          <p:nvPr/>
        </p:nvSpPr>
        <p:spPr>
          <a:xfrm>
            <a:off x="914400" y="1709928"/>
            <a:ext cx="3200400" cy="201168"/>
          </a:xfrm>
          <a:prstGeom prst="rect">
            <a:avLst/>
          </a:prstGeom>
          <a:noFill/>
          <a:ln>
            <a:noFill/>
          </a:ln>
        </p:spPr>
        <p:txBody>
          <a:bodyPr wrap="square" lIns="0" tIns="0" rIns="0" bIns="0" rtlCol="0" anchor="ctr"/>
          <a:lstStyle/>
          <a:p>
            <a:pPr marL="0" indent="0">
              <a:buNone/>
            </a:pPr>
            <a:r>
              <a:rPr lang="en-US" sz="800" dirty="0">
                <a:solidFill>
                  <a:srgbClr val="3FB950"/>
                </a:solidFill>
                <a:latin typeface="Calibri" pitchFamily="34" charset="0"/>
                <a:ea typeface="Calibri" pitchFamily="34" charset="-122"/>
                <a:cs typeface="Calibri" pitchFamily="34" charset="-120"/>
              </a:rPr>
              <a:t>Your Distributed App</a:t>
            </a:r>
            <a:endParaRPr lang="en-US" sz="800" dirty="0"/>
          </a:p>
        </p:txBody>
      </p:sp>
      <p:sp>
        <p:nvSpPr>
          <p:cNvPr id="10" name="Shape 7"/>
          <p:cNvSpPr/>
          <p:nvPr/>
        </p:nvSpPr>
        <p:spPr>
          <a:xfrm>
            <a:off x="1005840" y="1965960"/>
            <a:ext cx="1371600" cy="365760"/>
          </a:xfrm>
          <a:prstGeom prst="line">
            <a:avLst/>
          </a:prstGeom>
          <a:solidFill>
            <a:srgbClr val="161B22"/>
          </a:solidFill>
          <a:ln w="12700">
            <a:prstDash val="solid"/>
          </a:ln>
        </p:spPr>
        <p:txBody>
          <a:bodyPr/>
          <a:lstStyle/>
          <a:p>
            <a:endParaRPr/>
          </a:p>
        </p:txBody>
      </p:sp>
      <p:sp>
        <p:nvSpPr>
          <p:cNvPr id="11" name="Text 8"/>
          <p:cNvSpPr/>
          <p:nvPr/>
        </p:nvSpPr>
        <p:spPr>
          <a:xfrm>
            <a:off x="1005840" y="1965960"/>
            <a:ext cx="1371600" cy="365760"/>
          </a:xfrm>
          <a:prstGeom prst="rect">
            <a:avLst/>
          </a:prstGeom>
          <a:noFill/>
          <a:ln>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App Code + SDK</a:t>
            </a:r>
            <a:endParaRPr lang="en-US" sz="850" dirty="0"/>
          </a:p>
        </p:txBody>
      </p:sp>
      <p:sp>
        <p:nvSpPr>
          <p:cNvPr id="12" name="Text 9"/>
          <p:cNvSpPr/>
          <p:nvPr/>
        </p:nvSpPr>
        <p:spPr>
          <a:xfrm>
            <a:off x="2377440" y="1965960"/>
            <a:ext cx="274320" cy="365760"/>
          </a:xfrm>
          <a:prstGeom prst="rect">
            <a:avLst/>
          </a:prstGeom>
          <a:noFill/>
          <a:ln>
            <a:noFill/>
          </a:ln>
        </p:spPr>
        <p:txBody>
          <a:bodyPr wrap="square" lIns="0" tIns="0" rIns="0" bIns="0" rtlCol="0" anchor="ctr"/>
          <a:lstStyle/>
          <a:p>
            <a:pPr marL="0" indent="0" algn="ctr">
              <a:buNone/>
            </a:pPr>
            <a:r>
              <a:rPr lang="en-US" sz="1400" dirty="0">
                <a:solidFill>
                  <a:srgbClr val="58A6FF"/>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2651760" y="1965960"/>
            <a:ext cx="1371600" cy="365760"/>
          </a:xfrm>
          <a:prstGeom prst="line">
            <a:avLst/>
          </a:prstGeom>
          <a:solidFill>
            <a:srgbClr val="161B22"/>
          </a:solidFill>
          <a:ln w="12700">
            <a:prstDash val="solid"/>
          </a:ln>
        </p:spPr>
        <p:txBody>
          <a:bodyPr/>
          <a:lstStyle/>
          <a:p>
            <a:endParaRPr/>
          </a:p>
        </p:txBody>
      </p:sp>
      <p:sp>
        <p:nvSpPr>
          <p:cNvPr id="14" name="Text 11"/>
          <p:cNvSpPr/>
          <p:nvPr/>
        </p:nvSpPr>
        <p:spPr>
          <a:xfrm>
            <a:off x="2651760" y="1965960"/>
            <a:ext cx="1371600" cy="365760"/>
          </a:xfrm>
          <a:prstGeom prst="rect">
            <a:avLst/>
          </a:prstGeom>
          <a:noFill/>
          <a:ln>
            <a:noFill/>
          </a:ln>
        </p:spPr>
        <p:txBody>
          <a:bodyPr wrap="square" lIns="0" tIns="0" rIns="0" bIns="0" rtlCol="0" anchor="ctr"/>
          <a:lstStyle/>
          <a:p>
            <a:pPr marL="0" indent="0" algn="ctr">
              <a:buNone/>
            </a:pPr>
            <a:r>
              <a:rPr lang="en-US" sz="850" b="1" dirty="0">
                <a:solidFill>
                  <a:srgbClr val="3FB950"/>
                </a:solidFill>
                <a:latin typeface="Calibri" pitchFamily="34" charset="0"/>
                <a:ea typeface="Calibri" pitchFamily="34" charset="-122"/>
                <a:cs typeface="Calibri" pitchFamily="34" charset="-120"/>
              </a:rPr>
              <a:t>CLI Binary</a:t>
            </a:r>
            <a:endParaRPr lang="en-US" sz="850" dirty="0"/>
          </a:p>
        </p:txBody>
      </p:sp>
      <p:sp>
        <p:nvSpPr>
          <p:cNvPr id="16" name="Shape 13"/>
          <p:cNvSpPr/>
          <p:nvPr/>
        </p:nvSpPr>
        <p:spPr>
          <a:xfrm>
            <a:off x="2011680" y="2560320"/>
            <a:ext cx="1828800" cy="274320"/>
          </a:xfrm>
          <a:prstGeom prst="line">
            <a:avLst/>
          </a:prstGeom>
          <a:solidFill>
            <a:srgbClr val="161B22"/>
          </a:solidFill>
          <a:ln w="12700">
            <a:prstDash val="solid"/>
          </a:ln>
        </p:spPr>
        <p:txBody>
          <a:bodyPr/>
          <a:lstStyle/>
          <a:p>
            <a:endParaRPr/>
          </a:p>
        </p:txBody>
      </p:sp>
      <p:sp>
        <p:nvSpPr>
          <p:cNvPr id="17" name="Text 14"/>
          <p:cNvSpPr/>
          <p:nvPr/>
        </p:nvSpPr>
        <p:spPr>
          <a:xfrm>
            <a:off x="2011680" y="2560320"/>
            <a:ext cx="1828800" cy="274320"/>
          </a:xfrm>
          <a:prstGeom prst="rect">
            <a:avLst/>
          </a:prstGeom>
          <a:noFill/>
          <a:ln>
            <a:noFill/>
          </a:ln>
        </p:spPr>
        <p:txBody>
          <a:bodyPr wrap="square" lIns="0" tIns="0" rIns="0" bIns="0" rtlCol="0" anchor="ctr"/>
          <a:lstStyle/>
          <a:p>
            <a:pPr marL="0" indent="0" algn="ctr">
              <a:buNone/>
            </a:pPr>
            <a:r>
              <a:rPr lang="en-US" sz="800" dirty="0">
                <a:solidFill>
                  <a:srgbClr val="58A6FF"/>
                </a:solidFill>
                <a:latin typeface="Calibri" pitchFamily="34" charset="0"/>
                <a:ea typeface="Calibri" pitchFamily="34" charset="-122"/>
                <a:cs typeface="Calibri" pitchFamily="34" charset="-120"/>
              </a:rPr>
              <a:t>Model Provider</a:t>
            </a:r>
            <a:endParaRPr lang="en-US" sz="800" dirty="0"/>
          </a:p>
        </p:txBody>
      </p:sp>
      <p:sp>
        <p:nvSpPr>
          <p:cNvPr id="18" name="Shape 15"/>
          <p:cNvSpPr/>
          <p:nvPr/>
        </p:nvSpPr>
        <p:spPr>
          <a:xfrm>
            <a:off x="4663440" y="1188720"/>
            <a:ext cx="3931920" cy="1920240"/>
          </a:xfrm>
          <a:prstGeom prst="line">
            <a:avLst/>
          </a:prstGeom>
          <a:solidFill>
            <a:srgbClr val="161B22"/>
          </a:solidFill>
          <a:ln w="12700">
            <a:prstDash val="solid"/>
          </a:ln>
        </p:spPr>
        <p:txBody>
          <a:bodyPr/>
          <a:lstStyle/>
          <a:p>
            <a:endParaRPr/>
          </a:p>
        </p:txBody>
      </p:sp>
      <p:sp>
        <p:nvSpPr>
          <p:cNvPr id="19" name="Shape 16"/>
          <p:cNvSpPr/>
          <p:nvPr/>
        </p:nvSpPr>
        <p:spPr>
          <a:xfrm>
            <a:off x="4663440" y="1188720"/>
            <a:ext cx="1371600" cy="256032"/>
          </a:xfrm>
          <a:prstGeom prst="line">
            <a:avLst/>
          </a:prstGeom>
          <a:solidFill>
            <a:srgbClr val="1F6FEB"/>
          </a:solidFill>
          <a:ln w="6350">
            <a:solidFill>
              <a:srgbClr val="30363D"/>
            </a:solidFill>
          </a:ln>
        </p:spPr>
        <p:txBody>
          <a:bodyPr/>
          <a:lstStyle/>
          <a:p>
            <a:endParaRPr/>
          </a:p>
        </p:txBody>
      </p:sp>
      <p:sp>
        <p:nvSpPr>
          <p:cNvPr id="20" name="Text 17"/>
          <p:cNvSpPr/>
          <p:nvPr/>
        </p:nvSpPr>
        <p:spPr>
          <a:xfrm>
            <a:off x="4663440" y="118872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 — connection</a:t>
            </a:r>
            <a:endParaRPr lang="en-US" sz="900" dirty="0"/>
          </a:p>
        </p:txBody>
      </p:sp>
      <p:sp>
        <p:nvSpPr>
          <p:cNvPr id="21" name="Text 18"/>
          <p:cNvSpPr/>
          <p:nvPr/>
        </p:nvSpPr>
        <p:spPr>
          <a:xfrm>
            <a:off x="4800600" y="1508760"/>
            <a:ext cx="3657600" cy="1508760"/>
          </a:xfrm>
          <a:prstGeom prst="rect">
            <a:avLst/>
          </a:prstGeom>
          <a:noFill/>
          <a:ln>
            <a:noFill/>
          </a:ln>
        </p:spPr>
        <p:txBody>
          <a:bodyPr wrap="none" lIns="25400" tIns="25400" rIns="25400" bIns="25400" rtlCol="0" anchor="t"/>
          <a:lstStyle/>
          <a:p>
            <a:pPr algn="l">
              <a:lnSpc>
                <a:spcPts val="1210"/>
              </a:lnSpc>
              <a:spcBef>
                <a:spcPts val="0"/>
              </a:spcBef>
              <a:spcAft>
                <a:spcPts val="0"/>
              </a:spcAft>
            </a:pPr>
            <a:r>
              <a:rPr sz="1100">
                <a:solidFill>
                  <a:srgbClr val="E6EDF3"/>
                </a:solidFill>
                <a:latin typeface="Courier New"/>
              </a:rPr>
              <a:t xml:space="preserve">from copilot import (</a:t>
            </a:r>
          </a:p>
          <a:p>
            <a:pPr algn="l">
              <a:lnSpc>
                <a:spcPts val="1210"/>
              </a:lnSpc>
              <a:spcBef>
                <a:spcPts val="0"/>
              </a:spcBef>
              <a:spcAft>
                <a:spcPts val="0"/>
              </a:spcAft>
            </a:pPr>
            <a:r>
              <a:rPr sz="1100">
                <a:solidFill>
                  <a:srgbClr val="E6EDF3"/>
                </a:solidFill>
                <a:latin typeface="Courier New"/>
              </a:rPr>
              <a:t xml:space="preserve">    CopilotClient, RuntimeConnection,</a:t>
            </a:r>
          </a:p>
          <a:p>
            <a:pPr algn="l">
              <a:lnSpc>
                <a:spcPts val="1210"/>
              </a:lnSpc>
              <a:spcBef>
                <a:spcPts val="0"/>
              </a:spcBef>
              <a:spcAft>
                <a:spcPts val="0"/>
              </a:spcAft>
            </a:pPr>
            <a:r>
              <a:rPr sz="1100">
                <a:solidFill>
                  <a:srgbClr val="E6EDF3"/>
                </a:solidFill>
                <a:latin typeface="Courier New"/>
              </a:rPr>
              <a:t xml:space="preserve">)</a:t>
            </a:r>
          </a:p>
          <a:p>
            <a:pPr algn="l">
              <a:lnSpc>
                <a:spcPts val="1210"/>
              </a:lnSpc>
              <a:spcBef>
                <a:spcPts val="0"/>
              </a:spcBef>
              <a:spcAft>
                <a:spcPts val="0"/>
              </a:spcAft>
            </a:pPr>
            <a:r>
              <a:rPr sz="1100">
                <a:solidFill>
                  <a:srgbClr val="E6EDF3"/>
                </a:solidFill>
                <a:latin typeface="Courier New"/>
              </a:rPr>
              <a:t xml:space="preserve">link = RuntimeConnection.for_stdio(</a:t>
            </a:r>
          </a:p>
          <a:p>
            <a:pPr algn="l">
              <a:lnSpc>
                <a:spcPts val="1210"/>
              </a:lnSpc>
              <a:spcBef>
                <a:spcPts val="0"/>
              </a:spcBef>
              <a:spcAft>
                <a:spcPts val="0"/>
              </a:spcAft>
            </a:pPr>
            <a:r>
              <a:rPr sz="1100">
                <a:solidFill>
                  <a:srgbClr val="E6EDF3"/>
                </a:solidFill>
                <a:latin typeface="Courier New"/>
              </a:rPr>
              <a:t xml:space="preserve">    path="vendor/copilot",</a:t>
            </a:r>
          </a:p>
          <a:p>
            <a:pPr algn="l">
              <a:lnSpc>
                <a:spcPts val="1210"/>
              </a:lnSpc>
              <a:spcBef>
                <a:spcPts val="0"/>
              </a:spcBef>
              <a:spcAft>
                <a:spcPts val="0"/>
              </a:spcAft>
            </a:pPr>
            <a:r>
              <a:rPr sz="1100">
                <a:solidFill>
                  <a:srgbClr val="E6EDF3"/>
                </a:solidFill>
                <a:latin typeface="Courier New"/>
              </a:rPr>
              <a:t xml:space="preserve">)</a:t>
            </a:r>
          </a:p>
          <a:p>
            <a:pPr algn="l">
              <a:lnSpc>
                <a:spcPts val="1210"/>
              </a:lnSpc>
              <a:spcBef>
                <a:spcPts val="0"/>
              </a:spcBef>
              <a:spcAft>
                <a:spcPts val="0"/>
              </a:spcAft>
            </a:pPr>
            <a:r>
              <a:rPr sz="1100">
                <a:solidFill>
                  <a:srgbClr val="E6EDF3"/>
                </a:solidFill>
                <a:latin typeface="Courier New"/>
              </a:rPr>
              <a:t xml:space="preserve">client = CopilotClient(connection=link)</a:t>
            </a:r>
          </a:p>
          <a:p>
            <a:pPr algn="l">
              <a:lnSpc>
                <a:spcPts val="1210"/>
              </a:lnSpc>
              <a:spcBef>
                <a:spcPts val="0"/>
              </a:spcBef>
              <a:spcAft>
                <a:spcPts val="0"/>
              </a:spcAft>
            </a:pPr>
            <a:r>
              <a:rPr sz="1100">
                <a:solidFill>
                  <a:srgbClr val="E6EDF3"/>
                </a:solidFill>
                <a:latin typeface="Courier New"/>
              </a:rPr>
              <a:t xml:space="preserve">async with client:</a:t>
            </a:r>
          </a:p>
          <a:p>
            <a:pPr algn="l">
              <a:lnSpc>
                <a:spcPts val="1210"/>
              </a:lnSpc>
              <a:spcBef>
                <a:spcPts val="0"/>
              </a:spcBef>
              <a:spcAft>
                <a:spcPts val="0"/>
              </a:spcAft>
            </a:pPr>
            <a:r>
              <a:rPr sz="1100">
                <a:solidFill>
                  <a:srgbClr val="E6EDF3"/>
                </a:solidFill>
                <a:latin typeface="Courier New"/>
              </a:rPr>
              <a:t xml:space="preserve">    print(await client.get_status())</a:t>
            </a:r>
          </a:p>
        </p:txBody>
      </p:sp>
      <p:sp>
        <p:nvSpPr>
          <p:cNvPr id="22" name="Text 19"/>
          <p:cNvSpPr/>
          <p:nvPr/>
        </p:nvSpPr>
        <p:spPr>
          <a:xfrm>
            <a:off x="548640" y="3291840"/>
            <a:ext cx="27432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Deployment Options</a:t>
            </a:r>
            <a:endParaRPr lang="en-US" sz="1400" dirty="0"/>
          </a:p>
        </p:txBody>
      </p:sp>
      <p:sp>
        <p:nvSpPr>
          <p:cNvPr id="23" name="Shape 20"/>
          <p:cNvSpPr/>
          <p:nvPr/>
        </p:nvSpPr>
        <p:spPr>
          <a:xfrm>
            <a:off x="548640" y="3611880"/>
            <a:ext cx="2560320" cy="685800"/>
          </a:xfrm>
          <a:prstGeom prst="line">
            <a:avLst/>
          </a:prstGeom>
          <a:solidFill>
            <a:srgbClr val="161B22"/>
          </a:solidFill>
          <a:ln w="12700">
            <a:prstDash val="solid"/>
          </a:ln>
        </p:spPr>
        <p:txBody>
          <a:bodyPr/>
          <a:lstStyle/>
          <a:p>
            <a:endParaRPr/>
          </a:p>
        </p:txBody>
      </p:sp>
      <p:sp>
        <p:nvSpPr>
          <p:cNvPr id="25" name="Text 22"/>
          <p:cNvSpPr/>
          <p:nvPr/>
        </p:nvSpPr>
        <p:spPr>
          <a:xfrm>
            <a:off x="731520" y="3639312"/>
            <a:ext cx="2194560" cy="274320"/>
          </a:xfrm>
          <a:prstGeom prst="rect">
            <a:avLst/>
          </a:prstGeom>
          <a:noFill/>
          <a:ln>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Desktop App (Electron/Tauri)</a:t>
            </a:r>
            <a:endParaRPr lang="en-US" sz="1100" dirty="0"/>
          </a:p>
        </p:txBody>
      </p:sp>
      <p:sp>
        <p:nvSpPr>
          <p:cNvPr id="26" name="Text 23"/>
          <p:cNvSpPr/>
          <p:nvPr/>
        </p:nvSpPr>
        <p:spPr>
          <a:xfrm>
            <a:off x="731520" y="3931920"/>
            <a:ext cx="2194560" cy="228600"/>
          </a:xfrm>
          <a:prstGeom prst="rect">
            <a:avLst/>
          </a:prstGeom>
          <a:noFill/>
          <a:ln>
            <a:noFill/>
          </a:ln>
        </p:spPr>
        <p:txBody>
          <a:bodyPr wrap="square" lIns="0" tIns="0" rIns="0" bIns="0" rtlCol="0" anchor="ctr"/>
          <a:lstStyle/>
          <a:p>
            <a:pPr marL="0" indent="0">
              <a:buNone/>
            </a:pPr>
            <a:r>
              <a:rPr lang="en-US" sz="950" dirty="0">
                <a:solidFill>
                  <a:srgbClr val="8B949E"/>
                </a:solidFill>
                <a:latin typeface="Calibri" pitchFamily="34" charset="0"/>
                <a:ea typeface="Calibri" pitchFamily="34" charset="-122"/>
                <a:cs typeface="Calibri" pitchFamily="34" charset="-120"/>
              </a:rPr>
              <a:t>CLI binary in app resources</a:t>
            </a:r>
            <a:endParaRPr lang="en-US" sz="950" dirty="0"/>
          </a:p>
        </p:txBody>
      </p:sp>
      <p:sp>
        <p:nvSpPr>
          <p:cNvPr id="27" name="Shape 24"/>
          <p:cNvSpPr/>
          <p:nvPr/>
        </p:nvSpPr>
        <p:spPr>
          <a:xfrm>
            <a:off x="3355848" y="3611880"/>
            <a:ext cx="2560320" cy="685800"/>
          </a:xfrm>
          <a:prstGeom prst="line">
            <a:avLst/>
          </a:prstGeom>
          <a:solidFill>
            <a:srgbClr val="161B22"/>
          </a:solidFill>
          <a:ln w="12700">
            <a:prstDash val="solid"/>
          </a:ln>
        </p:spPr>
        <p:txBody>
          <a:bodyPr/>
          <a:lstStyle/>
          <a:p>
            <a:endParaRPr/>
          </a:p>
        </p:txBody>
      </p:sp>
      <p:sp>
        <p:nvSpPr>
          <p:cNvPr id="29" name="Text 26"/>
          <p:cNvSpPr/>
          <p:nvPr/>
        </p:nvSpPr>
        <p:spPr>
          <a:xfrm>
            <a:off x="3538728" y="3639312"/>
            <a:ext cx="2194560" cy="274320"/>
          </a:xfrm>
          <a:prstGeom prst="rect">
            <a:avLst/>
          </a:prstGeom>
          <a:noFill/>
          <a:ln>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Docker Container</a:t>
            </a:r>
            <a:endParaRPr lang="en-US" sz="1100" dirty="0"/>
          </a:p>
        </p:txBody>
      </p:sp>
      <p:sp>
        <p:nvSpPr>
          <p:cNvPr id="30" name="Text 27"/>
          <p:cNvSpPr/>
          <p:nvPr/>
        </p:nvSpPr>
        <p:spPr>
          <a:xfrm>
            <a:off x="3538728" y="3931920"/>
            <a:ext cx="2194560" cy="228600"/>
          </a:xfrm>
          <a:prstGeom prst="rect">
            <a:avLst/>
          </a:prstGeom>
          <a:noFill/>
          <a:ln>
            <a:noFill/>
          </a:ln>
        </p:spPr>
        <p:txBody>
          <a:bodyPr wrap="square" lIns="0" tIns="0" rIns="0" bIns="0" rtlCol="0" anchor="ctr"/>
          <a:lstStyle/>
          <a:p>
            <a:pPr marL="0" indent="0">
              <a:buNone/>
            </a:pPr>
            <a:r>
              <a:rPr lang="en-US" sz="950" dirty="0">
                <a:solidFill>
                  <a:srgbClr val="8B949E"/>
                </a:solidFill>
                <a:latin typeface="Calibri" pitchFamily="34" charset="0"/>
                <a:ea typeface="Calibri" pitchFamily="34" charset="-122"/>
                <a:cs typeface="Calibri" pitchFamily="34" charset="-120"/>
              </a:rPr>
              <a:t>CLI + app in same image</a:t>
            </a:r>
            <a:endParaRPr lang="en-US" sz="950" dirty="0"/>
          </a:p>
        </p:txBody>
      </p:sp>
      <p:sp>
        <p:nvSpPr>
          <p:cNvPr id="31" name="Shape 28"/>
          <p:cNvSpPr/>
          <p:nvPr/>
        </p:nvSpPr>
        <p:spPr>
          <a:xfrm>
            <a:off x="6163056" y="3611880"/>
            <a:ext cx="2560320" cy="685800"/>
          </a:xfrm>
          <a:prstGeom prst="line">
            <a:avLst/>
          </a:prstGeom>
          <a:solidFill>
            <a:srgbClr val="161B22"/>
          </a:solidFill>
          <a:ln w="12700">
            <a:prstDash val="solid"/>
          </a:ln>
        </p:spPr>
        <p:txBody>
          <a:bodyPr/>
          <a:lstStyle/>
          <a:p>
            <a:endParaRPr/>
          </a:p>
        </p:txBody>
      </p:sp>
      <p:sp>
        <p:nvSpPr>
          <p:cNvPr id="33" name="Text 30"/>
          <p:cNvSpPr/>
          <p:nvPr/>
        </p:nvSpPr>
        <p:spPr>
          <a:xfrm>
            <a:off x="6345936" y="3639312"/>
            <a:ext cx="2194560" cy="274320"/>
          </a:xfrm>
          <a:prstGeom prst="rect">
            <a:avLst/>
          </a:prstGeom>
          <a:noFill/>
          <a:ln>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CLI Tool Distribution</a:t>
            </a:r>
            <a:endParaRPr lang="en-US" sz="1100" dirty="0"/>
          </a:p>
        </p:txBody>
      </p:sp>
      <p:sp>
        <p:nvSpPr>
          <p:cNvPr id="34" name="Text 31"/>
          <p:cNvSpPr/>
          <p:nvPr/>
        </p:nvSpPr>
        <p:spPr>
          <a:xfrm>
            <a:off x="6345936" y="3931920"/>
            <a:ext cx="2194560" cy="228600"/>
          </a:xfrm>
          <a:prstGeom prst="rect">
            <a:avLst/>
          </a:prstGeom>
          <a:noFill/>
          <a:ln>
            <a:noFill/>
          </a:ln>
        </p:spPr>
        <p:txBody>
          <a:bodyPr wrap="square" lIns="0" tIns="0" rIns="0" bIns="0" rtlCol="0" anchor="ctr"/>
          <a:lstStyle/>
          <a:p>
            <a:pPr marL="0" indent="0">
              <a:buNone/>
            </a:pPr>
            <a:r>
              <a:rPr lang="en-US" sz="950" dirty="0">
                <a:solidFill>
                  <a:srgbClr val="8B949E"/>
                </a:solidFill>
                <a:latin typeface="Calibri" pitchFamily="34" charset="0"/>
                <a:ea typeface="Calibri" pitchFamily="34" charset="-122"/>
                <a:cs typeface="Calibri" pitchFamily="34" charset="-120"/>
              </a:rPr>
              <a:t>Ship CLI alongside your binary</a:t>
            </a:r>
            <a:endParaRPr lang="en-US" sz="950" dirty="0"/>
          </a:p>
        </p:txBody>
      </p:sp>
      <p:sp>
        <p:nvSpPr>
          <p:cNvPr id="35" name="Shape 32"/>
          <p:cNvSpPr/>
          <p:nvPr/>
        </p:nvSpPr>
        <p:spPr>
          <a:xfrm>
            <a:off x="548640" y="4434840"/>
            <a:ext cx="8046720" cy="320040"/>
          </a:xfrm>
          <a:prstGeom prst="line">
            <a:avLst/>
          </a:prstGeom>
          <a:solidFill>
            <a:srgbClr val="161B22"/>
          </a:solidFill>
          <a:ln w="12700">
            <a:prstDash val="solid"/>
          </a:ln>
        </p:spPr>
        <p:txBody>
          <a:bodyPr/>
          <a:lstStyle/>
          <a:p>
            <a:endParaRPr/>
          </a:p>
        </p:txBody>
      </p:sp>
      <p:sp>
        <p:nvSpPr>
          <p:cNvPr id="36" name="Text 33"/>
          <p:cNvSpPr/>
          <p:nvPr/>
        </p:nvSpPr>
        <p:spPr>
          <a:xfrm>
            <a:off x="548640" y="4434840"/>
            <a:ext cx="8046720" cy="320040"/>
          </a:xfrm>
          <a:prstGeom prst="rect">
            <a:avLst/>
          </a:prstGeom>
          <a:noFill/>
          <a:ln>
            <a:noFill/>
          </a:ln>
        </p:spPr>
        <p:txBody>
          <a:bodyPr wrap="square" lIns="0" tIns="0" rIns="0" bIns="0" rtlCol="0" anchor="ctr"/>
          <a:lstStyle/>
          <a:p>
            <a:pPr marL="0" indent="0">
              <a:buNone/>
            </a:pPr>
            <a:r>
              <a:rPr lang="en-US" sz="1000" b="1" dirty="0">
                <a:solidFill>
                  <a:srgbClr val="F0883E"/>
                </a:solidFill>
                <a:latin typeface="Calibri" pitchFamily="34" charset="0"/>
                <a:ea typeface="Calibri" pitchFamily="34" charset="-122"/>
                <a:cs typeface="Calibri" pitchFamily="34" charset="-120"/>
              </a:rPr>
              <a:t xml:space="preserve">  Multi-platform: </a:t>
            </a:r>
            <a:r>
              <a:rPr lang="en-US" sz="1000" dirty="0">
                <a:solidFill>
                  <a:srgbClr val="C9D1D9"/>
                </a:solidFill>
                <a:latin typeface="Consolas" pitchFamily="34" charset="0"/>
                <a:ea typeface="Consolas" pitchFamily="34" charset="-122"/>
                <a:cs typeface="Consolas" pitchFamily="34" charset="-120"/>
              </a:rPr>
              <a:t>Include platform-specific binaries: copilot-darwin-arm64, copilot-linux-x64, copilot-win-x64.exe</a:t>
            </a:r>
            <a:endParaRPr lang="en-US" sz="1000" dirty="0"/>
          </a:p>
        </p:txBody>
      </p:sp>
      <p:sp>
        <p:nvSpPr>
          <p:cNvPr id="39" name="Text 35"/>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18 / 28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Deployment Patterns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548640" y="100584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7" name="Shape 4"/>
          <p:cNvSpPr/>
          <p:nvPr/>
        </p:nvSpPr>
        <p:spPr>
          <a:xfrm>
            <a:off x="3383280" y="1143000"/>
            <a:ext cx="914400" cy="228600"/>
          </a:xfrm>
          <a:prstGeom prst="line">
            <a:avLst/>
          </a:prstGeom>
          <a:solidFill>
            <a:srgbClr val="3FB950">
              <a:alpha val="20000"/>
            </a:srgbClr>
          </a:solidFill>
          <a:ln>
            <a:noFill/>
          </a:ln>
        </p:spPr>
        <p:txBody>
          <a:bodyPr/>
          <a:lstStyle/>
          <a:p>
            <a:endParaRPr/>
          </a:p>
        </p:txBody>
      </p:sp>
      <p:sp>
        <p:nvSpPr>
          <p:cNvPr id="8" name="Text 5"/>
          <p:cNvSpPr/>
          <p:nvPr/>
        </p:nvSpPr>
        <p:spPr>
          <a:xfrm>
            <a:off x="3383280" y="1143000"/>
            <a:ext cx="914400" cy="228600"/>
          </a:xfrm>
          <a:prstGeom prst="rect">
            <a:avLst/>
          </a:prstGeom>
          <a:noFill/>
          <a:ln>
            <a:noFill/>
          </a:ln>
        </p:spPr>
        <p:txBody>
          <a:bodyPr wrap="square" lIns="0" tIns="0" rIns="0" bIns="0" rtlCol="0" anchor="ctr"/>
          <a:lstStyle/>
          <a:p>
            <a:pPr marL="0" indent="0" algn="ctr">
              <a:buNone/>
            </a:pPr>
            <a:r>
              <a:rPr lang="en-US" sz="800" b="1" dirty="0">
                <a:solidFill>
                  <a:srgbClr val="3FB950"/>
                </a:solidFill>
                <a:latin typeface="Calibri" pitchFamily="34" charset="0"/>
                <a:ea typeface="Calibri" pitchFamily="34" charset="-122"/>
                <a:cs typeface="Calibri" pitchFamily="34" charset="-120"/>
              </a:rPr>
              <a:t>Hobbyist</a:t>
            </a:r>
            <a:endParaRPr lang="en-US" sz="800" dirty="0"/>
          </a:p>
        </p:txBody>
      </p:sp>
      <p:sp>
        <p:nvSpPr>
          <p:cNvPr id="9" name="Text 6"/>
          <p:cNvSpPr/>
          <p:nvPr/>
        </p:nvSpPr>
        <p:spPr>
          <a:xfrm>
            <a:off x="731520" y="114300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Local CLI</a:t>
            </a:r>
            <a:endParaRPr lang="en-US" sz="1600" dirty="0"/>
          </a:p>
        </p:txBody>
      </p:sp>
      <p:sp>
        <p:nvSpPr>
          <p:cNvPr id="10" name="Text 7"/>
          <p:cNvSpPr/>
          <p:nvPr/>
        </p:nvSpPr>
        <p:spPr>
          <a:xfrm>
            <a:off x="731520" y="160020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SDK spawns CLI as child process. Simplest path for personal projects and development.</a:t>
            </a:r>
            <a:endParaRPr lang="en-US" sz="1100" dirty="0"/>
          </a:p>
        </p:txBody>
      </p:sp>
      <p:sp>
        <p:nvSpPr>
          <p:cNvPr id="11" name="Shape 8"/>
          <p:cNvSpPr/>
          <p:nvPr/>
        </p:nvSpPr>
        <p:spPr>
          <a:xfrm>
            <a:off x="4754880" y="100584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3" name="Shape 10"/>
          <p:cNvSpPr/>
          <p:nvPr/>
        </p:nvSpPr>
        <p:spPr>
          <a:xfrm>
            <a:off x="7589520" y="1143000"/>
            <a:ext cx="914400" cy="228600"/>
          </a:xfrm>
          <a:prstGeom prst="line">
            <a:avLst/>
          </a:prstGeom>
          <a:solidFill>
            <a:srgbClr val="58A6FF">
              <a:alpha val="20000"/>
            </a:srgbClr>
          </a:solidFill>
          <a:ln>
            <a:noFill/>
          </a:ln>
        </p:spPr>
        <p:txBody>
          <a:bodyPr/>
          <a:lstStyle/>
          <a:p>
            <a:endParaRPr/>
          </a:p>
        </p:txBody>
      </p:sp>
      <p:sp>
        <p:nvSpPr>
          <p:cNvPr id="14" name="Text 11"/>
          <p:cNvSpPr/>
          <p:nvPr/>
        </p:nvSpPr>
        <p:spPr>
          <a:xfrm>
            <a:off x="7589520" y="1143000"/>
            <a:ext cx="914400" cy="228600"/>
          </a:xfrm>
          <a:prstGeom prst="rect">
            <a:avLst/>
          </a:prstGeom>
          <a:noFill/>
          <a:ln>
            <a:noFill/>
          </a:ln>
        </p:spPr>
        <p:txBody>
          <a:bodyPr wrap="square" lIns="0" tIns="0" rIns="0" bIns="0" rtlCol="0" anchor="ctr"/>
          <a:lstStyle/>
          <a:p>
            <a:pPr marL="0" indent="0" algn="ctr">
              <a:buNone/>
            </a:pPr>
            <a:r>
              <a:rPr lang="en-US" sz="800" b="1" dirty="0">
                <a:solidFill>
                  <a:srgbClr val="58A6FF"/>
                </a:solidFill>
                <a:latin typeface="Calibri" pitchFamily="34" charset="0"/>
                <a:ea typeface="Calibri" pitchFamily="34" charset="-122"/>
                <a:cs typeface="Calibri" pitchFamily="34" charset="-120"/>
              </a:rPr>
              <a:t>Desktop App</a:t>
            </a:r>
            <a:endParaRPr lang="en-US" sz="800" dirty="0"/>
          </a:p>
        </p:txBody>
      </p:sp>
      <p:sp>
        <p:nvSpPr>
          <p:cNvPr id="15" name="Text 12"/>
          <p:cNvSpPr/>
          <p:nvPr/>
        </p:nvSpPr>
        <p:spPr>
          <a:xfrm>
            <a:off x="4937760" y="114300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Bundled CLI</a:t>
            </a:r>
            <a:endParaRPr lang="en-US" sz="1600" dirty="0"/>
          </a:p>
        </p:txBody>
      </p:sp>
      <p:sp>
        <p:nvSpPr>
          <p:cNvPr id="16" name="Text 13"/>
          <p:cNvSpPr/>
          <p:nvPr/>
        </p:nvSpPr>
        <p:spPr>
          <a:xfrm>
            <a:off x="4937760" y="160020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Ship the platform CLI with your app. Plan authentication, updates and storage.</a:t>
            </a:r>
            <a:endParaRPr lang="en-US" sz="1100" dirty="0"/>
          </a:p>
        </p:txBody>
      </p:sp>
      <p:sp>
        <p:nvSpPr>
          <p:cNvPr id="17" name="Shape 14"/>
          <p:cNvSpPr/>
          <p:nvPr/>
        </p:nvSpPr>
        <p:spPr>
          <a:xfrm>
            <a:off x="548640" y="292608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19" name="Shape 16"/>
          <p:cNvSpPr/>
          <p:nvPr/>
        </p:nvSpPr>
        <p:spPr>
          <a:xfrm>
            <a:off x="3383280" y="3063240"/>
            <a:ext cx="914400" cy="228600"/>
          </a:xfrm>
          <a:prstGeom prst="line">
            <a:avLst/>
          </a:prstGeom>
          <a:solidFill>
            <a:srgbClr val="BC8CFF">
              <a:alpha val="20000"/>
            </a:srgbClr>
          </a:solidFill>
          <a:ln>
            <a:noFill/>
          </a:ln>
        </p:spPr>
        <p:txBody>
          <a:bodyPr/>
          <a:lstStyle/>
          <a:p>
            <a:endParaRPr/>
          </a:p>
        </p:txBody>
      </p:sp>
      <p:sp>
        <p:nvSpPr>
          <p:cNvPr id="20" name="Text 17"/>
          <p:cNvSpPr/>
          <p:nvPr/>
        </p:nvSpPr>
        <p:spPr>
          <a:xfrm>
            <a:off x="3383280" y="3063240"/>
            <a:ext cx="914400" cy="228600"/>
          </a:xfrm>
          <a:prstGeom prst="rect">
            <a:avLst/>
          </a:prstGeom>
          <a:noFill/>
          <a:ln>
            <a:noFill/>
          </a:ln>
        </p:spPr>
        <p:txBody>
          <a:bodyPr wrap="square" lIns="0" tIns="0" rIns="0" bIns="0" rtlCol="0" anchor="ctr"/>
          <a:lstStyle/>
          <a:p>
            <a:pPr marL="0" indent="0" algn="ctr">
              <a:buNone/>
            </a:pPr>
            <a:r>
              <a:rPr lang="en-US" sz="800" b="1" dirty="0">
                <a:solidFill>
                  <a:srgbClr val="BC8CFF"/>
                </a:solidFill>
                <a:latin typeface="Calibri" pitchFamily="34" charset="0"/>
                <a:ea typeface="Calibri" pitchFamily="34" charset="-122"/>
                <a:cs typeface="Calibri" pitchFamily="34" charset="-120"/>
              </a:rPr>
              <a:t>Enterprise</a:t>
            </a:r>
            <a:endParaRPr lang="en-US" sz="800" dirty="0"/>
          </a:p>
        </p:txBody>
      </p:sp>
      <p:sp>
        <p:nvSpPr>
          <p:cNvPr id="21" name="Text 18"/>
          <p:cNvSpPr/>
          <p:nvPr/>
        </p:nvSpPr>
        <p:spPr>
          <a:xfrm>
            <a:off x="731520" y="306324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Backend Services</a:t>
            </a:r>
            <a:endParaRPr lang="en-US" sz="1600" dirty="0"/>
          </a:p>
        </p:txBody>
      </p:sp>
      <p:sp>
        <p:nvSpPr>
          <p:cNvPr id="22" name="Text 19"/>
          <p:cNvSpPr/>
          <p:nvPr/>
        </p:nvSpPr>
        <p:spPr>
          <a:xfrm>
            <a:off x="731520" y="352044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CLI as headless server over TCP. Web backends, APIs, and microservices.</a:t>
            </a:r>
            <a:endParaRPr lang="en-US" sz="1100" dirty="0"/>
          </a:p>
        </p:txBody>
      </p:sp>
      <p:sp>
        <p:nvSpPr>
          <p:cNvPr id="23" name="Shape 20"/>
          <p:cNvSpPr/>
          <p:nvPr/>
        </p:nvSpPr>
        <p:spPr>
          <a:xfrm>
            <a:off x="4754880" y="2926080"/>
            <a:ext cx="3931920" cy="1691640"/>
          </a:xfrm>
          <a:prstGeom prst="line">
            <a:avLst/>
          </a:prstGeom>
          <a:solidFill>
            <a:srgbClr val="161B22"/>
          </a:solidFill>
          <a:ln w="12700">
            <a:prstDash val="solid"/>
          </a:ln>
          <a:effectLst>
            <a:outerShdw blurRad="101600" dist="38100" dir="8100000" algn="bl" rotWithShape="0">
              <a:srgbClr val="000000">
                <a:alpha val="30000"/>
              </a:srgbClr>
            </a:outerShdw>
          </a:effectLst>
        </p:spPr>
        <p:txBody>
          <a:bodyPr/>
          <a:lstStyle/>
          <a:p>
            <a:endParaRPr/>
          </a:p>
        </p:txBody>
      </p:sp>
      <p:sp>
        <p:nvSpPr>
          <p:cNvPr id="25" name="Shape 22"/>
          <p:cNvSpPr/>
          <p:nvPr/>
        </p:nvSpPr>
        <p:spPr>
          <a:xfrm>
            <a:off x="7589520" y="3063240"/>
            <a:ext cx="914400" cy="228600"/>
          </a:xfrm>
          <a:prstGeom prst="line">
            <a:avLst/>
          </a:prstGeom>
          <a:solidFill>
            <a:srgbClr val="F0883E">
              <a:alpha val="20000"/>
            </a:srgbClr>
          </a:solidFill>
          <a:ln>
            <a:noFill/>
          </a:ln>
        </p:spPr>
        <p:txBody>
          <a:bodyPr/>
          <a:lstStyle/>
          <a:p>
            <a:endParaRPr/>
          </a:p>
        </p:txBody>
      </p:sp>
      <p:sp>
        <p:nvSpPr>
          <p:cNvPr id="26" name="Text 23"/>
          <p:cNvSpPr/>
          <p:nvPr/>
        </p:nvSpPr>
        <p:spPr>
          <a:xfrm>
            <a:off x="7589520" y="3063240"/>
            <a:ext cx="914400" cy="228600"/>
          </a:xfrm>
          <a:prstGeom prst="rect">
            <a:avLst/>
          </a:prstGeom>
          <a:noFill/>
          <a:ln>
            <a:noFill/>
          </a:ln>
        </p:spPr>
        <p:txBody>
          <a:bodyPr wrap="square" lIns="0" tIns="0" rIns="0" bIns="0" rtlCol="0" anchor="ctr"/>
          <a:lstStyle/>
          <a:p>
            <a:pPr marL="0" indent="0" algn="ctr">
              <a:buNone/>
            </a:pPr>
            <a:r>
              <a:rPr lang="en-US" sz="800" b="1" dirty="0">
                <a:solidFill>
                  <a:srgbClr val="F0883E"/>
                </a:solidFill>
                <a:latin typeface="Calibri" pitchFamily="34" charset="0"/>
                <a:ea typeface="Calibri" pitchFamily="34" charset="-122"/>
                <a:cs typeface="Calibri" pitchFamily="34" charset="-120"/>
              </a:rPr>
              <a:t>Platform</a:t>
            </a:r>
            <a:endParaRPr lang="en-US" sz="800" dirty="0"/>
          </a:p>
        </p:txBody>
      </p:sp>
      <p:sp>
        <p:nvSpPr>
          <p:cNvPr id="27" name="Text 24"/>
          <p:cNvSpPr/>
          <p:nvPr/>
        </p:nvSpPr>
        <p:spPr>
          <a:xfrm>
            <a:off x="4937760" y="3063240"/>
            <a:ext cx="2560320" cy="365760"/>
          </a:xfrm>
          <a:prstGeom prst="rect">
            <a:avLst/>
          </a:prstGeom>
          <a:noFill/>
          <a:ln>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a:t>
            </a:r>
            <a:endParaRPr lang="en-US" sz="1600" dirty="0"/>
          </a:p>
        </p:txBody>
      </p:sp>
      <p:sp>
        <p:nvSpPr>
          <p:cNvPr id="28" name="Text 25"/>
          <p:cNvSpPr/>
          <p:nvPr/>
        </p:nvSpPr>
        <p:spPr>
          <a:xfrm>
            <a:off x="4937760" y="3520440"/>
            <a:ext cx="3566160" cy="9144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Your app owns tenant isolation, session authorization, routing and concurrency.</a:t>
            </a:r>
            <a:endParaRPr lang="en-US" sz="1100" dirty="0"/>
          </a:p>
        </p:txBody>
      </p:sp>
      <p:sp>
        <p:nvSpPr>
          <p:cNvPr id="31" name="Text 27"/>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19 / 28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Build One Verified Path</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Start small. Add only what you can observe, authorize, and contain.</a:t>
            </a:r>
            <a:endParaRPr lang="en-US" sz="1200" dirty="0"/>
          </a:p>
        </p:txBody>
      </p:sp>
      <p:sp>
        <p:nvSpPr>
          <p:cNvPr id="6" name="Text 3"/>
          <p:cNvSpPr/>
          <p:nvPr/>
        </p:nvSpPr>
        <p:spPr>
          <a:xfrm>
            <a:off x="548640" y="1234440"/>
            <a:ext cx="3657600" cy="274320"/>
          </a:xfrm>
          <a:prstGeom prst="rect">
            <a:avLst/>
          </a:prstGeom>
          <a:noFill/>
          <a:ln>
            <a:noFill/>
          </a:ln>
        </p:spPr>
        <p:txBody>
          <a:bodyPr wrap="square" lIns="0" tIns="0" rIns="0" bIns="0" rtlCol="0" anchor="ctr"/>
          <a:lstStyle/>
          <a:p>
            <a:pPr marL="0" indent="0">
              <a:buNone/>
            </a:pPr>
            <a:r>
              <a:rPr lang="en-US" sz="1400" b="1" dirty="0">
                <a:solidFill>
                  <a:srgbClr val="58A6FF"/>
                </a:solidFill>
                <a:latin typeface="Calibri" pitchFamily="34" charset="0"/>
                <a:ea typeface="Calibri" pitchFamily="34" charset="-122"/>
                <a:cs typeface="Calibri" pitchFamily="34" charset="-120"/>
              </a:rPr>
              <a:t>1. Build</a:t>
            </a:r>
            <a:endParaRPr lang="en-US" sz="1400" dirty="0"/>
          </a:p>
        </p:txBody>
      </p:sp>
      <p:sp>
        <p:nvSpPr>
          <p:cNvPr id="7" name="Shape 4"/>
          <p:cNvSpPr/>
          <p:nvPr/>
        </p:nvSpPr>
        <p:spPr>
          <a:xfrm>
            <a:off x="548640" y="1645920"/>
            <a:ext cx="2468880" cy="731520"/>
          </a:xfrm>
          <a:prstGeom prst="line">
            <a:avLst/>
          </a:prstGeom>
          <a:solidFill>
            <a:srgbClr val="161B22"/>
          </a:solidFill>
          <a:ln w="12700">
            <a:prstDash val="solid"/>
          </a:ln>
        </p:spPr>
        <p:txBody>
          <a:bodyPr/>
          <a:lstStyle/>
          <a:p>
            <a:endParaRPr/>
          </a:p>
        </p:txBody>
      </p:sp>
      <p:sp>
        <p:nvSpPr>
          <p:cNvPr id="8" name="Text 5"/>
          <p:cNvSpPr/>
          <p:nvPr/>
        </p:nvSpPr>
        <p:spPr>
          <a:xfrm>
            <a:off x="640080" y="1691640"/>
            <a:ext cx="228600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Bounded session</a:t>
            </a:r>
            <a:endParaRPr lang="en-US" sz="1100" dirty="0"/>
          </a:p>
        </p:txBody>
      </p:sp>
      <p:sp>
        <p:nvSpPr>
          <p:cNvPr id="9" name="Text 6"/>
          <p:cNvSpPr/>
          <p:nvPr/>
        </p:nvSpPr>
        <p:spPr>
          <a:xfrm>
            <a:off x="640080" y="2011680"/>
            <a:ext cx="2286000" cy="22860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Visible result</a:t>
            </a:r>
            <a:endParaRPr lang="en-US" sz="900" dirty="0"/>
          </a:p>
        </p:txBody>
      </p:sp>
      <p:sp>
        <p:nvSpPr>
          <p:cNvPr id="10" name="Text 7"/>
          <p:cNvSpPr/>
          <p:nvPr/>
        </p:nvSpPr>
        <p:spPr>
          <a:xfrm>
            <a:off x="3017520" y="1645920"/>
            <a:ext cx="457200" cy="731520"/>
          </a:xfrm>
          <a:prstGeom prst="rect">
            <a:avLst/>
          </a:prstGeom>
          <a:noFill/>
          <a:ln>
            <a:noFill/>
          </a:ln>
        </p:spPr>
        <p:txBody>
          <a:bodyPr wrap="square" lIns="0" tIns="0" rIns="0" bIns="0" rtlCol="0" anchor="ctr"/>
          <a:lstStyle/>
          <a:p>
            <a:pPr marL="0" indent="0" algn="ctr">
              <a:buNone/>
            </a:pPr>
            <a:r>
              <a:rPr lang="en-US" sz="1800" dirty="0">
                <a:solidFill>
                  <a:srgbClr val="58A6FF"/>
                </a:solidFill>
                <a:latin typeface="Calibri" pitchFamily="34" charset="0"/>
                <a:ea typeface="Calibri" pitchFamily="34" charset="-122"/>
                <a:cs typeface="Calibri" pitchFamily="34" charset="-120"/>
              </a:rPr>
              <a:t>→</a:t>
            </a:r>
            <a:endParaRPr lang="en-US" sz="1800" dirty="0"/>
          </a:p>
        </p:txBody>
      </p:sp>
      <p:sp>
        <p:nvSpPr>
          <p:cNvPr id="11" name="Shape 8"/>
          <p:cNvSpPr/>
          <p:nvPr/>
        </p:nvSpPr>
        <p:spPr>
          <a:xfrm>
            <a:off x="3474720" y="1645920"/>
            <a:ext cx="2468880" cy="731520"/>
          </a:xfrm>
          <a:prstGeom prst="line">
            <a:avLst/>
          </a:prstGeom>
          <a:solidFill>
            <a:srgbClr val="161B22"/>
          </a:solidFill>
          <a:ln w="12700">
            <a:prstDash val="solid"/>
          </a:ln>
        </p:spPr>
        <p:txBody>
          <a:bodyPr/>
          <a:lstStyle/>
          <a:p>
            <a:endParaRPr/>
          </a:p>
        </p:txBody>
      </p:sp>
      <p:sp>
        <p:nvSpPr>
          <p:cNvPr id="12" name="Text 9"/>
          <p:cNvSpPr/>
          <p:nvPr/>
        </p:nvSpPr>
        <p:spPr>
          <a:xfrm>
            <a:off x="3566160" y="1691640"/>
            <a:ext cx="228600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 Extend</a:t>
            </a:r>
            <a:endParaRPr lang="en-US" sz="1100" dirty="0"/>
          </a:p>
        </p:txBody>
      </p:sp>
      <p:sp>
        <p:nvSpPr>
          <p:cNvPr id="13" name="Text 10"/>
          <p:cNvSpPr/>
          <p:nvPr/>
        </p:nvSpPr>
        <p:spPr>
          <a:xfrm>
            <a:off x="3566160" y="2011680"/>
            <a:ext cx="2286000" cy="22860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One capability</a:t>
            </a:r>
            <a:endParaRPr lang="en-US" sz="900" dirty="0"/>
          </a:p>
        </p:txBody>
      </p:sp>
      <p:sp>
        <p:nvSpPr>
          <p:cNvPr id="14" name="Text 11"/>
          <p:cNvSpPr/>
          <p:nvPr/>
        </p:nvSpPr>
        <p:spPr>
          <a:xfrm>
            <a:off x="5943600" y="1645920"/>
            <a:ext cx="457200" cy="731520"/>
          </a:xfrm>
          <a:prstGeom prst="rect">
            <a:avLst/>
          </a:prstGeom>
          <a:noFill/>
          <a:ln>
            <a:noFill/>
          </a:ln>
        </p:spPr>
        <p:txBody>
          <a:bodyPr wrap="square" lIns="0" tIns="0" rIns="0" bIns="0" rtlCol="0" anchor="ctr"/>
          <a:lstStyle/>
          <a:p>
            <a:pPr marL="0" indent="0" algn="ctr">
              <a:buNone/>
            </a:pPr>
            <a:r>
              <a:rPr lang="en-US" sz="1800" dirty="0">
                <a:solidFill>
                  <a:srgbClr val="58A6FF"/>
                </a:solidFill>
                <a:latin typeface="Calibri" pitchFamily="34" charset="0"/>
                <a:ea typeface="Calibri" pitchFamily="34" charset="-122"/>
                <a:cs typeface="Calibri" pitchFamily="34" charset="-120"/>
              </a:rPr>
              <a:t>→</a:t>
            </a:r>
            <a:endParaRPr lang="en-US" sz="1800" dirty="0"/>
          </a:p>
        </p:txBody>
      </p:sp>
      <p:sp>
        <p:nvSpPr>
          <p:cNvPr id="15" name="Shape 12"/>
          <p:cNvSpPr/>
          <p:nvPr/>
        </p:nvSpPr>
        <p:spPr>
          <a:xfrm>
            <a:off x="6400800" y="1645920"/>
            <a:ext cx="2468880" cy="731520"/>
          </a:xfrm>
          <a:prstGeom prst="line">
            <a:avLst/>
          </a:prstGeom>
          <a:solidFill>
            <a:srgbClr val="161B22"/>
          </a:solidFill>
          <a:ln w="12700">
            <a:prstDash val="solid"/>
          </a:ln>
        </p:spPr>
        <p:txBody>
          <a:bodyPr/>
          <a:lstStyle/>
          <a:p>
            <a:endParaRPr/>
          </a:p>
        </p:txBody>
      </p:sp>
      <p:sp>
        <p:nvSpPr>
          <p:cNvPr id="16" name="Text 13"/>
          <p:cNvSpPr/>
          <p:nvPr/>
        </p:nvSpPr>
        <p:spPr>
          <a:xfrm>
            <a:off x="6492240" y="1691640"/>
            <a:ext cx="228600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 Control</a:t>
            </a:r>
            <a:endParaRPr lang="en-US" sz="1100" dirty="0"/>
          </a:p>
        </p:txBody>
      </p:sp>
      <p:sp>
        <p:nvSpPr>
          <p:cNvPr id="17" name="Text 14"/>
          <p:cNvSpPr/>
          <p:nvPr/>
        </p:nvSpPr>
        <p:spPr>
          <a:xfrm>
            <a:off x="6492240" y="2011680"/>
            <a:ext cx="2286000" cy="228600"/>
          </a:xfrm>
          <a:prstGeom prst="rect">
            <a:avLst/>
          </a:prstGeom>
          <a:noFill/>
          <a:ln>
            <a:noFill/>
          </a:ln>
        </p:spPr>
        <p:txBody>
          <a:bodyPr wrap="square" lIns="0" tIns="0" rIns="0" bIns="0" rtlCol="0" anchor="ctr"/>
          <a:lstStyle/>
          <a:p>
            <a:pPr marL="0" indent="0" algn="ctr">
              <a:buNone/>
            </a:pPr>
            <a:r>
              <a:rPr lang="en-US" sz="900" dirty="0">
                <a:solidFill>
                  <a:srgbClr val="8B949E"/>
                </a:solidFill>
                <a:latin typeface="Calibri" pitchFamily="34" charset="0"/>
                <a:ea typeface="Calibri" pitchFamily="34" charset="-122"/>
                <a:cs typeface="Calibri" pitchFamily="34" charset="-120"/>
              </a:rPr>
              <a:t>Permissions + sandbox</a:t>
            </a:r>
            <a:endParaRPr lang="en-US" sz="900" dirty="0"/>
          </a:p>
        </p:txBody>
      </p:sp>
      <p:sp>
        <p:nvSpPr>
          <p:cNvPr id="18" name="Text 15"/>
          <p:cNvSpPr/>
          <p:nvPr/>
        </p:nvSpPr>
        <p:spPr>
          <a:xfrm>
            <a:off x="548640" y="2606040"/>
            <a:ext cx="3657600" cy="274320"/>
          </a:xfrm>
          <a:prstGeom prst="rect">
            <a:avLst/>
          </a:prstGeom>
          <a:noFill/>
          <a:ln>
            <a:noFill/>
          </a:ln>
        </p:spPr>
        <p:txBody>
          <a:bodyPr wrap="square" lIns="0" tIns="0" rIns="0" bIns="0" rtlCol="0" anchor="ctr"/>
          <a:lstStyle/>
          <a:p>
            <a:pPr marL="0" indent="0">
              <a:buNone/>
            </a:pPr>
            <a:r>
              <a:rPr lang="en-US" sz="1400" b="1" dirty="0">
                <a:solidFill>
                  <a:srgbClr val="58A6FF"/>
                </a:solidFill>
                <a:latin typeface="Calibri" pitchFamily="34" charset="0"/>
                <a:ea typeface="Calibri" pitchFamily="34" charset="-122"/>
                <a:cs typeface="Calibri" pitchFamily="34" charset="-120"/>
              </a:rPr>
              <a:t>Then ship responsibly</a:t>
            </a:r>
            <a:endParaRPr lang="en-US" sz="1400" dirty="0"/>
          </a:p>
        </p:txBody>
      </p:sp>
      <p:sp>
        <p:nvSpPr>
          <p:cNvPr id="19" name="Shape 16"/>
          <p:cNvSpPr/>
          <p:nvPr/>
        </p:nvSpPr>
        <p:spPr>
          <a:xfrm>
            <a:off x="548640" y="3017520"/>
            <a:ext cx="2468880" cy="548640"/>
          </a:xfrm>
          <a:prstGeom prst="line">
            <a:avLst/>
          </a:prstGeom>
          <a:solidFill>
            <a:srgbClr val="161B22"/>
          </a:solidFill>
          <a:ln w="12700">
            <a:prstDash val="solid"/>
          </a:ln>
        </p:spPr>
        <p:txBody>
          <a:bodyPr/>
          <a:lstStyle/>
          <a:p>
            <a:endParaRPr/>
          </a:p>
        </p:txBody>
      </p:sp>
      <p:sp>
        <p:nvSpPr>
          <p:cNvPr id="20" name="Text 17"/>
          <p:cNvSpPr/>
          <p:nvPr/>
        </p:nvSpPr>
        <p:spPr>
          <a:xfrm>
            <a:off x="640080" y="3017520"/>
            <a:ext cx="2286000" cy="54864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Identity</a:t>
            </a:r>
            <a:endParaRPr lang="en-US" sz="1100" dirty="0"/>
          </a:p>
        </p:txBody>
      </p:sp>
      <p:sp>
        <p:nvSpPr>
          <p:cNvPr id="21" name="Shape 18"/>
          <p:cNvSpPr/>
          <p:nvPr/>
        </p:nvSpPr>
        <p:spPr>
          <a:xfrm>
            <a:off x="3474720" y="3017520"/>
            <a:ext cx="2468880" cy="548640"/>
          </a:xfrm>
          <a:prstGeom prst="line">
            <a:avLst/>
          </a:prstGeom>
          <a:solidFill>
            <a:srgbClr val="161B22"/>
          </a:solidFill>
          <a:ln w="12700">
            <a:prstDash val="solid"/>
          </a:ln>
        </p:spPr>
        <p:txBody>
          <a:bodyPr/>
          <a:lstStyle/>
          <a:p>
            <a:endParaRPr/>
          </a:p>
        </p:txBody>
      </p:sp>
      <p:sp>
        <p:nvSpPr>
          <p:cNvPr id="22" name="Text 19"/>
          <p:cNvSpPr/>
          <p:nvPr/>
        </p:nvSpPr>
        <p:spPr>
          <a:xfrm>
            <a:off x="3566160" y="3017520"/>
            <a:ext cx="2286000" cy="54864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Workspace isolation</a:t>
            </a:r>
            <a:endParaRPr lang="en-US" sz="1100" dirty="0"/>
          </a:p>
        </p:txBody>
      </p:sp>
      <p:sp>
        <p:nvSpPr>
          <p:cNvPr id="23" name="Text 20"/>
          <p:cNvSpPr/>
          <p:nvPr/>
        </p:nvSpPr>
        <p:spPr>
          <a:xfrm>
            <a:off x="5852160" y="3017520"/>
            <a:ext cx="457200" cy="548640"/>
          </a:xfrm>
          <a:prstGeom prst="rect">
            <a:avLst/>
          </a:prstGeom>
          <a:noFill/>
          <a:ln>
            <a:noFill/>
          </a:ln>
        </p:spPr>
        <p:txBody>
          <a:bodyPr wrap="square" lIns="0" tIns="0" rIns="0" bIns="0" rtlCol="0" anchor="ctr"/>
          <a:lstStyle/>
          <a:p>
            <a:pPr marL="0" indent="0" algn="ctr">
              <a:buNone/>
            </a:pPr>
            <a:r>
              <a:rPr lang="en-US" sz="1800" dirty="0">
                <a:solidFill>
                  <a:srgbClr val="58A6FF"/>
                </a:solidFill>
                <a:latin typeface="Calibri" pitchFamily="34" charset="0"/>
                <a:ea typeface="Calibri" pitchFamily="34" charset="-122"/>
                <a:cs typeface="Calibri" pitchFamily="34" charset="-120"/>
              </a:rPr>
              <a:t>→</a:t>
            </a:r>
            <a:endParaRPr lang="en-US" sz="1800" dirty="0"/>
          </a:p>
        </p:txBody>
      </p:sp>
      <p:sp>
        <p:nvSpPr>
          <p:cNvPr id="24" name="Shape 21"/>
          <p:cNvSpPr/>
          <p:nvPr/>
        </p:nvSpPr>
        <p:spPr>
          <a:xfrm>
            <a:off x="6400800" y="3017520"/>
            <a:ext cx="2286000" cy="548640"/>
          </a:xfrm>
          <a:prstGeom prst="line">
            <a:avLst/>
          </a:prstGeom>
          <a:solidFill>
            <a:srgbClr val="161B22"/>
          </a:solidFill>
          <a:ln w="12700">
            <a:prstDash val="solid"/>
          </a:ln>
        </p:spPr>
        <p:txBody>
          <a:bodyPr/>
          <a:lstStyle/>
          <a:p>
            <a:endParaRPr/>
          </a:p>
        </p:txBody>
      </p:sp>
      <p:sp>
        <p:nvSpPr>
          <p:cNvPr id="25" name="Text 22"/>
          <p:cNvSpPr/>
          <p:nvPr/>
        </p:nvSpPr>
        <p:spPr>
          <a:xfrm>
            <a:off x="6492240" y="3017520"/>
            <a:ext cx="2103120" cy="54864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Observability</a:t>
            </a:r>
            <a:endParaRPr lang="en-US" sz="1100" dirty="0"/>
          </a:p>
        </p:txBody>
      </p:sp>
      <p:pic>
        <p:nvPicPr>
          <p:cNvPr id="26" name="Image 1" descr="preencoded.png"/>
          <p:cNvPicPr>
            <a:picLocks noChangeAspect="1"/>
          </p:cNvPicPr>
          <p:nvPr/>
        </p:nvPicPr>
        <p:blipFill>
          <a:blip r:embed="rId4"/>
          <a:stretch>
            <a:fillRect/>
          </a:stretch>
        </p:blipFill>
        <p:spPr>
          <a:xfrm>
            <a:off x="548640" y="3840480"/>
            <a:ext cx="182880" cy="182880"/>
          </a:xfrm>
          <a:prstGeom prst="rect">
            <a:avLst/>
          </a:prstGeom>
        </p:spPr>
      </p:pic>
      <p:sp>
        <p:nvSpPr>
          <p:cNvPr id="27" name="Text 23"/>
          <p:cNvSpPr/>
          <p:nvPr/>
        </p:nvSpPr>
        <p:spPr>
          <a:xfrm>
            <a:off x="822960" y="384048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Eight runnable samples</a:t>
            </a:r>
            <a:endParaRPr lang="en-US" sz="1100" dirty="0"/>
          </a:p>
        </p:txBody>
      </p:sp>
      <p:pic>
        <p:nvPicPr>
          <p:cNvPr id="28" name="Image 2" descr="preencoded.png"/>
          <p:cNvPicPr>
            <a:picLocks noChangeAspect="1"/>
          </p:cNvPicPr>
          <p:nvPr/>
        </p:nvPicPr>
        <p:blipFill>
          <a:blip r:embed="rId4"/>
          <a:stretch>
            <a:fillRect/>
          </a:stretch>
        </p:blipFill>
        <p:spPr>
          <a:xfrm>
            <a:off x="548640" y="4114800"/>
            <a:ext cx="182880" cy="182880"/>
          </a:xfrm>
          <a:prstGeom prst="rect">
            <a:avLst/>
          </a:prstGeom>
        </p:spPr>
      </p:pic>
      <p:sp>
        <p:nvSpPr>
          <p:cNvPr id="29" name="Text 24"/>
          <p:cNvSpPr/>
          <p:nvPr/>
        </p:nvSpPr>
        <p:spPr>
          <a:xfrm>
            <a:off x="822960" y="411480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Stable SDK 1.0.13</a:t>
            </a:r>
            <a:endParaRPr lang="en-US" sz="1100" dirty="0"/>
          </a:p>
        </p:txBody>
      </p:sp>
      <p:pic>
        <p:nvPicPr>
          <p:cNvPr id="30" name="Image 3" descr="preencoded.png"/>
          <p:cNvPicPr>
            <a:picLocks noChangeAspect="1"/>
          </p:cNvPicPr>
          <p:nvPr/>
        </p:nvPicPr>
        <p:blipFill>
          <a:blip r:embed="rId4"/>
          <a:stretch>
            <a:fillRect/>
          </a:stretch>
        </p:blipFill>
        <p:spPr>
          <a:xfrm>
            <a:off x="548640" y="4389120"/>
            <a:ext cx="182880" cy="182880"/>
          </a:xfrm>
          <a:prstGeom prst="rect">
            <a:avLst/>
          </a:prstGeom>
        </p:spPr>
      </p:pic>
      <p:sp>
        <p:nvSpPr>
          <p:cNvPr id="31" name="Text 25"/>
          <p:cNvSpPr/>
          <p:nvPr/>
        </p:nvSpPr>
        <p:spPr>
          <a:xfrm>
            <a:off x="822960" y="438912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Runtime 1.0.83</a:t>
            </a:r>
            <a:endParaRPr lang="en-US" sz="1100" dirty="0"/>
          </a:p>
        </p:txBody>
      </p:sp>
      <p:pic>
        <p:nvPicPr>
          <p:cNvPr id="32" name="Image 4" descr="preencoded.png"/>
          <p:cNvPicPr>
            <a:picLocks noChangeAspect="1"/>
          </p:cNvPicPr>
          <p:nvPr/>
        </p:nvPicPr>
        <p:blipFill>
          <a:blip r:embed="rId4"/>
          <a:stretch>
            <a:fillRect/>
          </a:stretch>
        </p:blipFill>
        <p:spPr>
          <a:xfrm>
            <a:off x="548640" y="4663440"/>
            <a:ext cx="182880" cy="182880"/>
          </a:xfrm>
          <a:prstGeom prst="rect">
            <a:avLst/>
          </a:prstGeom>
        </p:spPr>
      </p:pic>
      <p:sp>
        <p:nvSpPr>
          <p:cNvPr id="33" name="Text 26"/>
          <p:cNvSpPr/>
          <p:nvPr/>
        </p:nvSpPr>
        <p:spPr>
          <a:xfrm>
            <a:off x="822960" y="4663440"/>
            <a:ext cx="7315200" cy="228600"/>
          </a:xfrm>
          <a:prstGeom prst="rect">
            <a:avLst/>
          </a:prstGeom>
          <a:noFill/>
          <a:ln>
            <a:noFill/>
          </a:ln>
        </p:spPr>
        <p:txBody>
          <a:bodyPr wrap="square" lIns="0" tIns="0" rIns="0" bIns="0" rtlCol="0" anchor="ctr"/>
          <a:lstStyle/>
          <a:p>
            <a:pPr marL="0" indent="0">
              <a:buNone/>
            </a:pPr>
            <a:r>
              <a:rPr lang="en-US" sz="1100" dirty="0">
                <a:solidFill>
                  <a:srgbClr val="C9D1D9"/>
                </a:solidFill>
                <a:latin typeface="Calibri" pitchFamily="34" charset="0"/>
                <a:ea typeface="Calibri" pitchFamily="34" charset="-122"/>
                <a:cs typeface="Calibri" pitchFamily="34" charset="-120"/>
              </a:rPr>
              <a:t>Verified 14 September 2026</a:t>
            </a:r>
            <a:endParaRPr lang="en-US" sz="1100" dirty="0"/>
          </a:p>
        </p:txBody>
      </p:sp>
      <p:sp>
        <p:nvSpPr>
          <p:cNvPr id="36" name="Text 2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24 / 24</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01 · Streaming Chat</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Typed deltas for output; send_and_wait for bounded completion and propagated errors</a:t>
            </a:r>
            <a:endParaRPr lang="en-US" sz="1200" dirty="0"/>
          </a:p>
        </p:txBody>
      </p:sp>
      <p:sp>
        <p:nvSpPr>
          <p:cNvPr id="6" name="Shape 3"/>
          <p:cNvSpPr/>
          <p:nvPr/>
        </p:nvSpPr>
        <p:spPr>
          <a:xfrm>
            <a:off x="548640" y="1143000"/>
            <a:ext cx="3931920" cy="329184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 — events</a:t>
            </a:r>
            <a:endParaRPr lang="en-US" sz="900" dirty="0"/>
          </a:p>
        </p:txBody>
      </p:sp>
      <p:sp>
        <p:nvSpPr>
          <p:cNvPr id="9" name="Text 6"/>
          <p:cNvSpPr/>
          <p:nvPr/>
        </p:nvSpPr>
        <p:spPr>
          <a:xfrm>
            <a:off x="685800" y="1463040"/>
            <a:ext cx="3657600" cy="3200400"/>
          </a:xfrm>
          <a:prstGeom prst="rect">
            <a:avLst/>
          </a:prstGeom>
          <a:noFill/>
          <a:ln>
            <a:noFill/>
          </a:ln>
        </p:spPr>
        <p:txBody>
          <a:bodyPr wrap="none" lIns="25400" tIns="25400" rIns="25400" bIns="25400" rtlCol="0" anchor="t"/>
          <a:lstStyle/>
          <a:p>
            <a:pPr algn="l">
              <a:lnSpc>
                <a:spcPts val="1045"/>
              </a:lnSpc>
              <a:spcBef>
                <a:spcPts val="0"/>
              </a:spcBef>
              <a:spcAft>
                <a:spcPts val="0"/>
              </a:spcAft>
            </a:pPr>
            <a:r>
              <a:rPr sz="1500">
                <a:solidFill>
                  <a:srgbClr val="E6EDF3"/>
                </a:solidFill>
                <a:latin typeface="Courier New"/>
              </a:rPr>
              <a:t xml:space="preserve">from copilot.session_events import AssistantMessageDeltaData</a:t>
            </a:r>
          </a:p>
          <a:p>
            <a:pPr algn="l">
              <a:lnSpc>
                <a:spcPts val="1045"/>
              </a:lnSpc>
              <a:spcBef>
                <a:spcPts val="0"/>
              </a:spcBef>
              <a:spcAft>
                <a:spcPts val="0"/>
              </a:spcAft>
            </a:pPr>
            <a:r>
              <a:rPr sz="1500">
                <a:solidFill>
                  <a:srgbClr val="E6EDF3"/>
                </a:solidFill>
                <a:latin typeface="Courier New"/>
              </a:rPr>
              <a:t xml:space="preserve">def on_event(event):</a:t>
            </a:r>
          </a:p>
          <a:p>
            <a:pPr algn="l">
              <a:lnSpc>
                <a:spcPts val="1045"/>
              </a:lnSpc>
              <a:spcBef>
                <a:spcPts val="0"/>
              </a:spcBef>
              <a:spcAft>
                <a:spcPts val="0"/>
              </a:spcAft>
            </a:pPr>
            <a:r>
              <a:rPr sz="1500">
                <a:solidFill>
                  <a:srgbClr val="E6EDF3"/>
                </a:solidFill>
                <a:latin typeface="Courier New"/>
              </a:rPr>
              <a:t xml:space="preserve">    match event.data:</a:t>
            </a:r>
          </a:p>
          <a:p>
            <a:pPr algn="l">
              <a:lnSpc>
                <a:spcPts val="1045"/>
              </a:lnSpc>
              <a:spcBef>
                <a:spcPts val="0"/>
              </a:spcBef>
              <a:spcAft>
                <a:spcPts val="0"/>
              </a:spcAft>
            </a:pPr>
            <a:r>
              <a:rPr sz="1500">
                <a:solidFill>
                  <a:srgbClr val="E6EDF3"/>
                </a:solidFill>
                <a:latin typeface="Courier New"/>
              </a:rPr>
              <a:t xml:space="preserve">        case AssistantMessageDeltaData(delta_content=d):</a:t>
            </a:r>
          </a:p>
          <a:p>
            <a:pPr algn="l">
              <a:lnSpc>
                <a:spcPts val="1045"/>
              </a:lnSpc>
              <a:spcBef>
                <a:spcPts val="0"/>
              </a:spcBef>
              <a:spcAft>
                <a:spcPts val="0"/>
              </a:spcAft>
            </a:pPr>
            <a:r>
              <a:rPr sz="1500">
                <a:solidFill>
                  <a:srgbClr val="E6EDF3"/>
                </a:solidFill>
                <a:latin typeface="Courier New"/>
              </a:rPr>
              <a:t xml:space="preserve">            print(d or "", end="", flush=True)</a:t>
            </a:r>
          </a:p>
          <a:p>
            <a:pPr algn="l">
              <a:lnSpc>
                <a:spcPts val="1045"/>
              </a:lnSpc>
              <a:spcBef>
                <a:spcPts val="0"/>
              </a:spcBef>
              <a:spcAft>
                <a:spcPts val="0"/>
              </a:spcAft>
            </a:pPr>
            <a:r>
              <a:rPr sz="950">
                <a:solidFill>
                  <a:srgbClr val="E6EDF3"/>
                </a:solidFill>
                <a:latin typeface="Courier New"/>
              </a:rPr>
              <a:t xml:space="preserve"/>
            </a:r>
          </a:p>
          <a:p>
            <a:pPr algn="l">
              <a:lnSpc>
                <a:spcPts val="1045"/>
              </a:lnSpc>
              <a:spcBef>
                <a:spcPts val="0"/>
              </a:spcBef>
              <a:spcAft>
                <a:spcPts val="0"/>
              </a:spcAft>
            </a:pPr>
            <a:r>
              <a:rPr sz="950">
                <a:solidFill>
                  <a:srgbClr val="E6EDF3"/>
                </a:solidFill>
                <a:latin typeface="Courier New"/>
              </a:rPr>
              <a:t xml:space="preserve"/>
            </a:r>
          </a:p>
          <a:p>
            <a:pPr algn="l">
              <a:lnSpc>
                <a:spcPts val="1045"/>
              </a:lnSpc>
              <a:spcBef>
                <a:spcPts val="0"/>
              </a:spcBef>
              <a:spcAft>
                <a:spcPts val="0"/>
              </a:spcAft>
            </a:pPr>
            <a:r>
              <a:rPr sz="950">
                <a:solidFill>
                  <a:srgbClr val="E6EDF3"/>
                </a:solidFill>
                <a:latin typeface="Courier New"/>
              </a:rPr>
              <a:t xml:space="preserve"/>
            </a:r>
          </a:p>
          <a:p>
            <a:pPr algn="l">
              <a:lnSpc>
                <a:spcPts val="1045"/>
              </a:lnSpc>
              <a:spcBef>
                <a:spcPts val="0"/>
              </a:spcBef>
              <a:spcAft>
                <a:spcPts val="0"/>
              </a:spcAft>
            </a:pPr>
            <a:r>
              <a:rPr sz="950">
                <a:solidFill>
                  <a:srgbClr val="E6EDF3"/>
                </a:solidFill>
                <a:latin typeface="Courier New"/>
              </a:rPr>
              <a:t xml:space="preserve"/>
            </a:r>
          </a:p>
          <a:p>
            <a:pPr algn="l">
              <a:lnSpc>
                <a:spcPts val="1045"/>
              </a:lnSpc>
              <a:spcBef>
                <a:spcPts val="0"/>
              </a:spcBef>
              <a:spcAft>
                <a:spcPts val="0"/>
              </a:spcAft>
            </a:pPr>
            <a:r>
              <a:rPr sz="950">
                <a:solidFill>
                  <a:srgbClr val="E6EDF3"/>
                </a:solidFill>
                <a:latin typeface="Courier New"/>
              </a:rPr>
              <a:t xml:space="preserve"/>
            </a:r>
          </a:p>
          <a:p>
            <a:pPr algn="l">
              <a:lnSpc>
                <a:spcPts val="1045"/>
              </a:lnSpc>
              <a:spcBef>
                <a:spcPts val="0"/>
              </a:spcBef>
              <a:spcAft>
                <a:spcPts val="0"/>
              </a:spcAft>
            </a:pPr>
            <a:r>
              <a:rPr sz="950">
                <a:solidFill>
                  <a:srgbClr val="E6EDF3"/>
                </a:solidFill>
                <a:latin typeface="Courier New"/>
              </a:rPr>
              <a:t xml:space="preserve"/>
            </a:r>
          </a:p>
          <a:p>
            <a:pPr algn="l">
              <a:lnSpc>
                <a:spcPts val="1045"/>
              </a:lnSpc>
              <a:spcBef>
                <a:spcPts val="0"/>
              </a:spcBef>
              <a:spcAft>
                <a:spcPts val="0"/>
              </a:spcAft>
            </a:pPr>
            <a:r>
              <a:rPr sz="950">
                <a:solidFill>
                  <a:srgbClr val="E6EDF3"/>
                </a:solidFill>
                <a:latin typeface="Courier New"/>
              </a:rPr>
              <a:t xml:space="preserve"/>
            </a:r>
          </a:p>
        </p:txBody>
      </p:sp>
      <p:sp>
        <p:nvSpPr>
          <p:cNvPr id="10" name="Shape 7"/>
          <p:cNvSpPr/>
          <p:nvPr/>
        </p:nvSpPr>
        <p:spPr>
          <a:xfrm>
            <a:off x="4663440" y="1143000"/>
            <a:ext cx="3931920" cy="3291840"/>
          </a:xfrm>
          <a:prstGeom prst="line">
            <a:avLst/>
          </a:prstGeom>
          <a:solidFill>
            <a:srgbClr val="161B22"/>
          </a:solidFill>
          <a:ln w="12700">
            <a:prstDash val="solid"/>
          </a:ln>
        </p:spPr>
        <p:txBody>
          <a:bodyPr/>
          <a:lstStyle/>
          <a:p>
            <a:endParaRPr/>
          </a:p>
        </p:txBody>
      </p:sp>
      <p:sp>
        <p:nvSpPr>
          <p:cNvPr id="11" name="Shape 8"/>
          <p:cNvSpPr/>
          <p:nvPr/>
        </p:nvSpPr>
        <p:spPr>
          <a:xfrm>
            <a:off x="4663440" y="1143000"/>
            <a:ext cx="1371600" cy="256032"/>
          </a:xfrm>
          <a:prstGeom prst="line">
            <a:avLst/>
          </a:prstGeom>
          <a:solidFill>
            <a:srgbClr val="1F6FEB"/>
          </a:solidFill>
          <a:ln w="6350">
            <a:solidFill>
              <a:srgbClr val="30363D"/>
            </a:solidFill>
          </a:ln>
        </p:spPr>
        <p:txBody>
          <a:bodyPr/>
          <a:lstStyle/>
          <a:p>
            <a:endParaRPr/>
          </a:p>
        </p:txBody>
      </p:sp>
      <p:sp>
        <p:nvSpPr>
          <p:cNvPr id="12" name="Text 9"/>
          <p:cNvSpPr/>
          <p:nvPr/>
        </p:nvSpPr>
        <p:spPr>
          <a:xfrm>
            <a:off x="46634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 — session</a:t>
            </a:r>
            <a:endParaRPr lang="en-US" sz="900" dirty="0"/>
          </a:p>
        </p:txBody>
      </p:sp>
      <p:sp>
        <p:nvSpPr>
          <p:cNvPr id="13" name="Text 10"/>
          <p:cNvSpPr/>
          <p:nvPr/>
        </p:nvSpPr>
        <p:spPr>
          <a:xfrm>
            <a:off x="4800600" y="1463040"/>
            <a:ext cx="3657600" cy="3200400"/>
          </a:xfrm>
          <a:prstGeom prst="rect">
            <a:avLst/>
          </a:prstGeom>
          <a:noFill/>
          <a:ln>
            <a:noFill/>
          </a:ln>
        </p:spPr>
        <p:txBody>
          <a:bodyPr wrap="none" lIns="25400" tIns="25400" rIns="25400" bIns="25400" rtlCol="0" anchor="t"/>
          <a:lstStyle/>
          <a:p>
            <a:pPr algn="l">
              <a:lnSpc>
                <a:spcPts val="1155"/>
              </a:lnSpc>
              <a:spcBef>
                <a:spcPts val="0"/>
              </a:spcBef>
              <a:spcAft>
                <a:spcPts val="0"/>
              </a:spcAft>
            </a:pPr>
            <a:r>
              <a:rPr sz="1500">
                <a:solidFill>
                  <a:srgbClr val="E6EDF3"/>
                </a:solidFill>
                <a:latin typeface="Courier New"/>
              </a:rPr>
              <a:t xml:space="preserve">async with CopilotClient() as client:</a:t>
            </a:r>
          </a:p>
          <a:p>
            <a:pPr algn="l">
              <a:lnSpc>
                <a:spcPts val="1155"/>
              </a:lnSpc>
              <a:spcBef>
                <a:spcPts val="0"/>
              </a:spcBef>
              <a:spcAft>
                <a:spcPts val="0"/>
              </a:spcAft>
            </a:pPr>
            <a:r>
              <a:rPr sz="1500">
                <a:solidFill>
                  <a:srgbClr val="E6EDF3"/>
                </a:solidFill>
                <a:latin typeface="Courier New"/>
              </a:rPr>
              <a:t xml:space="preserve">    async with await client.create_session(</a:t>
            </a:r>
          </a:p>
          <a:p>
            <a:pPr algn="l">
              <a:lnSpc>
                <a:spcPts val="1155"/>
              </a:lnSpc>
              <a:spcBef>
                <a:spcPts val="0"/>
              </a:spcBef>
              <a:spcAft>
                <a:spcPts val="0"/>
              </a:spcAft>
            </a:pPr>
            <a:r>
              <a:rPr sz="1500">
                <a:solidFill>
                  <a:srgbClr val="E6EDF3"/>
                </a:solidFill>
                <a:latin typeface="Courier New"/>
              </a:rPr>
              <a:t xml:space="preserve">        streaming=True, available_tools=[],</a:t>
            </a:r>
          </a:p>
          <a:p>
            <a:pPr algn="l">
              <a:lnSpc>
                <a:spcPts val="1155"/>
              </a:lnSpc>
              <a:spcBef>
                <a:spcPts val="0"/>
              </a:spcBef>
              <a:spcAft>
                <a:spcPts val="0"/>
              </a:spcAft>
            </a:pPr>
            <a:r>
              <a:rPr sz="1500">
                <a:solidFill>
                  <a:srgbClr val="E6EDF3"/>
                </a:solidFill>
                <a:latin typeface="Courier New"/>
              </a:rPr>
              <a:t xml:space="preserve">        on_permission_request=PermissionHandler.approve_all,</a:t>
            </a:r>
          </a:p>
          <a:p>
            <a:pPr algn="l">
              <a:lnSpc>
                <a:spcPts val="1155"/>
              </a:lnSpc>
              <a:spcBef>
                <a:spcPts val="0"/>
              </a:spcBef>
              <a:spcAft>
                <a:spcPts val="0"/>
              </a:spcAft>
            </a:pPr>
            <a:r>
              <a:rPr sz="1500">
                <a:solidFill>
                  <a:srgbClr val="E6EDF3"/>
                </a:solidFill>
                <a:latin typeface="Courier New"/>
              </a:rPr>
              <a:t xml:space="preserve">    ) as session:</a:t>
            </a:r>
          </a:p>
          <a:p>
            <a:pPr algn="l">
              <a:lnSpc>
                <a:spcPts val="1155"/>
              </a:lnSpc>
              <a:spcBef>
                <a:spcPts val="0"/>
              </a:spcBef>
              <a:spcAft>
                <a:spcPts val="0"/>
              </a:spcAft>
            </a:pPr>
            <a:r>
              <a:rPr sz="1500">
                <a:solidFill>
                  <a:srgbClr val="E6EDF3"/>
                </a:solidFill>
                <a:latin typeface="Courier New"/>
              </a:rPr>
              <a:t xml:space="preserve">        unsubscribe = session.on(on_event)</a:t>
            </a:r>
          </a:p>
          <a:p>
            <a:pPr algn="l">
              <a:lnSpc>
                <a:spcPts val="1155"/>
              </a:lnSpc>
              <a:spcBef>
                <a:spcPts val="0"/>
              </a:spcBef>
              <a:spcAft>
                <a:spcPts val="0"/>
              </a:spcAft>
            </a:pPr>
            <a:r>
              <a:rPr sz="1500">
                <a:solidFill>
                  <a:srgbClr val="E6EDF3"/>
                </a:solidFill>
                <a:latin typeface="Courier New"/>
              </a:rPr>
              <a:t xml:space="preserve">        reply = await session.send_and_wait(</a:t>
            </a:r>
          </a:p>
          <a:p>
            <a:pPr algn="l">
              <a:lnSpc>
                <a:spcPts val="1155"/>
              </a:lnSpc>
              <a:spcBef>
                <a:spcPts val="0"/>
              </a:spcBef>
              <a:spcAft>
                <a:spcPts val="0"/>
              </a:spcAft>
            </a:pPr>
            <a:r>
              <a:rPr sz="1500">
                <a:solidFill>
                  <a:srgbClr val="E6EDF3"/>
                </a:solidFill>
                <a:latin typeface="Courier New"/>
              </a:rPr>
              <a:t xml:space="preserve">            "Explain the SDK briefly.", timeout=60)</a:t>
            </a:r>
          </a:p>
          <a:p>
            <a:pPr algn="l">
              <a:lnSpc>
                <a:spcPts val="1155"/>
              </a:lnSpc>
              <a:spcBef>
                <a:spcPts val="0"/>
              </a:spcBef>
              <a:spcAft>
                <a:spcPts val="0"/>
              </a:spcAft>
            </a:pPr>
            <a:r>
              <a:rPr sz="1500">
                <a:solidFill>
                  <a:srgbClr val="E6EDF3"/>
                </a:solidFill>
                <a:latin typeface="Courier New"/>
              </a:rPr>
              <a:t xml:space="preserve">        if reply is None: raise RuntimeError("No reply")</a:t>
            </a:r>
          </a:p>
          <a:p>
            <a:pPr algn="l">
              <a:lnSpc>
                <a:spcPts val="1155"/>
              </a:lnSpc>
              <a:spcBef>
                <a:spcPts val="0"/>
              </a:spcBef>
              <a:spcAft>
                <a:spcPts val="0"/>
              </a:spcAft>
            </a:pPr>
            <a:r>
              <a:rPr sz="1500">
                <a:solidFill>
                  <a:srgbClr val="E6EDF3"/>
                </a:solidFill>
                <a:latin typeface="Courier New"/>
              </a:rPr>
              <a:t xml:space="preserve">        unsubscribe()</a:t>
            </a:r>
          </a:p>
          <a:p>
            <a:pPr algn="l">
              <a:lnSpc>
                <a:spcPts val="1155"/>
              </a:lnSpc>
              <a:spcBef>
                <a:spcPts val="0"/>
              </a:spcBef>
              <a:spcAft>
                <a:spcPts val="0"/>
              </a:spcAft>
            </a:pPr>
            <a:r>
              <a:rPr sz="1050">
                <a:solidFill>
                  <a:srgbClr val="E6EDF3"/>
                </a:solidFill>
                <a:latin typeface="Courier New"/>
              </a:rPr>
              <a:t xml:space="preserve"/>
            </a:r>
          </a:p>
          <a:p>
            <a:pPr algn="l">
              <a:lnSpc>
                <a:spcPts val="1155"/>
              </a:lnSpc>
              <a:spcBef>
                <a:spcPts val="0"/>
              </a:spcBef>
              <a:spcAft>
                <a:spcPts val="0"/>
              </a:spcAft>
            </a:pPr>
            <a:r>
              <a:rPr sz="1050">
                <a:solidFill>
                  <a:srgbClr val="E6EDF3"/>
                </a:solidFill>
                <a:latin typeface="Courier New"/>
              </a:rPr>
              <a:t xml:space="preserve"/>
            </a:r>
          </a:p>
          <a:p>
            <a:pPr algn="l">
              <a:lnSpc>
                <a:spcPts val="1155"/>
              </a:lnSpc>
              <a:spcBef>
                <a:spcPts val="0"/>
              </a:spcBef>
              <a:spcAft>
                <a:spcPts val="0"/>
              </a:spcAft>
            </a:pPr>
            <a:r>
              <a:rPr sz="1050">
                <a:solidFill>
                  <a:srgbClr val="E6EDF3"/>
                </a:solidFill>
                <a:latin typeface="Courier New"/>
              </a:rPr>
              <a:t xml:space="preserve"/>
            </a:r>
          </a:p>
          <a:p>
            <a:pPr algn="l">
              <a:lnSpc>
                <a:spcPts val="1155"/>
              </a:lnSpc>
              <a:spcBef>
                <a:spcPts val="0"/>
              </a:spcBef>
              <a:spcAft>
                <a:spcPts val="0"/>
              </a:spcAft>
            </a:pPr>
            <a:r>
              <a:rPr sz="1050">
                <a:solidFill>
                  <a:srgbClr val="E6EDF3"/>
                </a:solidFill>
                <a:latin typeface="Courier New"/>
              </a:rPr>
              <a:t xml:space="preserve"/>
            </a:r>
          </a:p>
          <a:p>
            <a:pPr algn="l">
              <a:lnSpc>
                <a:spcPts val="1155"/>
              </a:lnSpc>
              <a:spcBef>
                <a:spcPts val="0"/>
              </a:spcBef>
              <a:spcAft>
                <a:spcPts val="0"/>
              </a:spcAft>
            </a:pPr>
            <a:r>
              <a:rPr sz="1050">
                <a:solidFill>
                  <a:srgbClr val="E6EDF3"/>
                </a:solidFill>
                <a:latin typeface="Courier New"/>
              </a:rPr>
              <a:t xml:space="preserve"/>
            </a:r>
          </a:p>
        </p:txBody>
      </p:sp>
      <p:sp>
        <p:nvSpPr>
          <p:cNvPr id="14" name="Shape 11"/>
          <p:cNvSpPr/>
          <p:nvPr/>
        </p:nvSpPr>
        <p:spPr>
          <a:xfrm>
            <a:off x="548640" y="4526280"/>
            <a:ext cx="8046720" cy="274320"/>
          </a:xfrm>
          <a:prstGeom prst="line">
            <a:avLst/>
          </a:prstGeom>
          <a:solidFill>
            <a:srgbClr val="161B22"/>
          </a:solidFill>
          <a:ln w="12700">
            <a:prstDash val="solid"/>
          </a:ln>
        </p:spPr>
        <p:txBody>
          <a:bodyPr/>
          <a:lstStyle/>
          <a:p>
            <a:endParaRPr/>
          </a:p>
        </p:txBody>
      </p:sp>
      <p:sp>
        <p:nvSpPr>
          <p:cNvPr id="15" name="Text 12"/>
          <p:cNvSpPr/>
          <p:nvPr/>
        </p:nvSpPr>
        <p:spPr>
          <a:xfrm>
            <a:off x="548640" y="4526280"/>
            <a:ext cx="8046720" cy="274320"/>
          </a:xfrm>
          <a:prstGeom prst="rect">
            <a:avLst/>
          </a:prstGeom>
          <a:noFill/>
          <a:ln>
            <a:noFill/>
          </a:ln>
        </p:spPr>
        <p:txBody>
          <a:bodyPr wrap="square" lIns="0" tIns="0" rIns="0" bIns="0" rtlCol="0" anchor="ctr"/>
          <a:lstStyle/>
          <a:p>
            <a:pPr marL="0" indent="0">
              <a:buNone/>
            </a:pPr>
            <a:r>
              <a:rPr lang="en-US" sz="1000" b="1" dirty="0">
                <a:solidFill>
                  <a:srgbClr val="3FB950"/>
                </a:solidFill>
                <a:latin typeface="Calibri" pitchFamily="34" charset="0"/>
                <a:ea typeface="Calibri" pitchFamily="34" charset="-122"/>
                <a:cs typeface="Calibri" pitchFamily="34" charset="-120"/>
              </a:rPr>
              <a:t xml:space="preserve">Run: python examples/01_simple_chat.py · Expected: streamed text and exit code 0</a:t>
            </a:r>
            <a:r>
              <a:rPr lang="en-US" sz="1000" dirty="0">
                <a:solidFill>
                  <a:srgbClr val="C9D1D9"/>
                </a:solidFill>
                <a:latin typeface="Calibri" pitchFamily="34" charset="0"/>
                <a:ea typeface="Calibri" pitchFamily="34" charset="-122"/>
                <a:cs typeface="Calibri" pitchFamily="34" charset="-120"/>
              </a:rPr>
              <a:t/>
            </a:r>
            <a:endParaRPr lang="en-US" sz="1000" dirty="0"/>
          </a:p>
        </p:txBody>
      </p:sp>
      <p:sp>
        <p:nvSpPr>
          <p:cNvPr id="18" name="Text 14"/>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7 / 24</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02 · Fictional Weather Tool</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Pydantic schema, async host handler, ToolSet filter; explicitly not a live weather service</a:t>
            </a:r>
            <a:endParaRPr lang="en-US" sz="1200" dirty="0"/>
          </a:p>
        </p:txBody>
      </p:sp>
      <p:sp>
        <p:nvSpPr>
          <p:cNvPr id="6" name="Shape 3"/>
          <p:cNvSpPr/>
          <p:nvPr/>
        </p:nvSpPr>
        <p:spPr>
          <a:xfrm>
            <a:off x="548640" y="1143000"/>
            <a:ext cx="8046720" cy="356616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9" name="Text 6"/>
          <p:cNvSpPr/>
          <p:nvPr/>
        </p:nvSpPr>
        <p:spPr>
          <a:xfrm>
            <a:off x="685800" y="1463040"/>
            <a:ext cx="7772400" cy="3200400"/>
          </a:xfrm>
          <a:prstGeom prst="rect">
            <a:avLst/>
          </a:prstGeom>
          <a:noFill/>
          <a:ln>
            <a:noFill/>
          </a:ln>
        </p:spPr>
        <p:txBody>
          <a:bodyPr wrap="none" lIns="25400" tIns="25400" rIns="25400" bIns="25400" rtlCol="0" anchor="t"/>
          <a:lstStyle/>
          <a:p>
            <a:pPr algn="l">
              <a:lnSpc>
                <a:spcPts val="1155"/>
              </a:lnSpc>
              <a:spcBef>
                <a:spcPts val="0"/>
              </a:spcBef>
              <a:spcAft>
                <a:spcPts val="0"/>
              </a:spcAft>
            </a:pPr>
            <a:r>
              <a:rPr sz="1500">
                <a:solidFill>
                  <a:srgbClr val="E6EDF3"/>
                </a:solidFill>
                <a:latin typeface="Courier New"/>
              </a:rPr>
              <a:t xml:space="preserve">class WeatherParams(BaseModel):</a:t>
            </a:r>
          </a:p>
          <a:p>
            <a:pPr algn="l">
              <a:lnSpc>
                <a:spcPts val="1155"/>
              </a:lnSpc>
              <a:spcBef>
                <a:spcPts val="0"/>
              </a:spcBef>
              <a:spcAft>
                <a:spcPts val="0"/>
              </a:spcAft>
            </a:pPr>
            <a:r>
              <a:rPr sz="1500">
                <a:solidFill>
                  <a:srgbClr val="E6EDF3"/>
                </a:solidFill>
                <a:latin typeface="Courier New"/>
              </a:rPr>
              <a:t xml:space="preserve">    city: str = Field(min_length=1)</a:t>
            </a:r>
          </a:p>
          <a:p>
            <a:pPr algn="l">
              <a:lnSpc>
                <a:spcPts val="1155"/>
              </a:lnSpc>
              <a:spcBef>
                <a:spcPts val="0"/>
              </a:spcBef>
              <a:spcAft>
                <a:spcPts val="0"/>
              </a:spcAft>
            </a:pPr>
            <a:r>
              <a:rPr sz="1500">
                <a:solidFill>
                  <a:srgbClr val="E6EDF3"/>
                </a:solidFill>
                <a:latin typeface="Courier New"/>
              </a:rPr>
              <a:t xml:space="preserve">@define_tool(description="Generate fictional demo weather")</a:t>
            </a:r>
          </a:p>
          <a:p>
            <a:pPr algn="l">
              <a:lnSpc>
                <a:spcPts val="1155"/>
              </a:lnSpc>
              <a:spcBef>
                <a:spcPts val="0"/>
              </a:spcBef>
              <a:spcAft>
                <a:spcPts val="0"/>
              </a:spcAft>
            </a:pPr>
            <a:r>
              <a:rPr sz="1500">
                <a:solidFill>
                  <a:srgbClr val="E6EDF3"/>
                </a:solidFill>
                <a:latin typeface="Courier New"/>
              </a:rPr>
              <a:t xml:space="preserve">async def get_weather(params: WeatherParams) -&gt; dict:</a:t>
            </a:r>
          </a:p>
          <a:p>
            <a:pPr algn="l">
              <a:lnSpc>
                <a:spcPts val="1155"/>
              </a:lnSpc>
              <a:spcBef>
                <a:spcPts val="0"/>
              </a:spcBef>
              <a:spcAft>
                <a:spcPts val="0"/>
              </a:spcAft>
            </a:pPr>
            <a:r>
              <a:rPr sz="1500">
                <a:solidFill>
                  <a:srgbClr val="E6EDF3"/>
                </a:solidFill>
                <a:latin typeface="Courier New"/>
              </a:rPr>
              <a:t xml:space="preserve">    return {"city": params.city, "source": "fictional demo"}</a:t>
            </a:r>
          </a:p>
          <a:p>
            <a:pPr algn="l">
              <a:lnSpc>
                <a:spcPts val="1155"/>
              </a:lnSpc>
              <a:spcBef>
                <a:spcPts val="0"/>
              </a:spcBef>
              <a:spcAft>
                <a:spcPts val="0"/>
              </a:spcAft>
            </a:pPr>
            <a:r>
              <a:rPr sz="1500">
                <a:solidFill>
                  <a:srgbClr val="E6EDF3"/>
                </a:solidFill>
                <a:latin typeface="Courier New"/>
              </a:rPr>
              <a:t xml:space="preserve">async with CopilotClient() as client:</a:t>
            </a:r>
          </a:p>
          <a:p>
            <a:pPr algn="l">
              <a:lnSpc>
                <a:spcPts val="1155"/>
              </a:lnSpc>
              <a:spcBef>
                <a:spcPts val="0"/>
              </a:spcBef>
              <a:spcAft>
                <a:spcPts val="0"/>
              </a:spcAft>
            </a:pPr>
            <a:r>
              <a:rPr sz="1500">
                <a:solidFill>
                  <a:srgbClr val="E6EDF3"/>
                </a:solidFill>
                <a:latin typeface="Courier New"/>
              </a:rPr>
              <a:t xml:space="preserve">    async with await client.create_session(</a:t>
            </a:r>
          </a:p>
          <a:p>
            <a:pPr algn="l">
              <a:lnSpc>
                <a:spcPts val="1155"/>
              </a:lnSpc>
              <a:spcBef>
                <a:spcPts val="0"/>
              </a:spcBef>
              <a:spcAft>
                <a:spcPts val="0"/>
              </a:spcAft>
            </a:pPr>
            <a:r>
              <a:rPr sz="1500">
                <a:solidFill>
                  <a:srgbClr val="E6EDF3"/>
                </a:solidFill>
                <a:latin typeface="Courier New"/>
              </a:rPr>
              <a:t xml:space="preserve">        tools=[get_weather],</a:t>
            </a:r>
          </a:p>
          <a:p>
            <a:pPr algn="l">
              <a:lnSpc>
                <a:spcPts val="1155"/>
              </a:lnSpc>
              <a:spcBef>
                <a:spcPts val="0"/>
              </a:spcBef>
              <a:spcAft>
                <a:spcPts val="0"/>
              </a:spcAft>
            </a:pPr>
            <a:r>
              <a:rPr sz="1500">
                <a:solidFill>
                  <a:srgbClr val="E6EDF3"/>
                </a:solidFill>
                <a:latin typeface="Courier New"/>
              </a:rPr>
              <a:t xml:space="preserve">        available_tools=ToolSet().add_custom("get_weather"),</a:t>
            </a:r>
          </a:p>
          <a:p>
            <a:pPr algn="l">
              <a:lnSpc>
                <a:spcPts val="1155"/>
              </a:lnSpc>
              <a:spcBef>
                <a:spcPts val="0"/>
              </a:spcBef>
              <a:spcAft>
                <a:spcPts val="0"/>
              </a:spcAft>
            </a:pPr>
            <a:r>
              <a:rPr sz="1500">
                <a:solidFill>
                  <a:srgbClr val="E6EDF3"/>
                </a:solidFill>
                <a:latin typeface="Courier New"/>
              </a:rPr>
              <a:t xml:space="preserve">        on_permission_request=PermissionHandler.approve_all,</a:t>
            </a:r>
          </a:p>
          <a:p>
            <a:pPr algn="l">
              <a:lnSpc>
                <a:spcPts val="1155"/>
              </a:lnSpc>
              <a:spcBef>
                <a:spcPts val="0"/>
              </a:spcBef>
              <a:spcAft>
                <a:spcPts val="0"/>
              </a:spcAft>
            </a:pPr>
            <a:r>
              <a:rPr sz="1500">
                <a:solidFill>
                  <a:srgbClr val="E6EDF3"/>
                </a:solidFill>
                <a:latin typeface="Courier New"/>
              </a:rPr>
              <a:t xml:space="preserve">    ) as session:</a:t>
            </a:r>
          </a:p>
          <a:p>
            <a:pPr algn="l">
              <a:lnSpc>
                <a:spcPts val="1155"/>
              </a:lnSpc>
              <a:spcBef>
                <a:spcPts val="0"/>
              </a:spcBef>
              <a:spcAft>
                <a:spcPts val="0"/>
              </a:spcAft>
            </a:pPr>
            <a:r>
              <a:rPr sz="1500">
                <a:solidFill>
                  <a:srgbClr val="E6EDF3"/>
                </a:solidFill>
                <a:latin typeface="Courier New"/>
              </a:rPr>
              <a:t xml:space="preserve">        reply = await session.send_and_wait(</a:t>
            </a:r>
          </a:p>
          <a:p>
            <a:pPr algn="l">
              <a:lnSpc>
                <a:spcPts val="1155"/>
              </a:lnSpc>
              <a:spcBef>
                <a:spcPts val="0"/>
              </a:spcBef>
              <a:spcAft>
                <a:spcPts val="0"/>
              </a:spcAft>
            </a:pPr>
            <a:r>
              <a:rPr sz="1500">
                <a:solidFill>
                  <a:srgbClr val="E6EDF3"/>
                </a:solidFill>
                <a:latin typeface="Courier New"/>
              </a:rPr>
              <a:t xml:space="preserve">            "Fictional weather in Tokyo and Berlin.", timeout=60)</a:t>
            </a:r>
          </a:p>
          <a:p>
            <a:pPr algn="l">
              <a:lnSpc>
                <a:spcPts val="1155"/>
              </a:lnSpc>
              <a:spcBef>
                <a:spcPts val="0"/>
              </a:spcBef>
              <a:spcAft>
                <a:spcPts val="0"/>
              </a:spcAft>
            </a:pPr>
            <a:r>
              <a:rPr sz="1050">
                <a:solidFill>
                  <a:srgbClr val="E6EDF3"/>
                </a:solidFill>
                <a:latin typeface="Courier New"/>
              </a:rPr>
              <a:t xml:space="preserve"/>
            </a:r>
          </a:p>
          <a:p>
            <a:pPr algn="l">
              <a:lnSpc>
                <a:spcPts val="1155"/>
              </a:lnSpc>
              <a:spcBef>
                <a:spcPts val="0"/>
              </a:spcBef>
              <a:spcAft>
                <a:spcPts val="0"/>
              </a:spcAft>
            </a:pPr>
            <a:r>
              <a:rPr sz="1050">
                <a:solidFill>
                  <a:srgbClr val="E6EDF3"/>
                </a:solidFill>
                <a:latin typeface="Courier New"/>
              </a:rPr>
              <a:t xml:space="preserve"/>
            </a:r>
          </a:p>
          <a:p>
            <a:pPr algn="l">
              <a:lnSpc>
                <a:spcPts val="1155"/>
              </a:lnSpc>
              <a:spcBef>
                <a:spcPts val="0"/>
              </a:spcBef>
              <a:spcAft>
                <a:spcPts val="0"/>
              </a:spcAft>
            </a:pPr>
            <a:r>
              <a:rPr sz="1050">
                <a:solidFill>
                  <a:srgbClr val="E6EDF3"/>
                </a:solidFill>
                <a:latin typeface="Courier New"/>
              </a:rPr>
              <a:t xml:space="preserve"/>
            </a:r>
          </a:p>
          <a:p>
            <a:pPr algn="l">
              <a:lnSpc>
                <a:spcPts val="1155"/>
              </a:lnSpc>
              <a:spcBef>
                <a:spcPts val="0"/>
              </a:spcBef>
              <a:spcAft>
                <a:spcPts val="0"/>
              </a:spcAft>
            </a:pPr>
            <a:r>
              <a:rPr sz="1050">
                <a:solidFill>
                  <a:srgbClr val="E6EDF3"/>
                </a:solidFill>
                <a:latin typeface="Courier New"/>
              </a:rPr>
              <a:t xml:space="preserve"/>
            </a:r>
          </a:p>
          <a:p>
            <a:pPr algn="l">
              <a:lnSpc>
                <a:spcPts val="1155"/>
              </a:lnSpc>
              <a:spcBef>
                <a:spcPts val="0"/>
              </a:spcBef>
              <a:spcAft>
                <a:spcPts val="0"/>
              </a:spcAft>
            </a:pPr>
            <a:r>
              <a:rPr sz="1050">
                <a:solidFill>
                  <a:srgbClr val="E6EDF3"/>
                </a:solidFill>
                <a:latin typeface="Courier New"/>
              </a:rPr>
              <a:t xml:space="preserve"/>
            </a:r>
          </a:p>
          <a:p>
            <a:pPr algn="l">
              <a:lnSpc>
                <a:spcPts val="1155"/>
              </a:lnSpc>
              <a:spcBef>
                <a:spcPts val="0"/>
              </a:spcBef>
              <a:spcAft>
                <a:spcPts val="0"/>
              </a:spcAft>
            </a:pPr>
            <a:r>
              <a:rPr sz="1050">
                <a:solidFill>
                  <a:srgbClr val="E6EDF3"/>
                </a:solidFill>
                <a:latin typeface="Courier New"/>
              </a:rPr>
              <a:t xml:space="preserve"/>
            </a:r>
          </a:p>
          <a:p>
            <a:pPr algn="l">
              <a:lnSpc>
                <a:spcPts val="1155"/>
              </a:lnSpc>
              <a:spcBef>
                <a:spcPts val="0"/>
              </a:spcBef>
              <a:spcAft>
                <a:spcPts val="0"/>
              </a:spcAft>
            </a:pPr>
            <a:r>
              <a:rPr sz="1050">
                <a:solidFill>
                  <a:srgbClr val="E6EDF3"/>
                </a:solidFill>
                <a:latin typeface="Courier New"/>
              </a:rPr>
              <a:t xml:space="preserve"/>
            </a:r>
          </a:p>
          <a:p>
            <a:pPr algn="l">
              <a:lnSpc>
                <a:spcPts val="1155"/>
              </a:lnSpc>
              <a:spcBef>
                <a:spcPts val="0"/>
              </a:spcBef>
              <a:spcAft>
                <a:spcPts val="0"/>
              </a:spcAft>
            </a:pPr>
            <a:r>
              <a:rPr sz="1050">
                <a:solidFill>
                  <a:srgbClr val="E6EDF3"/>
                </a:solidFill>
                <a:latin typeface="Courier New"/>
              </a:rPr>
              <a:t xml:space="preserve"/>
            </a:r>
          </a:p>
        </p:txBody>
      </p:sp>
      <p:sp>
        <p:nvSpPr>
          <p:cNvPr id="12" name="Text 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8 / 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06 · Session Persistence</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New process, same persisted conversation context; host configuration must be supplied again</a:t>
            </a:r>
            <a:endParaRPr lang="en-US" sz="1200" dirty="0"/>
          </a:p>
        </p:txBody>
      </p:sp>
      <p:sp>
        <p:nvSpPr>
          <p:cNvPr id="6" name="Shape 3"/>
          <p:cNvSpPr/>
          <p:nvPr/>
        </p:nvSpPr>
        <p:spPr>
          <a:xfrm>
            <a:off x="548640" y="1143000"/>
            <a:ext cx="8046720" cy="342900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9" name="Text 6"/>
          <p:cNvSpPr/>
          <p:nvPr/>
        </p:nvSpPr>
        <p:spPr>
          <a:xfrm>
            <a:off x="685800" y="1463040"/>
            <a:ext cx="7772400" cy="3200400"/>
          </a:xfrm>
          <a:prstGeom prst="rect">
            <a:avLst/>
          </a:prstGeom>
          <a:noFill/>
          <a:ln>
            <a:noFill/>
          </a:ln>
        </p:spPr>
        <p:txBody>
          <a:bodyPr wrap="none" lIns="25400" tIns="25400" rIns="25400" bIns="25400" rtlCol="0" anchor="t"/>
          <a:lstStyle/>
          <a:p>
            <a:pPr algn="l">
              <a:lnSpc>
                <a:spcPts val="1210"/>
              </a:lnSpc>
              <a:spcBef>
                <a:spcPts val="0"/>
              </a:spcBef>
              <a:spcAft>
                <a:spcPts val="0"/>
              </a:spcAft>
            </a:pPr>
            <a:r>
              <a:rPr sz="1500">
                <a:solidFill>
                  <a:srgbClr val="E6EDF3"/>
                </a:solidFill>
                <a:latin typeface="Courier New"/>
              </a:rPr>
              <a:t xml:space="preserve">SESSION_ID = "demo-session-resume"</a:t>
            </a:r>
          </a:p>
          <a:p>
            <a:pPr algn="l">
              <a:lnSpc>
                <a:spcPts val="1210"/>
              </a:lnSpc>
              <a:spcBef>
                <a:spcPts val="0"/>
              </a:spcBef>
              <a:spcAft>
                <a:spcPts val="0"/>
              </a:spcAft>
            </a:pPr>
            <a:r>
              <a:rPr sz="1500">
                <a:solidFill>
                  <a:srgbClr val="E6EDF3"/>
                </a:solidFill>
                <a:latin typeface="Courier New"/>
              </a:rPr>
              <a:t xml:space="preserve"># First process</a:t>
            </a:r>
          </a:p>
          <a:p>
            <a:pPr algn="l">
              <a:lnSpc>
                <a:spcPts val="1210"/>
              </a:lnSpc>
              <a:spcBef>
                <a:spcPts val="0"/>
              </a:spcBef>
              <a:spcAft>
                <a:spcPts val="0"/>
              </a:spcAft>
            </a:pPr>
            <a:r>
              <a:rPr sz="1500">
                <a:solidFill>
                  <a:srgbClr val="E6EDF3"/>
                </a:solidFill>
                <a:latin typeface="Courier New"/>
              </a:rPr>
              <a:t xml:space="preserve">session = await client.create_session(</a:t>
            </a:r>
          </a:p>
          <a:p>
            <a:pPr algn="l">
              <a:lnSpc>
                <a:spcPts val="1210"/>
              </a:lnSpc>
              <a:spcBef>
                <a:spcPts val="0"/>
              </a:spcBef>
              <a:spcAft>
                <a:spcPts val="0"/>
              </a:spcAft>
            </a:pPr>
            <a:r>
              <a:rPr sz="1500">
                <a:solidFill>
                  <a:srgbClr val="E6EDF3"/>
                </a:solidFill>
                <a:latin typeface="Courier New"/>
              </a:rPr>
              <a:t xml:space="preserve">    session_id=SESSION_ID, available_tools=[])</a:t>
            </a:r>
          </a:p>
          <a:p>
            <a:pPr algn="l">
              <a:lnSpc>
                <a:spcPts val="1210"/>
              </a:lnSpc>
              <a:spcBef>
                <a:spcPts val="0"/>
              </a:spcBef>
              <a:spcAft>
                <a:spcPts val="0"/>
              </a:spcAft>
            </a:pPr>
            <a:r>
              <a:rPr sz="1500">
                <a:solidFill>
                  <a:srgbClr val="E6EDF3"/>
                </a:solidFill>
                <a:latin typeface="Courier New"/>
              </a:rPr>
              <a:t xml:space="preserve">await session.send_and_wait("Remember my name.", timeout=60)</a:t>
            </a:r>
          </a:p>
          <a:p>
            <a:pPr algn="l">
              <a:lnSpc>
                <a:spcPts val="1210"/>
              </a:lnSpc>
              <a:spcBef>
                <a:spcPts val="0"/>
              </a:spcBef>
              <a:spcAft>
                <a:spcPts val="0"/>
              </a:spcAft>
            </a:pPr>
            <a:r>
              <a:rPr sz="1500">
                <a:solidFill>
                  <a:srgbClr val="E6EDF3"/>
                </a:solidFill>
                <a:latin typeface="Courier New"/>
              </a:rPr>
              <a:t xml:space="preserve">await session.disconnect()  # detach, do not delete</a:t>
            </a:r>
          </a:p>
          <a:p>
            <a:pPr algn="l">
              <a:lnSpc>
                <a:spcPts val="1210"/>
              </a:lnSpc>
              <a:spcBef>
                <a:spcPts val="0"/>
              </a:spcBef>
              <a:spcAft>
                <a:spcPts val="0"/>
              </a:spcAft>
            </a:pPr>
            <a:r>
              <a:rPr sz="1500">
                <a:solidFill>
                  <a:srgbClr val="E6EDF3"/>
                </a:solidFill>
                <a:latin typeface="Courier New"/>
              </a:rPr>
              <a:t xml:space="preserve"># Later process: re-supply callbacks, tools, auth, policy</a:t>
            </a:r>
          </a:p>
          <a:p>
            <a:pPr algn="l">
              <a:lnSpc>
                <a:spcPts val="1210"/>
              </a:lnSpc>
              <a:spcBef>
                <a:spcPts val="0"/>
              </a:spcBef>
              <a:spcAft>
                <a:spcPts val="0"/>
              </a:spcAft>
            </a:pPr>
            <a:r>
              <a:rPr sz="1500">
                <a:solidFill>
                  <a:srgbClr val="E6EDF3"/>
                </a:solidFill>
                <a:latin typeface="Courier New"/>
              </a:rPr>
              <a:t xml:space="preserve">session = await client.resume_session(</a:t>
            </a:r>
          </a:p>
          <a:p>
            <a:pPr algn="l">
              <a:lnSpc>
                <a:spcPts val="1210"/>
              </a:lnSpc>
              <a:spcBef>
                <a:spcPts val="0"/>
              </a:spcBef>
              <a:spcAft>
                <a:spcPts val="0"/>
              </a:spcAft>
            </a:pPr>
            <a:r>
              <a:rPr sz="1500">
                <a:solidFill>
                  <a:srgbClr val="E6EDF3"/>
                </a:solidFill>
                <a:latin typeface="Courier New"/>
              </a:rPr>
              <a:t xml:space="preserve">    SESSION_ID, available_tools=[])</a:t>
            </a:r>
          </a:p>
          <a:p>
            <a:pPr algn="l">
              <a:lnSpc>
                <a:spcPts val="1210"/>
              </a:lnSpc>
              <a:spcBef>
                <a:spcPts val="0"/>
              </a:spcBef>
              <a:spcAft>
                <a:spcPts val="0"/>
              </a:spcAft>
            </a:pPr>
            <a:r>
              <a:rPr sz="1500">
                <a:solidFill>
                  <a:srgbClr val="E6EDF3"/>
                </a:solidFill>
                <a:latin typeface="Courier New"/>
              </a:rPr>
              <a:t xml:space="preserve">reply = await session.send_and_wait("What is my name?", timeout=60)</a:t>
            </a:r>
          </a:p>
          <a:p>
            <a:pPr algn="l">
              <a:lnSpc>
                <a:spcPts val="1210"/>
              </a:lnSpc>
              <a:spcBef>
                <a:spcPts val="0"/>
              </a:spcBef>
              <a:spcAft>
                <a:spcPts val="0"/>
              </a:spcAft>
            </a:pPr>
            <a:r>
              <a:rPr sz="1500">
                <a:solidFill>
                  <a:srgbClr val="E6EDF3"/>
                </a:solidFill>
                <a:latin typeface="Courier New"/>
              </a:rPr>
              <a:t xml:space="preserve">print(reply.data.content if reply else "No final message")</a:t>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p:txBody>
      </p:sp>
      <p:sp>
        <p:nvSpPr>
          <p:cNvPr id="13" name="Text 9"/>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14 / 24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Source of Truth</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Shape 2"/>
          <p:cNvSpPr/>
          <p:nvPr/>
        </p:nvSpPr>
        <p:spPr>
          <a:xfrm>
            <a:off x="731520" y="1051560"/>
            <a:ext cx="457200" cy="457200"/>
          </a:xfrm>
          <a:prstGeom prst="line">
            <a:avLst/>
          </a:prstGeom>
          <a:solidFill>
            <a:srgbClr val="1F6FEB"/>
          </a:solidFill>
          <a:ln w="6350">
            <a:solidFill>
              <a:srgbClr val="30363D"/>
            </a:solidFill>
          </a:ln>
        </p:spPr>
        <p:txBody>
          <a:bodyPr/>
          <a:lstStyle/>
          <a:p>
            <a:endParaRPr/>
          </a:p>
        </p:txBody>
      </p:sp>
      <p:sp>
        <p:nvSpPr>
          <p:cNvPr id="6" name="Text 3"/>
          <p:cNvSpPr/>
          <p:nvPr/>
        </p:nvSpPr>
        <p:spPr>
          <a:xfrm>
            <a:off x="731520" y="105156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p:nvPr/>
        </p:nvSpPr>
        <p:spPr>
          <a:xfrm>
            <a:off x="1371600" y="100584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Published stable release</a:t>
            </a:r>
            <a:endParaRPr lang="en-US" sz="1400" dirty="0"/>
          </a:p>
        </p:txBody>
      </p:sp>
      <p:sp>
        <p:nvSpPr>
          <p:cNvPr id="8" name="Text 5"/>
          <p:cNvSpPr/>
          <p:nvPr/>
        </p:nvSpPr>
        <p:spPr>
          <a:xfrm>
            <a:off x="1371600" y="128016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v1.0.13 package and tag; not unreleased main</a:t>
            </a:r>
            <a:endParaRPr lang="en-US" sz="1100" dirty="0"/>
          </a:p>
        </p:txBody>
      </p:sp>
      <p:sp>
        <p:nvSpPr>
          <p:cNvPr id="9" name="Shape 6"/>
          <p:cNvSpPr/>
          <p:nvPr/>
        </p:nvSpPr>
        <p:spPr>
          <a:xfrm>
            <a:off x="731520" y="1828800"/>
            <a:ext cx="457200" cy="457200"/>
          </a:xfrm>
          <a:prstGeom prst="line">
            <a:avLst/>
          </a:prstGeom>
          <a:solidFill>
            <a:srgbClr val="1F6FEB"/>
          </a:solidFill>
          <a:ln w="6350">
            <a:solidFill>
              <a:srgbClr val="30363D"/>
            </a:solidFill>
          </a:ln>
        </p:spPr>
        <p:txBody>
          <a:bodyPr/>
          <a:lstStyle/>
          <a:p>
            <a:endParaRPr/>
          </a:p>
        </p:txBody>
      </p:sp>
      <p:sp>
        <p:nvSpPr>
          <p:cNvPr id="10" name="Text 7"/>
          <p:cNvSpPr/>
          <p:nvPr/>
        </p:nvSpPr>
        <p:spPr>
          <a:xfrm>
            <a:off x="731520" y="182880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8"/>
          <p:cNvSpPr/>
          <p:nvPr/>
        </p:nvSpPr>
        <p:spPr>
          <a:xfrm>
            <a:off x="1371600" y="178308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Generated types and tests</a:t>
            </a:r>
            <a:endParaRPr lang="en-US" sz="1400" dirty="0"/>
          </a:p>
        </p:txBody>
      </p:sp>
      <p:sp>
        <p:nvSpPr>
          <p:cNvPr id="12" name="Text 9"/>
          <p:cNvSpPr/>
          <p:nvPr/>
        </p:nvSpPr>
        <p:spPr>
          <a:xfrm>
            <a:off x="1371600" y="205740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Exact signatures and wire shapes beat stale prose</a:t>
            </a:r>
            <a:endParaRPr lang="en-US" sz="1100" dirty="0"/>
          </a:p>
        </p:txBody>
      </p:sp>
      <p:sp>
        <p:nvSpPr>
          <p:cNvPr id="13" name="Shape 10"/>
          <p:cNvSpPr/>
          <p:nvPr/>
        </p:nvSpPr>
        <p:spPr>
          <a:xfrm>
            <a:off x="731520" y="2606040"/>
            <a:ext cx="457200" cy="457200"/>
          </a:xfrm>
          <a:prstGeom prst="line">
            <a:avLst/>
          </a:prstGeom>
          <a:solidFill>
            <a:srgbClr val="1F6FEB"/>
          </a:solidFill>
          <a:ln w="6350">
            <a:solidFill>
              <a:srgbClr val="30363D"/>
            </a:solidFill>
          </a:ln>
        </p:spPr>
        <p:txBody>
          <a:bodyPr/>
          <a:lstStyle/>
          <a:p>
            <a:endParaRPr/>
          </a:p>
        </p:txBody>
      </p:sp>
      <p:sp>
        <p:nvSpPr>
          <p:cNvPr id="14" name="Text 11"/>
          <p:cNvSpPr/>
          <p:nvPr/>
        </p:nvSpPr>
        <p:spPr>
          <a:xfrm>
            <a:off x="731520" y="260604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5" name="Text 12"/>
          <p:cNvSpPr/>
          <p:nvPr/>
        </p:nvSpPr>
        <p:spPr>
          <a:xfrm>
            <a:off x="1371600" y="256032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Official language samples</a:t>
            </a:r>
            <a:endParaRPr lang="en-US" sz="1400" dirty="0"/>
          </a:p>
        </p:txBody>
      </p:sp>
      <p:sp>
        <p:nvSpPr>
          <p:cNvPr id="16" name="Text 13"/>
          <p:cNvSpPr/>
          <p:nvPr/>
        </p:nvSpPr>
        <p:spPr>
          <a:xfrm>
            <a:off x="1371600" y="283464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Use idiomatic patterns, then verify with the bundled runtime</a:t>
            </a:r>
            <a:endParaRPr lang="en-US" sz="1100" dirty="0"/>
          </a:p>
        </p:txBody>
      </p:sp>
      <p:sp>
        <p:nvSpPr>
          <p:cNvPr id="17" name="Shape 14"/>
          <p:cNvSpPr/>
          <p:nvPr/>
        </p:nvSpPr>
        <p:spPr>
          <a:xfrm>
            <a:off x="731520" y="3383280"/>
            <a:ext cx="457200" cy="457200"/>
          </a:xfrm>
          <a:prstGeom prst="line">
            <a:avLst/>
          </a:prstGeom>
          <a:solidFill>
            <a:srgbClr val="1F6FEB"/>
          </a:solidFill>
          <a:ln w="6350">
            <a:solidFill>
              <a:srgbClr val="30363D"/>
            </a:solidFill>
          </a:ln>
        </p:spPr>
        <p:txBody>
          <a:bodyPr/>
          <a:lstStyle/>
          <a:p>
            <a:endParaRPr/>
          </a:p>
        </p:txBody>
      </p:sp>
      <p:sp>
        <p:nvSpPr>
          <p:cNvPr id="18" name="Text 15"/>
          <p:cNvSpPr/>
          <p:nvPr/>
        </p:nvSpPr>
        <p:spPr>
          <a:xfrm>
            <a:off x="731520" y="3383280"/>
            <a:ext cx="457200" cy="457200"/>
          </a:xfrm>
          <a:prstGeom prst="rect">
            <a:avLst/>
          </a:prstGeom>
          <a:noFill/>
          <a:ln>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9" name="Text 16"/>
          <p:cNvSpPr/>
          <p:nvPr/>
        </p:nvSpPr>
        <p:spPr>
          <a:xfrm>
            <a:off x="1371600" y="3337560"/>
            <a:ext cx="3657600" cy="274320"/>
          </a:xfrm>
          <a:prstGeom prst="rect">
            <a:avLst/>
          </a:prstGeom>
          <a:noFill/>
          <a:ln>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Live events and results</a:t>
            </a:r>
            <a:endParaRPr lang="en-US" sz="1400" dirty="0"/>
          </a:p>
        </p:txBody>
      </p:sp>
      <p:sp>
        <p:nvSpPr>
          <p:cNvPr id="20" name="Text 17"/>
          <p:cNvSpPr/>
          <p:nvPr/>
        </p:nvSpPr>
        <p:spPr>
          <a:xfrm>
            <a:off x="1371600" y="3611880"/>
            <a:ext cx="3657600" cy="274320"/>
          </a:xfrm>
          <a:prstGeom prst="rect">
            <a:avLst/>
          </a:prstGeom>
          <a:noFill/>
          <a:ln>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A plausible model answer is not proof that a tool ran</a:t>
            </a:r>
            <a:endParaRPr lang="en-US" sz="1100" dirty="0"/>
          </a:p>
        </p:txBody>
      </p:sp>
      <p:sp>
        <p:nvSpPr>
          <p:cNvPr id="21" name="Shape 18"/>
          <p:cNvSpPr/>
          <p:nvPr/>
        </p:nvSpPr>
        <p:spPr>
          <a:xfrm>
            <a:off x="5669280" y="1005840"/>
            <a:ext cx="3017520" cy="3200400"/>
          </a:xfrm>
          <a:prstGeom prst="line">
            <a:avLst/>
          </a:prstGeom>
          <a:solidFill>
            <a:srgbClr val="161B22"/>
          </a:solidFill>
          <a:ln w="12700">
            <a:prstDash val="solid"/>
          </a:ln>
        </p:spPr>
        <p:txBody>
          <a:bodyPr/>
          <a:lstStyle/>
          <a:p>
            <a:endParaRPr/>
          </a:p>
        </p:txBody>
      </p:sp>
      <p:sp>
        <p:nvSpPr>
          <p:cNvPr id="22" name="Text 19"/>
          <p:cNvSpPr/>
          <p:nvPr/>
        </p:nvSpPr>
        <p:spPr>
          <a:xfrm>
            <a:off x="5852160" y="1097280"/>
            <a:ext cx="2651760" cy="320040"/>
          </a:xfrm>
          <a:prstGeom prst="rect">
            <a:avLst/>
          </a:prstGeom>
          <a:noFill/>
          <a:ln>
            <a:noFill/>
          </a:ln>
        </p:spPr>
        <p:txBody>
          <a:bodyPr wrap="square" lIns="0" tIns="0" rIns="0" bIns="0" rtlCol="0" anchor="ctr"/>
          <a:lstStyle/>
          <a:p>
            <a:pPr marL="0" indent="0">
              <a:buNone/>
            </a:pPr>
            <a:r>
              <a:rPr lang="en-US" sz="1600" b="1" dirty="0">
                <a:solidFill>
                  <a:srgbClr val="58A6FF"/>
                </a:solidFill>
                <a:latin typeface="Calibri" pitchFamily="34" charset="0"/>
                <a:ea typeface="Calibri" pitchFamily="34" charset="-122"/>
                <a:cs typeface="Calibri" pitchFamily="34" charset="-120"/>
              </a:rPr>
              <a:t>Primary References</a:t>
            </a:r>
            <a:endParaRPr lang="en-US" sz="1600" dirty="0"/>
          </a:p>
        </p:txBody>
      </p:sp>
      <p:sp>
        <p:nvSpPr>
          <p:cNvPr id="23" name="Text 20"/>
          <p:cNvSpPr/>
          <p:nvPr/>
        </p:nvSpPr>
        <p:spPr>
          <a:xfrm>
            <a:off x="5852160" y="150876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Official SDK</a:t>
            </a:r>
            <a:endParaRPr lang="en-US" sz="1000" dirty="0"/>
          </a:p>
        </p:txBody>
      </p:sp>
      <p:sp>
        <p:nvSpPr>
          <p:cNvPr id="24" name="Text 21"/>
          <p:cNvSpPr/>
          <p:nvPr/>
        </p:nvSpPr>
        <p:spPr>
          <a:xfrm>
            <a:off x="5852160" y="167335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github.com/github/copilot-sdk</a:t>
            </a:r>
            <a:endParaRPr lang="en-US" sz="800" dirty="0"/>
          </a:p>
        </p:txBody>
      </p:sp>
      <p:sp>
        <p:nvSpPr>
          <p:cNvPr id="25" name="Text 22"/>
          <p:cNvSpPr/>
          <p:nvPr/>
        </p:nvSpPr>
        <p:spPr>
          <a:xfrm>
            <a:off x="5852160" y="192024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Official Python samples</a:t>
            </a:r>
            <a:endParaRPr lang="en-US" sz="1000" dirty="0"/>
          </a:p>
        </p:txBody>
      </p:sp>
      <p:sp>
        <p:nvSpPr>
          <p:cNvPr id="26" name="Text 23"/>
          <p:cNvSpPr/>
          <p:nvPr/>
        </p:nvSpPr>
        <p:spPr>
          <a:xfrm>
            <a:off x="5852160" y="208483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chat.py + manual_tool_resume.py</a:t>
            </a:r>
            <a:endParaRPr lang="en-US" sz="800" dirty="0"/>
          </a:p>
        </p:txBody>
      </p:sp>
      <p:sp>
        <p:nvSpPr>
          <p:cNvPr id="27" name="Text 24"/>
          <p:cNvSpPr/>
          <p:nvPr/>
        </p:nvSpPr>
        <p:spPr>
          <a:xfrm>
            <a:off x="5852160" y="233172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This workshop</a:t>
            </a:r>
            <a:endParaRPr lang="en-US" sz="1000" dirty="0"/>
          </a:p>
        </p:txBody>
      </p:sp>
      <p:sp>
        <p:nvSpPr>
          <p:cNvPr id="28" name="Text 25"/>
          <p:cNvSpPr/>
          <p:nvPr/>
        </p:nvSpPr>
        <p:spPr>
          <a:xfrm>
            <a:off x="5852160" y="249631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github.com/jeffrey-groneberg/ghcp_sdk</a:t>
            </a:r>
            <a:endParaRPr lang="en-US" sz="800" dirty="0"/>
          </a:p>
        </p:txBody>
      </p:sp>
      <p:sp>
        <p:nvSpPr>
          <p:cNvPr id="29" name="Text 26"/>
          <p:cNvSpPr/>
          <p:nvPr/>
        </p:nvSpPr>
        <p:spPr>
          <a:xfrm>
            <a:off x="5852160" y="274320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GitHub MCP server</a:t>
            </a:r>
            <a:endParaRPr lang="en-US" sz="1000" dirty="0"/>
          </a:p>
        </p:txBody>
      </p:sp>
      <p:sp>
        <p:nvSpPr>
          <p:cNvPr id="30" name="Text 27"/>
          <p:cNvSpPr/>
          <p:nvPr/>
        </p:nvSpPr>
        <p:spPr>
          <a:xfrm>
            <a:off x="5852160" y="290779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github.com/github/github-mcp-server</a:t>
            </a:r>
            <a:endParaRPr lang="en-US" sz="800" dirty="0"/>
          </a:p>
        </p:txBody>
      </p:sp>
      <p:sp>
        <p:nvSpPr>
          <p:cNvPr id="31" name="Text 28"/>
          <p:cNvSpPr/>
          <p:nvPr/>
        </p:nvSpPr>
        <p:spPr>
          <a:xfrm>
            <a:off x="5852160" y="315468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Stable baseline</a:t>
            </a:r>
            <a:endParaRPr lang="en-US" sz="1000" dirty="0"/>
          </a:p>
        </p:txBody>
      </p:sp>
      <p:sp>
        <p:nvSpPr>
          <p:cNvPr id="32" name="Text 29"/>
          <p:cNvSpPr/>
          <p:nvPr/>
        </p:nvSpPr>
        <p:spPr>
          <a:xfrm>
            <a:off x="5852160" y="331927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SDK 1.0.13 · runtime 1.0.83 · verified 14 Sep 2026</a:t>
            </a:r>
            <a:endParaRPr lang="en-US" sz="800" dirty="0"/>
          </a:p>
        </p:txBody>
      </p:sp>
      <p:sp>
        <p:nvSpPr>
          <p:cNvPr id="33" name="Text 30"/>
          <p:cNvSpPr/>
          <p:nvPr/>
        </p:nvSpPr>
        <p:spPr>
          <a:xfrm>
            <a:off x="5852160" y="3566160"/>
            <a:ext cx="2651760" cy="182880"/>
          </a:xfrm>
          <a:prstGeom prst="rect">
            <a:avLst/>
          </a:prstGeom>
          <a:no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Current main</a:t>
            </a:r>
            <a:endParaRPr lang="en-US" sz="1000" dirty="0"/>
          </a:p>
        </p:txBody>
      </p:sp>
      <p:sp>
        <p:nvSpPr>
          <p:cNvPr id="34" name="Text 31"/>
          <p:cNvSpPr/>
          <p:nvPr/>
        </p:nvSpPr>
        <p:spPr>
          <a:xfrm>
            <a:off x="5852160" y="3730752"/>
            <a:ext cx="2651760" cy="182880"/>
          </a:xfrm>
          <a:prstGeom prst="rect">
            <a:avLst/>
          </a:prstGeom>
          <a:noFill/>
          <a:ln>
            <a:noFill/>
          </a:ln>
        </p:spPr>
        <p:txBody>
          <a:bodyPr wrap="square" lIns="0" tIns="0" rIns="0" bIns="0" rtlCol="0" anchor="ctr"/>
          <a:lstStyle/>
          <a:p>
            <a:pPr marL="0" indent="0">
              <a:buNone/>
            </a:pPr>
            <a:r>
              <a:rPr lang="en-US" sz="800" dirty="0">
                <a:solidFill>
                  <a:srgbClr val="8B949E"/>
                </a:solidFill>
                <a:latin typeface="Calibri" pitchFamily="34" charset="0"/>
                <a:ea typeface="Calibri" pitchFamily="34" charset="-122"/>
                <a:cs typeface="Calibri" pitchFamily="34" charset="-120"/>
              </a:rPr>
              <a:t>Preview only; runtime 1.0.84-5 is unreleased</a:t>
            </a:r>
            <a:endParaRPr lang="en-US" sz="800" dirty="0"/>
          </a:p>
        </p:txBody>
      </p:sp>
      <p:sp>
        <p:nvSpPr>
          <p:cNvPr id="35" name="Shape 32"/>
          <p:cNvSpPr/>
          <p:nvPr/>
        </p:nvSpPr>
        <p:spPr>
          <a:xfrm>
            <a:off x="548640" y="4251960"/>
            <a:ext cx="8046720" cy="457200"/>
          </a:xfrm>
          <a:prstGeom prst="line">
            <a:avLst/>
          </a:prstGeom>
          <a:solidFill>
            <a:srgbClr val="1F6FEB">
              <a:alpha val="15000"/>
            </a:srgbClr>
          </a:solidFill>
          <a:ln w="6350">
            <a:solidFill>
              <a:srgbClr val="30363D"/>
            </a:solidFill>
          </a:ln>
        </p:spPr>
        <p:txBody>
          <a:bodyPr/>
          <a:lstStyle/>
          <a:p>
            <a:endParaRPr/>
          </a:p>
        </p:txBody>
      </p:sp>
      <p:sp>
        <p:nvSpPr>
          <p:cNvPr id="36" name="Text 33"/>
          <p:cNvSpPr/>
          <p:nvPr/>
        </p:nvSpPr>
        <p:spPr>
          <a:xfrm>
            <a:off x="548640" y="4251960"/>
            <a:ext cx="8046720" cy="457200"/>
          </a:xfrm>
          <a:prstGeom prst="rect">
            <a:avLst/>
          </a:prstGeom>
          <a:noFill/>
          <a:ln>
            <a:noFill/>
          </a:ln>
        </p:spPr>
        <p:txBody>
          <a:bodyPr wrap="square" lIns="0" tIns="0" rIns="0" bIns="0" rtlCol="0" anchor="ctr"/>
          <a:lstStyle/>
          <a:p>
            <a:pPr marL="0" indent="0" algn="ctr">
              <a:buNone/>
            </a:pPr>
            <a:r>
              <a:rPr lang="en-US" sz="1400" b="1" dirty="0">
                <a:solidFill>
                  <a:srgbClr val="58A6FF"/>
                </a:solidFill>
                <a:latin typeface="Calibri" pitchFamily="34" charset="0"/>
                <a:ea typeface="Calibri" pitchFamily="34" charset="-122"/>
                <a:cs typeface="Calibri" pitchFamily="34" charset="-120"/>
              </a:rPr>
              <a:t>When prose disagrees, generated stable types and tests win.</a:t>
            </a:r>
            <a:endParaRPr lang="en-US" sz="1400" dirty="0"/>
          </a:p>
        </p:txBody>
      </p:sp>
      <p:sp>
        <p:nvSpPr>
          <p:cNvPr id="39" name="Text 35"/>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23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07B · Exact-Action Approval</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Validate one harmless command first; ask the human second; approve once only</a:t>
            </a:r>
            <a:endParaRPr lang="en-US" sz="1200" dirty="0"/>
          </a:p>
        </p:txBody>
      </p:sp>
      <p:sp>
        <p:nvSpPr>
          <p:cNvPr id="6" name="Shape 3"/>
          <p:cNvSpPr/>
          <p:nvPr/>
        </p:nvSpPr>
        <p:spPr>
          <a:xfrm>
            <a:off x="548640" y="1143000"/>
            <a:ext cx="8046720" cy="347472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9" name="Text 6"/>
          <p:cNvSpPr/>
          <p:nvPr/>
        </p:nvSpPr>
        <p:spPr>
          <a:xfrm>
            <a:off x="685800" y="1463040"/>
            <a:ext cx="7772400" cy="3200400"/>
          </a:xfrm>
          <a:prstGeom prst="rect">
            <a:avLst/>
          </a:prstGeom>
          <a:noFill/>
          <a:ln>
            <a:noFill/>
          </a:ln>
        </p:spPr>
        <p:txBody>
          <a:bodyPr wrap="none" lIns="25400" tIns="25400" rIns="25400" bIns="25400" rtlCol="0" anchor="t"/>
          <a:lstStyle/>
          <a:p>
            <a:pPr algn="l">
              <a:lnSpc>
                <a:spcPts val="1210"/>
              </a:lnSpc>
              <a:spcBef>
                <a:spcPts val="0"/>
              </a:spcBef>
              <a:spcAft>
                <a:spcPts val="0"/>
              </a:spcAft>
            </a:pPr>
            <a:r>
              <a:rPr sz="1500">
                <a:solidFill>
                  <a:srgbClr val="E6EDF3"/>
                </a:solidFill>
                <a:latin typeface="Courier New"/>
              </a:rPr>
              <a:t xml:space="preserve">from copilot.rpc import (</a:t>
            </a:r>
          </a:p>
          <a:p>
            <a:pPr algn="l">
              <a:lnSpc>
                <a:spcPts val="1210"/>
              </a:lnSpc>
              <a:spcBef>
                <a:spcPts val="0"/>
              </a:spcBef>
              <a:spcAft>
                <a:spcPts val="0"/>
              </a:spcAft>
            </a:pPr>
            <a:r>
              <a:rPr sz="1500">
                <a:solidFill>
                  <a:srgbClr val="E6EDF3"/>
                </a:solidFill>
                <a:latin typeface="Courier New"/>
              </a:rPr>
              <a:t xml:space="preserve">    PermissionDecisionApproveOnce, PermissionDecisionReject)</a:t>
            </a:r>
          </a:p>
          <a:p>
            <a:pPr algn="l">
              <a:lnSpc>
                <a:spcPts val="1210"/>
              </a:lnSpc>
              <a:spcBef>
                <a:spcPts val="0"/>
              </a:spcBef>
              <a:spcAft>
                <a:spcPts val="0"/>
              </a:spcAft>
            </a:pPr>
            <a:r>
              <a:rPr sz="1500">
                <a:solidFill>
                  <a:srgbClr val="E6EDF3"/>
                </a:solidFill>
                <a:latin typeface="Courier New"/>
              </a:rPr>
              <a:t xml:space="preserve">from copilot.session_events import PermissionRequestShell</a:t>
            </a:r>
          </a:p>
          <a:p>
            <a:pPr algn="l">
              <a:lnSpc>
                <a:spcPts val="1210"/>
              </a:lnSpc>
              <a:spcBef>
                <a:spcPts val="0"/>
              </a:spcBef>
              <a:spcAft>
                <a:spcPts val="0"/>
              </a:spcAft>
            </a:pPr>
            <a:r>
              <a:rPr sz="1500">
                <a:solidFill>
                  <a:srgbClr val="E6EDF3"/>
                </a:solidFill>
                <a:latin typeface="Courier New"/>
              </a:rPr>
              <a:t xml:space="preserve">async def on_permission_request(request, invocation):</a:t>
            </a:r>
          </a:p>
          <a:p>
            <a:pPr algn="l">
              <a:lnSpc>
                <a:spcPts val="1210"/>
              </a:lnSpc>
              <a:spcBef>
                <a:spcPts val="0"/>
              </a:spcBef>
              <a:spcAft>
                <a:spcPts val="0"/>
              </a:spcAft>
            </a:pPr>
            <a:r>
              <a:rPr sz="1500">
                <a:solidFill>
                  <a:srgbClr val="E6EDF3"/>
                </a:solidFill>
                <a:latin typeface="Courier New"/>
              </a:rPr>
              <a:t xml:space="preserve">    match request:</a:t>
            </a:r>
          </a:p>
          <a:p>
            <a:pPr algn="l">
              <a:lnSpc>
                <a:spcPts val="1210"/>
              </a:lnSpc>
              <a:spcBef>
                <a:spcPts val="0"/>
              </a:spcBef>
              <a:spcAft>
                <a:spcPts val="0"/>
              </a:spcAft>
            </a:pPr>
            <a:r>
              <a:rPr sz="1500">
                <a:solidFill>
                  <a:srgbClr val="E6EDF3"/>
                </a:solidFill>
                <a:latin typeface="Courier New"/>
              </a:rPr>
              <a:t xml:space="preserve">        case PermissionRequestShell(full_command_text=cmd):</a:t>
            </a:r>
          </a:p>
          <a:p>
            <a:pPr algn="l">
              <a:lnSpc>
                <a:spcPts val="1210"/>
              </a:lnSpc>
              <a:spcBef>
                <a:spcPts val="0"/>
              </a:spcBef>
              <a:spcAft>
                <a:spcPts val="0"/>
              </a:spcAft>
            </a:pPr>
            <a:r>
              <a:rPr sz="1500">
                <a:solidFill>
                  <a:srgbClr val="E6EDF3"/>
                </a:solidFill>
                <a:latin typeface="Courier New"/>
              </a:rPr>
              <a:t xml:space="preserve">            if not is_expected_command(cmd):</a:t>
            </a:r>
          </a:p>
          <a:p>
            <a:pPr algn="l">
              <a:lnSpc>
                <a:spcPts val="1210"/>
              </a:lnSpc>
              <a:spcBef>
                <a:spcPts val="0"/>
              </a:spcBef>
              <a:spcAft>
                <a:spcPts val="0"/>
              </a:spcAft>
            </a:pPr>
            <a:r>
              <a:rPr sz="1500">
                <a:solidFill>
                  <a:srgbClr val="E6EDF3"/>
                </a:solidFill>
                <a:latin typeface="Courier New"/>
              </a:rPr>
              <a:t xml:space="preserve">                return PermissionDecisionReject()</a:t>
            </a:r>
          </a:p>
          <a:p>
            <a:pPr algn="l">
              <a:lnSpc>
                <a:spcPts val="1210"/>
              </a:lnSpc>
              <a:spcBef>
                <a:spcPts val="0"/>
              </a:spcBef>
              <a:spcAft>
                <a:spcPts val="0"/>
              </a:spcAft>
            </a:pPr>
            <a:r>
              <a:rPr sz="1500">
                <a:solidFill>
                  <a:srgbClr val="E6EDF3"/>
                </a:solidFill>
                <a:latin typeface="Courier New"/>
              </a:rPr>
              <a:t xml:space="preserve">            answer = await read_answer("Approve once? [y/N]: ", timeout=120)</a:t>
            </a:r>
          </a:p>
          <a:p>
            <a:pPr algn="l">
              <a:lnSpc>
                <a:spcPts val="1210"/>
              </a:lnSpc>
              <a:spcBef>
                <a:spcPts val="0"/>
              </a:spcBef>
              <a:spcAft>
                <a:spcPts val="0"/>
              </a:spcAft>
            </a:pPr>
            <a:r>
              <a:rPr sz="1500">
                <a:solidFill>
                  <a:srgbClr val="E6EDF3"/>
                </a:solidFill>
                <a:latin typeface="Courier New"/>
              </a:rPr>
              <a:t xml:space="preserve">            if answer.lower() == "y":</a:t>
            </a:r>
          </a:p>
          <a:p>
            <a:pPr algn="l">
              <a:lnSpc>
                <a:spcPts val="1210"/>
              </a:lnSpc>
              <a:spcBef>
                <a:spcPts val="0"/>
              </a:spcBef>
              <a:spcAft>
                <a:spcPts val="0"/>
              </a:spcAft>
            </a:pPr>
            <a:r>
              <a:rPr sz="1500">
                <a:solidFill>
                  <a:srgbClr val="E6EDF3"/>
                </a:solidFill>
                <a:latin typeface="Courier New"/>
              </a:rPr>
              <a:t xml:space="preserve">                return PermissionDecisionApproveOnce()</a:t>
            </a:r>
          </a:p>
          <a:p>
            <a:pPr algn="l">
              <a:lnSpc>
                <a:spcPts val="1210"/>
              </a:lnSpc>
              <a:spcBef>
                <a:spcPts val="0"/>
              </a:spcBef>
              <a:spcAft>
                <a:spcPts val="0"/>
              </a:spcAft>
            </a:pPr>
            <a:r>
              <a:rPr sz="1500">
                <a:solidFill>
                  <a:srgbClr val="E6EDF3"/>
                </a:solidFill>
                <a:latin typeface="Courier New"/>
              </a:rPr>
              <a:t xml:space="preserve">    return PermissionDecisionReject()</a:t>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a:p>
            <a:pPr algn="l">
              <a:lnSpc>
                <a:spcPts val="1210"/>
              </a:lnSpc>
              <a:spcBef>
                <a:spcPts val="0"/>
              </a:spcBef>
              <a:spcAft>
                <a:spcPts val="0"/>
              </a:spcAft>
            </a:pPr>
            <a:r>
              <a:rPr sz="1100">
                <a:solidFill>
                  <a:srgbClr val="E6EDF3"/>
                </a:solidFill>
                <a:latin typeface="Courier New"/>
              </a:rPr>
              <a:t xml:space="preserve"/>
            </a:r>
          </a:p>
        </p:txBody>
      </p:sp>
      <p:sp>
        <p:nvSpPr>
          <p:cNvPr id="13" name="Text 9"/>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17 / 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a:effectLst/>
      </p:bgPr>
    </p:bg>
    <p:spTree>
      <p:nvGrpSpPr>
        <p:cNvPr id="1" name=""/>
        <p:cNvGrpSpPr/>
        <p:nvPr/>
      </p:nvGrpSpPr>
      <p:grpSpPr>
        <a:xfrm>
          <a:off x="0" y="0"/>
          <a:ext cx="0" cy="0"/>
          <a:chOff x="0" y="0"/>
          <a:chExt cx="0" cy="0"/>
        </a:xfrm>
      </p:grpSpPr>
      <p:sp>
        <p:nvSpPr>
          <p:cNvPr id="3" name="Text 1"/>
          <p:cNvSpPr/>
          <p:nvPr/>
        </p:nvSpPr>
        <p:spPr>
          <a:xfrm>
            <a:off x="548640" y="274320"/>
            <a:ext cx="7315200" cy="548640"/>
          </a:xfrm>
          <a:prstGeom prst="rect">
            <a:avLst/>
          </a:prstGeom>
          <a:no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Example 04 · Hooks</a:t>
            </a:r>
            <a:endParaRPr lang="en-US" sz="2600" dirty="0"/>
          </a:p>
        </p:txBody>
      </p:sp>
      <p:pic>
        <p:nvPicPr>
          <p:cNvPr id="4" name="Image 0" descr="preencoded.png"/>
          <p:cNvPicPr>
            <a:picLocks noChangeAspect="1"/>
          </p:cNvPicPr>
          <p:nvPr/>
        </p:nvPicPr>
        <p:blipFill>
          <a:blip r:embed="rId3"/>
          <a:stretch>
            <a:fillRect/>
          </a:stretch>
        </p:blipFill>
        <p:spPr>
          <a:xfrm>
            <a:off x="8229600" y="320040"/>
            <a:ext cx="457200" cy="457200"/>
          </a:xfrm>
          <a:prstGeom prst="rect">
            <a:avLst/>
          </a:prstGeom>
        </p:spPr>
      </p:pic>
      <p:sp>
        <p:nvSpPr>
          <p:cNvPr id="5" name="Text 2"/>
          <p:cNvSpPr/>
          <p:nvPr/>
        </p:nvSpPr>
        <p:spPr>
          <a:xfrm>
            <a:off x="548640" y="777240"/>
            <a:ext cx="8046720" cy="274320"/>
          </a:xfrm>
          <a:prstGeom prst="rect">
            <a:avLst/>
          </a:prstGeom>
          <a:noFill/>
          <a:ln>
            <a:noFill/>
          </a:ln>
        </p:spPr>
        <p:txBody>
          <a:bodyPr wrap="square" lIns="0" tIns="0" rIns="0" bIns="0" rtlCol="0" anchor="ctr"/>
          <a:lstStyle/>
          <a:p>
            <a:pPr marL="0" indent="0">
              <a:buNone/>
            </a:pPr>
            <a:r>
              <a:rPr lang="en-US" sz="1200" dirty="0">
                <a:solidFill>
                  <a:srgbClr val="8B949E"/>
                </a:solidFill>
                <a:latin typeface="Calibri" pitchFamily="34" charset="0"/>
                <a:ea typeface="Calibri" pitchFamily="34" charset="-122"/>
                <a:cs typeface="Calibri" pitchFamily="34" charset="-120"/>
              </a:rPr>
              <a:t>Pre-call, success, and failure callbacks for audit and defense-in-depth; not isolation</a:t>
            </a:r>
            <a:endParaRPr lang="en-US" sz="1200" dirty="0"/>
          </a:p>
        </p:txBody>
      </p:sp>
      <p:sp>
        <p:nvSpPr>
          <p:cNvPr id="6" name="Shape 3"/>
          <p:cNvSpPr/>
          <p:nvPr/>
        </p:nvSpPr>
        <p:spPr>
          <a:xfrm>
            <a:off x="548640" y="1143000"/>
            <a:ext cx="8046720" cy="3566160"/>
          </a:xfrm>
          <a:prstGeom prst="line">
            <a:avLst/>
          </a:prstGeom>
          <a:solidFill>
            <a:srgbClr val="161B22"/>
          </a:solidFill>
          <a:ln w="12700">
            <a:prstDash val="solid"/>
          </a:ln>
        </p:spPr>
        <p:txBody>
          <a:bodyPr/>
          <a:lstStyle/>
          <a:p>
            <a:endParaRPr/>
          </a:p>
        </p:txBody>
      </p:sp>
      <p:sp>
        <p:nvSpPr>
          <p:cNvPr id="7" name="Shape 4"/>
          <p:cNvSpPr/>
          <p:nvPr/>
        </p:nvSpPr>
        <p:spPr>
          <a:xfrm>
            <a:off x="548640" y="1143000"/>
            <a:ext cx="1371600" cy="256032"/>
          </a:xfrm>
          <a:prstGeom prst="line">
            <a:avLst/>
          </a:prstGeom>
          <a:solidFill>
            <a:srgbClr val="1F6FEB"/>
          </a:solidFill>
          <a:ln w="6350">
            <a:solidFill>
              <a:srgbClr val="30363D"/>
            </a:solidFill>
          </a:ln>
        </p:spPr>
        <p:txBody>
          <a:bodyPr/>
          <a:lstStyle/>
          <a:p>
            <a:endParaRPr/>
          </a:p>
        </p:txBody>
      </p:sp>
      <p:sp>
        <p:nvSpPr>
          <p:cNvPr id="8" name="Text 5"/>
          <p:cNvSpPr/>
          <p:nvPr/>
        </p:nvSpPr>
        <p:spPr>
          <a:xfrm>
            <a:off x="548640" y="1143000"/>
            <a:ext cx="1371600" cy="256032"/>
          </a:xfrm>
          <a:prstGeom prst="rect">
            <a:avLst/>
          </a:prstGeom>
          <a:noFill/>
          <a:ln>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Python</a:t>
            </a:r>
            <a:endParaRPr lang="en-US" sz="900" dirty="0"/>
          </a:p>
        </p:txBody>
      </p:sp>
      <p:sp>
        <p:nvSpPr>
          <p:cNvPr id="9" name="Text 6"/>
          <p:cNvSpPr/>
          <p:nvPr/>
        </p:nvSpPr>
        <p:spPr>
          <a:xfrm>
            <a:off x="685800" y="1463040"/>
            <a:ext cx="7772400" cy="3200400"/>
          </a:xfrm>
          <a:prstGeom prst="rect">
            <a:avLst/>
          </a:prstGeom>
          <a:noFill/>
          <a:ln>
            <a:noFill/>
          </a:ln>
        </p:spPr>
        <p:txBody>
          <a:bodyPr wrap="none" lIns="25400" tIns="25400" rIns="25400" bIns="25400" rtlCol="0" anchor="t"/>
          <a:lstStyle/>
          <a:p>
            <a:pPr algn="l">
              <a:lnSpc>
                <a:spcPts val="1320"/>
              </a:lnSpc>
              <a:spcBef>
                <a:spcPts val="0"/>
              </a:spcBef>
              <a:spcAft>
                <a:spcPts val="0"/>
              </a:spcAft>
            </a:pPr>
            <a:r>
              <a:rPr sz="1200">
                <a:solidFill>
                  <a:srgbClr val="E6EDF3"/>
                </a:solidFill>
                <a:latin typeface="Courier New"/>
              </a:rPr>
              <a:t xml:space="preserve">async def on_pre_tool_use(input_data, invocation):</a:t>
            </a:r>
          </a:p>
          <a:p>
            <a:pPr algn="l">
              <a:lnSpc>
                <a:spcPts val="1320"/>
              </a:lnSpc>
              <a:spcBef>
                <a:spcPts val="0"/>
              </a:spcBef>
              <a:spcAft>
                <a:spcPts val="0"/>
              </a:spcAft>
            </a:pPr>
            <a:r>
              <a:rPr sz="1200">
                <a:solidFill>
                  <a:srgbClr val="E6EDF3"/>
                </a:solidFill>
                <a:latin typeface="Courier New"/>
              </a:rPr>
              <a:t xml:space="preserve">    print(f"[pre] {input_data['toolName']}")</a:t>
            </a:r>
          </a:p>
          <a:p>
            <a:pPr algn="l">
              <a:lnSpc>
                <a:spcPts val="1320"/>
              </a:lnSpc>
              <a:spcBef>
                <a:spcPts val="0"/>
              </a:spcBef>
              <a:spcAft>
                <a:spcPts val="0"/>
              </a:spcAft>
            </a:pPr>
            <a:r>
              <a:rPr sz="1200">
                <a:solidFill>
                  <a:srgbClr val="E6EDF3"/>
                </a:solidFill>
                <a:latin typeface="Courier New"/>
              </a:rPr>
              <a:t xml:space="preserve">async def on_post_tool_use(input_data, invocation):</a:t>
            </a:r>
          </a:p>
          <a:p>
            <a:pPr algn="l">
              <a:lnSpc>
                <a:spcPts val="1320"/>
              </a:lnSpc>
              <a:spcBef>
                <a:spcPts val="0"/>
              </a:spcBef>
              <a:spcAft>
                <a:spcPts val="0"/>
              </a:spcAft>
            </a:pPr>
            <a:r>
              <a:rPr sz="1200">
                <a:solidFill>
                  <a:srgbClr val="E6EDF3"/>
                </a:solidFill>
                <a:latin typeface="Courier New"/>
              </a:rPr>
              <a:t xml:space="preserve">    print(f"[post] {input_data['toolName']} succeeded")</a:t>
            </a:r>
          </a:p>
          <a:p>
            <a:pPr algn="l">
              <a:lnSpc>
                <a:spcPts val="1320"/>
              </a:lnSpc>
              <a:spcBef>
                <a:spcPts val="0"/>
              </a:spcBef>
              <a:spcAft>
                <a:spcPts val="0"/>
              </a:spcAft>
            </a:pPr>
            <a:r>
              <a:rPr sz="1200">
                <a:solidFill>
                  <a:srgbClr val="E6EDF3"/>
                </a:solidFill>
                <a:latin typeface="Courier New"/>
              </a:rPr>
              <a:t xml:space="preserve">async def on_post_tool_use_failure(input_data, invocation):</a:t>
            </a:r>
          </a:p>
          <a:p>
            <a:pPr algn="l">
              <a:lnSpc>
                <a:spcPts val="1320"/>
              </a:lnSpc>
              <a:spcBef>
                <a:spcPts val="0"/>
              </a:spcBef>
              <a:spcAft>
                <a:spcPts val="0"/>
              </a:spcAft>
            </a:pPr>
            <a:r>
              <a:rPr sz="1200">
                <a:solidFill>
                  <a:srgbClr val="E6EDF3"/>
                </a:solidFill>
                <a:latin typeface="Courier New"/>
              </a:rPr>
              <a:t xml:space="preserve">    print(f"[failed] {input_data['toolName']}")</a:t>
            </a:r>
          </a:p>
          <a:p>
            <a:pPr algn="l">
              <a:lnSpc>
                <a:spcPts val="1320"/>
              </a:lnSpc>
              <a:spcBef>
                <a:spcPts val="0"/>
              </a:spcBef>
              <a:spcAft>
                <a:spcPts val="0"/>
              </a:spcAft>
            </a:pPr>
            <a:r>
              <a:rPr sz="1200">
                <a:solidFill>
                  <a:srgbClr val="E6EDF3"/>
                </a:solidFill>
                <a:latin typeface="Courier New"/>
              </a:rPr>
              <a:t xml:space="preserve">async with await client.create_session(</a:t>
            </a:r>
          </a:p>
          <a:p>
            <a:pPr algn="l">
              <a:lnSpc>
                <a:spcPts val="1320"/>
              </a:lnSpc>
              <a:spcBef>
                <a:spcPts val="0"/>
              </a:spcBef>
              <a:spcAft>
                <a:spcPts val="0"/>
              </a:spcAft>
            </a:pPr>
            <a:r>
              <a:rPr sz="1200">
                <a:solidFill>
                  <a:srgbClr val="E6EDF3"/>
                </a:solidFill>
                <a:latin typeface="Courier New"/>
              </a:rPr>
              <a:t xml:space="preserve">    available_tools=ToolSet().add_builtin(["glob", "view"]),</a:t>
            </a:r>
          </a:p>
          <a:p>
            <a:pPr algn="l">
              <a:lnSpc>
                <a:spcPts val="1320"/>
              </a:lnSpc>
              <a:spcBef>
                <a:spcPts val="0"/>
              </a:spcBef>
              <a:spcAft>
                <a:spcPts val="0"/>
              </a:spcAft>
            </a:pPr>
            <a:r>
              <a:rPr sz="1200">
                <a:solidFill>
                  <a:srgbClr val="E6EDF3"/>
                </a:solidFill>
                <a:latin typeface="Courier New"/>
              </a:rPr>
              <a:t xml:space="preserve">    on_permission_request=PermissionHandler.approve_all,</a:t>
            </a:r>
          </a:p>
          <a:p>
            <a:pPr algn="l">
              <a:lnSpc>
                <a:spcPts val="1320"/>
              </a:lnSpc>
              <a:spcBef>
                <a:spcPts val="0"/>
              </a:spcBef>
              <a:spcAft>
                <a:spcPts val="0"/>
              </a:spcAft>
            </a:pPr>
            <a:r>
              <a:rPr sz="1200">
                <a:solidFill>
                  <a:srgbClr val="E6EDF3"/>
                </a:solidFill>
                <a:latin typeface="Courier New"/>
              </a:rPr>
              <a:t xml:space="preserve">    hooks={</a:t>
            </a:r>
          </a:p>
          <a:p>
            <a:pPr algn="l">
              <a:lnSpc>
                <a:spcPts val="1320"/>
              </a:lnSpc>
              <a:spcBef>
                <a:spcPts val="0"/>
              </a:spcBef>
              <a:spcAft>
                <a:spcPts val="0"/>
              </a:spcAft>
            </a:pPr>
            <a:r>
              <a:rPr sz="1200">
                <a:solidFill>
                  <a:srgbClr val="E6EDF3"/>
                </a:solidFill>
                <a:latin typeface="Courier New"/>
              </a:rPr>
              <a:t xml:space="preserve">        "on_pre_tool_use": on_pre_tool_use,</a:t>
            </a:r>
          </a:p>
          <a:p>
            <a:pPr algn="l">
              <a:lnSpc>
                <a:spcPts val="1320"/>
              </a:lnSpc>
              <a:spcBef>
                <a:spcPts val="0"/>
              </a:spcBef>
              <a:spcAft>
                <a:spcPts val="0"/>
              </a:spcAft>
            </a:pPr>
            <a:r>
              <a:rPr sz="1200">
                <a:solidFill>
                  <a:srgbClr val="E6EDF3"/>
                </a:solidFill>
                <a:latin typeface="Courier New"/>
              </a:rPr>
              <a:t xml:space="preserve">        "on_post_tool_use": on_post_tool_use,</a:t>
            </a:r>
          </a:p>
          <a:p>
            <a:pPr algn="l">
              <a:lnSpc>
                <a:spcPts val="1320"/>
              </a:lnSpc>
              <a:spcBef>
                <a:spcPts val="0"/>
              </a:spcBef>
              <a:spcAft>
                <a:spcPts val="0"/>
              </a:spcAft>
            </a:pPr>
            <a:r>
              <a:rPr sz="1200">
                <a:solidFill>
                  <a:srgbClr val="E6EDF3"/>
                </a:solidFill>
                <a:latin typeface="Courier New"/>
              </a:rPr>
              <a:t xml:space="preserve">        "on_post_tool_use_failure": on_post_tool_use_failure,</a:t>
            </a:r>
          </a:p>
          <a:p>
            <a:pPr algn="l">
              <a:lnSpc>
                <a:spcPts val="1320"/>
              </a:lnSpc>
              <a:spcBef>
                <a:spcPts val="0"/>
              </a:spcBef>
              <a:spcAft>
                <a:spcPts val="0"/>
              </a:spcAft>
            </a:pPr>
            <a:r>
              <a:rPr sz="1200">
                <a:solidFill>
                  <a:srgbClr val="E6EDF3"/>
                </a:solidFill>
                <a:latin typeface="Courier New"/>
              </a:rPr>
              <a:t xml:space="preserve">    },</a:t>
            </a:r>
          </a:p>
          <a:p>
            <a:pPr algn="l">
              <a:lnSpc>
                <a:spcPts val="1320"/>
              </a:lnSpc>
              <a:spcBef>
                <a:spcPts val="0"/>
              </a:spcBef>
              <a:spcAft>
                <a:spcPts val="0"/>
              </a:spcAft>
            </a:pPr>
            <a:r>
              <a:rPr sz="1200">
                <a:solidFill>
                  <a:srgbClr val="E6EDF3"/>
                </a:solidFill>
                <a:latin typeface="Courier New"/>
              </a:rPr>
              <a:t xml:space="preserve">) as session:</a:t>
            </a:r>
          </a:p>
          <a:p>
            <a:pPr algn="l">
              <a:lnSpc>
                <a:spcPts val="1320"/>
              </a:lnSpc>
              <a:spcBef>
                <a:spcPts val="0"/>
              </a:spcBef>
              <a:spcAft>
                <a:spcPts val="0"/>
              </a:spcAft>
            </a:pPr>
            <a:r>
              <a:rPr sz="1200">
                <a:solidFill>
                  <a:srgbClr val="E6EDF3"/>
                </a:solidFill>
                <a:latin typeface="Courier New"/>
              </a:rPr>
              <a:t xml:space="preserve">    await session.send_and_wait(</a:t>
            </a:r>
          </a:p>
          <a:p>
            <a:pPr algn="l">
              <a:lnSpc>
                <a:spcPts val="1320"/>
              </a:lnSpc>
              <a:spcBef>
                <a:spcPts val="0"/>
              </a:spcBef>
              <a:spcAft>
                <a:spcPts val="0"/>
              </a:spcAft>
            </a:pPr>
            <a:r>
              <a:rPr sz="1200">
                <a:solidFill>
                  <a:srgbClr val="E6EDF3"/>
                </a:solidFill>
                <a:latin typeface="Courier New"/>
              </a:rPr>
              <a:t xml:space="preserve">        "List files in the current directory.", timeout=120,</a:t>
            </a:r>
          </a:p>
          <a:p>
            <a:pPr algn="l">
              <a:lnSpc>
                <a:spcPts val="1320"/>
              </a:lnSpc>
              <a:spcBef>
                <a:spcPts val="0"/>
              </a:spcBef>
              <a:spcAft>
                <a:spcPts val="0"/>
              </a:spcAft>
            </a:pPr>
            <a:r>
              <a:rPr sz="1200">
                <a:solidFill>
                  <a:srgbClr val="E6EDF3"/>
                </a:solidFill>
                <a:latin typeface="Courier New"/>
              </a:rPr>
              <a:t xml:space="preserve">    )</a:t>
            </a:r>
          </a:p>
        </p:txBody>
      </p:sp>
      <p:sp>
        <p:nvSpPr>
          <p:cNvPr id="12" name="Text 8"/>
          <p:cNvSpPr/>
          <p:nvPr/>
        </p:nvSpPr>
        <p:spPr>
          <a:xfrm>
            <a:off x="8046720" y="4754880"/>
            <a:ext cx="914400" cy="274320"/>
          </a:xfrm>
          <a:prstGeom prst="rect">
            <a:avLst/>
          </a:prstGeom>
          <a:noFill/>
          <a:ln>
            <a:noFill/>
          </a:ln>
        </p:spPr>
        <p:txBody>
          <a:bodyPr wrap="square" rtlCol="0" anchor="ctr"/>
          <a:lstStyle/>
          <a:p>
            <a:pPr marL="0" indent="0" algn="r">
              <a:buNone/>
            </a:pPr>
            <a:r>
              <a:rPr lang="en-US" sz="900" dirty="0">
                <a:solidFill>
                  <a:srgbClr val="8B949E"/>
                </a:solidFill>
                <a:latin typeface="Calibri" pitchFamily="34" charset="0"/>
                <a:ea typeface="Calibri" pitchFamily="34" charset="-122"/>
                <a:cs typeface="Calibri" pitchFamily="34" charset="-120"/>
              </a:rPr>
              <a:t>12 / 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600" b="1" i="0">
                <a:solidFill>
                  <a:srgbClr val="C9D1D9"/>
                </a:solidFill>
                <a:latin typeface="Calibri"/>
              </a:rPr>
              <a:t>What's New in v1.0.13</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Stable release: 4 September 2026 · Workshop baseline checked 7 September 2026</a:t>
            </a:r>
          </a:p>
        </p:txBody>
      </p:sp>
      <p:sp>
        <p:nvSpPr>
          <p:cNvPr id="4" name="Rectangle 3"/>
          <p:cNvSpPr/>
          <p:nvPr/>
        </p:nvSpPr>
        <p:spPr>
          <a:xfrm>
            <a:off x="548640" y="1143000"/>
            <a:ext cx="3931920" cy="33832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234440"/>
            <a:ext cx="3474720" cy="274320"/>
          </a:xfrm>
          <a:prstGeom prst="rect">
            <a:avLst/>
          </a:prstGeom>
          <a:noFill/>
        </p:spPr>
        <p:txBody>
          <a:bodyPr wrap="square">
            <a:spAutoFit/>
          </a:bodyPr>
          <a:lstStyle/>
          <a:p>
            <a:pPr algn="l">
              <a:spcBef>
                <a:spcPts val="0"/>
              </a:spcBef>
              <a:spcAft>
                <a:spcPts val="0"/>
              </a:spcAft>
            </a:pPr>
            <a:r>
              <a:rPr sz="1400" b="1" i="0">
                <a:solidFill>
                  <a:srgbClr val="3FB950"/>
                </a:solidFill>
                <a:latin typeface="Calibri"/>
              </a:rPr>
              <a:t>Application Control</a:t>
            </a:r>
          </a:p>
        </p:txBody>
      </p:sp>
      <p:sp>
        <p:nvSpPr>
          <p:cNvPr id="7" name="TextBox 6"/>
          <p:cNvSpPr txBox="1"/>
          <p:nvPr/>
        </p:nvSpPr>
        <p:spPr>
          <a:xfrm>
            <a:off x="777240" y="160020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Client identity</a:t>
            </a:r>
          </a:p>
        </p:txBody>
      </p:sp>
      <p:sp>
        <p:nvSpPr>
          <p:cNvPr id="8" name="TextBox 7"/>
          <p:cNvSpPr txBox="1"/>
          <p:nvPr/>
        </p:nvSpPr>
        <p:spPr>
          <a:xfrm>
            <a:off x="777240" y="178308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client_info attributes runtime telemetry to your app</a:t>
            </a:r>
          </a:p>
        </p:txBody>
      </p:sp>
      <p:sp>
        <p:nvSpPr>
          <p:cNvPr id="9" name="TextBox 8"/>
          <p:cNvSpPr txBox="1"/>
          <p:nvPr/>
        </p:nvSpPr>
        <p:spPr>
          <a:xfrm>
            <a:off x="777240" y="210312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Rotating GitHub credentials</a:t>
            </a:r>
          </a:p>
        </p:txBody>
      </p:sp>
      <p:sp>
        <p:nvSpPr>
          <p:cNvPr id="10" name="TextBox 9"/>
          <p:cNvSpPr txBox="1"/>
          <p:nvPr/>
        </p:nvSpPr>
        <p:spPr>
          <a:xfrm>
            <a:off x="777240" y="228600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github_token_provider handles initial / refresh</a:t>
            </a:r>
          </a:p>
        </p:txBody>
      </p:sp>
      <p:sp>
        <p:nvSpPr>
          <p:cNvPr id="11" name="TextBox 10"/>
          <p:cNvSpPr txBox="1"/>
          <p:nvPr/>
        </p:nvSpPr>
        <p:spPr>
          <a:xfrm>
            <a:off x="777240" y="260604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Selectable ask_user</a:t>
            </a:r>
          </a:p>
        </p:txBody>
      </p:sp>
      <p:sp>
        <p:nvSpPr>
          <p:cNvPr id="12" name="TextBox 11"/>
          <p:cNvSpPr txBox="1"/>
          <p:nvPr/>
        </p:nvSpPr>
        <p:spPr>
          <a:xfrm>
            <a:off x="777240" y="278892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Legacy Q&amp;A or structured elicitation forms</a:t>
            </a:r>
          </a:p>
        </p:txBody>
      </p:sp>
      <p:sp>
        <p:nvSpPr>
          <p:cNvPr id="13" name="TextBox 12"/>
          <p:cNvSpPr txBox="1"/>
          <p:nvPr/>
        </p:nvSpPr>
        <p:spPr>
          <a:xfrm>
            <a:off x="777240" y="310896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Managed permissions</a:t>
            </a:r>
          </a:p>
        </p:txBody>
      </p:sp>
      <p:sp>
        <p:nvSpPr>
          <p:cNvPr id="14" name="TextBox 13"/>
          <p:cNvSpPr txBox="1"/>
          <p:nvPr/>
        </p:nvSpPr>
        <p:spPr>
          <a:xfrm>
            <a:off x="777240" y="329184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Startup policy; CLI 1.0.79-5+; re-supply on resume</a:t>
            </a:r>
          </a:p>
        </p:txBody>
      </p:sp>
      <p:sp>
        <p:nvSpPr>
          <p:cNvPr id="15" name="TextBox 14"/>
          <p:cNvSpPr txBox="1"/>
          <p:nvPr/>
        </p:nvSpPr>
        <p:spPr>
          <a:xfrm>
            <a:off x="777240" y="361188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Auto routing tiers</a:t>
            </a:r>
          </a:p>
        </p:txBody>
      </p:sp>
      <p:sp>
        <p:nvSpPr>
          <p:cNvPr id="16" name="TextBox 15"/>
          <p:cNvSpPr txBox="1"/>
          <p:nvPr/>
        </p:nvSpPr>
        <p:spPr>
          <a:xfrm>
            <a:off x="777240" y="379476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Efficiency, balance or intelligence for auto turns</a:t>
            </a:r>
          </a:p>
        </p:txBody>
      </p:sp>
      <p:sp>
        <p:nvSpPr>
          <p:cNvPr id="17" name="TextBox 16"/>
          <p:cNvSpPr txBox="1"/>
          <p:nvPr/>
        </p:nvSpPr>
        <p:spPr>
          <a:xfrm>
            <a:off x="777240" y="411480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Async tool cancellation</a:t>
            </a:r>
          </a:p>
        </p:txBody>
      </p:sp>
      <p:sp>
        <p:nvSpPr>
          <p:cNvPr id="18" name="TextBox 17"/>
          <p:cNvSpPr txBox="1"/>
          <p:nvPr/>
        </p:nvSpPr>
        <p:spPr>
          <a:xfrm>
            <a:off x="777240" y="429768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Release resources; propagate CancelledError</a:t>
            </a:r>
          </a:p>
        </p:txBody>
      </p:sp>
      <p:sp>
        <p:nvSpPr>
          <p:cNvPr id="19" name="Rectangle 18"/>
          <p:cNvSpPr/>
          <p:nvPr/>
        </p:nvSpPr>
        <p:spPr>
          <a:xfrm>
            <a:off x="4663440" y="1143000"/>
            <a:ext cx="3931920" cy="33832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892040" y="1234440"/>
            <a:ext cx="3474720" cy="274320"/>
          </a:xfrm>
          <a:prstGeom prst="rect">
            <a:avLst/>
          </a:prstGeom>
          <a:noFill/>
        </p:spPr>
        <p:txBody>
          <a:bodyPr wrap="square">
            <a:spAutoFit/>
          </a:bodyPr>
          <a:lstStyle/>
          <a:p>
            <a:pPr algn="l">
              <a:spcBef>
                <a:spcPts val="0"/>
              </a:spcBef>
              <a:spcAft>
                <a:spcPts val="0"/>
              </a:spcAft>
            </a:pPr>
            <a:r>
              <a:rPr sz="1400" b="1" i="0">
                <a:solidFill>
                  <a:srgbClr val="F0883E"/>
                </a:solidFill>
                <a:latin typeface="Calibri"/>
              </a:rPr>
              <a:t>Refresh Checklist</a:t>
            </a:r>
          </a:p>
        </p:txBody>
      </p:sp>
      <p:sp>
        <p:nvSpPr>
          <p:cNvPr id="22" name="TextBox 21"/>
          <p:cNvSpPr txBox="1"/>
          <p:nvPr/>
        </p:nvSpPr>
        <p:spPr>
          <a:xfrm>
            <a:off x="4892040" y="160020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Pin the stable package</a:t>
            </a:r>
          </a:p>
        </p:txBody>
      </p:sp>
      <p:sp>
        <p:nvSpPr>
          <p:cNvPr id="23" name="TextBox 22"/>
          <p:cNvSpPr txBox="1"/>
          <p:nvPr/>
        </p:nvSpPr>
        <p:spPr>
          <a:xfrm>
            <a:off x="4892040" y="178308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github-copilot-sdk==1.0.13</a:t>
            </a:r>
          </a:p>
        </p:txBody>
      </p:sp>
      <p:sp>
        <p:nvSpPr>
          <p:cNvPr id="24" name="TextBox 23"/>
          <p:cNvSpPr txBox="1"/>
          <p:nvPr/>
        </p:nvSpPr>
        <p:spPr>
          <a:xfrm>
            <a:off x="4892040" y="210312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Detach, do not destroy</a:t>
            </a:r>
          </a:p>
        </p:txBody>
      </p:sp>
      <p:sp>
        <p:nvSpPr>
          <p:cNvPr id="25" name="TextBox 24"/>
          <p:cNvSpPr txBox="1"/>
          <p:nvPr/>
        </p:nvSpPr>
        <p:spPr>
          <a:xfrm>
            <a:off x="4892040" y="228600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Session exit releases this owner's connection</a:t>
            </a:r>
          </a:p>
        </p:txBody>
      </p:sp>
      <p:sp>
        <p:nvSpPr>
          <p:cNvPr id="26" name="TextBox 25"/>
          <p:cNvSpPr txBox="1"/>
          <p:nvPr/>
        </p:nvSpPr>
        <p:spPr>
          <a:xfrm>
            <a:off x="4892040" y="260604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Bound every turn</a:t>
            </a:r>
          </a:p>
        </p:txBody>
      </p:sp>
      <p:sp>
        <p:nvSpPr>
          <p:cNvPr id="27" name="TextBox 26"/>
          <p:cNvSpPr txBox="1"/>
          <p:nvPr/>
        </p:nvSpPr>
        <p:spPr>
          <a:xfrm>
            <a:off x="4892040" y="278892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send_and_wait raises on timeout / session error</a:t>
            </a:r>
          </a:p>
        </p:txBody>
      </p:sp>
      <p:sp>
        <p:nvSpPr>
          <p:cNvPr id="28" name="TextBox 27"/>
          <p:cNvSpPr txBox="1"/>
          <p:nvPr/>
        </p:nvSpPr>
        <p:spPr>
          <a:xfrm>
            <a:off x="4892040" y="310896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Current MCP tools</a:t>
            </a:r>
          </a:p>
        </p:txBody>
      </p:sp>
      <p:sp>
        <p:nvSpPr>
          <p:cNvPr id="29" name="TextBox 28"/>
          <p:cNvSpPr txBox="1"/>
          <p:nvPr/>
        </p:nvSpPr>
        <p:spPr>
          <a:xfrm>
            <a:off x="4892040" y="329184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issue_read replaces get_issue</a:t>
            </a:r>
          </a:p>
        </p:txBody>
      </p:sp>
      <p:sp>
        <p:nvSpPr>
          <p:cNvPr id="30" name="TextBox 29"/>
          <p:cNvSpPr txBox="1"/>
          <p:nvPr/>
        </p:nvSpPr>
        <p:spPr>
          <a:xfrm>
            <a:off x="4892040" y="3611880"/>
            <a:ext cx="3474720" cy="201168"/>
          </a:xfrm>
          <a:prstGeom prst="rect">
            <a:avLst/>
          </a:prstGeom>
          <a:noFill/>
        </p:spPr>
        <p:txBody>
          <a:bodyPr wrap="square">
            <a:spAutoFit/>
          </a:bodyPr>
          <a:lstStyle/>
          <a:p>
            <a:pPr algn="l">
              <a:spcBef>
                <a:spcPts val="0"/>
              </a:spcBef>
              <a:spcAft>
                <a:spcPts val="0"/>
              </a:spcAft>
            </a:pPr>
            <a:r>
              <a:rPr sz="1050" b="1" i="0">
                <a:solidFill>
                  <a:srgbClr val="C9D1D9"/>
                </a:solidFill>
                <a:latin typeface="Calibri"/>
              </a:rPr>
              <a:t>Re-register on resume</a:t>
            </a:r>
          </a:p>
        </p:txBody>
      </p:sp>
      <p:sp>
        <p:nvSpPr>
          <p:cNvPr id="31" name="TextBox 30"/>
          <p:cNvSpPr txBox="1"/>
          <p:nvPr/>
        </p:nvSpPr>
        <p:spPr>
          <a:xfrm>
            <a:off x="4892040" y="3794760"/>
            <a:ext cx="3474720" cy="201168"/>
          </a:xfrm>
          <a:prstGeom prst="rect">
            <a:avLst/>
          </a:prstGeom>
          <a:noFill/>
        </p:spPr>
        <p:txBody>
          <a:bodyPr wrap="square">
            <a:spAutoFit/>
          </a:bodyPr>
          <a:lstStyle/>
          <a:p>
            <a:pPr algn="l">
              <a:spcBef>
                <a:spcPts val="0"/>
              </a:spcBef>
              <a:spcAft>
                <a:spcPts val="0"/>
              </a:spcAft>
            </a:pPr>
            <a:r>
              <a:rPr sz="900" b="0" i="0">
                <a:solidFill>
                  <a:srgbClr val="8B949E"/>
                </a:solidFill>
                <a:latin typeface="Calibri"/>
              </a:rPr>
              <a:t>Handlers, tools, MCP and managed policy</a:t>
            </a:r>
          </a:p>
        </p:txBody>
      </p:sp>
      <p:sp>
        <p:nvSpPr>
          <p:cNvPr id="32" name="TextBox 32"/>
          <p:cNvSpPr txBox="1"/>
          <p:nvPr/>
        </p:nvSpPr>
        <p:spPr>
          <a:xfrm>
            <a:off x="8046720" y="4754880"/>
            <a:ext cx="914400" cy="274320"/>
          </a:xfrm>
          <a:prstGeom prst="rect">
            <a:avLst/>
          </a:prstGeom>
        </p:spPr>
        <p:txBody>
          <a:bodyPr wrap="square" rtlCol="0">
            <a:spAutoFit/>
          </a:bodyPr>
          <a:lstStyle/>
          <a:p>
            <a:r>
              <a:rPr sz="900">
                <a:solidFill>
                  <a:srgbClr val="8B949E"/>
                </a:solidFill>
              </a:rPr>
              <a:t>26 / 28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7315200" cy="548640"/>
          </a:xfrm>
          <a:prstGeom prst="rect">
            <a:avLst/>
          </a:prstGeom>
          <a:noFill/>
        </p:spPr>
        <p:txBody>
          <a:bodyPr wrap="square">
            <a:spAutoFit/>
          </a:bodyPr>
          <a:lstStyle/>
          <a:p>
            <a:pPr algn="l">
              <a:spcBef>
                <a:spcPts val="0"/>
              </a:spcBef>
              <a:spcAft>
                <a:spcPts val="0"/>
              </a:spcAft>
            </a:pPr>
            <a:r>
              <a:rPr sz="2400" b="1" i="0">
                <a:solidFill>
                  <a:srgbClr val="C9D1D9"/>
                </a:solidFill>
                <a:latin typeface="Calibri"/>
              </a:rPr>
              <a:t>Example 08 · Explicit Sandbox Configuration</a:t>
            </a:r>
          </a:p>
        </p:txBody>
      </p:sp>
      <p:sp>
        <p:nvSpPr>
          <p:cNvPr id="3" name="TextBox 2"/>
          <p:cNvSpPr txBox="1"/>
          <p:nvPr/>
        </p:nvSpPr>
        <p:spPr>
          <a:xfrm>
            <a:off x="548640" y="777240"/>
            <a:ext cx="8046720" cy="274320"/>
          </a:xfrm>
          <a:prstGeom prst="rect">
            <a:avLst/>
          </a:prstGeom>
          <a:noFill/>
        </p:spPr>
        <p:txBody>
          <a:bodyPr wrap="square">
            <a:spAutoFit/>
          </a:bodyPr>
          <a:lstStyle/>
          <a:p>
            <a:pPr algn="l">
              <a:spcBef>
                <a:spcPts val="0"/>
              </a:spcBef>
              <a:spcAft>
                <a:spcPts val="0"/>
              </a:spcAft>
            </a:pPr>
            <a:r>
              <a:rPr sz="1200" b="0" i="0">
                <a:solidFill>
                  <a:srgbClr val="8B949E"/>
                </a:solidFill>
                <a:latin typeface="Calibri"/>
              </a:rPr>
              <a:t>Experimental and backend-dependent; the sample enables containment before requesting one bypass</a:t>
            </a:r>
          </a:p>
        </p:txBody>
      </p:sp>
      <p:sp>
        <p:nvSpPr>
          <p:cNvPr id="4" name="Rectangle 3"/>
          <p:cNvSpPr/>
          <p:nvPr/>
        </p:nvSpPr>
        <p:spPr>
          <a:xfrm>
            <a:off x="548640"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143000"/>
            <a:ext cx="1554480" cy="320040"/>
          </a:xfrm>
          <a:prstGeom prst="rect">
            <a:avLst/>
          </a:prstGeom>
          <a:noFill/>
        </p:spPr>
        <p:txBody>
          <a:bodyPr wrap="square">
            <a:spAutoFit/>
          </a:bodyPr>
          <a:lstStyle/>
          <a:p>
            <a:pPr algn="ctr">
              <a:spcBef>
                <a:spcPts val="0"/>
              </a:spcBef>
              <a:spcAft>
                <a:spcPts val="0"/>
              </a:spcAft>
            </a:pPr>
            <a:r>
              <a:rPr sz="800" b="1" i="0">
                <a:solidFill>
                  <a:srgbClr val="58A6FF"/>
                </a:solidFill>
                <a:latin typeface="Consolas"/>
              </a:rPr>
              <a:t>Enable</a:t>
            </a:r>
          </a:p>
        </p:txBody>
      </p:sp>
      <p:sp>
        <p:nvSpPr>
          <p:cNvPr id="6" name="Rectangle 5"/>
          <p:cNvSpPr/>
          <p:nvPr/>
        </p:nvSpPr>
        <p:spPr>
          <a:xfrm>
            <a:off x="2249424"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49424" y="1143000"/>
            <a:ext cx="1554480" cy="320040"/>
          </a:xfrm>
          <a:prstGeom prst="rect">
            <a:avLst/>
          </a:prstGeom>
          <a:noFill/>
        </p:spPr>
        <p:txBody>
          <a:bodyPr wrap="square">
            <a:spAutoFit/>
          </a:bodyPr>
          <a:lstStyle/>
          <a:p>
            <a:pPr algn="ctr">
              <a:spcBef>
                <a:spcPts val="0"/>
              </a:spcBef>
              <a:spcAft>
                <a:spcPts val="0"/>
              </a:spcAft>
            </a:pPr>
            <a:r>
              <a:rPr sz="800" b="1" i="0">
                <a:solidFill>
                  <a:srgbClr val="BC8CFF"/>
                </a:solidFill>
                <a:latin typeface="Consolas"/>
              </a:rPr>
              <a:t>SandboxConfig</a:t>
            </a:r>
          </a:p>
        </p:txBody>
      </p:sp>
      <p:sp>
        <p:nvSpPr>
          <p:cNvPr id="8" name="Rectangle 7"/>
          <p:cNvSpPr/>
          <p:nvPr/>
        </p:nvSpPr>
        <p:spPr>
          <a:xfrm>
            <a:off x="3950208"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50208" y="1143000"/>
            <a:ext cx="1554480" cy="320040"/>
          </a:xfrm>
          <a:prstGeom prst="rect">
            <a:avLst/>
          </a:prstGeom>
          <a:noFill/>
        </p:spPr>
        <p:txBody>
          <a:bodyPr wrap="square">
            <a:spAutoFit/>
          </a:bodyPr>
          <a:lstStyle/>
          <a:p>
            <a:pPr algn="ctr">
              <a:spcBef>
                <a:spcPts val="0"/>
              </a:spcBef>
              <a:spcAft>
                <a:spcPts val="0"/>
              </a:spcAft>
            </a:pPr>
            <a:r>
              <a:rPr sz="800" b="1" i="0">
                <a:solidFill>
                  <a:srgbClr val="3FB950"/>
                </a:solidFill>
                <a:latin typeface="Consolas"/>
              </a:rPr>
              <a:t>Filesystem</a:t>
            </a:r>
          </a:p>
        </p:txBody>
      </p:sp>
      <p:sp>
        <p:nvSpPr>
          <p:cNvPr id="10" name="Rectangle 9"/>
          <p:cNvSpPr/>
          <p:nvPr/>
        </p:nvSpPr>
        <p:spPr>
          <a:xfrm>
            <a:off x="5650992"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50992" y="1143000"/>
            <a:ext cx="1554480" cy="320040"/>
          </a:xfrm>
          <a:prstGeom prst="rect">
            <a:avLst/>
          </a:prstGeom>
          <a:noFill/>
        </p:spPr>
        <p:txBody>
          <a:bodyPr wrap="square">
            <a:spAutoFit/>
          </a:bodyPr>
          <a:lstStyle/>
          <a:p>
            <a:pPr algn="ctr">
              <a:spcBef>
                <a:spcPts val="0"/>
              </a:spcBef>
              <a:spcAft>
                <a:spcPts val="0"/>
              </a:spcAft>
            </a:pPr>
            <a:r>
              <a:rPr sz="800" b="1" i="0">
                <a:solidFill>
                  <a:srgbClr val="F0883E"/>
                </a:solidFill>
                <a:latin typeface="Consolas"/>
              </a:rPr>
              <a:t>deny demo vault</a:t>
            </a:r>
          </a:p>
        </p:txBody>
      </p:sp>
      <p:sp>
        <p:nvSpPr>
          <p:cNvPr id="12" name="Rectangle 11"/>
          <p:cNvSpPr/>
          <p:nvPr/>
        </p:nvSpPr>
        <p:spPr>
          <a:xfrm>
            <a:off x="7351776" y="114300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51776" y="1143000"/>
            <a:ext cx="1554480" cy="320040"/>
          </a:xfrm>
          <a:prstGeom prst="rect">
            <a:avLst/>
          </a:prstGeom>
          <a:noFill/>
        </p:spPr>
        <p:txBody>
          <a:bodyPr wrap="square">
            <a:spAutoFit/>
          </a:bodyPr>
          <a:lstStyle/>
          <a:p>
            <a:pPr algn="ctr">
              <a:spcBef>
                <a:spcPts val="0"/>
              </a:spcBef>
              <a:spcAft>
                <a:spcPts val="0"/>
              </a:spcAft>
            </a:pPr>
            <a:r>
              <a:rPr sz="800" b="1" i="0">
                <a:solidFill>
                  <a:srgbClr val="F85149"/>
                </a:solidFill>
                <a:latin typeface="Consolas"/>
              </a:rPr>
              <a:t>Network</a:t>
            </a:r>
          </a:p>
        </p:txBody>
      </p:sp>
      <p:sp>
        <p:nvSpPr>
          <p:cNvPr id="14" name="Rectangle 13"/>
          <p:cNvSpPr/>
          <p:nvPr/>
        </p:nvSpPr>
        <p:spPr>
          <a:xfrm>
            <a:off x="548640"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1554480"/>
            <a:ext cx="1554480" cy="320040"/>
          </a:xfrm>
          <a:prstGeom prst="rect">
            <a:avLst/>
          </a:prstGeom>
          <a:noFill/>
        </p:spPr>
        <p:txBody>
          <a:bodyPr wrap="square">
            <a:spAutoFit/>
          </a:bodyPr>
          <a:lstStyle/>
          <a:p>
            <a:pPr algn="ctr">
              <a:spcBef>
                <a:spcPts val="0"/>
              </a:spcBef>
              <a:spcAft>
                <a:spcPts val="0"/>
              </a:spcAft>
            </a:pPr>
            <a:r>
              <a:rPr sz="800" b="1" i="0">
                <a:solidFill>
                  <a:srgbClr val="58A6FF"/>
                </a:solidFill>
                <a:latin typeface="Consolas"/>
              </a:rPr>
              <a:t>deny outbound + loopback</a:t>
            </a:r>
          </a:p>
        </p:txBody>
      </p:sp>
      <p:sp>
        <p:nvSpPr>
          <p:cNvPr id="16" name="Rectangle 15"/>
          <p:cNvSpPr/>
          <p:nvPr/>
        </p:nvSpPr>
        <p:spPr>
          <a:xfrm>
            <a:off x="2249424"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249424" y="1554480"/>
            <a:ext cx="1554480" cy="320040"/>
          </a:xfrm>
          <a:prstGeom prst="rect">
            <a:avLst/>
          </a:prstGeom>
          <a:noFill/>
        </p:spPr>
        <p:txBody>
          <a:bodyPr wrap="square">
            <a:spAutoFit/>
          </a:bodyPr>
          <a:lstStyle/>
          <a:p>
            <a:pPr algn="ctr">
              <a:spcBef>
                <a:spcPts val="0"/>
              </a:spcBef>
              <a:spcAft>
                <a:spcPts val="0"/>
              </a:spcAft>
            </a:pPr>
            <a:r>
              <a:rPr sz="800" b="1" i="0">
                <a:solidFill>
                  <a:srgbClr val="BC8CFF"/>
                </a:solidFill>
                <a:latin typeface="Consolas"/>
              </a:rPr>
              <a:t>Bypass</a:t>
            </a:r>
          </a:p>
        </p:txBody>
      </p:sp>
      <p:sp>
        <p:nvSpPr>
          <p:cNvPr id="18" name="Rectangle 17"/>
          <p:cNvSpPr/>
          <p:nvPr/>
        </p:nvSpPr>
        <p:spPr>
          <a:xfrm>
            <a:off x="3950208"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50208" y="1554480"/>
            <a:ext cx="1554480" cy="320040"/>
          </a:xfrm>
          <a:prstGeom prst="rect">
            <a:avLst/>
          </a:prstGeom>
          <a:noFill/>
        </p:spPr>
        <p:txBody>
          <a:bodyPr wrap="square">
            <a:spAutoFit/>
          </a:bodyPr>
          <a:lstStyle/>
          <a:p>
            <a:pPr algn="ctr">
              <a:spcBef>
                <a:spcPts val="0"/>
              </a:spcBef>
              <a:spcAft>
                <a:spcPts val="0"/>
              </a:spcAft>
            </a:pPr>
            <a:r>
              <a:rPr sz="800" b="1" i="0">
                <a:solidFill>
                  <a:srgbClr val="3FB950"/>
                </a:solidFill>
                <a:latin typeface="Consolas"/>
              </a:rPr>
              <a:t>allow_bypass=True</a:t>
            </a:r>
          </a:p>
        </p:txBody>
      </p:sp>
      <p:sp>
        <p:nvSpPr>
          <p:cNvPr id="20" name="Rectangle 19"/>
          <p:cNvSpPr/>
          <p:nvPr/>
        </p:nvSpPr>
        <p:spPr>
          <a:xfrm>
            <a:off x="5650992"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50992" y="1554480"/>
            <a:ext cx="1554480" cy="320040"/>
          </a:xfrm>
          <a:prstGeom prst="rect">
            <a:avLst/>
          </a:prstGeom>
          <a:noFill/>
        </p:spPr>
        <p:txBody>
          <a:bodyPr wrap="square">
            <a:spAutoFit/>
          </a:bodyPr>
          <a:lstStyle/>
          <a:p>
            <a:pPr algn="ctr">
              <a:spcBef>
                <a:spcPts val="0"/>
              </a:spcBef>
              <a:spcAft>
                <a:spcPts val="0"/>
              </a:spcAft>
            </a:pPr>
            <a:r>
              <a:rPr sz="800" b="1" i="0">
                <a:solidFill>
                  <a:srgbClr val="F0883E"/>
                </a:solidFill>
                <a:latin typeface="Consolas"/>
              </a:rPr>
              <a:t>Human gate</a:t>
            </a:r>
          </a:p>
        </p:txBody>
      </p:sp>
      <p:sp>
        <p:nvSpPr>
          <p:cNvPr id="22" name="Rectangle 21"/>
          <p:cNvSpPr/>
          <p:nvPr/>
        </p:nvSpPr>
        <p:spPr>
          <a:xfrm>
            <a:off x="7351776" y="1554480"/>
            <a:ext cx="1554480" cy="32004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51776" y="1554480"/>
            <a:ext cx="1554480" cy="320040"/>
          </a:xfrm>
          <a:prstGeom prst="rect">
            <a:avLst/>
          </a:prstGeom>
          <a:noFill/>
        </p:spPr>
        <p:txBody>
          <a:bodyPr wrap="square">
            <a:spAutoFit/>
          </a:bodyPr>
          <a:lstStyle/>
          <a:p>
            <a:pPr algn="ctr">
              <a:spcBef>
                <a:spcPts val="0"/>
              </a:spcBef>
              <a:spcAft>
                <a:spcPts val="0"/>
              </a:spcAft>
            </a:pPr>
            <a:r>
              <a:rPr sz="800" b="1" i="0">
                <a:solidFill>
                  <a:srgbClr val="F85149"/>
                </a:solidFill>
                <a:latin typeface="Consolas"/>
              </a:rPr>
              <a:t>one approve-once decision</a:t>
            </a:r>
          </a:p>
        </p:txBody>
      </p:sp>
      <p:sp>
        <p:nvSpPr>
          <p:cNvPr id="24" name="Rectangle 23"/>
          <p:cNvSpPr/>
          <p:nvPr/>
        </p:nvSpPr>
        <p:spPr>
          <a:xfrm>
            <a:off x="548640" y="2057400"/>
            <a:ext cx="3931920" cy="182880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2103120"/>
            <a:ext cx="3566160" cy="274320"/>
          </a:xfrm>
          <a:prstGeom prst="rect">
            <a:avLst/>
          </a:prstGeom>
          <a:noFill/>
        </p:spPr>
        <p:txBody>
          <a:bodyPr wrap="square">
            <a:spAutoFit/>
          </a:bodyPr>
          <a:lstStyle/>
          <a:p>
            <a:pPr algn="l">
              <a:spcBef>
                <a:spcPts val="0"/>
              </a:spcBef>
              <a:spcAft>
                <a:spcPts val="0"/>
              </a:spcAft>
            </a:pPr>
            <a:r>
              <a:rPr sz="1200" b="1" i="0">
                <a:solidFill>
                  <a:srgbClr val="58A6FF"/>
                </a:solidFill>
                <a:latin typeface="Calibri"/>
              </a:rPr>
              <a:t>Boundary</a:t>
            </a:r>
          </a:p>
        </p:txBody>
      </p:sp>
      <p:sp>
        <p:nvSpPr>
          <p:cNvPr id="26" name="TextBox 25"/>
          <p:cNvSpPr txBox="1"/>
          <p:nvPr/>
        </p:nvSpPr>
        <p:spPr>
          <a:xfrm>
            <a:off x="777240" y="2423160"/>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Runtime tools</a:t>
            </a:r>
          </a:p>
        </p:txBody>
      </p:sp>
      <p:sp>
        <p:nvSpPr>
          <p:cNvPr id="27" name="TextBox 26"/>
          <p:cNvSpPr txBox="1"/>
          <p:nvPr/>
        </p:nvSpPr>
        <p:spPr>
          <a:xfrm>
            <a:off x="1737360" y="2423160"/>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Constrained by policy</a:t>
            </a:r>
          </a:p>
        </p:txBody>
      </p:sp>
      <p:sp>
        <p:nvSpPr>
          <p:cNvPr id="28" name="TextBox 27"/>
          <p:cNvSpPr txBox="1"/>
          <p:nvPr/>
        </p:nvSpPr>
        <p:spPr>
          <a:xfrm>
            <a:off x="777240" y="2679191"/>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Host tools</a:t>
            </a:r>
          </a:p>
        </p:txBody>
      </p:sp>
      <p:sp>
        <p:nvSpPr>
          <p:cNvPr id="29" name="TextBox 28"/>
          <p:cNvSpPr txBox="1"/>
          <p:nvPr/>
        </p:nvSpPr>
        <p:spPr>
          <a:xfrm>
            <a:off x="1737360" y="2679191"/>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Need separate isolation</a:t>
            </a:r>
          </a:p>
        </p:txBody>
      </p:sp>
      <p:sp>
        <p:nvSpPr>
          <p:cNvPr id="30" name="TextBox 29"/>
          <p:cNvSpPr txBox="1"/>
          <p:nvPr/>
        </p:nvSpPr>
        <p:spPr>
          <a:xfrm>
            <a:off x="777240" y="2935224"/>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Experimental</a:t>
            </a:r>
          </a:p>
        </p:txBody>
      </p:sp>
      <p:sp>
        <p:nvSpPr>
          <p:cNvPr id="31" name="TextBox 30"/>
          <p:cNvSpPr txBox="1"/>
          <p:nvPr/>
        </p:nvSpPr>
        <p:spPr>
          <a:xfrm>
            <a:off x="1737360" y="2935224"/>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Backend/platform dependent</a:t>
            </a:r>
          </a:p>
        </p:txBody>
      </p:sp>
      <p:sp>
        <p:nvSpPr>
          <p:cNvPr id="32" name="TextBox 31"/>
          <p:cNvSpPr txBox="1"/>
          <p:nvPr/>
        </p:nvSpPr>
        <p:spPr>
          <a:xfrm>
            <a:off x="777240" y="3191256"/>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Evidence</a:t>
            </a:r>
          </a:p>
        </p:txBody>
      </p:sp>
      <p:sp>
        <p:nvSpPr>
          <p:cNvPr id="33" name="TextBox 32"/>
          <p:cNvSpPr txBox="1"/>
          <p:nvPr/>
        </p:nvSpPr>
        <p:spPr>
          <a:xfrm>
            <a:off x="1737360" y="3191256"/>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Correlate request + result</a:t>
            </a:r>
          </a:p>
        </p:txBody>
      </p:sp>
      <p:sp>
        <p:nvSpPr>
          <p:cNvPr id="34" name="TextBox 33"/>
          <p:cNvSpPr txBox="1"/>
          <p:nvPr/>
        </p:nvSpPr>
        <p:spPr>
          <a:xfrm>
            <a:off x="777240" y="3447288"/>
            <a:ext cx="914400" cy="219456"/>
          </a:xfrm>
          <a:prstGeom prst="rect">
            <a:avLst/>
          </a:prstGeom>
          <a:noFill/>
        </p:spPr>
        <p:txBody>
          <a:bodyPr wrap="square">
            <a:spAutoFit/>
          </a:bodyPr>
          <a:lstStyle/>
          <a:p>
            <a:pPr algn="l">
              <a:spcBef>
                <a:spcPts val="0"/>
              </a:spcBef>
              <a:spcAft>
                <a:spcPts val="0"/>
              </a:spcAft>
            </a:pPr>
            <a:r>
              <a:rPr sz="900" b="1" i="0">
                <a:solidFill>
                  <a:srgbClr val="3FB950"/>
                </a:solidFill>
                <a:latin typeface="Consolas"/>
              </a:rPr>
              <a:t>Not a VM</a:t>
            </a:r>
          </a:p>
        </p:txBody>
      </p:sp>
      <p:sp>
        <p:nvSpPr>
          <p:cNvPr id="35" name="TextBox 34"/>
          <p:cNvSpPr txBox="1"/>
          <p:nvPr/>
        </p:nvSpPr>
        <p:spPr>
          <a:xfrm>
            <a:off x="1737360" y="3447288"/>
            <a:ext cx="2560320" cy="219456"/>
          </a:xfrm>
          <a:prstGeom prst="rect">
            <a:avLst/>
          </a:prstGeom>
          <a:noFill/>
        </p:spPr>
        <p:txBody>
          <a:bodyPr wrap="square">
            <a:spAutoFit/>
          </a:bodyPr>
          <a:lstStyle/>
          <a:p>
            <a:pPr algn="l">
              <a:spcBef>
                <a:spcPts val="0"/>
              </a:spcBef>
              <a:spcAft>
                <a:spcPts val="0"/>
              </a:spcAft>
            </a:pPr>
            <a:r>
              <a:rPr sz="900" b="0" i="0">
                <a:solidFill>
                  <a:srgbClr val="C9D1D9"/>
                </a:solidFill>
                <a:latin typeface="Calibri"/>
              </a:rPr>
              <a:t>Not a tenant boundary</a:t>
            </a:r>
          </a:p>
        </p:txBody>
      </p:sp>
      <p:sp>
        <p:nvSpPr>
          <p:cNvPr id="36" name="Rectangle 35"/>
          <p:cNvSpPr/>
          <p:nvPr/>
        </p:nvSpPr>
        <p:spPr>
          <a:xfrm>
            <a:off x="4663440" y="2057400"/>
            <a:ext cx="3931920" cy="18288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663440" y="2057400"/>
            <a:ext cx="914400" cy="201168"/>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663440" y="2057400"/>
            <a:ext cx="914400" cy="201168"/>
          </a:xfrm>
          <a:prstGeom prst="rect">
            <a:avLst/>
          </a:prstGeom>
          <a:noFill/>
        </p:spPr>
        <p:txBody>
          <a:bodyPr wrap="square">
            <a:spAutoFit/>
          </a:bodyPr>
          <a:lstStyle/>
          <a:p>
            <a:pPr algn="ctr">
              <a:spcBef>
                <a:spcPts val="0"/>
              </a:spcBef>
              <a:spcAft>
                <a:spcPts val="0"/>
              </a:spcAft>
            </a:pPr>
            <a:r>
              <a:rPr sz="800" b="1" i="0">
                <a:solidFill>
                  <a:srgbClr val="C9D1D9"/>
                </a:solidFill>
                <a:latin typeface="Calibri"/>
              </a:rPr>
              <a:t>Python</a:t>
            </a:r>
          </a:p>
        </p:txBody>
      </p:sp>
      <p:sp>
        <p:nvSpPr>
          <p:cNvPr id="39" name="TextBox 38"/>
          <p:cNvSpPr txBox="1"/>
          <p:nvPr/>
        </p:nvSpPr>
        <p:spPr>
          <a:xfrm>
            <a:off x="4754880" y="2331720"/>
            <a:ext cx="3657600" cy="1463040"/>
          </a:xfrm>
          <a:prstGeom prst="rect">
            <a:avLst/>
          </a:prstGeom>
          <a:noFill/>
        </p:spPr>
        <p:txBody>
          <a:bodyPr wrap="none" lIns="25400" rIns="25400" tIns="25400" bIns="25400" anchor="t">
            <a:spAutoFit/>
          </a:bodyPr>
          <a:lstStyle/>
          <a:p>
            <a:pPr algn="l">
              <a:lnSpc>
                <a:spcPts val="1045"/>
              </a:lnSpc>
              <a:spcBef>
                <a:spcPts val="0"/>
              </a:spcBef>
              <a:spcAft>
                <a:spcPts val="0"/>
              </a:spcAft>
            </a:pPr>
            <a:r>
              <a:rPr sz="1400">
                <a:solidFill>
                  <a:srgbClr val="E6EDF3"/>
                </a:solidFill>
                <a:latin typeface="Courier New"/>
              </a:rPr>
              <a:t xml:space="preserve">updated = await session.rpc.options.update(</a:t>
            </a:r>
          </a:p>
          <a:p>
            <a:pPr algn="l">
              <a:lnSpc>
                <a:spcPts val="1045"/>
              </a:lnSpc>
              <a:spcBef>
                <a:spcPts val="0"/>
              </a:spcBef>
              <a:spcAft>
                <a:spcPts val="0"/>
              </a:spcAft>
            </a:pPr>
            <a:r>
              <a:rPr sz="1400">
                <a:solidFill>
                  <a:srgbClr val="E6EDF3"/>
                </a:solidFill>
                <a:latin typeface="Courier New"/>
              </a:rPr>
              <a:t xml:space="preserve">  SessionUpdateOptionsParams(</a:t>
            </a:r>
          </a:p>
          <a:p>
            <a:pPr algn="l">
              <a:lnSpc>
                <a:spcPts val="1045"/>
              </a:lnSpc>
              <a:spcBef>
                <a:spcPts val="0"/>
              </a:spcBef>
              <a:spcAft>
                <a:spcPts val="0"/>
              </a:spcAft>
            </a:pPr>
            <a:r>
              <a:rPr sz="1400">
                <a:solidFill>
                  <a:srgbClr val="E6EDF3"/>
                </a:solidFill>
                <a:latin typeface="Courier New"/>
              </a:rPr>
              <a:t xml:space="preserve">    sandbox_config=SandboxConfig(</a:t>
            </a:r>
          </a:p>
          <a:p>
            <a:pPr algn="l">
              <a:lnSpc>
                <a:spcPts val="1045"/>
              </a:lnSpc>
              <a:spcBef>
                <a:spcPts val="0"/>
              </a:spcBef>
              <a:spcAft>
                <a:spcPts val="0"/>
              </a:spcAft>
            </a:pPr>
            <a:r>
              <a:rPr sz="1400">
                <a:solidFill>
                  <a:srgbClr val="E6EDF3"/>
                </a:solidFill>
                <a:latin typeface="Courier New"/>
              </a:rPr>
              <a:t xml:space="preserve">      enabled=True, allow_bypass=True,</a:t>
            </a:r>
          </a:p>
          <a:p>
            <a:pPr algn="l">
              <a:lnSpc>
                <a:spcPts val="1045"/>
              </a:lnSpc>
              <a:spcBef>
                <a:spcPts val="0"/>
              </a:spcBef>
              <a:spcAft>
                <a:spcPts val="0"/>
              </a:spcAft>
            </a:pPr>
            <a:r>
              <a:rPr sz="1400">
                <a:solidFill>
                  <a:srgbClr val="E6EDF3"/>
                </a:solidFill>
                <a:latin typeface="Courier New"/>
              </a:rPr>
              <a:t xml:space="preserve">      add_current_working_directory=True,</a:t>
            </a:r>
          </a:p>
          <a:p>
            <a:pPr algn="l">
              <a:lnSpc>
                <a:spcPts val="1045"/>
              </a:lnSpc>
              <a:spcBef>
                <a:spcPts val="0"/>
              </a:spcBef>
              <a:spcAft>
                <a:spcPts val="0"/>
              </a:spcAft>
            </a:pPr>
            <a:r>
              <a:rPr sz="1400">
                <a:solidFill>
                  <a:srgbClr val="E6EDF3"/>
                </a:solidFill>
                <a:latin typeface="Courier New"/>
              </a:rPr>
              <a:t xml:space="preserve">      user_policy=SandboxConfigUserPolicy(</a:t>
            </a:r>
          </a:p>
          <a:p>
            <a:pPr algn="l">
              <a:lnSpc>
                <a:spcPts val="1045"/>
              </a:lnSpc>
              <a:spcBef>
                <a:spcPts val="0"/>
              </a:spcBef>
              <a:spcAft>
                <a:spcPts val="0"/>
              </a:spcAft>
            </a:pPr>
            <a:r>
              <a:rPr sz="1400">
                <a:solidFill>
                  <a:srgbClr val="E6EDF3"/>
                </a:solidFill>
                <a:latin typeface="Courier New"/>
              </a:rPr>
              <a:t xml:space="preserve">        filesystem=..., network=...,</a:t>
            </a:r>
          </a:p>
          <a:p>
            <a:pPr algn="l">
              <a:lnSpc>
                <a:spcPts val="1045"/>
              </a:lnSpc>
              <a:spcBef>
                <a:spcPts val="0"/>
              </a:spcBef>
              <a:spcAft>
                <a:spcPts val="0"/>
              </a:spcAft>
            </a:pPr>
            <a:r>
              <a:rPr sz="1400">
                <a:solidFill>
                  <a:srgbClr val="E6EDF3"/>
                </a:solidFill>
                <a:latin typeface="Courier New"/>
              </a:rPr>
              <a:t xml:space="preserve">      ),</a:t>
            </a:r>
          </a:p>
          <a:p>
            <a:pPr algn="l">
              <a:lnSpc>
                <a:spcPts val="1045"/>
              </a:lnSpc>
              <a:spcBef>
                <a:spcPts val="0"/>
              </a:spcBef>
              <a:spcAft>
                <a:spcPts val="0"/>
              </a:spcAft>
            </a:pPr>
            <a:r>
              <a:rPr sz="1400">
                <a:solidFill>
                  <a:srgbClr val="E6EDF3"/>
                </a:solidFill>
                <a:latin typeface="Courier New"/>
              </a:rPr>
              <a:t xml:space="preserve">    )</a:t>
            </a:r>
          </a:p>
          <a:p>
            <a:pPr algn="l">
              <a:lnSpc>
                <a:spcPts val="1045"/>
              </a:lnSpc>
              <a:spcBef>
                <a:spcPts val="0"/>
              </a:spcBef>
              <a:spcAft>
                <a:spcPts val="0"/>
              </a:spcAft>
            </a:pPr>
            <a:r>
              <a:rPr sz="1400">
                <a:solidFill>
                  <a:srgbClr val="E6EDF3"/>
                </a:solidFill>
                <a:latin typeface="Courier New"/>
              </a:rPr>
              <a:t xml:space="preserve">  ))</a:t>
            </a:r>
          </a:p>
        </p:txBody>
      </p:sp>
      <p:sp>
        <p:nvSpPr>
          <p:cNvPr id="40" name="Rectangle 39"/>
          <p:cNvSpPr/>
          <p:nvPr/>
        </p:nvSpPr>
        <p:spPr>
          <a:xfrm>
            <a:off x="548640" y="4023360"/>
            <a:ext cx="8046720" cy="640080"/>
          </a:xfrm>
          <a:prstGeom prst="rect">
            <a:avLst/>
          </a:prstGeom>
          <a:solidFill>
            <a:srgbClr val="161B22"/>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31520" y="4069080"/>
            <a:ext cx="1097280" cy="228600"/>
          </a:xfrm>
          <a:prstGeom prst="rect">
            <a:avLst/>
          </a:prstGeom>
          <a:noFill/>
        </p:spPr>
        <p:txBody>
          <a:bodyPr wrap="square">
            <a:spAutoFit/>
          </a:bodyPr>
          <a:lstStyle/>
          <a:p>
            <a:pPr algn="l">
              <a:spcBef>
                <a:spcPts val="0"/>
              </a:spcBef>
              <a:spcAft>
                <a:spcPts val="0"/>
              </a:spcAft>
            </a:pPr>
            <a:r>
              <a:rPr sz="1000" b="1" i="0">
                <a:solidFill>
                  <a:srgbClr val="58A6FF"/>
                </a:solidFill>
                <a:latin typeface="Calibri"/>
              </a:rPr>
              <a:t>Bypass evidence</a:t>
            </a:r>
          </a:p>
        </p:txBody>
      </p:sp>
      <p:sp>
        <p:nvSpPr>
          <p:cNvPr id="42" name="Rectangle 41"/>
          <p:cNvSpPr/>
          <p:nvPr/>
        </p:nvSpPr>
        <p:spPr>
          <a:xfrm>
            <a:off x="1920240" y="4114800"/>
            <a:ext cx="1828800" cy="4572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920240" y="4114800"/>
            <a:ext cx="1828800" cy="457200"/>
          </a:xfrm>
          <a:prstGeom prst="rect">
            <a:avLst/>
          </a:prstGeom>
          <a:noFill/>
        </p:spPr>
        <p:txBody>
          <a:bodyPr wrap="square">
            <a:spAutoFit/>
          </a:bodyPr>
          <a:lstStyle/>
          <a:p>
            <a:pPr algn="ctr">
              <a:spcBef>
                <a:spcPts val="0"/>
              </a:spcBef>
              <a:spcAft>
                <a:spcPts val="0"/>
              </a:spcAft>
            </a:pPr>
            <a:r>
              <a:rPr sz="800" b="0" i="0">
                <a:solidFill>
                  <a:srgbClr val="C9D1D9"/>
                </a:solidFill>
                <a:latin typeface="Calibri"/>
              </a:rPr>
              <a:t>request_sandbox_bypass=True</a:t>
            </a:r>
          </a:p>
        </p:txBody>
      </p:sp>
      <p:sp>
        <p:nvSpPr>
          <p:cNvPr id="44" name="TextBox 43"/>
          <p:cNvSpPr txBox="1"/>
          <p:nvPr/>
        </p:nvSpPr>
        <p:spPr>
          <a:xfrm>
            <a:off x="3886200" y="4069080"/>
            <a:ext cx="320040" cy="502920"/>
          </a:xfrm>
          <a:prstGeom prst="rect">
            <a:avLst/>
          </a:prstGeom>
          <a:noFill/>
        </p:spPr>
        <p:txBody>
          <a:bodyPr wrap="square">
            <a:spAutoFit/>
          </a:bodyPr>
          <a:lstStyle/>
          <a:p>
            <a:pPr algn="ctr">
              <a:spcBef>
                <a:spcPts val="0"/>
              </a:spcBef>
              <a:spcAft>
                <a:spcPts val="0"/>
              </a:spcAft>
            </a:pPr>
            <a:r>
              <a:rPr sz="1600" b="0" i="0">
                <a:solidFill>
                  <a:srgbClr val="58A6FF"/>
                </a:solidFill>
                <a:latin typeface="Calibri"/>
              </a:rPr>
              <a:t>→</a:t>
            </a:r>
          </a:p>
        </p:txBody>
      </p:sp>
      <p:sp>
        <p:nvSpPr>
          <p:cNvPr id="45" name="Rectangle 44"/>
          <p:cNvSpPr/>
          <p:nvPr/>
        </p:nvSpPr>
        <p:spPr>
          <a:xfrm>
            <a:off x="4206240" y="4114800"/>
            <a:ext cx="1828800" cy="4572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206240" y="4114800"/>
            <a:ext cx="1828800" cy="457200"/>
          </a:xfrm>
          <a:prstGeom prst="rect">
            <a:avLst/>
          </a:prstGeom>
          <a:noFill/>
        </p:spPr>
        <p:txBody>
          <a:bodyPr wrap="square">
            <a:spAutoFit/>
          </a:bodyPr>
          <a:lstStyle/>
          <a:p>
            <a:pPr algn="ctr">
              <a:spcBef>
                <a:spcPts val="0"/>
              </a:spcBef>
              <a:spcAft>
                <a:spcPts val="0"/>
              </a:spcAft>
            </a:pPr>
            <a:r>
              <a:rPr sz="800" b="0" i="0">
                <a:solidFill>
                  <a:srgbClr val="C9D1D9"/>
                </a:solidFill>
                <a:latin typeface="Calibri"/>
              </a:rPr>
              <a:t>Human approves once</a:t>
            </a:r>
          </a:p>
        </p:txBody>
      </p:sp>
      <p:sp>
        <p:nvSpPr>
          <p:cNvPr id="47" name="TextBox 46"/>
          <p:cNvSpPr txBox="1"/>
          <p:nvPr/>
        </p:nvSpPr>
        <p:spPr>
          <a:xfrm>
            <a:off x="6172200" y="4069080"/>
            <a:ext cx="320040" cy="502920"/>
          </a:xfrm>
          <a:prstGeom prst="rect">
            <a:avLst/>
          </a:prstGeom>
          <a:noFill/>
        </p:spPr>
        <p:txBody>
          <a:bodyPr wrap="square">
            <a:spAutoFit/>
          </a:bodyPr>
          <a:lstStyle/>
          <a:p>
            <a:pPr algn="ctr">
              <a:spcBef>
                <a:spcPts val="0"/>
              </a:spcBef>
              <a:spcAft>
                <a:spcPts val="0"/>
              </a:spcAft>
            </a:pPr>
            <a:r>
              <a:rPr sz="1600" b="0" i="0">
                <a:solidFill>
                  <a:srgbClr val="58A6FF"/>
                </a:solidFill>
                <a:latin typeface="Calibri"/>
              </a:rPr>
              <a:t>→</a:t>
            </a:r>
          </a:p>
        </p:txBody>
      </p:sp>
      <p:sp>
        <p:nvSpPr>
          <p:cNvPr id="48" name="Rectangle 47"/>
          <p:cNvSpPr/>
          <p:nvPr/>
        </p:nvSpPr>
        <p:spPr>
          <a:xfrm>
            <a:off x="6492240" y="4114800"/>
            <a:ext cx="1828800" cy="457200"/>
          </a:xfrm>
          <a:prstGeom prst="rect">
            <a:avLst/>
          </a:prstGeom>
          <a:solidFill>
            <a:srgbClr val="0D1117"/>
          </a:solidFill>
          <a:ln w="12700">
            <a:solidFill>
              <a:srgbClr val="484F5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492240" y="4114800"/>
            <a:ext cx="1828800" cy="457200"/>
          </a:xfrm>
          <a:prstGeom prst="rect">
            <a:avLst/>
          </a:prstGeom>
          <a:noFill/>
        </p:spPr>
        <p:txBody>
          <a:bodyPr wrap="square">
            <a:spAutoFit/>
          </a:bodyPr>
          <a:lstStyle/>
          <a:p>
            <a:pPr algn="ctr">
              <a:spcBef>
                <a:spcPts val="0"/>
              </a:spcBef>
              <a:spcAft>
                <a:spcPts val="0"/>
              </a:spcAft>
            </a:pPr>
            <a:r>
              <a:rPr sz="800" b="0" i="0">
                <a:solidFill>
                  <a:srgbClr val="C9D1D9"/>
                </a:solidFill>
                <a:latin typeface="Calibri"/>
              </a:rPr>
              <a:t>Denied marker becomes readable</a:t>
            </a:r>
          </a:p>
        </p:txBody>
      </p:sp>
      <p:sp>
        <p:nvSpPr>
          <p:cNvPr id="50" name="TextBox 50"/>
          <p:cNvSpPr txBox="1"/>
          <p:nvPr/>
        </p:nvSpPr>
        <p:spPr>
          <a:xfrm>
            <a:off x="8046720" y="4754880"/>
            <a:ext cx="914400" cy="274320"/>
          </a:xfrm>
          <a:prstGeom prst="rect">
            <a:avLst/>
          </a:prstGeom>
        </p:spPr>
        <p:txBody>
          <a:bodyPr wrap="square" rtlCol="0">
            <a:spAutoFit/>
          </a:bodyPr>
          <a:lstStyle/>
          <a:p>
            <a:r>
              <a:rPr sz="900">
                <a:solidFill>
                  <a:srgbClr val="8B949E"/>
                </a:solidFill>
              </a:rPr>
              <a:t>18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8441</Words>
  <Application>Microsoft Macintosh PowerPoint</Application>
  <PresentationFormat>Bildschirmpräsentation (16:9)</PresentationFormat>
  <Paragraphs>805</Paragraphs>
  <Slides>28</Slides>
  <Notes>28</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28</vt:i4>
      </vt:variant>
    </vt:vector>
  </HeadingPairs>
  <TitlesOfParts>
    <vt:vector size="32" baseType="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SDK - Agents for Every App</dc:title>
  <dc:subject>PptxGenJS Presentation</dc:subject>
  <dc:creator>GitHub Copilot SDK Presentation</dc:creator>
  <cp:lastModifiedBy>Jeffrey Groneberg</cp:lastModifiedBy>
  <cp:revision>3</cp:revision>
  <dcterms:created xsi:type="dcterms:W3CDTF">2026-03-20T06:22:26Z</dcterms:created>
  <dcterms:modified xsi:type="dcterms:W3CDTF">2026-03-27T14:31:51Z</dcterms:modified>
</cp:coreProperties>
</file>