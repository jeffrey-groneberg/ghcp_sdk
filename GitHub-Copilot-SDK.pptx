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61" r:id="rId5"/>
    <p:sldId id="262" r:id="rId6"/>
    <p:sldId id="271" r:id="rId7"/>
    <p:sldId id="272" r:id="rId8"/>
    <p:sldId id="279" r:id="rId9"/>
    <p:sldId id="280" r:id="rId10"/>
    <p:sldId id="263" r:id="rId11"/>
    <p:sldId id="264" r:id="rId12"/>
    <p:sldId id="265" r:id="rId13"/>
    <p:sldId id="266" r:id="rId14"/>
    <p:sldId id="267" r:id="rId15"/>
    <p:sldId id="284" r:id="rId16"/>
    <p:sldId id="268" r:id="rId17"/>
    <p:sldId id="259" r:id="rId18"/>
    <p:sldId id="260" r:id="rId19"/>
    <p:sldId id="269" r:id="rId20"/>
    <p:sldId id="270" r:id="rId21"/>
    <p:sldId id="273" r:id="rId22"/>
    <p:sldId id="275" r:id="rId23"/>
    <p:sldId id="276" r:id="rId27"/>
    <p:sldId id="277" r:id="rId24"/>
    <p:sldId id="274" r:id="rId26"/>
    <p:sldId id="281" r:id="rId28"/>
    <p:sldId id="283" r:id="rId29"/>
    <p:sldId id="278"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3"/>
    <p:restoredTop sz="94610"/>
  </p:normalViewPr>
  <p:slideViewPr>
    <p:cSldViewPr snapToGrid="0" snapToObjects="1">
      <p:cViewPr varScale="1">
        <p:scale>
          <a:sx n="160" d="100"/>
          <a:sy n="160" d="100"/>
        </p:scale>
        <p:origin x="432" y="18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3016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GitHub Copilot SDK workshop, refreshed against stable Python SDK 1.0.13, released 4 September 2026. Baseline checked 7 September 2026. Six first-party SDKs: TypeScript, Python, Go, .NET, Java and Rust. The runnable workshop prototypes are Python. Snippets omit the main()/asyncio.run wrapper where space requires; use the full example files when running.</a:t>
            </a:r>
          </a:p>
          <a:p>
            <a:r>
              <a:t>SOURCE: https://github.com/github/copilot-sdk/releases/tag/v1.0.13</a:t>
            </a:r>
          </a:p>
          <a:p>
            <a:r>
              <a:t>SOURCE: https://github.com/github/copilot-sdk/tree/v1.0.13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SDK embeds the Copilot CLI agent runtime into an application. The CLI owns planning and built-in tool execution; custom tools, hooks and permission callbacks execute in your host application. Production deployment still requires authentication, authorization, isolation and observability appropriate to your app.</a:t>
            </a:r>
          </a:p>
          <a:p>
            <a:r>
              <a:t>SOURCE: https://github.com/github/copilot-sdk/blob/v1.0.13/docs/features/agent-loop.md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SDK talks to the CLI using JSON-RPC, normally over stdio to a child process or over TCP to an external server. The SDK is not a tenant isolation boundary or load balancer. Version 1.0.13 changes session.disconnect/context-manager cleanup to session.detach so other owners of a shared session are not torn down. Saved state remains until explicitly deleted.</a:t>
            </a:r>
          </a:p>
          <a:p>
            <a:r>
              <a:t>SOURCE: https://github.com/github/copilot-sdk/blob/v1.0.13/docs/getting-started.md</a:t>
            </a:r>
          </a:p>
          <a:p>
            <a:r>
              <a:t>SOURCE: https://github.com/github/copilot-sdk/releases/tag/v1.0.13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first-party SDKs live in github/copilot-sdk. Python is pinned to github-copilot-sdk==1.0.13 in this workshop and provisions its matching runtime 1.0.83 on first use. Pip does not add the interactive copilot command to PATH: install it separately for copilot login, or securely supply a token/BYOK. Pre-download with python -m copilot download-runtime. Java and Rust are in the main SDK repository. Follow each language's provisioning guide.</a:t>
            </a:r>
          </a:p>
          <a:p>
            <a:r>
              <a:t>SOURCE: https://github.com/github/copilot-sdk/blob/v1.0.13/python/copilot/_cli_download.py</a:t>
            </a:r>
          </a:p>
          <a:p>
            <a:r>
              <a:t>SOURCE: https://github.com/github/copilot-sdk/blob/v1.0.13/README.md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Core capabilities: tools, named agents, MCP servers, skills, hooks, streaming, BYOK and telemetry. Eight hook callbacks now include transformed prompts and failed tool results. BYOK supports both static API keys and refreshing bearer token providers; Microsoft Foundry can use Microsoft Entra/managed identity through Azure Identity. Optional Python telemetry dependencies are separate from the seven basic examples.</a:t>
            </a:r>
          </a:p>
          <a:p>
            <a:r>
              <a:t>SOURCE: https://github.com/github/copilot-sdk/blob/v1.0.13/docs/features/hooks.md</a:t>
            </a:r>
          </a:p>
          <a:p>
            <a:r>
              <a:t>SOURCE: https://github.com/github/copilot-sdk/blob/v1.0.13/docs/setup/azure-managed-identity.md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Illustrative use cases, not implemented services or guarantees of complete automation. Pair model-generated changes with review and explicit tool scope. GitHub MCP provides repository context; your own tools can integrate internal systems. Microsoft Agent Framework is an optional orchestration layer, not required by these Python prototypes.</a:t>
            </a:r>
          </a:p>
          <a:p>
            <a:r>
              <a:t>SOURCE: https://github.com/github/copilot-sdk/blob/v1.0.13/docs/features/agent-loop.md</a:t>
            </a:r>
          </a:p>
          <a:p>
            <a:r>
              <a:t>SOURCE: https://github.com/github/copilot-sdk/blob/v1.0.13/docs/integrations/microsoft-agent-framework.md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use cases reuse the same client/session patterns. For customer-facing apps the host must authenticate users, authorize session ownership, isolate working directories and credentials, and bound concurrency. Sessions and token callbacks alone do not provide tenant isolation. Persist session IDs server-side and validate ownership before resuming.</a:t>
            </a:r>
          </a:p>
          <a:p>
            <a:r>
              <a:t>SOURCE: https://github.com/github/copilot-sdk/blob/v1.0.13/docs/setup/multi-tenancy.md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exact built-in tool catalogue depends on CLI version, platform and session settings. These are representative names, not a stable exhaustive list. available_tools restricts exposure and excluded_tools removes tools, but neither is an OS sandbox. session_id is an application/SDK concept, not an agent tool. Permission callbacks and managed permissions are separate policy layers.</a:t>
            </a:r>
          </a:p>
          <a:p>
            <a:r>
              <a:t>SOURCE: https://github.com/github/copilot-sdk/tree/v1.0.13/python#session-configuration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controls: session tool exposure, dynamic hooks and injected managed permissions. Source-qualified filters distinguish builtin:, custom: and mcp: names in the merged catalogue. The generic config exposes only builtin:view; example 03 scopes grep/glob/view. Managed settings must not be paired with approve_all. The injected layer is startup-only: re-supply on resume or it is cleared. CLI 1.0.79-5+ is required. Deny/ask compose restrictively; scope and hooks do not create a sandbox.</a:t>
            </a:r>
          </a:p>
          <a:p>
            <a:r>
              <a:t>SOURCE: https://github.com/github/copilot-sdk/blob/v1.0.13/python/test_tool_set.py</a:t>
            </a:r>
          </a:p>
          <a:p>
            <a:r>
              <a:t>SOURCE: https://github.com/github/copilot-sdk/releases/tag/v1.0.13</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Python @define_tool infers a schema from the annotated Pydantic parameter model. This illustrative handler returns simulated weather. The complete version is examples/02_custom_tools.py. The snippet assumes an active client and PermissionHandler import. All async snippets belong inside async main(). Version 1.0.13 cancels host-owned async handler tasks when their runtime request ends or session terminates; clean up in finally and let asyncio.CancelledError propagate.</a:t>
            </a:r>
          </a:p>
          <a:p>
            <a:r>
              <a:t>SOURCE: https://github.com/github/copilot-sdk/tree/v1.0.13/python#tools</a:t>
            </a:r>
          </a:p>
          <a:p>
            <a:r>
              <a:t>SOURCE: https://github.com/github/copilot-sdk/releases/tag/v1.0.13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examples/03_custom_agents.py. It registers researcher and reviewer with custom_agents, starts with agent='researcher', lists them, verifies the active agent, then selects the reviewer using AgentSelectRequest(name='reviewer'). The history stays in the same session. The middle card is the handoff step, not a third custom agent. Both session and agent tool scopes are read-oriented; that is not a sandbox. Check get_current().agent before dereferencing it.</a:t>
            </a:r>
          </a:p>
          <a:p>
            <a:r>
              <a:t>SOURCE: https://github.com/github/copilot-sdk/blob/v1.0.13/docs/features/custom-agents.md</a:t>
            </a:r>
          </a:p>
          <a:p>
            <a:r>
              <a:t>PROTOTYPE: examples/03_custom_agents.py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examples/05_mcp_servers.py. Remote GitHub MCP needs no Node, npx or Docker. github_token() reads environment or gh auth token at runtime. MCP credentials are separate from Copilot authentication. Raw names are list_issues, issue_read and search_issues; session filters are mcp:github-&lt;name&gt;. The slide exposes only list_issues; the full prototype exposes all three and adds X-MCP-Readonly=true. Never log tokens. Check links rather than assuming tools eliminate hallucinations.</a:t>
            </a:r>
          </a:p>
          <a:p>
            <a:r>
              <a:t>SOURCE: https://github.com/github/copilot-sdk/blob/v1.0.13/docs/features/mcp.md</a:t>
            </a:r>
          </a:p>
          <a:p>
            <a:r>
              <a:t>SOURCE: https://github.com/github/github-mcp-server/blob/v1.12.0/pkg/github/issues.go</a:t>
            </a:r>
          </a:p>
          <a:p>
            <a:r>
              <a:t>PROTOTYPE: examples/05_mcp_servers.py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overview documents eight hooks: on_session_start, on_user_prompt_submitted, on_user_prompt_transformed, on_pre_tool_use, on_post_tool_use, on_post_tool_use_failure, on_error_occurred and on_session_end. Python additionally exposes on_pre_mcp_tool_call and on_agent_stop. on_post_tool_use is success-only; failed results use on_post_tool_use_failure. None preserves policy. Detaching one owner need not end a shared session: clean up host-owned resources with finally/context managers. Hooks are not a sandbox.</a:t>
            </a:r>
          </a:p>
          <a:p>
            <a:r>
              <a:t>SOURCE: https://github.com/github/copilot-sdk/blob/v1.0.13/docs/features/hooks.md</a:t>
            </a:r>
          </a:p>
          <a:p>
            <a:r>
              <a:t>SOURCE: https://github.com/github/copilot-sdk/blob/v1.0.13/python/copilot/session.py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lists authentication choices, not a chain to combine. Explicit session github_token and github_token_provider are mutually exclusive. Ambient token precedence is COPILOT_GITHUB_TOKEN, then GH_TOKEN, then GITHUB_TOKEN; stored CLI login and gh credentials can provide fallback depending on client configuration. Direct API tokens are a separate advanced path. The new provider receives initial/refresh requests and returns a tagged token result with positive expiresIn seconds remaining when the callback completes. Cancellation, errors and invalid credentials reject acquisition, not silently fall back.</a:t>
            </a:r>
          </a:p>
          <a:p>
            <a:r>
              <a:t>SOURCE: https://github.com/github/copilot-sdk/blob/v1.0.13/docs/auth/authenticate.md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multi-user host signs users in with GitHub and supplies their session-scoped credentials. OAuth access must have the required Copilot permissions and organizational authorization. The documented Copilot token prefixes include gho_, ghu_ and github_pat_; classic ghp_ tokens are not supported for Copilot authentication. The remote GitHub MCP service has its own token requirements. New github_token_provider allows short-lived session credentials to rotate; do not combine it with static github_token. Always authorize who owns a session before resuming it.</a:t>
            </a:r>
          </a:p>
          <a:p>
            <a:r>
              <a:t>SOURCE: https://github.com/github/copilot-sdk/blob/v1.0.13/docs/auth/authenticate.md</a:t>
            </a:r>
          </a:p>
          <a:p>
            <a:r>
              <a:t>SOURCE: https://github.com/github/copilot-sdk/blob/v1.0.13/docs/setup/github-oauth.md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BYOK directs inference to your selected provider and avoids Copilot subscription billing for those calls. Other traffic, telemetry, tool endpoints and residency still need explicit review; local inference alone does not make an application offline. For Microsoft Foundry /openai/v1/ use type='openai'; native Azure endpoints can use type='azure'. Set the deployment name in FOUNDRY_MODEL and full endpoint in FOUNDRY_MODEL_URL. The snippet uses an API key. Alternatively bearer_token_provider can call Azure Identity for fresh Entra tokens, including managed identity; the dedicated guide uses https://ai.azure.com/.default. Azure Identity is optional and not required for the seven workshop prototypes.</a:t>
            </a:r>
          </a:p>
          <a:p>
            <a:r>
              <a:t>SOURCE: https://github.com/github/copilot-sdk/blob/v1.0.13/docs/auth/byok.md</a:t>
            </a:r>
          </a:p>
          <a:p>
            <a:r>
              <a:t>SOURCE: https://github.com/github/copilot-sdk/blob/v1.0.13/docs/setup/azure-managed-identity.md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default client owns a child runtime. RuntimeConnection.for_tcp(port=...) also spawns a child, with a generated connection token by default. For an already-running server use CopilotClient(connection=RuntimeConnection.for_uri('localhost:4321', connection_token=...)); supply its matching secret when required. Legacy cli_url is not accepted in Python 1.0.13. Headless defaults to loopback; remote access needs network protection and authentication. Cleanup detaches one owner, not shared state.</a:t>
            </a:r>
          </a:p>
          <a:p>
            <a:r>
              <a:t>SOURCE: https://github.com/github/copilot-sdk/blob/v1.0.13/python/copilot/client.py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Python SDK 1.0.13 provisions/caches runtime 1.0.83. Pre-download with python -m copilot download-runtime; this does not install interactive copilot on PATH. Explicit binaries use connection=RuntimeConnection.for_stdio(path=...), not the removed cli_path keyword. The code belongs inside async main and uses a client context for error-safe startup/shutdown. for_uri connects to an existing server; for_tcp starts an owned TCP child. Handle platform binaries, credentials, updates and state storage.</a:t>
            </a:r>
          </a:p>
          <a:p>
            <a:r>
              <a:t>SOURCE: https://github.com/github/copilot-sdk/blob/v1.0.13/python/copilot/client.py</a:t>
            </a:r>
          </a:p>
          <a:p>
            <a:r>
              <a:t>SOURCE: https://github.com/github/copilot-sdk/blob/v1.0.13/python/copilot/_cli_download.py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deployment options, not guarantees of scalability. A service must implement authentication and authorization, session ownership, workspace isolation, storage routing and concurrency controls. For shared sessions, one owner's disconnect now detaches only that owner. For separate processes, resume must address the same CLI session state. Never trust arbitrary session IDs or user tokens from an unverified request body.</a:t>
            </a:r>
          </a:p>
          <a:p>
            <a:r>
              <a:t>SOURCE: https://github.com/github/copilot-sdk/blob/v1.0.13/docs/setup/backend-services.md</a:t>
            </a:r>
          </a:p>
          <a:p>
            <a:r>
              <a:t>SOURCE: https://github.com/github/copilot-sdk/blob/v1.0.13/docs/setup/scaling.md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Microsoft Agent Framework is an optional orchestration layer for composing Copilot with other model providers. This conceptual diagram illustrates sequential and concurrent workflows; the seven prototypes use Copilot SDK directly and do not depend on Agent Framework. Check the integration's own current package requirements before adopting it.</a:t>
            </a:r>
          </a:p>
          <a:p>
            <a:r>
              <a:t>SOURCE: https://github.com/github/copilot-sdk/blob/v1.0.13/docs/integrations/microsoft-agent-framework.md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examples/01_simple_chat.py. The left code registers a typed delta listener; the right uses two async context managers and send_and_wait with a 120-second timeout. The full example supplies optional client_info to demonstrate application identity. send_and_wait listens for idle and errors while user listeners still receive deltas. It raises on timeout or session error; None means no final assistant message. Empty tool exposure keeps this text-only demo scoped. Snippets belong inside async main/asyncio.run; imports and on_event are shared between columns.</a:t>
            </a:r>
          </a:p>
          <a:p>
            <a:r>
              <a:t>SOURCE: https://github.com/github/copilot-sdk/blob/v1.0.13/docs/features/streaming-events.md</a:t>
            </a:r>
          </a:p>
          <a:p>
            <a:r>
              <a:t>SOURCE: https://github.com/github/copilot-sdk/blob/v1.0.13/docs/features/client-info.md</a:t>
            </a:r>
          </a:p>
          <a:p>
            <a:r>
              <a:t>PROTOTYPE: examples/01_simple_chat.py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examples/02_custom_tools.py. The async Pydantic-typed tool returns simulated random weather. The agent selects the tool from its schema; it is not a live weather API. Restrict available tools to the registered weather handler. Tool cancellation now tracks request/session lifetime, so propagate cancellation and clean up external resources in finally when adapting the stub. The async block shown belongs inside main; the actual file includes it.</a:t>
            </a:r>
          </a:p>
          <a:p>
            <a:r>
              <a:t>SOURCE: https://github.com/github/copilot-sdk/tree/v1.0.13/python#tools</a:t>
            </a:r>
          </a:p>
          <a:p>
            <a:r>
              <a:t>PROTOTYPE: examples/02_custom_tools.py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examples/06_session_resume.py once, then run it with --resume. The two code blocks illustrate separate processes, not two steps to execute every time. Save session.session_id even when it was randomly generated; a custom ID is only a convenience. Resume needs the same CLI state storage. Re-register callbacks, custom tools, MCP and startup managed policy; an omitted injected policy is cleared. The original model is reused unless overridden. Context-manager exit/disconnect preserves disk state; delete_session permanently removes it. Do not create the same ID as a substitute for resume.</a:t>
            </a:r>
          </a:p>
          <a:p>
            <a:r>
              <a:t>SOURCE: https://github.com/github/copilot-sdk/blob/v1.0.13/docs/features/session-persistence.md</a:t>
            </a:r>
          </a:p>
          <a:p>
            <a:r>
              <a:t>SOURCE: https://github.com/github/copilot-sdk/releases/tag/v1.0.13</a:t>
            </a:r>
          </a:p>
          <a:p>
            <a:r>
              <a:t>PROTOTYPE: examples/06_session_resume.py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Install pinned dependencies, authenticate, then run examples 01-07 with their guides. SDK 1.0.13 provisions runtime 1.0.83; install interactive Copilot CLI separately for login or securely provision a token/BYOK. MCP has separate credentials. Discover models with client.list_models(). Root .npmrc and devcontainer NPM_CONFIG_REGISTRY point npm to https://packagefeedproxy.microsoft.io/npm/; pip is unaffected and these Python/HTTP examples do not need npm. Both editable PowerPoint and custom scroll-snap HTML decks are refreshed.</a:t>
            </a:r>
          </a:p>
          <a:p>
            <a:r>
              <a:t>SOURCE: https://github.com/github/copilot-sdk/releases/tag/v1.0.13</a:t>
            </a:r>
          </a:p>
          <a:p>
            <a:r>
              <a:t>WORKSHOP: https://github.com/jeffrey-groneberg/ghcp_sdk</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examples/07_human_in_the_loop.py. read_answer is its bounded daemon-backed console helper. It expires after 30 seconds and prevents competing reads after failure; a blocked default-executor input thread could delay shutdown. The full on_user_input_request maps numbers to choice labels, respects allowFreeform and bounds retries. Legacy uses on_user_input_request; elicitation needs on_elicitation_request. Unknown permissions are denied. The command prints a fixed literal without interpolating the user's name. Turn timeout: 180 seconds; overall deadline: 240 seconds.</a:t>
            </a:r>
          </a:p>
          <a:p>
            <a:r>
              <a:t>SOURCE: https://github.com/github/copilot-sdk/tree/v1.0.13/python#permission-handling</a:t>
            </a:r>
          </a:p>
          <a:p>
            <a:r>
              <a:t>PROTOTYPE: examples/07_human_in_the_loop.py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Run python examples/04_hooks.py. The three callbacks distinguish a tool request, successful tool completion and failed tool completion. None keeps the default behavior. The read-oriented available_tools list limits the demonstration but is not an OS security boundary. The snippet assumes an active client and PermissionHandler imported; the actual file includes client lifecycle. Do not market simple regex redaction or prompt instructions as enterprise-grade secret protection.</a:t>
            </a:r>
          </a:p>
          <a:p>
            <a:r>
              <a:t>SOURCE: https://github.com/github/copilot-sdk/blob/v1.0.13/docs/features/hooks.md</a:t>
            </a:r>
          </a:p>
          <a:p>
            <a:r>
              <a:t>PROTOTYPE: examples/04_hooks.py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Stable v1.0.13 was released 4 September 2026. New application-facing features: client_info application/integration attribution; session github_token_provider initial/refresh acquisition with positive expiresIn; ask_user_variant legacy/elicitation; async tool cancellation; startup managed_settings requiring CLI 1.0.79-5 or later; and Auto tier preferences. set_auto_tier stages a preference committed on the next successful auto turn, not a fixed-model turn. Injected managed settings must be re-supplied on resume and cannot be paired with approve_all. Session cleanup now detaches instead of destroying a shared session. Experimental Node Agent Factories are not part of these Python prototypes.</a:t>
            </a:r>
          </a:p>
          <a:p>
            <a:r>
              <a:t>SOURCE: https://github.com/github/copilot-sdk/releases/tag/v1.0.13</a:t>
            </a:r>
          </a:p>
          <a:p>
            <a:r>
              <a:t>SOURCE: https://github.com/github/copilot-sdk/blob/v1.0.13/docs/features/client-info.md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System prompt customization is retained in stable 1.0.13. Python uses system_message with mode='customize' and section actions. This example replaces tone and exposes no tools. It assumes a running client and PermissionHandler import. Prompt sections shape model behavior; changing them is not a security control or permission bypass. Managed policy, tool exposure and OS sandboxing are separate mechanisms. This is an optional advanced pattern, not an additional runnable prototype.</a:t>
            </a:r>
          </a:p>
          <a:p>
            <a:r>
              <a:t>SOURCE: https://github.com/github/copilot-sdk/tree/v1.0.13/python#system-message-customization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6.xml.rels><?xml version="1.0" encoding="UTF-8"?><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 Id="rId9" Type="http://schemas.openxmlformats.org/officeDocument/2006/relationships/image" Target="../media/image23.png"/></Relationships>
</file>

<file path=ppt/slides/_rels/slide7.xml.rels><?xml version="1.0" encoding="UTF-8"?><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9.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4.png"/><Relationship Id="rId4" Type="http://schemas.openxmlformats.org/officeDocument/2006/relationships/image" Target="../media/image9.png"/><Relationship Id="rId9" Type="http://schemas.openxmlformats.org/officeDocument/2006/relationships/image" Target="../media/image26.pn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5.png"/></Relationships>
</file>

<file path=ppt/slides/_rels/slide12.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8.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4114800" y="640080"/>
            <a:ext cx="914400" cy="914400"/>
          </a:xfrm>
          <a:prstGeom prst="rect">
            <a:avLst/>
          </a:prstGeom>
        </p:spPr>
      </p:pic>
      <p:sp>
        <p:nvSpPr>
          <p:cNvPr id="4" name="Text 1"/>
          <p:cNvSpPr/>
          <p:nvPr/>
        </p:nvSpPr>
        <p:spPr>
          <a:xfrm>
            <a:off x="457200" y="1691640"/>
            <a:ext cx="8229600" cy="731520"/>
          </a:xfrm>
          <a:prstGeom prst="rect">
            <a:avLst/>
          </a:prstGeom>
          <a:noFill/>
          <a:ln>
            <a:noFill/>
          </a:ln>
        </p:spPr>
        <p:txBody>
          <a:bodyPr wrap="square" lIns="0" tIns="0" rIns="0" bIns="0" rtlCol="0" anchor="ctr"/>
          <a:lstStyle/>
          <a:p>
            <a:pPr marL="0" indent="0" algn="ctr">
              <a:buNone/>
            </a:pPr>
            <a:r>
              <a:rPr lang="en-US" sz="4200" b="1" dirty="0">
                <a:solidFill>
                  <a:srgbClr val="FFFFFF"/>
                </a:solidFill>
                <a:latin typeface="Calibri" pitchFamily="34" charset="0"/>
                <a:ea typeface="Calibri" pitchFamily="34" charset="-122"/>
                <a:cs typeface="Calibri" pitchFamily="34" charset="-120"/>
              </a:rPr>
              <a:t>GitHub Copilot SDK</a:t>
            </a:r>
            <a:endParaRPr lang="en-US" sz="4200" dirty="0"/>
          </a:p>
        </p:txBody>
      </p:sp>
      <p:sp>
        <p:nvSpPr>
          <p:cNvPr id="5" name="Text 2"/>
          <p:cNvSpPr/>
          <p:nvPr/>
        </p:nvSpPr>
        <p:spPr>
          <a:xfrm>
            <a:off x="457200" y="2423160"/>
            <a:ext cx="8229600" cy="457200"/>
          </a:xfrm>
          <a:prstGeom prst="rect">
            <a:avLst/>
          </a:prstGeom>
          <a:noFill/>
          <a:ln>
            <a:noFill/>
          </a:ln>
        </p:spPr>
        <p:txBody>
          <a:bodyPr wrap="square" lIns="0" tIns="0" rIns="0" bIns="0" rtlCol="0" anchor="ctr"/>
          <a:lstStyle/>
          <a:p>
            <a:pPr marL="0" indent="0" algn="ctr">
              <a:buNone/>
            </a:pPr>
            <a:r>
              <a:rPr lang="en-US" sz="2200" i="1" dirty="0">
                <a:solidFill>
                  <a:srgbClr val="58A6FF"/>
                </a:solidFill>
                <a:latin typeface="Calibri" pitchFamily="34" charset="0"/>
                <a:ea typeface="Calibri" pitchFamily="34" charset="-122"/>
                <a:cs typeface="Calibri" pitchFamily="34" charset="-120"/>
              </a:rPr>
              <a:t>Agents for Every App</a:t>
            </a:r>
            <a:endParaRPr lang="en-US" sz="2200" dirty="0"/>
          </a:p>
        </p:txBody>
      </p:sp>
      <p:sp>
        <p:nvSpPr>
          <p:cNvPr id="6" name="Text 3"/>
          <p:cNvSpPr/>
          <p:nvPr/>
        </p:nvSpPr>
        <p:spPr>
          <a:xfrm>
            <a:off x="1371600" y="3063240"/>
            <a:ext cx="6400800" cy="365760"/>
          </a:xfrm>
          <a:prstGeom prst="rect">
            <a:avLst/>
          </a:prstGeom>
          <a:noFill/>
          <a:ln>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Embed Copilot's agentic workflows in your application</a:t>
            </a:r>
            <a:endParaRPr lang="en-US" sz="1400" dirty="0"/>
          </a:p>
        </p:txBody>
      </p:sp>
      <p:sp>
        <p:nvSpPr>
          <p:cNvPr id="7" name="Shape 4"/>
          <p:cNvSpPr/>
          <p:nvPr/>
        </p:nvSpPr>
        <p:spPr>
          <a:xfrm>
            <a:off x="1463040" y="3749040"/>
            <a:ext cx="1097280" cy="320040"/>
          </a:xfrm>
          <a:prstGeom prst="line">
            <a:avLst/>
          </a:prstGeom>
          <a:solidFill>
            <a:srgbClr val="161B22"/>
          </a:solidFill>
          <a:ln w="12700">
            <a:prstDash val="solid"/>
          </a:ln>
        </p:spPr>
        <p:txBody>
          <a:bodyPr/>
          <a:lstStyle/>
          <a:p>
            <a:endParaRPr/>
          </a:p>
        </p:txBody>
      </p:sp>
      <p:sp>
        <p:nvSpPr>
          <p:cNvPr id="8" name="Text 5"/>
          <p:cNvSpPr/>
          <p:nvPr/>
        </p:nvSpPr>
        <p:spPr>
          <a:xfrm>
            <a:off x="146304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TypeScript</a:t>
            </a:r>
            <a:endParaRPr lang="en-US" sz="1100" dirty="0"/>
          </a:p>
        </p:txBody>
      </p:sp>
      <p:sp>
        <p:nvSpPr>
          <p:cNvPr id="9" name="Shape 6"/>
          <p:cNvSpPr/>
          <p:nvPr/>
        </p:nvSpPr>
        <p:spPr>
          <a:xfrm>
            <a:off x="2697480" y="3749040"/>
            <a:ext cx="1097280" cy="320040"/>
          </a:xfrm>
          <a:prstGeom prst="line">
            <a:avLst/>
          </a:prstGeom>
          <a:solidFill>
            <a:srgbClr val="161B22"/>
          </a:solidFill>
          <a:ln w="12700">
            <a:prstDash val="solid"/>
          </a:ln>
        </p:spPr>
        <p:txBody>
          <a:bodyPr/>
          <a:lstStyle/>
          <a:p>
            <a:endParaRPr/>
          </a:p>
        </p:txBody>
      </p:sp>
      <p:sp>
        <p:nvSpPr>
          <p:cNvPr id="10" name="Text 7"/>
          <p:cNvSpPr/>
          <p:nvPr/>
        </p:nvSpPr>
        <p:spPr>
          <a:xfrm>
            <a:off x="269748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Python</a:t>
            </a:r>
            <a:endParaRPr lang="en-US" sz="1100" dirty="0"/>
          </a:p>
        </p:txBody>
      </p:sp>
      <p:sp>
        <p:nvSpPr>
          <p:cNvPr id="11" name="Shape 8"/>
          <p:cNvSpPr/>
          <p:nvPr/>
        </p:nvSpPr>
        <p:spPr>
          <a:xfrm>
            <a:off x="3931920" y="3749040"/>
            <a:ext cx="1097280" cy="320040"/>
          </a:xfrm>
          <a:prstGeom prst="line">
            <a:avLst/>
          </a:prstGeom>
          <a:solidFill>
            <a:srgbClr val="161B22"/>
          </a:solidFill>
          <a:ln w="12700">
            <a:prstDash val="solid"/>
          </a:ln>
        </p:spPr>
        <p:txBody>
          <a:bodyPr/>
          <a:lstStyle/>
          <a:p>
            <a:endParaRPr/>
          </a:p>
        </p:txBody>
      </p:sp>
      <p:sp>
        <p:nvSpPr>
          <p:cNvPr id="12" name="Text 9"/>
          <p:cNvSpPr/>
          <p:nvPr/>
        </p:nvSpPr>
        <p:spPr>
          <a:xfrm>
            <a:off x="393192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Go</a:t>
            </a:r>
            <a:endParaRPr lang="en-US" sz="1100" dirty="0"/>
          </a:p>
        </p:txBody>
      </p:sp>
      <p:sp>
        <p:nvSpPr>
          <p:cNvPr id="13" name="Shape 10"/>
          <p:cNvSpPr/>
          <p:nvPr/>
        </p:nvSpPr>
        <p:spPr>
          <a:xfrm>
            <a:off x="5166360" y="3749040"/>
            <a:ext cx="1097280" cy="320040"/>
          </a:xfrm>
          <a:prstGeom prst="line">
            <a:avLst/>
          </a:prstGeom>
          <a:solidFill>
            <a:srgbClr val="161B22"/>
          </a:solidFill>
          <a:ln w="12700">
            <a:prstDash val="solid"/>
          </a:ln>
        </p:spPr>
        <p:txBody>
          <a:bodyPr/>
          <a:lstStyle/>
          <a:p>
            <a:endParaRPr/>
          </a:p>
        </p:txBody>
      </p:sp>
      <p:sp>
        <p:nvSpPr>
          <p:cNvPr id="14" name="Text 11"/>
          <p:cNvSpPr/>
          <p:nvPr/>
        </p:nvSpPr>
        <p:spPr>
          <a:xfrm>
            <a:off x="516636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.NET</a:t>
            </a:r>
            <a:endParaRPr lang="en-US" sz="1100" dirty="0"/>
          </a:p>
        </p:txBody>
      </p:sp>
      <p:sp>
        <p:nvSpPr>
          <p:cNvPr id="15" name="Shape 12"/>
          <p:cNvSpPr/>
          <p:nvPr/>
        </p:nvSpPr>
        <p:spPr>
          <a:xfrm>
            <a:off x="6400800" y="3749040"/>
            <a:ext cx="1097280" cy="320040"/>
          </a:xfrm>
          <a:prstGeom prst="line">
            <a:avLst/>
          </a:prstGeom>
          <a:solidFill>
            <a:srgbClr val="161B22"/>
          </a:solidFill>
          <a:ln w="12700">
            <a:prstDash val="solid"/>
          </a:ln>
        </p:spPr>
        <p:txBody>
          <a:bodyPr/>
          <a:lstStyle/>
          <a:p>
            <a:endParaRPr/>
          </a:p>
        </p:txBody>
      </p:sp>
      <p:sp>
        <p:nvSpPr>
          <p:cNvPr id="16" name="Text 13"/>
          <p:cNvSpPr/>
          <p:nvPr/>
        </p:nvSpPr>
        <p:spPr>
          <a:xfrm>
            <a:off x="640080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Java / Rust</a:t>
            </a:r>
            <a:endParaRPr lang="en-US" sz="1100" dirty="0"/>
          </a:p>
        </p:txBody>
      </p:sp>
      <p:sp>
        <p:nvSpPr>
          <p:cNvPr id="17" name="Text 14"/>
          <p:cNvSpPr/>
          <p:nvPr/>
        </p:nvSpPr>
        <p:spPr>
          <a:xfrm>
            <a:off x="3383280" y="4297680"/>
            <a:ext cx="2377440" cy="274320"/>
          </a:xfrm>
          <a:prstGeom prst="rect">
            <a:avLst/>
          </a:prstGeom>
          <a:noFill/>
          <a:ln>
            <a:noFill/>
          </a:ln>
        </p:spPr>
        <p:txBody>
          <a:bodyPr wrap="square" lIns="0" tIns="0" rIns="0" bIns="0" rtlCol="0" anchor="ctr"/>
          <a:lstStyle/>
          <a:p>
            <a:pPr marL="0" indent="0" algn="ctr">
              <a:buNone/>
            </a:pPr>
            <a:r>
              <a:rPr lang="en-US" sz="1000" dirty="0">
                <a:solidFill>
                  <a:srgbClr val="F0883E"/>
                </a:solidFill>
                <a:latin typeface="Calibri" pitchFamily="34" charset="0"/>
                <a:ea typeface="Calibri" pitchFamily="34" charset="-122"/>
                <a:cs typeface="Calibri" pitchFamily="34" charset="-120"/>
              </a:rPr>
              <a:t>Stable · v1.0.13 · 4 September 2026</a:t>
            </a:r>
            <a:endParaRPr lang="en-US" sz="1000" dirty="0"/>
          </a:p>
        </p:txBody>
      </p:sp>
      <p:sp>
        <p:nvSpPr>
          <p:cNvPr id="20" name="Text 16"/>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 / 28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is the GitHub Copilot SDK?</a:t>
            </a:r>
            <a:endParaRPr lang="en-US" sz="2600" dirty="0"/>
          </a:p>
        </p:txBody>
      </p:sp>
      <p:sp>
        <p:nvSpPr>
          <p:cNvPr id="4" name="Shape 2"/>
          <p:cNvSpPr/>
          <p:nvPr/>
        </p:nvSpPr>
        <p:spPr>
          <a:xfrm>
            <a:off x="548640" y="1005840"/>
            <a:ext cx="8046720" cy="128016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5" name="Text 3"/>
          <p:cNvSpPr/>
          <p:nvPr/>
        </p:nvSpPr>
        <p:spPr>
          <a:xfrm>
            <a:off x="822960" y="1097280"/>
            <a:ext cx="7680960" cy="109728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A programmable SDK that brings Copilot’s agent runtime into your application — no orchestration to build.</a:t>
            </a:r>
            <a:endParaRPr lang="en-US" sz="1600" dirty="0"/>
          </a:p>
          <a:p>
            <a:pPr marL="0" indent="0">
              <a:buNone/>
            </a:pPr>
            <a:r>
              <a:rPr lang="en-US" sz="1300" dirty="0">
                <a:solidFill>
                  <a:srgbClr val="C9D1D9"/>
                </a:solidFill>
                <a:latin typeface="Calibri" pitchFamily="34" charset="0"/>
                <a:ea typeface="Calibri" pitchFamily="34" charset="-122"/>
                <a:cs typeface="Calibri" pitchFamily="34" charset="-120"/>
              </a:rPr>
              <a:t>A production-tested agent runtime you can invoke programmatically. No need to build your own orchestration — you define agent behavior, Copilot handles planning, tool invocation, file edits, and more.</a:t>
            </a:r>
            <a:endParaRPr lang="en-US" sz="1600" dirty="0"/>
          </a:p>
        </p:txBody>
      </p:sp>
      <p:sp>
        <p:nvSpPr>
          <p:cNvPr id="6" name="Shape 4"/>
          <p:cNvSpPr/>
          <p:nvPr/>
        </p:nvSpPr>
        <p:spPr>
          <a:xfrm>
            <a:off x="548640"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5"/>
          <p:cNvSpPr/>
          <p:nvPr/>
        </p:nvSpPr>
        <p:spPr>
          <a:xfrm>
            <a:off x="1540764" y="2743200"/>
            <a:ext cx="548640" cy="548640"/>
          </a:xfrm>
          <a:prstGeom prst="line">
            <a:avLst/>
          </a:prstGeom>
          <a:solidFill>
            <a:srgbClr val="1F6FEB"/>
          </a:solidFill>
          <a:ln w="6350">
            <a:solidFill>
              <a:srgbClr val="30363D"/>
            </a:solidFill>
          </a:ln>
        </p:spPr>
        <p:txBody>
          <a:bodyPr/>
          <a:lstStyle/>
          <a:p>
            <a:endParaRPr/>
          </a:p>
        </p:txBody>
      </p:sp>
      <p:pic>
        <p:nvPicPr>
          <p:cNvPr id="8" name="Image 0" descr="preencoded.png"/>
          <p:cNvPicPr>
            <a:picLocks noChangeAspect="1"/>
          </p:cNvPicPr>
          <p:nvPr/>
        </p:nvPicPr>
        <p:blipFill>
          <a:blip r:embed="rId3"/>
          <a:stretch>
            <a:fillRect/>
          </a:stretch>
        </p:blipFill>
        <p:spPr>
          <a:xfrm>
            <a:off x="1632204" y="2834640"/>
            <a:ext cx="365760" cy="365760"/>
          </a:xfrm>
          <a:prstGeom prst="rect">
            <a:avLst/>
          </a:prstGeom>
        </p:spPr>
      </p:pic>
      <p:sp>
        <p:nvSpPr>
          <p:cNvPr id="9" name="Text 6"/>
          <p:cNvSpPr/>
          <p:nvPr/>
        </p:nvSpPr>
        <p:spPr>
          <a:xfrm>
            <a:off x="685800"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Production-Tested</a:t>
            </a:r>
            <a:endParaRPr lang="en-US" sz="1400" dirty="0"/>
          </a:p>
        </p:txBody>
      </p:sp>
      <p:sp>
        <p:nvSpPr>
          <p:cNvPr id="10" name="Text 7"/>
          <p:cNvSpPr/>
          <p:nvPr/>
        </p:nvSpPr>
        <p:spPr>
          <a:xfrm>
            <a:off x="731520"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Same runtime behind Copilot CLI, battle-tested at scale</a:t>
            </a:r>
            <a:endParaRPr lang="en-US" sz="1100" dirty="0"/>
          </a:p>
        </p:txBody>
      </p:sp>
      <p:sp>
        <p:nvSpPr>
          <p:cNvPr id="11" name="Shape 8"/>
          <p:cNvSpPr/>
          <p:nvPr/>
        </p:nvSpPr>
        <p:spPr>
          <a:xfrm>
            <a:off x="3355848"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2" name="Shape 9"/>
          <p:cNvSpPr/>
          <p:nvPr/>
        </p:nvSpPr>
        <p:spPr>
          <a:xfrm>
            <a:off x="4347972" y="2743200"/>
            <a:ext cx="548640" cy="548640"/>
          </a:xfrm>
          <a:prstGeom prst="line">
            <a:avLst/>
          </a:prstGeom>
          <a:solidFill>
            <a:srgbClr val="238636"/>
          </a:solidFill>
          <a:ln w="6350">
            <a:solidFill>
              <a:srgbClr val="30363D"/>
            </a:solidFill>
          </a:ln>
        </p:spPr>
        <p:txBody>
          <a:bodyPr/>
          <a:lstStyle/>
          <a:p>
            <a:endParaRPr/>
          </a:p>
        </p:txBody>
      </p:sp>
      <p:pic>
        <p:nvPicPr>
          <p:cNvPr id="13" name="Image 1" descr="preencoded.png"/>
          <p:cNvPicPr>
            <a:picLocks noChangeAspect="1"/>
          </p:cNvPicPr>
          <p:nvPr/>
        </p:nvPicPr>
        <p:blipFill>
          <a:blip r:embed="rId4"/>
          <a:stretch>
            <a:fillRect/>
          </a:stretch>
        </p:blipFill>
        <p:spPr>
          <a:xfrm>
            <a:off x="4439412" y="2834640"/>
            <a:ext cx="365760" cy="365760"/>
          </a:xfrm>
          <a:prstGeom prst="rect">
            <a:avLst/>
          </a:prstGeom>
        </p:spPr>
      </p:pic>
      <p:sp>
        <p:nvSpPr>
          <p:cNvPr id="14" name="Text 10"/>
          <p:cNvSpPr/>
          <p:nvPr/>
        </p:nvSpPr>
        <p:spPr>
          <a:xfrm>
            <a:off x="3493008"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Multi-Language</a:t>
            </a:r>
            <a:endParaRPr lang="en-US" sz="1400" dirty="0"/>
          </a:p>
        </p:txBody>
      </p:sp>
      <p:sp>
        <p:nvSpPr>
          <p:cNvPr id="15" name="Text 11"/>
          <p:cNvSpPr/>
          <p:nvPr/>
        </p:nvSpPr>
        <p:spPr>
          <a:xfrm>
            <a:off x="3538728"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TypeScript, Python, Go, .NET, Java and Rust</a:t>
            </a:r>
            <a:endParaRPr lang="en-US" sz="1100" dirty="0"/>
          </a:p>
        </p:txBody>
      </p:sp>
      <p:sp>
        <p:nvSpPr>
          <p:cNvPr id="16" name="Shape 12"/>
          <p:cNvSpPr/>
          <p:nvPr/>
        </p:nvSpPr>
        <p:spPr>
          <a:xfrm>
            <a:off x="6163056"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7" name="Shape 13"/>
          <p:cNvSpPr/>
          <p:nvPr/>
        </p:nvSpPr>
        <p:spPr>
          <a:xfrm>
            <a:off x="7155180" y="2743200"/>
            <a:ext cx="548640" cy="548640"/>
          </a:xfrm>
          <a:prstGeom prst="line">
            <a:avLst/>
          </a:prstGeom>
          <a:solidFill>
            <a:srgbClr val="8957E5"/>
          </a:solidFill>
          <a:ln w="6350">
            <a:solidFill>
              <a:srgbClr val="30363D"/>
            </a:solidFill>
          </a:ln>
        </p:spPr>
        <p:txBody>
          <a:bodyPr/>
          <a:lstStyle/>
          <a:p>
            <a:endParaRPr/>
          </a:p>
        </p:txBody>
      </p:sp>
      <p:pic>
        <p:nvPicPr>
          <p:cNvPr id="18" name="Image 2" descr="preencoded.png"/>
          <p:cNvPicPr>
            <a:picLocks noChangeAspect="1"/>
          </p:cNvPicPr>
          <p:nvPr/>
        </p:nvPicPr>
        <p:blipFill>
          <a:blip r:embed="rId5"/>
          <a:stretch>
            <a:fillRect/>
          </a:stretch>
        </p:blipFill>
        <p:spPr>
          <a:xfrm>
            <a:off x="7246620" y="2834640"/>
            <a:ext cx="365760" cy="365760"/>
          </a:xfrm>
          <a:prstGeom prst="rect">
            <a:avLst/>
          </a:prstGeom>
        </p:spPr>
      </p:pic>
      <p:sp>
        <p:nvSpPr>
          <p:cNvPr id="19" name="Text 14"/>
          <p:cNvSpPr/>
          <p:nvPr/>
        </p:nvSpPr>
        <p:spPr>
          <a:xfrm>
            <a:off x="6300216"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Extensible</a:t>
            </a:r>
            <a:endParaRPr lang="en-US" sz="1400" dirty="0"/>
          </a:p>
        </p:txBody>
      </p:sp>
      <p:sp>
        <p:nvSpPr>
          <p:cNvPr id="20" name="Text 15"/>
          <p:cNvSpPr/>
          <p:nvPr/>
        </p:nvSpPr>
        <p:spPr>
          <a:xfrm>
            <a:off x="6345936"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Custom tools, agents, MCP servers, hooks, and skills</a:t>
            </a:r>
            <a:endParaRPr lang="en-US" sz="1100" dirty="0"/>
          </a:p>
        </p:txBody>
      </p:sp>
      <p:sp>
        <p:nvSpPr>
          <p:cNvPr id="23" name="Text 1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 / 28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Architecture</a:t>
            </a:r>
            <a:endParaRPr lang="en-US" sz="2600" dirty="0"/>
          </a:p>
        </p:txBody>
      </p:sp>
      <p:sp>
        <p:nvSpPr>
          <p:cNvPr id="4" name="Shape 2"/>
          <p:cNvSpPr/>
          <p:nvPr/>
        </p:nvSpPr>
        <p:spPr>
          <a:xfrm>
            <a:off x="6400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600200" y="1325880"/>
            <a:ext cx="457200" cy="457200"/>
          </a:xfrm>
          <a:prstGeom prst="rect">
            <a:avLst/>
          </a:prstGeom>
        </p:spPr>
      </p:pic>
      <p:sp>
        <p:nvSpPr>
          <p:cNvPr id="6" name="Text 3"/>
          <p:cNvSpPr/>
          <p:nvPr/>
        </p:nvSpPr>
        <p:spPr>
          <a:xfrm>
            <a:off x="7315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Your Application</a:t>
            </a:r>
            <a:endParaRPr lang="en-US" sz="1300" dirty="0"/>
          </a:p>
        </p:txBody>
      </p:sp>
      <p:sp>
        <p:nvSpPr>
          <p:cNvPr id="7" name="Text 4"/>
          <p:cNvSpPr/>
          <p:nvPr/>
        </p:nvSpPr>
        <p:spPr>
          <a:xfrm>
            <a:off x="7315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TS / Python / Go / .NET / Java / Rust</a:t>
            </a:r>
            <a:endParaRPr lang="en-US" sz="900" dirty="0"/>
          </a:p>
        </p:txBody>
      </p:sp>
      <p:sp>
        <p:nvSpPr>
          <p:cNvPr id="8" name="Shape 5"/>
          <p:cNvSpPr/>
          <p:nvPr/>
        </p:nvSpPr>
        <p:spPr>
          <a:xfrm>
            <a:off x="33832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4343400" y="1325880"/>
            <a:ext cx="457200" cy="457200"/>
          </a:xfrm>
          <a:prstGeom prst="rect">
            <a:avLst/>
          </a:prstGeom>
        </p:spPr>
      </p:pic>
      <p:sp>
        <p:nvSpPr>
          <p:cNvPr id="10" name="Text 6"/>
          <p:cNvSpPr/>
          <p:nvPr/>
        </p:nvSpPr>
        <p:spPr>
          <a:xfrm>
            <a:off x="34747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SDK Client</a:t>
            </a:r>
            <a:endParaRPr lang="en-US" sz="1300" dirty="0"/>
          </a:p>
        </p:txBody>
      </p:sp>
      <p:sp>
        <p:nvSpPr>
          <p:cNvPr id="11" name="Text 7"/>
          <p:cNvSpPr/>
          <p:nvPr/>
        </p:nvSpPr>
        <p:spPr>
          <a:xfrm>
            <a:off x="34747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JSON-RPC Communication</a:t>
            </a:r>
            <a:endParaRPr lang="en-US" sz="900" dirty="0"/>
          </a:p>
        </p:txBody>
      </p:sp>
      <p:sp>
        <p:nvSpPr>
          <p:cNvPr id="12" name="Shape 8"/>
          <p:cNvSpPr/>
          <p:nvPr/>
        </p:nvSpPr>
        <p:spPr>
          <a:xfrm>
            <a:off x="61264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7086600" y="1325880"/>
            <a:ext cx="457200" cy="457200"/>
          </a:xfrm>
          <a:prstGeom prst="rect">
            <a:avLst/>
          </a:prstGeom>
        </p:spPr>
      </p:pic>
      <p:sp>
        <p:nvSpPr>
          <p:cNvPr id="14" name="Text 9"/>
          <p:cNvSpPr/>
          <p:nvPr/>
        </p:nvSpPr>
        <p:spPr>
          <a:xfrm>
            <a:off x="62179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Copilot CLI</a:t>
            </a:r>
            <a:endParaRPr lang="en-US" sz="1300" dirty="0"/>
          </a:p>
        </p:txBody>
      </p:sp>
      <p:sp>
        <p:nvSpPr>
          <p:cNvPr id="15" name="Text 10"/>
          <p:cNvSpPr/>
          <p:nvPr/>
        </p:nvSpPr>
        <p:spPr>
          <a:xfrm>
            <a:off x="62179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Server Mode (stdio / TCP)</a:t>
            </a:r>
            <a:endParaRPr lang="en-US" sz="900" dirty="0"/>
          </a:p>
        </p:txBody>
      </p:sp>
      <p:pic>
        <p:nvPicPr>
          <p:cNvPr id="16" name="Image 3" descr="preencoded.png"/>
          <p:cNvPicPr>
            <a:picLocks noChangeAspect="1"/>
          </p:cNvPicPr>
          <p:nvPr/>
        </p:nvPicPr>
        <p:blipFill>
          <a:blip r:embed="rId6"/>
          <a:stretch>
            <a:fillRect/>
          </a:stretch>
        </p:blipFill>
        <p:spPr>
          <a:xfrm>
            <a:off x="3063240" y="1737360"/>
            <a:ext cx="274320" cy="274320"/>
          </a:xfrm>
          <a:prstGeom prst="rect">
            <a:avLst/>
          </a:prstGeom>
        </p:spPr>
      </p:pic>
      <p:pic>
        <p:nvPicPr>
          <p:cNvPr id="17" name="Image 4" descr="preencoded.png"/>
          <p:cNvPicPr>
            <a:picLocks noChangeAspect="1"/>
          </p:cNvPicPr>
          <p:nvPr/>
        </p:nvPicPr>
        <p:blipFill>
          <a:blip r:embed="rId6"/>
          <a:stretch>
            <a:fillRect/>
          </a:stretch>
        </p:blipFill>
        <p:spPr>
          <a:xfrm>
            <a:off x="5806440" y="1737360"/>
            <a:ext cx="274320" cy="274320"/>
          </a:xfrm>
          <a:prstGeom prst="rect">
            <a:avLst/>
          </a:prstGeom>
        </p:spPr>
      </p:pic>
      <p:sp>
        <p:nvSpPr>
          <p:cNvPr id="18" name="Shape 11"/>
          <p:cNvSpPr/>
          <p:nvPr/>
        </p:nvSpPr>
        <p:spPr>
          <a:xfrm>
            <a:off x="2926080" y="3108960"/>
            <a:ext cx="3291840" cy="10972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9" name="Image 5" descr="preencoded.png"/>
          <p:cNvPicPr>
            <a:picLocks noChangeAspect="1"/>
          </p:cNvPicPr>
          <p:nvPr/>
        </p:nvPicPr>
        <p:blipFill>
          <a:blip r:embed="rId7"/>
          <a:stretch>
            <a:fillRect/>
          </a:stretch>
        </p:blipFill>
        <p:spPr>
          <a:xfrm>
            <a:off x="4343400" y="3200400"/>
            <a:ext cx="457200" cy="457200"/>
          </a:xfrm>
          <a:prstGeom prst="rect">
            <a:avLst/>
          </a:prstGeom>
        </p:spPr>
      </p:pic>
      <p:sp>
        <p:nvSpPr>
          <p:cNvPr id="20" name="Text 12"/>
          <p:cNvSpPr/>
          <p:nvPr/>
        </p:nvSpPr>
        <p:spPr>
          <a:xfrm>
            <a:off x="3017520" y="3657600"/>
            <a:ext cx="3108960" cy="22860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Model Provider</a:t>
            </a:r>
            <a:endParaRPr lang="en-US" sz="1200" dirty="0"/>
          </a:p>
        </p:txBody>
      </p:sp>
      <p:sp>
        <p:nvSpPr>
          <p:cNvPr id="21" name="Text 13"/>
          <p:cNvSpPr/>
          <p:nvPr/>
        </p:nvSpPr>
        <p:spPr>
          <a:xfrm>
            <a:off x="3017520" y="3886200"/>
            <a:ext cx="3108960" cy="228600"/>
          </a:xfrm>
          <a:prstGeom prst="rect">
            <a:avLst/>
          </a:prstGeom>
          <a:noFill/>
          <a:ln>
            <a:noFill/>
          </a:ln>
        </p:spPr>
        <p:txBody>
          <a:bodyPr wrap="square" lIns="0" tIns="0" rIns="0" bIns="0" rtlCol="0" anchor="ctr"/>
          <a:lstStyle/>
          <a:p>
            <a:pPr marL="0" indent="0" algn="ctr">
              <a:buNone/>
            </a:pPr>
            <a:r>
              <a:rPr lang="en-US" sz="850" dirty="0">
                <a:solidFill>
                  <a:srgbClr val="8B949E"/>
                </a:solidFill>
                <a:latin typeface="Calibri" pitchFamily="34" charset="0"/>
                <a:ea typeface="Calibri" pitchFamily="34" charset="-122"/>
                <a:cs typeface="Calibri" pitchFamily="34" charset="-120"/>
              </a:rPr>
              <a:t>GitHub Copilot  ·  OpenAI  ·  Azure  ·  Anthropic  ·  Local</a:t>
            </a:r>
            <a:endParaRPr lang="en-US" sz="850" dirty="0"/>
          </a:p>
        </p:txBody>
      </p:sp>
      <p:pic>
        <p:nvPicPr>
          <p:cNvPr id="23" name="Image 6" descr="preencoded.png"/>
          <p:cNvPicPr>
            <a:picLocks noChangeAspect="1"/>
          </p:cNvPicPr>
          <p:nvPr/>
        </p:nvPicPr>
        <p:blipFill>
          <a:blip r:embed="rId8"/>
          <a:stretch>
            <a:fillRect/>
          </a:stretch>
        </p:blipFill>
        <p:spPr>
          <a:xfrm>
            <a:off x="640080" y="3200400"/>
            <a:ext cx="182880" cy="182880"/>
          </a:xfrm>
          <a:prstGeom prst="rect">
            <a:avLst/>
          </a:prstGeom>
        </p:spPr>
      </p:pic>
      <p:sp>
        <p:nvSpPr>
          <p:cNvPr id="24" name="Text 15"/>
          <p:cNvSpPr/>
          <p:nvPr/>
        </p:nvSpPr>
        <p:spPr>
          <a:xfrm>
            <a:off x="91440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Auto-managed or external CLI</a:t>
            </a:r>
            <a:endParaRPr lang="en-US" sz="1000" dirty="0"/>
          </a:p>
        </p:txBody>
      </p:sp>
      <p:pic>
        <p:nvPicPr>
          <p:cNvPr id="25" name="Image 7" descr="preencoded.png"/>
          <p:cNvPicPr>
            <a:picLocks noChangeAspect="1"/>
          </p:cNvPicPr>
          <p:nvPr/>
        </p:nvPicPr>
        <p:blipFill>
          <a:blip r:embed="rId8"/>
          <a:stretch>
            <a:fillRect/>
          </a:stretch>
        </p:blipFill>
        <p:spPr>
          <a:xfrm>
            <a:off x="640080" y="3566160"/>
            <a:ext cx="182880" cy="182880"/>
          </a:xfrm>
          <a:prstGeom prst="rect">
            <a:avLst/>
          </a:prstGeom>
        </p:spPr>
      </p:pic>
      <p:sp>
        <p:nvSpPr>
          <p:cNvPr id="26" name="Text 16"/>
          <p:cNvSpPr/>
          <p:nvPr/>
        </p:nvSpPr>
        <p:spPr>
          <a:xfrm>
            <a:off x="91440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Shared sessions; detach per client</a:t>
            </a:r>
            <a:endParaRPr lang="en-US" sz="1000" dirty="0"/>
          </a:p>
        </p:txBody>
      </p:sp>
      <p:pic>
        <p:nvPicPr>
          <p:cNvPr id="27" name="Image 8" descr="preencoded.png"/>
          <p:cNvPicPr>
            <a:picLocks noChangeAspect="1"/>
          </p:cNvPicPr>
          <p:nvPr/>
        </p:nvPicPr>
        <p:blipFill>
          <a:blip r:embed="rId8"/>
          <a:stretch>
            <a:fillRect/>
          </a:stretch>
        </p:blipFill>
        <p:spPr>
          <a:xfrm>
            <a:off x="640080" y="3931920"/>
            <a:ext cx="182880" cy="182880"/>
          </a:xfrm>
          <a:prstGeom prst="rect">
            <a:avLst/>
          </a:prstGeom>
        </p:spPr>
      </p:pic>
      <p:sp>
        <p:nvSpPr>
          <p:cNvPr id="28" name="Text 17"/>
          <p:cNvSpPr/>
          <p:nvPr/>
        </p:nvSpPr>
        <p:spPr>
          <a:xfrm>
            <a:off x="91440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Typed streaming events</a:t>
            </a:r>
            <a:endParaRPr lang="en-US" sz="1000" dirty="0"/>
          </a:p>
        </p:txBody>
      </p:sp>
      <p:pic>
        <p:nvPicPr>
          <p:cNvPr id="29" name="Image 9" descr="preencoded.png"/>
          <p:cNvPicPr>
            <a:picLocks noChangeAspect="1"/>
          </p:cNvPicPr>
          <p:nvPr/>
        </p:nvPicPr>
        <p:blipFill>
          <a:blip r:embed="rId8"/>
          <a:stretch>
            <a:fillRect/>
          </a:stretch>
        </p:blipFill>
        <p:spPr>
          <a:xfrm>
            <a:off x="6675120" y="3200400"/>
            <a:ext cx="182880" cy="182880"/>
          </a:xfrm>
          <a:prstGeom prst="rect">
            <a:avLst/>
          </a:prstGeom>
        </p:spPr>
      </p:pic>
      <p:sp>
        <p:nvSpPr>
          <p:cNvPr id="30" name="Text 18"/>
          <p:cNvSpPr/>
          <p:nvPr/>
        </p:nvSpPr>
        <p:spPr>
          <a:xfrm>
            <a:off x="694944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Session persistence</a:t>
            </a:r>
            <a:endParaRPr lang="en-US" sz="1000" dirty="0"/>
          </a:p>
        </p:txBody>
      </p:sp>
      <p:pic>
        <p:nvPicPr>
          <p:cNvPr id="31" name="Image 10" descr="preencoded.png"/>
          <p:cNvPicPr>
            <a:picLocks noChangeAspect="1"/>
          </p:cNvPicPr>
          <p:nvPr/>
        </p:nvPicPr>
        <p:blipFill>
          <a:blip r:embed="rId8"/>
          <a:stretch>
            <a:fillRect/>
          </a:stretch>
        </p:blipFill>
        <p:spPr>
          <a:xfrm>
            <a:off x="6675120" y="3566160"/>
            <a:ext cx="182880" cy="182880"/>
          </a:xfrm>
          <a:prstGeom prst="rect">
            <a:avLst/>
          </a:prstGeom>
        </p:spPr>
      </p:pic>
      <p:sp>
        <p:nvSpPr>
          <p:cNvPr id="32" name="Text 19"/>
          <p:cNvSpPr/>
          <p:nvPr/>
        </p:nvSpPr>
        <p:spPr>
          <a:xfrm>
            <a:off x="694944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App-owned isolation and routing</a:t>
            </a:r>
            <a:endParaRPr lang="en-US" sz="1000" dirty="0"/>
          </a:p>
        </p:txBody>
      </p:sp>
      <p:pic>
        <p:nvPicPr>
          <p:cNvPr id="33" name="Image 11" descr="preencoded.png"/>
          <p:cNvPicPr>
            <a:picLocks noChangeAspect="1"/>
          </p:cNvPicPr>
          <p:nvPr/>
        </p:nvPicPr>
        <p:blipFill>
          <a:blip r:embed="rId8"/>
          <a:stretch>
            <a:fillRect/>
          </a:stretch>
        </p:blipFill>
        <p:spPr>
          <a:xfrm>
            <a:off x="6675120" y="3931920"/>
            <a:ext cx="182880" cy="182880"/>
          </a:xfrm>
          <a:prstGeom prst="rect">
            <a:avLst/>
          </a:prstGeom>
        </p:spPr>
      </p:pic>
      <p:sp>
        <p:nvSpPr>
          <p:cNvPr id="34" name="Text 20"/>
          <p:cNvSpPr/>
          <p:nvPr/>
        </p:nvSpPr>
        <p:spPr>
          <a:xfrm>
            <a:off x="694944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OpenTelemetry tracing</a:t>
            </a:r>
            <a:endParaRPr lang="en-US" sz="1000" dirty="0"/>
          </a:p>
        </p:txBody>
      </p:sp>
      <p:sp>
        <p:nvSpPr>
          <p:cNvPr id="37" name="Text 2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3 / 28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Available SDKs</a:t>
            </a:r>
            <a:endParaRPr lang="en-US" sz="2600" dirty="0"/>
          </a:p>
        </p:txBody>
      </p:sp>
      <p:sp>
        <p:nvSpPr>
          <p:cNvPr id="4" name="Shape 2"/>
          <p:cNvSpPr/>
          <p:nvPr/>
        </p:nvSpPr>
        <p:spPr>
          <a:xfrm>
            <a:off x="548640" y="1051560"/>
            <a:ext cx="8046720" cy="621792"/>
          </a:xfrm>
          <a:prstGeom prst="line">
            <a:avLst/>
          </a:prstGeom>
          <a:solidFill>
            <a:srgbClr val="161B22"/>
          </a:solidFill>
          <a:ln w="12700">
            <a:prstDash val="solid"/>
          </a:ln>
        </p:spPr>
        <p:txBody>
          <a:bodyPr/>
          <a:lstStyle/>
          <a:p>
            <a:endParaRPr/>
          </a:p>
        </p:txBody>
      </p:sp>
      <p:sp>
        <p:nvSpPr>
          <p:cNvPr id="6" name="Text 4"/>
          <p:cNvSpPr/>
          <p:nvPr/>
        </p:nvSpPr>
        <p:spPr>
          <a:xfrm>
            <a:off x="822960" y="1051560"/>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Node.js / TypeScript</a:t>
            </a:r>
            <a:endParaRPr lang="en-US" sz="1400" dirty="0"/>
          </a:p>
        </p:txBody>
      </p:sp>
      <p:sp>
        <p:nvSpPr>
          <p:cNvPr id="7" name="Shape 5"/>
          <p:cNvSpPr/>
          <p:nvPr/>
        </p:nvSpPr>
        <p:spPr>
          <a:xfrm>
            <a:off x="3200400" y="1179576"/>
            <a:ext cx="5120640" cy="365760"/>
          </a:xfrm>
          <a:prstGeom prst="line">
            <a:avLst/>
          </a:prstGeom>
          <a:solidFill>
            <a:srgbClr val="0D1117"/>
          </a:solidFill>
          <a:ln w="12700">
            <a:prstDash val="solid"/>
          </a:ln>
        </p:spPr>
        <p:txBody>
          <a:bodyPr/>
          <a:lstStyle/>
          <a:p>
            <a:endParaRPr/>
          </a:p>
        </p:txBody>
      </p:sp>
      <p:sp>
        <p:nvSpPr>
          <p:cNvPr id="8" name="Text 6"/>
          <p:cNvSpPr/>
          <p:nvPr/>
        </p:nvSpPr>
        <p:spPr>
          <a:xfrm>
            <a:off x="3337560" y="1179576"/>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npm install @github/copilot-sdk</a:t>
            </a:r>
            <a:endParaRPr lang="en-US" sz="1000" dirty="0"/>
          </a:p>
        </p:txBody>
      </p:sp>
      <p:sp>
        <p:nvSpPr>
          <p:cNvPr id="9" name="Shape 7"/>
          <p:cNvSpPr/>
          <p:nvPr/>
        </p:nvSpPr>
        <p:spPr>
          <a:xfrm>
            <a:off x="548640" y="1801368"/>
            <a:ext cx="8046720" cy="621792"/>
          </a:xfrm>
          <a:prstGeom prst="line">
            <a:avLst/>
          </a:prstGeom>
          <a:solidFill>
            <a:srgbClr val="161B22"/>
          </a:solidFill>
          <a:ln w="12700">
            <a:prstDash val="solid"/>
          </a:ln>
        </p:spPr>
        <p:txBody>
          <a:bodyPr/>
          <a:lstStyle/>
          <a:p>
            <a:endParaRPr/>
          </a:p>
        </p:txBody>
      </p:sp>
      <p:sp>
        <p:nvSpPr>
          <p:cNvPr id="11" name="Text 9"/>
          <p:cNvSpPr/>
          <p:nvPr/>
        </p:nvSpPr>
        <p:spPr>
          <a:xfrm>
            <a:off x="822960" y="1801368"/>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12" name="Shape 10"/>
          <p:cNvSpPr/>
          <p:nvPr/>
        </p:nvSpPr>
        <p:spPr>
          <a:xfrm>
            <a:off x="3200400" y="1929384"/>
            <a:ext cx="5120640" cy="365760"/>
          </a:xfrm>
          <a:prstGeom prst="line">
            <a:avLst/>
          </a:prstGeom>
          <a:solidFill>
            <a:srgbClr val="0D1117"/>
          </a:solidFill>
          <a:ln w="12700">
            <a:prstDash val="solid"/>
          </a:ln>
        </p:spPr>
        <p:txBody>
          <a:bodyPr/>
          <a:lstStyle/>
          <a:p>
            <a:endParaRPr/>
          </a:p>
        </p:txBody>
      </p:sp>
      <p:sp>
        <p:nvSpPr>
          <p:cNvPr id="13" name="Text 11"/>
          <p:cNvSpPr/>
          <p:nvPr/>
        </p:nvSpPr>
        <p:spPr>
          <a:xfrm>
            <a:off x="3337560" y="1929384"/>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pip install github-copilot-sdk==1.0.13</a:t>
            </a:r>
            <a:endParaRPr lang="en-US" sz="1000" dirty="0"/>
          </a:p>
        </p:txBody>
      </p:sp>
      <p:sp>
        <p:nvSpPr>
          <p:cNvPr id="14" name="Shape 12"/>
          <p:cNvSpPr/>
          <p:nvPr/>
        </p:nvSpPr>
        <p:spPr>
          <a:xfrm>
            <a:off x="548640" y="2551176"/>
            <a:ext cx="8046720" cy="621792"/>
          </a:xfrm>
          <a:prstGeom prst="line">
            <a:avLst/>
          </a:prstGeom>
          <a:solidFill>
            <a:srgbClr val="161B22"/>
          </a:solidFill>
          <a:ln w="12700">
            <a:prstDash val="solid"/>
          </a:ln>
        </p:spPr>
        <p:txBody>
          <a:bodyPr/>
          <a:lstStyle/>
          <a:p>
            <a:endParaRPr/>
          </a:p>
        </p:txBody>
      </p:sp>
      <p:sp>
        <p:nvSpPr>
          <p:cNvPr id="16" name="Text 14"/>
          <p:cNvSpPr/>
          <p:nvPr/>
        </p:nvSpPr>
        <p:spPr>
          <a:xfrm>
            <a:off x="822960" y="2551176"/>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Go</a:t>
            </a:r>
            <a:endParaRPr lang="en-US" sz="1400" dirty="0"/>
          </a:p>
        </p:txBody>
      </p:sp>
      <p:sp>
        <p:nvSpPr>
          <p:cNvPr id="17" name="Shape 15"/>
          <p:cNvSpPr/>
          <p:nvPr/>
        </p:nvSpPr>
        <p:spPr>
          <a:xfrm>
            <a:off x="3200400" y="2679192"/>
            <a:ext cx="5120640" cy="365760"/>
          </a:xfrm>
          <a:prstGeom prst="line">
            <a:avLst/>
          </a:prstGeom>
          <a:solidFill>
            <a:srgbClr val="0D1117"/>
          </a:solidFill>
          <a:ln w="12700">
            <a:prstDash val="solid"/>
          </a:ln>
        </p:spPr>
        <p:txBody>
          <a:bodyPr/>
          <a:lstStyle/>
          <a:p>
            <a:endParaRPr/>
          </a:p>
        </p:txBody>
      </p:sp>
      <p:sp>
        <p:nvSpPr>
          <p:cNvPr id="18" name="Text 16"/>
          <p:cNvSpPr/>
          <p:nvPr/>
        </p:nvSpPr>
        <p:spPr>
          <a:xfrm>
            <a:off x="3337560" y="2679192"/>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go get github.com/github/copilot-sdk/go</a:t>
            </a:r>
            <a:endParaRPr lang="en-US" sz="1000" dirty="0"/>
          </a:p>
        </p:txBody>
      </p:sp>
      <p:sp>
        <p:nvSpPr>
          <p:cNvPr id="19" name="Shape 17"/>
          <p:cNvSpPr/>
          <p:nvPr/>
        </p:nvSpPr>
        <p:spPr>
          <a:xfrm>
            <a:off x="548640" y="3300984"/>
            <a:ext cx="8046720" cy="621792"/>
          </a:xfrm>
          <a:prstGeom prst="line">
            <a:avLst/>
          </a:prstGeom>
          <a:solidFill>
            <a:srgbClr val="161B22"/>
          </a:solidFill>
          <a:ln w="12700">
            <a:prstDash val="solid"/>
          </a:ln>
        </p:spPr>
        <p:txBody>
          <a:bodyPr/>
          <a:lstStyle/>
          <a:p>
            <a:endParaRPr/>
          </a:p>
        </p:txBody>
      </p:sp>
      <p:sp>
        <p:nvSpPr>
          <p:cNvPr id="21" name="Text 19"/>
          <p:cNvSpPr/>
          <p:nvPr/>
        </p:nvSpPr>
        <p:spPr>
          <a:xfrm>
            <a:off x="822960" y="3300984"/>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.NET</a:t>
            </a:r>
            <a:endParaRPr lang="en-US" sz="1400" dirty="0"/>
          </a:p>
        </p:txBody>
      </p:sp>
      <p:sp>
        <p:nvSpPr>
          <p:cNvPr id="22" name="Shape 20"/>
          <p:cNvSpPr/>
          <p:nvPr/>
        </p:nvSpPr>
        <p:spPr>
          <a:xfrm>
            <a:off x="3200400" y="3429000"/>
            <a:ext cx="5120640" cy="365760"/>
          </a:xfrm>
          <a:prstGeom prst="line">
            <a:avLst/>
          </a:prstGeom>
          <a:solidFill>
            <a:srgbClr val="0D1117"/>
          </a:solidFill>
          <a:ln w="12700">
            <a:prstDash val="solid"/>
          </a:ln>
        </p:spPr>
        <p:txBody>
          <a:bodyPr/>
          <a:lstStyle/>
          <a:p>
            <a:endParaRPr/>
          </a:p>
        </p:txBody>
      </p:sp>
      <p:sp>
        <p:nvSpPr>
          <p:cNvPr id="23" name="Text 21"/>
          <p:cNvSpPr/>
          <p:nvPr/>
        </p:nvSpPr>
        <p:spPr>
          <a:xfrm>
            <a:off x="3337560" y="3429000"/>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dotnet add package GitHub.Copilot.SDK</a:t>
            </a:r>
            <a:endParaRPr lang="en-US" sz="1000" dirty="0"/>
          </a:p>
        </p:txBody>
      </p:sp>
      <p:sp>
        <p:nvSpPr>
          <p:cNvPr id="24" name="Shape 22"/>
          <p:cNvSpPr/>
          <p:nvPr/>
        </p:nvSpPr>
        <p:spPr>
          <a:xfrm>
            <a:off x="548640" y="4050792"/>
            <a:ext cx="8046720" cy="621792"/>
          </a:xfrm>
          <a:prstGeom prst="line">
            <a:avLst/>
          </a:prstGeom>
          <a:solidFill>
            <a:srgbClr val="161B22"/>
          </a:solidFill>
          <a:ln w="12700">
            <a:prstDash val="solid"/>
          </a:ln>
        </p:spPr>
        <p:txBody>
          <a:bodyPr/>
          <a:lstStyle/>
          <a:p>
            <a:endParaRPr/>
          </a:p>
        </p:txBody>
      </p:sp>
      <p:sp>
        <p:nvSpPr>
          <p:cNvPr id="26" name="Text 24"/>
          <p:cNvSpPr/>
          <p:nvPr/>
        </p:nvSpPr>
        <p:spPr>
          <a:xfrm>
            <a:off x="822960" y="4050792"/>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Java</a:t>
            </a:r>
            <a:endParaRPr lang="en-US" sz="1400" dirty="0"/>
          </a:p>
        </p:txBody>
      </p:sp>
      <p:sp>
        <p:nvSpPr>
          <p:cNvPr id="27" name="Shape 25"/>
          <p:cNvSpPr/>
          <p:nvPr/>
        </p:nvSpPr>
        <p:spPr>
          <a:xfrm>
            <a:off x="3200400" y="4178808"/>
            <a:ext cx="5120640" cy="365760"/>
          </a:xfrm>
          <a:prstGeom prst="line">
            <a:avLst/>
          </a:prstGeom>
          <a:solidFill>
            <a:srgbClr val="0D1117"/>
          </a:solidFill>
          <a:ln w="12700">
            <a:prstDash val="solid"/>
          </a:ln>
        </p:spPr>
        <p:txBody>
          <a:bodyPr/>
          <a:lstStyle/>
          <a:p>
            <a:endParaRPr/>
          </a:p>
        </p:txBody>
      </p:sp>
      <p:sp>
        <p:nvSpPr>
          <p:cNvPr id="28" name="Text 26"/>
          <p:cNvSpPr/>
          <p:nvPr/>
        </p:nvSpPr>
        <p:spPr>
          <a:xfrm>
            <a:off x="3337560" y="4178808"/>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com.github:copilot-sdk-java (Maven/Gradle)</a:t>
            </a:r>
            <a:endParaRPr lang="en-US" sz="1000" dirty="0"/>
          </a:p>
        </p:txBody>
      </p:sp>
      <p:sp>
        <p:nvSpPr>
          <p:cNvPr id="29" name="Text 27"/>
          <p:cNvSpPr/>
          <p:nvPr/>
        </p:nvSpPr>
        <p:spPr>
          <a:xfrm>
            <a:off x="548640" y="457200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Rust is now first-party too: cargo add github-copilot-sdk</a:t>
            </a:r>
            <a:endParaRPr lang="en-US" sz="1000" dirty="0"/>
          </a:p>
        </p:txBody>
      </p:sp>
      <p:sp>
        <p:nvSpPr>
          <p:cNvPr id="32" name="Text 2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4 / 28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Key Features</a:t>
            </a:r>
            <a:endParaRPr lang="en-US" sz="2600" dirty="0"/>
          </a:p>
        </p:txBody>
      </p:sp>
      <p:sp>
        <p:nvSpPr>
          <p:cNvPr id="4" name="Shape 2"/>
          <p:cNvSpPr/>
          <p:nvPr/>
        </p:nvSpPr>
        <p:spPr>
          <a:xfrm>
            <a:off x="54864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234440" y="1280160"/>
            <a:ext cx="502920" cy="502920"/>
          </a:xfrm>
          <a:prstGeom prst="rect">
            <a:avLst/>
          </a:prstGeom>
        </p:spPr>
      </p:pic>
      <p:sp>
        <p:nvSpPr>
          <p:cNvPr id="6" name="Text 3"/>
          <p:cNvSpPr/>
          <p:nvPr/>
        </p:nvSpPr>
        <p:spPr>
          <a:xfrm>
            <a:off x="64008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Custom Tools</a:t>
            </a:r>
            <a:endParaRPr lang="en-US" sz="1200" dirty="0"/>
          </a:p>
        </p:txBody>
      </p:sp>
      <p:sp>
        <p:nvSpPr>
          <p:cNvPr id="7" name="Text 4"/>
          <p:cNvSpPr/>
          <p:nvPr/>
        </p:nvSpPr>
        <p:spPr>
          <a:xfrm>
            <a:off x="64008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Define functions Copilot can invoke</a:t>
            </a:r>
            <a:endParaRPr lang="en-US" sz="950" dirty="0"/>
          </a:p>
        </p:txBody>
      </p:sp>
      <p:sp>
        <p:nvSpPr>
          <p:cNvPr id="8" name="Shape 5"/>
          <p:cNvSpPr/>
          <p:nvPr/>
        </p:nvSpPr>
        <p:spPr>
          <a:xfrm>
            <a:off x="265176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3337560" y="1280160"/>
            <a:ext cx="502920" cy="502920"/>
          </a:xfrm>
          <a:prstGeom prst="rect">
            <a:avLst/>
          </a:prstGeom>
        </p:spPr>
      </p:pic>
      <p:sp>
        <p:nvSpPr>
          <p:cNvPr id="10" name="Text 6"/>
          <p:cNvSpPr/>
          <p:nvPr/>
        </p:nvSpPr>
        <p:spPr>
          <a:xfrm>
            <a:off x="274320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Custom Agents</a:t>
            </a:r>
            <a:endParaRPr lang="en-US" sz="1200" dirty="0"/>
          </a:p>
        </p:txBody>
      </p:sp>
      <p:sp>
        <p:nvSpPr>
          <p:cNvPr id="11" name="Text 7"/>
          <p:cNvSpPr/>
          <p:nvPr/>
        </p:nvSpPr>
        <p:spPr>
          <a:xfrm>
            <a:off x="274320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Specialized AI personas with scoped tools</a:t>
            </a:r>
            <a:endParaRPr lang="en-US" sz="950" dirty="0"/>
          </a:p>
        </p:txBody>
      </p:sp>
      <p:sp>
        <p:nvSpPr>
          <p:cNvPr id="12" name="Shape 8"/>
          <p:cNvSpPr/>
          <p:nvPr/>
        </p:nvSpPr>
        <p:spPr>
          <a:xfrm>
            <a:off x="475488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5440680" y="1280160"/>
            <a:ext cx="502920" cy="502920"/>
          </a:xfrm>
          <a:prstGeom prst="rect">
            <a:avLst/>
          </a:prstGeom>
        </p:spPr>
      </p:pic>
      <p:sp>
        <p:nvSpPr>
          <p:cNvPr id="14" name="Text 9"/>
          <p:cNvSpPr/>
          <p:nvPr/>
        </p:nvSpPr>
        <p:spPr>
          <a:xfrm>
            <a:off x="484632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MCP Servers</a:t>
            </a:r>
            <a:endParaRPr lang="en-US" sz="1200" dirty="0"/>
          </a:p>
        </p:txBody>
      </p:sp>
      <p:sp>
        <p:nvSpPr>
          <p:cNvPr id="15" name="Text 10"/>
          <p:cNvSpPr/>
          <p:nvPr/>
        </p:nvSpPr>
        <p:spPr>
          <a:xfrm>
            <a:off x="484632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External tool integration via standard protocol</a:t>
            </a:r>
            <a:endParaRPr lang="en-US" sz="950" dirty="0"/>
          </a:p>
        </p:txBody>
      </p:sp>
      <p:sp>
        <p:nvSpPr>
          <p:cNvPr id="16" name="Shape 11"/>
          <p:cNvSpPr/>
          <p:nvPr/>
        </p:nvSpPr>
        <p:spPr>
          <a:xfrm>
            <a:off x="685800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7" name="Image 3" descr="preencoded.png"/>
          <p:cNvPicPr>
            <a:picLocks noChangeAspect="1"/>
          </p:cNvPicPr>
          <p:nvPr/>
        </p:nvPicPr>
        <p:blipFill>
          <a:blip r:embed="rId6"/>
          <a:stretch>
            <a:fillRect/>
          </a:stretch>
        </p:blipFill>
        <p:spPr>
          <a:xfrm>
            <a:off x="7543800" y="1280160"/>
            <a:ext cx="502920" cy="502920"/>
          </a:xfrm>
          <a:prstGeom prst="rect">
            <a:avLst/>
          </a:prstGeom>
        </p:spPr>
      </p:pic>
      <p:sp>
        <p:nvSpPr>
          <p:cNvPr id="18" name="Text 12"/>
          <p:cNvSpPr/>
          <p:nvPr/>
        </p:nvSpPr>
        <p:spPr>
          <a:xfrm>
            <a:off x="694944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Skills</a:t>
            </a:r>
            <a:endParaRPr lang="en-US" sz="1200" dirty="0"/>
          </a:p>
        </p:txBody>
      </p:sp>
      <p:sp>
        <p:nvSpPr>
          <p:cNvPr id="19" name="Text 13"/>
          <p:cNvSpPr/>
          <p:nvPr/>
        </p:nvSpPr>
        <p:spPr>
          <a:xfrm>
            <a:off x="694944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Reusable prompt modules from directories</a:t>
            </a:r>
            <a:endParaRPr lang="en-US" sz="950" dirty="0"/>
          </a:p>
        </p:txBody>
      </p:sp>
      <p:sp>
        <p:nvSpPr>
          <p:cNvPr id="20" name="Shape 14"/>
          <p:cNvSpPr/>
          <p:nvPr/>
        </p:nvSpPr>
        <p:spPr>
          <a:xfrm>
            <a:off x="54864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1" name="Image 4" descr="preencoded.png"/>
          <p:cNvPicPr>
            <a:picLocks noChangeAspect="1"/>
          </p:cNvPicPr>
          <p:nvPr/>
        </p:nvPicPr>
        <p:blipFill>
          <a:blip r:embed="rId7"/>
          <a:stretch>
            <a:fillRect/>
          </a:stretch>
        </p:blipFill>
        <p:spPr>
          <a:xfrm>
            <a:off x="1234440" y="3154680"/>
            <a:ext cx="502920" cy="502920"/>
          </a:xfrm>
          <a:prstGeom prst="rect">
            <a:avLst/>
          </a:prstGeom>
        </p:spPr>
      </p:pic>
      <p:sp>
        <p:nvSpPr>
          <p:cNvPr id="22" name="Text 15"/>
          <p:cNvSpPr/>
          <p:nvPr/>
        </p:nvSpPr>
        <p:spPr>
          <a:xfrm>
            <a:off x="64008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Hooks</a:t>
            </a:r>
            <a:endParaRPr lang="en-US" sz="1200" dirty="0"/>
          </a:p>
        </p:txBody>
      </p:sp>
      <p:sp>
        <p:nvSpPr>
          <p:cNvPr id="23" name="Text 16"/>
          <p:cNvSpPr/>
          <p:nvPr/>
        </p:nvSpPr>
        <p:spPr>
          <a:xfrm>
            <a:off x="64008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Ten Python hook callbacks for audit and policy</a:t>
            </a:r>
            <a:endParaRPr lang="en-US" sz="950" dirty="0"/>
          </a:p>
        </p:txBody>
      </p:sp>
      <p:sp>
        <p:nvSpPr>
          <p:cNvPr id="24" name="Shape 17"/>
          <p:cNvSpPr/>
          <p:nvPr/>
        </p:nvSpPr>
        <p:spPr>
          <a:xfrm>
            <a:off x="265176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5" name="Image 5" descr="preencoded.png"/>
          <p:cNvPicPr>
            <a:picLocks noChangeAspect="1"/>
          </p:cNvPicPr>
          <p:nvPr/>
        </p:nvPicPr>
        <p:blipFill>
          <a:blip r:embed="rId8"/>
          <a:stretch>
            <a:fillRect/>
          </a:stretch>
        </p:blipFill>
        <p:spPr>
          <a:xfrm>
            <a:off x="3337560" y="3154680"/>
            <a:ext cx="502920" cy="502920"/>
          </a:xfrm>
          <a:prstGeom prst="rect">
            <a:avLst/>
          </a:prstGeom>
        </p:spPr>
      </p:pic>
      <p:sp>
        <p:nvSpPr>
          <p:cNvPr id="26" name="Text 18"/>
          <p:cNvSpPr/>
          <p:nvPr/>
        </p:nvSpPr>
        <p:spPr>
          <a:xfrm>
            <a:off x="274320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Streaming</a:t>
            </a:r>
            <a:endParaRPr lang="en-US" sz="1200" dirty="0"/>
          </a:p>
        </p:txBody>
      </p:sp>
      <p:sp>
        <p:nvSpPr>
          <p:cNvPr id="27" name="Text 19"/>
          <p:cNvSpPr/>
          <p:nvPr/>
        </p:nvSpPr>
        <p:spPr>
          <a:xfrm>
            <a:off x="274320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Typed deltas, tool and session events</a:t>
            </a:r>
            <a:endParaRPr lang="en-US" sz="950" dirty="0"/>
          </a:p>
        </p:txBody>
      </p:sp>
      <p:sp>
        <p:nvSpPr>
          <p:cNvPr id="28" name="Shape 20"/>
          <p:cNvSpPr/>
          <p:nvPr/>
        </p:nvSpPr>
        <p:spPr>
          <a:xfrm>
            <a:off x="475488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9" name="Image 6" descr="preencoded.png"/>
          <p:cNvPicPr>
            <a:picLocks noChangeAspect="1"/>
          </p:cNvPicPr>
          <p:nvPr/>
        </p:nvPicPr>
        <p:blipFill>
          <a:blip r:embed="rId9"/>
          <a:stretch>
            <a:fillRect/>
          </a:stretch>
        </p:blipFill>
        <p:spPr>
          <a:xfrm>
            <a:off x="5440680" y="3154680"/>
            <a:ext cx="502920" cy="502920"/>
          </a:xfrm>
          <a:prstGeom prst="rect">
            <a:avLst/>
          </a:prstGeom>
        </p:spPr>
      </p:pic>
      <p:sp>
        <p:nvSpPr>
          <p:cNvPr id="30" name="Text 21"/>
          <p:cNvSpPr/>
          <p:nvPr/>
        </p:nvSpPr>
        <p:spPr>
          <a:xfrm>
            <a:off x="484632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BYOK</a:t>
            </a:r>
            <a:endParaRPr lang="en-US" sz="1200" dirty="0"/>
          </a:p>
        </p:txBody>
      </p:sp>
      <p:sp>
        <p:nvSpPr>
          <p:cNvPr id="31" name="Text 22"/>
          <p:cNvSpPr/>
          <p:nvPr/>
        </p:nvSpPr>
        <p:spPr>
          <a:xfrm>
            <a:off x="484632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API keys or refreshing bearer tokens</a:t>
            </a:r>
            <a:endParaRPr lang="en-US" sz="950" dirty="0"/>
          </a:p>
        </p:txBody>
      </p:sp>
      <p:sp>
        <p:nvSpPr>
          <p:cNvPr id="32" name="Shape 23"/>
          <p:cNvSpPr/>
          <p:nvPr/>
        </p:nvSpPr>
        <p:spPr>
          <a:xfrm>
            <a:off x="685800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33" name="Image 7" descr="preencoded.png"/>
          <p:cNvPicPr>
            <a:picLocks noChangeAspect="1"/>
          </p:cNvPicPr>
          <p:nvPr/>
        </p:nvPicPr>
        <p:blipFill>
          <a:blip r:embed="rId10"/>
          <a:stretch>
            <a:fillRect/>
          </a:stretch>
        </p:blipFill>
        <p:spPr>
          <a:xfrm>
            <a:off x="7543800" y="3154680"/>
            <a:ext cx="502920" cy="502920"/>
          </a:xfrm>
          <a:prstGeom prst="rect">
            <a:avLst/>
          </a:prstGeom>
        </p:spPr>
      </p:pic>
      <p:sp>
        <p:nvSpPr>
          <p:cNvPr id="34" name="Text 24"/>
          <p:cNvSpPr/>
          <p:nvPr/>
        </p:nvSpPr>
        <p:spPr>
          <a:xfrm>
            <a:off x="694944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Observability</a:t>
            </a:r>
            <a:endParaRPr lang="en-US" sz="1200" dirty="0"/>
          </a:p>
        </p:txBody>
      </p:sp>
      <p:sp>
        <p:nvSpPr>
          <p:cNvPr id="35" name="Text 25"/>
          <p:cNvSpPr/>
          <p:nvPr/>
        </p:nvSpPr>
        <p:spPr>
          <a:xfrm>
            <a:off x="694944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Built-in OpenTelemetry instrumentation</a:t>
            </a:r>
            <a:endParaRPr lang="en-US" sz="950" dirty="0"/>
          </a:p>
        </p:txBody>
      </p:sp>
      <p:sp>
        <p:nvSpPr>
          <p:cNvPr id="38"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5 / 28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Can You Build?</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Automated Code Review</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Security auditors, performance reviewers, and style checkers with custom prompts and scoped tool access</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AI-Powered Developer Tools</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Embed intelligent assistance in CLIs, dashboards, and internal portals with full agentic capabilities</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DevOps</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CI/CD Pipeline Intelligence</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Automated code analysis, test generation, and documentation within CI/CD workflows</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Platform</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Multi-Agent Workflows</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Orchestrate specialized agents (security + perf + docs) via Microsoft Agent Framework</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Data</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Database Query Assistants</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MCP-connected agents that query databases, explain results, and suggest optimizations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Developer</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Documentation Generation</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Agents that analyze codebases and produce comprehensive, up-to-date documentation</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6 / 28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More Use Cases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AI-Powered SaaS Products</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Embed agentic AI in customer-facing apps with per-user OAuth and session isolation</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Developer</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Custom IDE Extensions</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specialized coding assistants for domain-specific languages or frameworks</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API-Powered Chatbots</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Backend services powering conversational AI with persistent sessions and streaming</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DevOps</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Agents managing infrastructure, diagnosing issues, and automating deployments</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Code Search &amp; Analysis</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intelligent code exploration tools with read-only agents for large codebases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Platform</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Platform SDKs</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Enable third-party developers to build on Copilot's agent runtime as part of your platform</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7 / 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Built-in Tools</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Representative tools; availability depends on runtime, platform and session configuration</a:t>
            </a:r>
          </a:p>
        </p:txBody>
      </p:sp>
      <p:sp>
        <p:nvSpPr>
          <p:cNvPr id="4" name="Rectangle 3"/>
          <p:cNvSpPr/>
          <p:nvPr/>
        </p:nvSpPr>
        <p:spPr>
          <a:xfrm>
            <a:off x="548640"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File System — Reading</a:t>
            </a:r>
          </a:p>
        </p:txBody>
      </p:sp>
      <p:sp>
        <p:nvSpPr>
          <p:cNvPr id="6" name="TextBox 5"/>
          <p:cNvSpPr txBox="1"/>
          <p:nvPr/>
        </p:nvSpPr>
        <p:spPr>
          <a:xfrm>
            <a:off x="685800"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view</a:t>
            </a:r>
          </a:p>
        </p:txBody>
      </p:sp>
      <p:sp>
        <p:nvSpPr>
          <p:cNvPr id="7" name="TextBox 6"/>
          <p:cNvSpPr txBox="1"/>
          <p:nvPr/>
        </p:nvSpPr>
        <p:spPr>
          <a:xfrm>
            <a:off x="1783080"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Read file contents</a:t>
            </a:r>
          </a:p>
        </p:txBody>
      </p:sp>
      <p:sp>
        <p:nvSpPr>
          <p:cNvPr id="8" name="TextBox 7"/>
          <p:cNvSpPr txBox="1"/>
          <p:nvPr/>
        </p:nvSpPr>
        <p:spPr>
          <a:xfrm>
            <a:off x="685800"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glob</a:t>
            </a:r>
          </a:p>
        </p:txBody>
      </p:sp>
      <p:sp>
        <p:nvSpPr>
          <p:cNvPr id="9" name="TextBox 8"/>
          <p:cNvSpPr txBox="1"/>
          <p:nvPr/>
        </p:nvSpPr>
        <p:spPr>
          <a:xfrm>
            <a:off x="1783080"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Find paths by pattern</a:t>
            </a:r>
          </a:p>
        </p:txBody>
      </p:sp>
      <p:sp>
        <p:nvSpPr>
          <p:cNvPr id="10" name="TextBox 9"/>
          <p:cNvSpPr txBox="1"/>
          <p:nvPr/>
        </p:nvSpPr>
        <p:spPr>
          <a:xfrm>
            <a:off x="685800"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grep</a:t>
            </a:r>
          </a:p>
        </p:txBody>
      </p:sp>
      <p:sp>
        <p:nvSpPr>
          <p:cNvPr id="11" name="TextBox 10"/>
          <p:cNvSpPr txBox="1"/>
          <p:nvPr/>
        </p:nvSpPr>
        <p:spPr>
          <a:xfrm>
            <a:off x="1783080"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Search file contents</a:t>
            </a:r>
          </a:p>
        </p:txBody>
      </p:sp>
      <p:sp>
        <p:nvSpPr>
          <p:cNvPr id="12" name="TextBox 11"/>
          <p:cNvSpPr txBox="1"/>
          <p:nvPr/>
        </p:nvSpPr>
        <p:spPr>
          <a:xfrm>
            <a:off x="685800" y="2377439"/>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Scope</a:t>
            </a:r>
          </a:p>
        </p:txBody>
      </p:sp>
      <p:sp>
        <p:nvSpPr>
          <p:cNvPr id="13" name="TextBox 12"/>
          <p:cNvSpPr txBox="1"/>
          <p:nvPr/>
        </p:nvSpPr>
        <p:spPr>
          <a:xfrm>
            <a:off x="1783080" y="2377439"/>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available_tools / excluded_tools</a:t>
            </a:r>
          </a:p>
        </p:txBody>
      </p:sp>
      <p:sp>
        <p:nvSpPr>
          <p:cNvPr id="14" name="TextBox 13"/>
          <p:cNvSpPr txBox="1"/>
          <p:nvPr/>
        </p:nvSpPr>
        <p:spPr>
          <a:xfrm>
            <a:off x="685800" y="265176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Policy</a:t>
            </a:r>
          </a:p>
        </p:txBody>
      </p:sp>
      <p:sp>
        <p:nvSpPr>
          <p:cNvPr id="15" name="TextBox 14"/>
          <p:cNvSpPr txBox="1"/>
          <p:nvPr/>
        </p:nvSpPr>
        <p:spPr>
          <a:xfrm>
            <a:off x="1783080" y="265176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Tool scope is not a sandbox</a:t>
            </a:r>
          </a:p>
        </p:txBody>
      </p:sp>
      <p:sp>
        <p:nvSpPr>
          <p:cNvPr id="16" name="Rectangle 15"/>
          <p:cNvSpPr/>
          <p:nvPr/>
        </p:nvSpPr>
        <p:spPr>
          <a:xfrm>
            <a:off x="3264408"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01568" y="1234440"/>
            <a:ext cx="2350008" cy="274320"/>
          </a:xfrm>
          <a:prstGeom prst="rect">
            <a:avLst/>
          </a:prstGeom>
          <a:noFill/>
        </p:spPr>
        <p:txBody>
          <a:bodyPr wrap="square">
            <a:spAutoFit/>
          </a:bodyPr>
          <a:lstStyle/>
          <a:p>
            <a:pPr algn="l">
              <a:spcBef>
                <a:spcPts val="0"/>
              </a:spcBef>
              <a:spcAft>
                <a:spcPts val="0"/>
              </a:spcAft>
            </a:pPr>
            <a:r>
              <a:rPr sz="1200" b="1" i="0">
                <a:solidFill>
                  <a:srgbClr val="3FB950"/>
                </a:solidFill>
                <a:latin typeface="Calibri"/>
              </a:rPr>
              <a:t>File System — Writing</a:t>
            </a:r>
          </a:p>
        </p:txBody>
      </p:sp>
      <p:sp>
        <p:nvSpPr>
          <p:cNvPr id="18" name="TextBox 17"/>
          <p:cNvSpPr txBox="1"/>
          <p:nvPr/>
        </p:nvSpPr>
        <p:spPr>
          <a:xfrm>
            <a:off x="3401568"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edit</a:t>
            </a:r>
          </a:p>
        </p:txBody>
      </p:sp>
      <p:sp>
        <p:nvSpPr>
          <p:cNvPr id="19" name="TextBox 18"/>
          <p:cNvSpPr txBox="1"/>
          <p:nvPr/>
        </p:nvSpPr>
        <p:spPr>
          <a:xfrm>
            <a:off x="4498848"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Targeted edits to existing files</a:t>
            </a:r>
          </a:p>
        </p:txBody>
      </p:sp>
      <p:sp>
        <p:nvSpPr>
          <p:cNvPr id="20" name="TextBox 19"/>
          <p:cNvSpPr txBox="1"/>
          <p:nvPr/>
        </p:nvSpPr>
        <p:spPr>
          <a:xfrm>
            <a:off x="3401568"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create</a:t>
            </a:r>
          </a:p>
        </p:txBody>
      </p:sp>
      <p:sp>
        <p:nvSpPr>
          <p:cNvPr id="21" name="TextBox 20"/>
          <p:cNvSpPr txBox="1"/>
          <p:nvPr/>
        </p:nvSpPr>
        <p:spPr>
          <a:xfrm>
            <a:off x="4498848"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Create new files</a:t>
            </a:r>
          </a:p>
        </p:txBody>
      </p:sp>
      <p:sp>
        <p:nvSpPr>
          <p:cNvPr id="22" name="TextBox 21"/>
          <p:cNvSpPr txBox="1"/>
          <p:nvPr/>
        </p:nvSpPr>
        <p:spPr>
          <a:xfrm>
            <a:off x="3401568"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apply_patch</a:t>
            </a:r>
          </a:p>
        </p:txBody>
      </p:sp>
      <p:sp>
        <p:nvSpPr>
          <p:cNvPr id="23" name="TextBox 22"/>
          <p:cNvSpPr txBox="1"/>
          <p:nvPr/>
        </p:nvSpPr>
        <p:spPr>
          <a:xfrm>
            <a:off x="4498848"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Patch files when exposed</a:t>
            </a:r>
          </a:p>
        </p:txBody>
      </p:sp>
      <p:sp>
        <p:nvSpPr>
          <p:cNvPr id="24" name="Rectangle 23"/>
          <p:cNvSpPr/>
          <p:nvPr/>
        </p:nvSpPr>
        <p:spPr>
          <a:xfrm>
            <a:off x="5971032"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08192" y="1234440"/>
            <a:ext cx="2350008" cy="274320"/>
          </a:xfrm>
          <a:prstGeom prst="rect">
            <a:avLst/>
          </a:prstGeom>
          <a:noFill/>
        </p:spPr>
        <p:txBody>
          <a:bodyPr wrap="square">
            <a:spAutoFit/>
          </a:bodyPr>
          <a:lstStyle/>
          <a:p>
            <a:pPr algn="l">
              <a:spcBef>
                <a:spcPts val="0"/>
              </a:spcBef>
              <a:spcAft>
                <a:spcPts val="0"/>
              </a:spcAft>
            </a:pPr>
            <a:r>
              <a:rPr sz="1200" b="1" i="0">
                <a:solidFill>
                  <a:srgbClr val="F0883E"/>
                </a:solidFill>
                <a:latin typeface="Calibri"/>
              </a:rPr>
              <a:t>Shell &amp; Execution</a:t>
            </a:r>
          </a:p>
        </p:txBody>
      </p:sp>
      <p:sp>
        <p:nvSpPr>
          <p:cNvPr id="26" name="TextBox 25"/>
          <p:cNvSpPr txBox="1"/>
          <p:nvPr/>
        </p:nvSpPr>
        <p:spPr>
          <a:xfrm>
            <a:off x="6108192"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bash</a:t>
            </a:r>
          </a:p>
        </p:txBody>
      </p:sp>
      <p:sp>
        <p:nvSpPr>
          <p:cNvPr id="27" name="TextBox 26"/>
          <p:cNvSpPr txBox="1"/>
          <p:nvPr/>
        </p:nvSpPr>
        <p:spPr>
          <a:xfrm>
            <a:off x="7205472"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Execute shell commands</a:t>
            </a:r>
          </a:p>
        </p:txBody>
      </p:sp>
      <p:sp>
        <p:nvSpPr>
          <p:cNvPr id="28" name="TextBox 27"/>
          <p:cNvSpPr txBox="1"/>
          <p:nvPr/>
        </p:nvSpPr>
        <p:spPr>
          <a:xfrm>
            <a:off x="6108192"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Platform</a:t>
            </a:r>
          </a:p>
        </p:txBody>
      </p:sp>
      <p:sp>
        <p:nvSpPr>
          <p:cNvPr id="29" name="TextBox 28"/>
          <p:cNvSpPr txBox="1"/>
          <p:nvPr/>
        </p:nvSpPr>
        <p:spPr>
          <a:xfrm>
            <a:off x="7205472"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Shell tools vary by OS</a:t>
            </a:r>
          </a:p>
        </p:txBody>
      </p:sp>
      <p:sp>
        <p:nvSpPr>
          <p:cNvPr id="30" name="Rectangle 29"/>
          <p:cNvSpPr/>
          <p:nvPr/>
        </p:nvSpPr>
        <p:spPr>
          <a:xfrm>
            <a:off x="5486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3337560"/>
            <a:ext cx="3657600" cy="274320"/>
          </a:xfrm>
          <a:prstGeom prst="rect">
            <a:avLst/>
          </a:prstGeom>
          <a:noFill/>
        </p:spPr>
        <p:txBody>
          <a:bodyPr wrap="square">
            <a:spAutoFit/>
          </a:bodyPr>
          <a:lstStyle/>
          <a:p>
            <a:pPr algn="l">
              <a:spcBef>
                <a:spcPts val="0"/>
              </a:spcBef>
              <a:spcAft>
                <a:spcPts val="0"/>
              </a:spcAft>
            </a:pPr>
            <a:r>
              <a:rPr sz="1200" b="1" i="0">
                <a:solidFill>
                  <a:srgbClr val="39D2C0"/>
                </a:solidFill>
                <a:latin typeface="Calibri"/>
              </a:rPr>
              <a:t>Web</a:t>
            </a:r>
          </a:p>
        </p:txBody>
      </p:sp>
      <p:sp>
        <p:nvSpPr>
          <p:cNvPr id="32" name="TextBox 31"/>
          <p:cNvSpPr txBox="1"/>
          <p:nvPr/>
        </p:nvSpPr>
        <p:spPr>
          <a:xfrm>
            <a:off x="6858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web_fetch</a:t>
            </a:r>
          </a:p>
        </p:txBody>
      </p:sp>
      <p:sp>
        <p:nvSpPr>
          <p:cNvPr id="33" name="TextBox 32"/>
          <p:cNvSpPr txBox="1"/>
          <p:nvPr/>
        </p:nvSpPr>
        <p:spPr>
          <a:xfrm>
            <a:off x="19202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Fetch content from URLs</a:t>
            </a:r>
          </a:p>
        </p:txBody>
      </p:sp>
      <p:sp>
        <p:nvSpPr>
          <p:cNvPr id="34" name="Rectangle 33"/>
          <p:cNvSpPr/>
          <p:nvPr/>
        </p:nvSpPr>
        <p:spPr>
          <a:xfrm>
            <a:off x="46634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800600" y="3337560"/>
            <a:ext cx="3657600" cy="274320"/>
          </a:xfrm>
          <a:prstGeom prst="rect">
            <a:avLst/>
          </a:prstGeom>
          <a:noFill/>
        </p:spPr>
        <p:txBody>
          <a:bodyPr wrap="square">
            <a:spAutoFit/>
          </a:bodyPr>
          <a:lstStyle/>
          <a:p>
            <a:pPr algn="l">
              <a:spcBef>
                <a:spcPts val="0"/>
              </a:spcBef>
              <a:spcAft>
                <a:spcPts val="0"/>
              </a:spcAft>
            </a:pPr>
            <a:r>
              <a:rPr sz="1200" b="1" i="0">
                <a:solidFill>
                  <a:srgbClr val="BC8CFF"/>
                </a:solidFill>
                <a:latin typeface="Calibri"/>
              </a:rPr>
              <a:t>Agent Infrastructure</a:t>
            </a:r>
          </a:p>
        </p:txBody>
      </p:sp>
      <p:sp>
        <p:nvSpPr>
          <p:cNvPr id="36" name="TextBox 35"/>
          <p:cNvSpPr txBox="1"/>
          <p:nvPr/>
        </p:nvSpPr>
        <p:spPr>
          <a:xfrm>
            <a:off x="48006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task</a:t>
            </a:r>
          </a:p>
        </p:txBody>
      </p:sp>
      <p:sp>
        <p:nvSpPr>
          <p:cNvPr id="37" name="TextBox 36"/>
          <p:cNvSpPr txBox="1"/>
          <p:nvPr/>
        </p:nvSpPr>
        <p:spPr>
          <a:xfrm>
            <a:off x="60350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Delegate work to sub-agents</a:t>
            </a:r>
          </a:p>
        </p:txBody>
      </p:sp>
      <p:sp>
        <p:nvSpPr>
          <p:cNvPr id="38" name="TextBox 37"/>
          <p:cNvSpPr txBox="1"/>
          <p:nvPr/>
        </p:nvSpPr>
        <p:spPr>
          <a:xfrm>
            <a:off x="4800600" y="393192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ask_user</a:t>
            </a:r>
          </a:p>
        </p:txBody>
      </p:sp>
      <p:sp>
        <p:nvSpPr>
          <p:cNvPr id="39" name="TextBox 38"/>
          <p:cNvSpPr txBox="1"/>
          <p:nvPr/>
        </p:nvSpPr>
        <p:spPr>
          <a:xfrm>
            <a:off x="6035040" y="393192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Ask the user a question</a:t>
            </a:r>
          </a:p>
        </p:txBody>
      </p:sp>
      <p:sp>
        <p:nvSpPr>
          <p:cNvPr id="40" name="TextBox 39"/>
          <p:cNvSpPr txBox="1"/>
          <p:nvPr/>
        </p:nvSpPr>
        <p:spPr>
          <a:xfrm>
            <a:off x="4800600" y="420624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session_id</a:t>
            </a:r>
          </a:p>
        </p:txBody>
      </p:sp>
      <p:sp>
        <p:nvSpPr>
          <p:cNvPr id="41" name="TextBox 40"/>
          <p:cNvSpPr txBox="1"/>
          <p:nvPr/>
        </p:nvSpPr>
        <p:spPr>
          <a:xfrm>
            <a:off x="6035040" y="420624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Keep conversation state for resume</a:t>
            </a:r>
          </a:p>
        </p:txBody>
      </p:sp>
      <p:sp>
        <p:nvSpPr>
          <p:cNvPr id="42" name="TextBox 41"/>
          <p:cNvSpPr txBox="1"/>
          <p:nvPr/>
        </p:nvSpPr>
        <p:spPr>
          <a:xfrm>
            <a:off x="548640" y="4443480"/>
            <a:ext cx="8046720" cy="228600"/>
          </a:xfrm>
          <a:prstGeom prst="rect">
            <a:avLst/>
          </a:prstGeom>
          <a:noFill/>
        </p:spPr>
        <p:txBody>
          <a:bodyPr wrap="square">
            <a:spAutoFit/>
          </a:bodyPr>
          <a:lstStyle/>
          <a:p>
            <a:pPr algn="ctr">
              <a:spcBef>
                <a:spcPts val="0"/>
              </a:spcBef>
              <a:spcAft>
                <a:spcPts val="0"/>
              </a:spcAft>
            </a:pPr>
            <a:r>
              <a:rPr sz="950" b="0" i="1">
                <a:solidFill>
                  <a:srgbClr val="8B949E"/>
                </a:solidFill>
                <a:latin typeface="Calibri"/>
              </a:rPr>
              <a:t>Add MCP servers or custom tools. Scope access deliberately.</a:t>
            </a:r>
          </a:p>
        </p:txBody>
      </p:sp>
      <p:sp>
        <p:nvSpPr>
          <p:cNvPr id="43" name="TextBox 42"/>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8 / 28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Controlling Tool Access</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Three ways to restrict what the agent can do</a:t>
            </a:r>
          </a:p>
        </p:txBody>
      </p:sp>
      <p:sp>
        <p:nvSpPr>
          <p:cNvPr id="4" name="Rectangle 3"/>
          <p:cNvSpPr/>
          <p:nvPr/>
        </p:nvSpPr>
        <p:spPr>
          <a:xfrm>
            <a:off x="548640"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300" b="1" i="0">
                <a:solidFill>
                  <a:srgbClr val="58A6FF"/>
                </a:solidFill>
                <a:latin typeface="Calibri"/>
              </a:rPr>
              <a:t>1. Session Config</a:t>
            </a:r>
          </a:p>
        </p:txBody>
      </p:sp>
      <p:sp>
        <p:nvSpPr>
          <p:cNvPr id="6" name="TextBox 5"/>
          <p:cNvSpPr txBox="1"/>
          <p:nvPr/>
        </p:nvSpPr>
        <p:spPr>
          <a:xfrm>
            <a:off x="685800"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Allowlist or exclude tools at creation</a:t>
            </a:r>
          </a:p>
        </p:txBody>
      </p:sp>
      <p:sp>
        <p:nvSpPr>
          <p:cNvPr id="7" name="Rectangle 6"/>
          <p:cNvSpPr/>
          <p:nvPr/>
        </p:nvSpPr>
        <p:spPr>
          <a:xfrm>
            <a:off x="640080"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0" name="TextBox 9"/>
          <p:cNvSpPr txBox="1"/>
          <p:nvPr/>
        </p:nvSpPr>
        <p:spPr>
          <a:xfrm>
            <a:off x="731520"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config = {</a:t>
            </a:r>
          </a:p>
          <a:p>
            <a:pPr algn="l">
              <a:lnSpc>
                <a:spcPts val="1100"/>
              </a:lnSpc>
              <a:spcBef>
                <a:spcPts val="0"/>
              </a:spcBef>
              <a:spcAft>
                <a:spcPts val="0"/>
              </a:spcAft>
            </a:pPr>
            <a:r>
              <a:rPr sz="1000">
                <a:solidFill>
                  <a:srgbClr val="E6EDF3"/>
                </a:solidFill>
                <a:latin typeface="Courier New"/>
              </a:rPr>
              <a:t xml:space="preserve">  "available_tools":</a:t>
            </a:r>
          </a:p>
          <a:p>
            <a:pPr algn="l">
              <a:lnSpc>
                <a:spcPts val="1100"/>
              </a:lnSpc>
              <a:spcBef>
                <a:spcPts val="0"/>
              </a:spcBef>
              <a:spcAft>
                <a:spcPts val="0"/>
              </a:spcAft>
            </a:pPr>
            <a:r>
              <a:rPr sz="1000">
                <a:solidFill>
                  <a:srgbClr val="E6EDF3"/>
                </a:solidFill>
                <a:latin typeface="Courier New"/>
              </a:rPr>
              <a:t xml:space="preserve">    ["builtin:view"],</a:t>
            </a:r>
          </a:p>
          <a:p>
            <a:pPr algn="l">
              <a:lnSpc>
                <a:spcPts val="1100"/>
              </a:lnSpc>
              <a:spcBef>
                <a:spcPts val="0"/>
              </a:spcBef>
              <a:spcAft>
                <a:spcPts val="0"/>
              </a:spcAft>
            </a:pPr>
            <a:r>
              <a:rPr sz="1000">
                <a:solidFill>
                  <a:srgbClr val="E6EDF3"/>
                </a:solidFill>
                <a:latin typeface="Courier New"/>
              </a:rPr>
              <a:t xml:space="preserve">}</a:t>
            </a:r>
          </a:p>
          <a:p>
            <a:pPr algn="l">
              <a:lnSpc>
                <a:spcPts val="1100"/>
              </a:lnSpc>
              <a:spcBef>
                <a:spcPts val="0"/>
              </a:spcBef>
              <a:spcAft>
                <a:spcPts val="0"/>
              </a:spcAft>
            </a:pPr>
            <a:r>
              <a:rPr sz="1000">
                <a:solidFill>
                  <a:srgbClr val="E6EDF3"/>
                </a:solidFill>
                <a:latin typeface="Courier New"/>
              </a:rPr>
              <a:t xml:space="preserve"># Pass these session kwargs</a:t>
            </a:r>
          </a:p>
          <a:p>
            <a:pPr algn="l">
              <a:lnSpc>
                <a:spcPts val="1100"/>
              </a:lnSpc>
              <a:spcBef>
                <a:spcPts val="0"/>
              </a:spcBef>
              <a:spcAft>
                <a:spcPts val="0"/>
              </a:spcAft>
            </a:pPr>
            <a:r>
              <a:rPr sz="1000">
                <a:solidFill>
                  <a:srgbClr val="E6EDF3"/>
                </a:solidFill>
                <a:latin typeface="Courier New"/>
              </a:rPr>
              <a:t xml:space="preserve"># alongside the required</a:t>
            </a:r>
          </a:p>
          <a:p>
            <a:pPr algn="l">
              <a:lnSpc>
                <a:spcPts val="1100"/>
              </a:lnSpc>
              <a:spcBef>
                <a:spcPts val="0"/>
              </a:spcBef>
              <a:spcAft>
                <a:spcPts val="0"/>
              </a:spcAft>
            </a:pPr>
            <a:r>
              <a:rPr sz="1000">
                <a:solidFill>
                  <a:srgbClr val="E6EDF3"/>
                </a:solidFill>
                <a:latin typeface="Courier New"/>
              </a:rPr>
              <a:t xml:space="preserve"># permission handler.</a:t>
            </a:r>
          </a:p>
          <a:p>
            <a:pPr algn="l">
              <a:lnSpc>
                <a:spcPts val="1100"/>
              </a:lnSpc>
              <a:spcBef>
                <a:spcPts val="0"/>
              </a:spcBef>
              <a:spcAft>
                <a:spcPts val="0"/>
              </a:spcAft>
            </a:pPr>
            <a:r>
              <a:rPr sz="1000">
                <a:solidFill>
                  <a:srgbClr val="E6EDF3"/>
                </a:solidFill>
                <a:latin typeface="Courier New"/>
              </a:rPr>
              <a:t xml:space="preserve"># Tool scope != sandbox.</a:t>
            </a:r>
          </a:p>
        </p:txBody>
      </p:sp>
      <p:sp>
        <p:nvSpPr>
          <p:cNvPr id="11" name="Rectangle 10"/>
          <p:cNvSpPr/>
          <p:nvPr/>
        </p:nvSpPr>
        <p:spPr>
          <a:xfrm>
            <a:off x="3410712"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47872" y="1234440"/>
            <a:ext cx="2350008" cy="274320"/>
          </a:xfrm>
          <a:prstGeom prst="rect">
            <a:avLst/>
          </a:prstGeom>
          <a:noFill/>
        </p:spPr>
        <p:txBody>
          <a:bodyPr wrap="square">
            <a:spAutoFit/>
          </a:bodyPr>
          <a:lstStyle/>
          <a:p>
            <a:pPr algn="l">
              <a:spcBef>
                <a:spcPts val="0"/>
              </a:spcBef>
              <a:spcAft>
                <a:spcPts val="0"/>
              </a:spcAft>
            </a:pPr>
            <a:r>
              <a:rPr sz="1300" b="1" i="0">
                <a:solidFill>
                  <a:srgbClr val="3FB950"/>
                </a:solidFill>
                <a:latin typeface="Calibri"/>
              </a:rPr>
              <a:t>2. onPreToolUse Hook</a:t>
            </a:r>
          </a:p>
        </p:txBody>
      </p:sp>
      <p:sp>
        <p:nvSpPr>
          <p:cNvPr id="13" name="TextBox 12"/>
          <p:cNvSpPr txBox="1"/>
          <p:nvPr/>
        </p:nvSpPr>
        <p:spPr>
          <a:xfrm>
            <a:off x="3547872"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Dynamic per-call decisions</a:t>
            </a:r>
          </a:p>
        </p:txBody>
      </p:sp>
      <p:sp>
        <p:nvSpPr>
          <p:cNvPr id="14" name="Rectangle 13"/>
          <p:cNvSpPr/>
          <p:nvPr/>
        </p:nvSpPr>
        <p:spPr>
          <a:xfrm>
            <a:off x="3502152"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502152"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02152"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7" name="TextBox 16"/>
          <p:cNvSpPr txBox="1"/>
          <p:nvPr/>
        </p:nvSpPr>
        <p:spPr>
          <a:xfrm>
            <a:off x="3593592"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ALLOWED = {"glob", "view"}</a:t>
            </a:r>
          </a:p>
          <a:p>
            <a:pPr algn="l">
              <a:lnSpc>
                <a:spcPts val="1100"/>
              </a:lnSpc>
              <a:spcBef>
                <a:spcPts val="0"/>
              </a:spcBef>
              <a:spcAft>
                <a:spcPts val="0"/>
              </a:spcAft>
            </a:pPr>
            <a:r>
              <a:rPr sz="1000">
                <a:solidFill>
                  <a:srgbClr val="E6EDF3"/>
                </a:solidFill>
                <a:latin typeface="Courier New"/>
              </a:rPr>
              <a:t xml:space="preserve">async def guard(inp, inv):</a:t>
            </a:r>
          </a:p>
          <a:p>
            <a:pPr algn="l">
              <a:lnSpc>
                <a:spcPts val="1100"/>
              </a:lnSpc>
              <a:spcBef>
                <a:spcPts val="0"/>
              </a:spcBef>
              <a:spcAft>
                <a:spcPts val="0"/>
              </a:spcAft>
            </a:pPr>
            <a:r>
              <a:rPr sz="1000">
                <a:solidFill>
                  <a:srgbClr val="E6EDF3"/>
                </a:solidFill>
                <a:latin typeface="Courier New"/>
              </a:rPr>
              <a:t xml:space="preserve">  name = inp["toolName"]</a:t>
            </a:r>
          </a:p>
          <a:p>
            <a:pPr algn="l">
              <a:lnSpc>
                <a:spcPts val="1100"/>
              </a:lnSpc>
              <a:spcBef>
                <a:spcPts val="0"/>
              </a:spcBef>
              <a:spcAft>
                <a:spcPts val="0"/>
              </a:spcAft>
            </a:pPr>
            <a:r>
              <a:rPr sz="1000">
                <a:solidFill>
                  <a:srgbClr val="E6EDF3"/>
                </a:solidFill>
                <a:latin typeface="Courier New"/>
              </a:rPr>
              <a:t xml:space="preserve">  if name not in ALLOWED:</a:t>
            </a:r>
          </a:p>
          <a:p>
            <a:pPr algn="l">
              <a:lnSpc>
                <a:spcPts val="1100"/>
              </a:lnSpc>
              <a:spcBef>
                <a:spcPts val="0"/>
              </a:spcBef>
              <a:spcAft>
                <a:spcPts val="0"/>
              </a:spcAft>
            </a:pPr>
            <a:r>
              <a:rPr sz="1000">
                <a:solidFill>
                  <a:srgbClr val="E6EDF3"/>
                </a:solidFill>
                <a:latin typeface="Courier New"/>
              </a:rPr>
              <a:t xml:space="preserve">    return {</a:t>
            </a:r>
          </a:p>
          <a:p>
            <a:pPr algn="l">
              <a:lnSpc>
                <a:spcPts val="1100"/>
              </a:lnSpc>
              <a:spcBef>
                <a:spcPts val="0"/>
              </a:spcBef>
              <a:spcAft>
                <a:spcPts val="0"/>
              </a:spcAft>
            </a:pPr>
            <a:r>
              <a:rPr sz="1000">
                <a:solidFill>
                  <a:srgbClr val="E6EDF3"/>
                </a:solidFill>
                <a:latin typeface="Courier New"/>
              </a:rPr>
              <a:t xml:space="preserve">      "permissionDecision":</a:t>
            </a:r>
          </a:p>
          <a:p>
            <a:pPr algn="l">
              <a:lnSpc>
                <a:spcPts val="1100"/>
              </a:lnSpc>
              <a:spcBef>
                <a:spcPts val="0"/>
              </a:spcBef>
              <a:spcAft>
                <a:spcPts val="0"/>
              </a:spcAft>
            </a:pPr>
            <a:r>
              <a:rPr sz="1000">
                <a:solidFill>
                  <a:srgbClr val="E6EDF3"/>
                </a:solidFill>
                <a:latin typeface="Courier New"/>
              </a:rPr>
              <a:t xml:space="preserve">        "deny",</a:t>
            </a:r>
          </a:p>
          <a:p>
            <a:pPr algn="l">
              <a:lnSpc>
                <a:spcPts val="1100"/>
              </a:lnSpc>
              <a:spcBef>
                <a:spcPts val="0"/>
              </a:spcBef>
              <a:spcAft>
                <a:spcPts val="0"/>
              </a:spcAft>
            </a:pPr>
            <a:r>
              <a:rPr sz="1000">
                <a:solidFill>
                  <a:srgbClr val="E6EDF3"/>
                </a:solidFill>
                <a:latin typeface="Courier New"/>
              </a:rPr>
              <a:t xml:space="preserve">    }</a:t>
            </a:r>
          </a:p>
          <a:p>
            <a:pPr algn="l">
              <a:lnSpc>
                <a:spcPts val="1100"/>
              </a:lnSpc>
              <a:spcBef>
                <a:spcPts val="0"/>
              </a:spcBef>
              <a:spcAft>
                <a:spcPts val="0"/>
              </a:spcAft>
            </a:pPr>
            <a:r>
              <a:rPr sz="1000">
                <a:solidFill>
                  <a:srgbClr val="E6EDF3"/>
                </a:solidFill>
                <a:latin typeface="Courier New"/>
              </a:rPr>
              <a:t xml:space="preserve">  return None</a:t>
            </a:r>
          </a:p>
          <a:p>
            <a:pPr algn="l">
              <a:lnSpc>
                <a:spcPts val="1100"/>
              </a:lnSpc>
              <a:spcBef>
                <a:spcPts val="0"/>
              </a:spcBef>
              <a:spcAft>
                <a:spcPts val="0"/>
              </a:spcAft>
            </a:pPr>
            <a:r>
              <a:rPr sz="1000">
                <a:solidFill>
                  <a:srgbClr val="E6EDF3"/>
                </a:solidFill>
                <a:latin typeface="Courier New"/>
              </a:rPr>
              <a:t xml:space="preserve"># Hook: on_pre_tool_use</a:t>
            </a:r>
          </a:p>
        </p:txBody>
      </p:sp>
      <p:sp>
        <p:nvSpPr>
          <p:cNvPr id="18" name="Rectangle 17"/>
          <p:cNvSpPr/>
          <p:nvPr/>
        </p:nvSpPr>
        <p:spPr>
          <a:xfrm>
            <a:off x="6272783"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9944" y="1234440"/>
            <a:ext cx="2350008" cy="274320"/>
          </a:xfrm>
          <a:prstGeom prst="rect">
            <a:avLst/>
          </a:prstGeom>
          <a:noFill/>
        </p:spPr>
        <p:txBody>
          <a:bodyPr wrap="square">
            <a:spAutoFit/>
          </a:bodyPr>
          <a:lstStyle/>
          <a:p>
            <a:pPr algn="l">
              <a:spcBef>
                <a:spcPts val="0"/>
              </a:spcBef>
              <a:spcAft>
                <a:spcPts val="0"/>
              </a:spcAft>
            </a:pPr>
            <a:r>
              <a:rPr sz="1300" b="1" i="0">
                <a:solidFill>
                  <a:srgbClr val="F0883E"/>
                </a:solidFill>
                <a:latin typeface="Calibri"/>
              </a:rPr>
              <a:t>3. Managed Policy</a:t>
            </a:r>
          </a:p>
        </p:txBody>
      </p:sp>
      <p:sp>
        <p:nvSpPr>
          <p:cNvPr id="20" name="TextBox 19"/>
          <p:cNvSpPr txBox="1"/>
          <p:nvPr/>
        </p:nvSpPr>
        <p:spPr>
          <a:xfrm>
            <a:off x="6409944"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Startup-only; CLI 1.0.79-5+</a:t>
            </a:r>
          </a:p>
        </p:txBody>
      </p:sp>
      <p:sp>
        <p:nvSpPr>
          <p:cNvPr id="21" name="Rectangle 20"/>
          <p:cNvSpPr/>
          <p:nvPr/>
        </p:nvSpPr>
        <p:spPr>
          <a:xfrm>
            <a:off x="6364223"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64223"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64223"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24" name="TextBox 23"/>
          <p:cNvSpPr txBox="1"/>
          <p:nvPr/>
        </p:nvSpPr>
        <p:spPr>
          <a:xfrm>
            <a:off x="6455664"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managed_settings={</a:t>
            </a:r>
          </a:p>
          <a:p>
            <a:pPr algn="l">
              <a:lnSpc>
                <a:spcPts val="1100"/>
              </a:lnSpc>
              <a:spcBef>
                <a:spcPts val="0"/>
              </a:spcBef>
              <a:spcAft>
                <a:spcPts val="0"/>
              </a:spcAft>
            </a:pPr>
            <a:r>
              <a:rPr sz="1000">
                <a:solidFill>
                  <a:srgbClr val="E6EDF3"/>
                </a:solidFill>
                <a:latin typeface="Courier New"/>
              </a:rPr>
              <a:t xml:space="preserve">  "permissions": {</a:t>
            </a:r>
          </a:p>
          <a:p>
            <a:pPr algn="l">
              <a:lnSpc>
                <a:spcPts val="1100"/>
              </a:lnSpc>
              <a:spcBef>
                <a:spcPts val="0"/>
              </a:spcBef>
              <a:spcAft>
                <a:spcPts val="0"/>
              </a:spcAft>
            </a:pPr>
            <a:r>
              <a:rPr sz="1000">
                <a:solidFill>
                  <a:srgbClr val="E6EDF3"/>
                </a:solidFill>
                <a:latin typeface="Courier New"/>
              </a:rPr>
              <a:t xml:space="preserve">    "deny": ["shell(rm*)"],</a:t>
            </a:r>
          </a:p>
          <a:p>
            <a:pPr algn="l">
              <a:lnSpc>
                <a:spcPts val="1100"/>
              </a:lnSpc>
              <a:spcBef>
                <a:spcPts val="0"/>
              </a:spcBef>
              <a:spcAft>
                <a:spcPts val="0"/>
              </a:spcAft>
            </a:pPr>
            <a:r>
              <a:rPr sz="1000">
                <a:solidFill>
                  <a:srgbClr val="E6EDF3"/>
                </a:solidFill>
                <a:latin typeface="Courier New"/>
              </a:rPr>
              <a:t xml:space="preserve">    "ask": ["write"],</a:t>
            </a:r>
          </a:p>
          <a:p>
            <a:pPr algn="l">
              <a:lnSpc>
                <a:spcPts val="1100"/>
              </a:lnSpc>
              <a:spcBef>
                <a:spcPts val="0"/>
              </a:spcBef>
              <a:spcAft>
                <a:spcPts val="0"/>
              </a:spcAft>
            </a:pPr>
            <a:r>
              <a:rPr sz="1000">
                <a:solidFill>
                  <a:srgbClr val="E6EDF3"/>
                </a:solidFill>
                <a:latin typeface="Courier New"/>
              </a:rPr>
              <a:t xml:space="preserve">  },</a:t>
            </a:r>
          </a:p>
          <a:p>
            <a:pPr algn="l">
              <a:lnSpc>
                <a:spcPts val="1100"/>
              </a:lnSpc>
              <a:spcBef>
                <a:spcPts val="0"/>
              </a:spcBef>
              <a:spcAft>
                <a:spcPts val="0"/>
              </a:spcAft>
            </a:pPr>
            <a:r>
              <a:rPr sz="1000">
                <a:solidFill>
                  <a:srgbClr val="E6EDF3"/>
                </a:solidFill>
                <a:latin typeface="Courier New"/>
              </a:rPr>
              <a:t xml:space="preserve">}</a:t>
            </a:r>
          </a:p>
          <a:p>
            <a:pPr algn="l">
              <a:lnSpc>
                <a:spcPts val="1100"/>
              </a:lnSpc>
              <a:spcBef>
                <a:spcPts val="0"/>
              </a:spcBef>
              <a:spcAft>
                <a:spcPts val="0"/>
              </a:spcAft>
            </a:pPr>
            <a:r>
              <a:rPr sz="1000">
                <a:solidFill>
                  <a:srgbClr val="E6EDF3"/>
                </a:solidFill>
                <a:latin typeface="Courier New"/>
              </a:rPr>
              <a:t xml:space="preserve"># CLI 1.0.79-5+</a:t>
            </a:r>
          </a:p>
          <a:p>
            <a:pPr algn="l">
              <a:lnSpc>
                <a:spcPts val="1100"/>
              </a:lnSpc>
              <a:spcBef>
                <a:spcPts val="0"/>
              </a:spcBef>
              <a:spcAft>
                <a:spcPts val="0"/>
              </a:spcAft>
            </a:pPr>
            <a:r>
              <a:rPr sz="1000">
                <a:solidFill>
                  <a:srgbClr val="E6EDF3"/>
                </a:solidFill>
                <a:latin typeface="Courier New"/>
              </a:rPr>
              <a:t xml:space="preserve"># Re-supply on resume.</a:t>
            </a:r>
          </a:p>
          <a:p>
            <a:pPr algn="l">
              <a:lnSpc>
                <a:spcPts val="1100"/>
              </a:lnSpc>
              <a:spcBef>
                <a:spcPts val="0"/>
              </a:spcBef>
              <a:spcAft>
                <a:spcPts val="0"/>
              </a:spcAft>
            </a:pPr>
            <a:r>
              <a:rPr sz="1000">
                <a:solidFill>
                  <a:srgbClr val="E6EDF3"/>
                </a:solidFill>
                <a:latin typeface="Courier New"/>
              </a:rPr>
              <a:t xml:space="preserve"># Don't use approve_all.</a:t>
            </a:r>
          </a:p>
        </p:txBody>
      </p:sp>
      <p:sp>
        <p:nvSpPr>
          <p:cNvPr id="25" name="TextBox 24"/>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9 / 28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Custom Tools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Define custom functions that Copilot can invoke during conversations</a:t>
            </a:r>
            <a:endParaRPr lang="en-US" sz="1200" dirty="0"/>
          </a:p>
        </p:txBody>
      </p:sp>
      <p:sp>
        <p:nvSpPr>
          <p:cNvPr id="6" name="Shape 3"/>
          <p:cNvSpPr/>
          <p:nvPr/>
        </p:nvSpPr>
        <p:spPr>
          <a:xfrm>
            <a:off x="548640" y="1188720"/>
            <a:ext cx="8046720" cy="3291840"/>
          </a:xfrm>
          <a:prstGeom prst="line">
            <a:avLst/>
          </a:prstGeom>
          <a:solidFill>
            <a:srgbClr val="161B22"/>
          </a:solidFill>
          <a:ln w="12700">
            <a:prstDash val="solid"/>
          </a:ln>
        </p:spPr>
        <p:txBody>
          <a:bodyPr/>
          <a:lstStyle/>
          <a:p>
            <a:endParaRPr/>
          </a:p>
        </p:txBody>
      </p:sp>
      <p:sp>
        <p:nvSpPr>
          <p:cNvPr id="8" name="Text 5"/>
          <p:cNvSpPr/>
          <p:nvPr/>
        </p:nvSpPr>
        <p:spPr>
          <a:xfrm>
            <a:off x="5486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508760"/>
            <a:ext cx="7772400" cy="3154680"/>
          </a:xfrm>
          <a:prstGeom prst="rect">
            <a:avLst/>
          </a:prstGeom>
          <a:noFill/>
          <a:ln>
            <a:noFill/>
          </a:ln>
        </p:spPr>
        <p:txBody>
          <a:bodyPr wrap="none" lIns="25400" tIns="25400" rIns="25400" bIns="25400" rtlCol="0" anchor="t"/>
          <a:lstStyle/>
          <a:p>
            <a:pPr algn="l">
              <a:lnSpc>
                <a:spcPts val="1430"/>
              </a:lnSpc>
              <a:spcBef>
                <a:spcPts val="0"/>
              </a:spcBef>
              <a:spcAft>
                <a:spcPts val="0"/>
              </a:spcAft>
            </a:pPr>
            <a:r>
              <a:rPr sz="1300">
                <a:solidFill>
                  <a:srgbClr val="E6EDF3"/>
                </a:solidFill>
                <a:latin typeface="Courier New"/>
              </a:rPr>
              <a:t xml:space="preserve">from copilot import define_tool</a:t>
            </a:r>
          </a:p>
          <a:p>
            <a:pPr algn="l">
              <a:lnSpc>
                <a:spcPts val="1430"/>
              </a:lnSpc>
              <a:spcBef>
                <a:spcPts val="0"/>
              </a:spcBef>
              <a:spcAft>
                <a:spcPts val="0"/>
              </a:spcAft>
            </a:pPr>
            <a:r>
              <a:rPr sz="1300">
                <a:solidFill>
                  <a:srgbClr val="E6EDF3"/>
                </a:solidFill>
                <a:latin typeface="Courier New"/>
              </a:rPr>
              <a:t xml:space="preserve">from pydantic import BaseModel, Field</a:t>
            </a:r>
          </a:p>
          <a:p>
            <a:pPr algn="l">
              <a:lnSpc>
                <a:spcPts val="1430"/>
              </a:lnSpc>
              <a:spcBef>
                <a:spcPts val="0"/>
              </a:spcBef>
              <a:spcAft>
                <a:spcPts val="0"/>
              </a:spcAft>
            </a:pPr>
            <a:r>
              <a:rPr sz="1300">
                <a:solidFill>
                  <a:srgbClr val="E6EDF3"/>
                </a:solidFill>
                <a:latin typeface="Courier New"/>
              </a:rPr>
              <a:t xml:space="preserve">class WeatherParams(BaseModel):</a:t>
            </a:r>
          </a:p>
          <a:p>
            <a:pPr algn="l">
              <a:lnSpc>
                <a:spcPts val="1430"/>
              </a:lnSpc>
              <a:spcBef>
                <a:spcPts val="0"/>
              </a:spcBef>
              <a:spcAft>
                <a:spcPts val="0"/>
              </a:spcAft>
            </a:pPr>
            <a:r>
              <a:rPr sz="1300">
                <a:solidFill>
                  <a:srgbClr val="E6EDF3"/>
                </a:solidFill>
                <a:latin typeface="Courier New"/>
              </a:rPr>
              <a:t xml:space="preserve">    city: str = Field(description="City name, e.g. Seattle")</a:t>
            </a:r>
          </a:p>
          <a:p>
            <a:pPr algn="l">
              <a:lnSpc>
                <a:spcPts val="1430"/>
              </a:lnSpc>
              <a:spcBef>
                <a:spcPts val="0"/>
              </a:spcBef>
              <a:spcAft>
                <a:spcPts val="0"/>
              </a:spcAft>
            </a:pPr>
            <a:r>
              <a:rPr sz="1300">
                <a:solidFill>
                  <a:srgbClr val="E6EDF3"/>
                </a:solidFill>
                <a:latin typeface="Courier New"/>
              </a:rPr>
              <a:t xml:space="preserve">@define_tool(description="Get simulated weather for a city")</a:t>
            </a:r>
          </a:p>
          <a:p>
            <a:pPr algn="l">
              <a:lnSpc>
                <a:spcPts val="1430"/>
              </a:lnSpc>
              <a:spcBef>
                <a:spcPts val="0"/>
              </a:spcBef>
              <a:spcAft>
                <a:spcPts val="0"/>
              </a:spcAft>
            </a:pPr>
            <a:r>
              <a:rPr sz="1300">
                <a:solidFill>
                  <a:srgbClr val="E6EDF3"/>
                </a:solidFill>
                <a:latin typeface="Courier New"/>
              </a:rPr>
              <a:t xml:space="preserve">async def get_weather(params: WeatherParams) -&gt; dict:</a:t>
            </a:r>
          </a:p>
          <a:p>
            <a:pPr algn="l">
              <a:lnSpc>
                <a:spcPts val="1430"/>
              </a:lnSpc>
              <a:spcBef>
                <a:spcPts val="0"/>
              </a:spcBef>
              <a:spcAft>
                <a:spcPts val="0"/>
              </a:spcAft>
            </a:pPr>
            <a:r>
              <a:rPr sz="1300">
                <a:solidFill>
                  <a:srgbClr val="E6EDF3"/>
                </a:solidFill>
                <a:latin typeface="Courier New"/>
              </a:rPr>
              <a:t xml:space="preserve">    return {"city": params.city, "temperature_c": 21, "condition": "sunny"}</a:t>
            </a:r>
          </a:p>
          <a:p>
            <a:pPr algn="l">
              <a:lnSpc>
                <a:spcPts val="1430"/>
              </a:lnSpc>
              <a:spcBef>
                <a:spcPts val="0"/>
              </a:spcBef>
              <a:spcAft>
                <a:spcPts val="0"/>
              </a:spcAft>
            </a:pPr>
            <a:r>
              <a:rPr sz="1300">
                <a:solidFill>
                  <a:srgbClr val="E6EDF3"/>
                </a:solidFill>
                <a:latin typeface="Courier New"/>
              </a:rPr>
              <a:t xml:space="preserve">async with await client.create_session(</a:t>
            </a:r>
          </a:p>
          <a:p>
            <a:pPr algn="l">
              <a:lnSpc>
                <a:spcPts val="1430"/>
              </a:lnSpc>
              <a:spcBef>
                <a:spcPts val="0"/>
              </a:spcBef>
              <a:spcAft>
                <a:spcPts val="0"/>
              </a:spcAft>
            </a:pPr>
            <a:r>
              <a:rPr sz="1300">
                <a:solidFill>
                  <a:srgbClr val="E6EDF3"/>
                </a:solidFill>
                <a:latin typeface="Courier New"/>
              </a:rPr>
              <a:t xml:space="preserve">    model="gpt-5-mini", tools=[get_weather],</a:t>
            </a:r>
          </a:p>
          <a:p>
            <a:pPr algn="l">
              <a:lnSpc>
                <a:spcPts val="1430"/>
              </a:lnSpc>
              <a:spcBef>
                <a:spcPts val="0"/>
              </a:spcBef>
              <a:spcAft>
                <a:spcPts val="0"/>
              </a:spcAft>
            </a:pPr>
            <a:r>
              <a:rPr sz="1300">
                <a:solidFill>
                  <a:srgbClr val="E6EDF3"/>
                </a:solidFill>
                <a:latin typeface="Courier New"/>
              </a:rPr>
              <a:t xml:space="preserve">    available_tools=["custom:get_weather"],</a:t>
            </a:r>
          </a:p>
          <a:p>
            <a:pPr algn="l">
              <a:lnSpc>
                <a:spcPts val="1430"/>
              </a:lnSpc>
              <a:spcBef>
                <a:spcPts val="0"/>
              </a:spcBef>
              <a:spcAft>
                <a:spcPts val="0"/>
              </a:spcAft>
            </a:pPr>
            <a:r>
              <a:rPr sz="1300">
                <a:solidFill>
                  <a:srgbClr val="E6EDF3"/>
                </a:solidFill>
                <a:latin typeface="Courier New"/>
              </a:rPr>
              <a:t xml:space="preserve">    on_permission_request=PermissionHandler.approve_all,</a:t>
            </a:r>
          </a:p>
          <a:p>
            <a:pPr algn="l">
              <a:lnSpc>
                <a:spcPts val="1430"/>
              </a:lnSpc>
              <a:spcBef>
                <a:spcPts val="0"/>
              </a:spcBef>
              <a:spcAft>
                <a:spcPts val="0"/>
              </a:spcAft>
            </a:pPr>
            <a:r>
              <a:rPr sz="1300">
                <a:solidFill>
                  <a:srgbClr val="E6EDF3"/>
                </a:solidFill>
                <a:latin typeface="Courier New"/>
              </a:rPr>
              <a:t xml:space="preserve">) as session:</a:t>
            </a:r>
          </a:p>
          <a:p>
            <a:pPr algn="l">
              <a:lnSpc>
                <a:spcPts val="1430"/>
              </a:lnSpc>
              <a:spcBef>
                <a:spcPts val="0"/>
              </a:spcBef>
              <a:spcAft>
                <a:spcPts val="0"/>
              </a:spcAft>
            </a:pPr>
            <a:r>
              <a:rPr sz="1300">
                <a:solidFill>
                  <a:srgbClr val="E6EDF3"/>
                </a:solidFill>
                <a:latin typeface="Courier New"/>
              </a:rPr>
              <a:t xml:space="preserve">    await session.send_and_wait("Weather in Berlin?", timeout=120)</a:t>
            </a:r>
          </a:p>
          <a:p>
            <a:pPr algn="l">
              <a:lnSpc>
                <a:spcPts val="1430"/>
              </a:lnSpc>
              <a:spcBef>
                <a:spcPts val="0"/>
              </a:spcBef>
              <a:spcAft>
                <a:spcPts val="0"/>
              </a:spcAft>
            </a:pPr>
            <a:r>
              <a:rPr sz="1300">
                <a:solidFill>
                  <a:srgbClr val="E6EDF3"/>
                </a:solidFill>
                <a:latin typeface="Courier New"/>
              </a:rPr>
              <a:t xml:space="preserve"># v1.0.13 cancels async tool tasks when their request or session ends.</a:t>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10 / 28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03: Custom Agents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Researcher to reviewer: change the active persona without losing conversation history</a:t>
            </a:r>
            <a:endParaRPr lang="en-US" sz="1200" dirty="0"/>
          </a:p>
        </p:txBody>
      </p:sp>
      <p:sp>
        <p:nvSpPr>
          <p:cNvPr id="6" name="Shape 3"/>
          <p:cNvSpPr/>
          <p:nvPr/>
        </p:nvSpPr>
        <p:spPr>
          <a:xfrm>
            <a:off x="548640"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8" name="Image 1" descr="preencoded.png"/>
          <p:cNvPicPr>
            <a:picLocks noChangeAspect="1"/>
          </p:cNvPicPr>
          <p:nvPr/>
        </p:nvPicPr>
        <p:blipFill>
          <a:blip r:embed="rId4"/>
          <a:stretch>
            <a:fillRect/>
          </a:stretch>
        </p:blipFill>
        <p:spPr>
          <a:xfrm>
            <a:off x="1627632" y="1417320"/>
            <a:ext cx="402336" cy="402336"/>
          </a:xfrm>
          <a:prstGeom prst="rect">
            <a:avLst/>
          </a:prstGeom>
        </p:spPr>
      </p:pic>
      <p:sp>
        <p:nvSpPr>
          <p:cNvPr id="9" name="Text 5"/>
          <p:cNvSpPr/>
          <p:nvPr/>
        </p:nvSpPr>
        <p:spPr>
          <a:xfrm>
            <a:off x="685800"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Research Agent</a:t>
            </a:r>
            <a:endParaRPr lang="en-US" sz="1300" dirty="0"/>
          </a:p>
        </p:txBody>
      </p:sp>
      <p:sp>
        <p:nvSpPr>
          <p:cNvPr id="10" name="Text 6"/>
          <p:cNvSpPr/>
          <p:nvPr/>
        </p:nvSpPr>
        <p:spPr>
          <a:xfrm>
            <a:off x="731520"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11" name="Text 7"/>
          <p:cNvSpPr/>
          <p:nvPr/>
        </p:nvSpPr>
        <p:spPr>
          <a:xfrm>
            <a:off x="1280160"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12" name="Text 8"/>
          <p:cNvSpPr/>
          <p:nvPr/>
        </p:nvSpPr>
        <p:spPr>
          <a:xfrm>
            <a:off x="731520"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Analyze code, answer questions. Read-only.</a:t>
            </a:r>
            <a:endParaRPr lang="en-US" sz="1000" dirty="0"/>
          </a:p>
        </p:txBody>
      </p:sp>
      <p:sp>
        <p:nvSpPr>
          <p:cNvPr id="13" name="Shape 9"/>
          <p:cNvSpPr/>
          <p:nvPr/>
        </p:nvSpPr>
        <p:spPr>
          <a:xfrm>
            <a:off x="3355848"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5" name="Image 2" descr="preencoded.png"/>
          <p:cNvPicPr>
            <a:picLocks noChangeAspect="1"/>
          </p:cNvPicPr>
          <p:nvPr/>
        </p:nvPicPr>
        <p:blipFill>
          <a:blip r:embed="rId5"/>
          <a:stretch>
            <a:fillRect/>
          </a:stretch>
        </p:blipFill>
        <p:spPr>
          <a:xfrm>
            <a:off x="4434840" y="1417320"/>
            <a:ext cx="402336" cy="402336"/>
          </a:xfrm>
          <a:prstGeom prst="rect">
            <a:avLst/>
          </a:prstGeom>
        </p:spPr>
      </p:pic>
      <p:sp>
        <p:nvSpPr>
          <p:cNvPr id="16" name="Text 11"/>
          <p:cNvSpPr/>
          <p:nvPr/>
        </p:nvSpPr>
        <p:spPr>
          <a:xfrm>
            <a:off x="3493008"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Explicit Handoff</a:t>
            </a:r>
            <a:endParaRPr lang="en-US" sz="1300" dirty="0"/>
          </a:p>
        </p:txBody>
      </p:sp>
      <p:sp>
        <p:nvSpPr>
          <p:cNvPr id="17" name="Text 12"/>
          <p:cNvSpPr/>
          <p:nvPr/>
        </p:nvSpPr>
        <p:spPr>
          <a:xfrm>
            <a:off x="3538728"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RPC:</a:t>
            </a:r>
            <a:endParaRPr lang="en-US" sz="900" dirty="0"/>
          </a:p>
        </p:txBody>
      </p:sp>
      <p:sp>
        <p:nvSpPr>
          <p:cNvPr id="18" name="Text 13"/>
          <p:cNvSpPr/>
          <p:nvPr/>
        </p:nvSpPr>
        <p:spPr>
          <a:xfrm>
            <a:off x="4087368"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agent.select(AgentSelectRequest(...))</a:t>
            </a:r>
            <a:endParaRPr lang="en-US" sz="900" dirty="0"/>
          </a:p>
        </p:txBody>
      </p:sp>
      <p:sp>
        <p:nvSpPr>
          <p:cNvPr id="19" name="Text 14"/>
          <p:cNvSpPr/>
          <p:nvPr/>
        </p:nvSpPr>
        <p:spPr>
          <a:xfrm>
            <a:off x="3538728"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Verify with agent.get_current().</a:t>
            </a:r>
            <a:endParaRPr lang="en-US" sz="1000" dirty="0"/>
          </a:p>
        </p:txBody>
      </p:sp>
      <p:sp>
        <p:nvSpPr>
          <p:cNvPr id="20" name="Shape 15"/>
          <p:cNvSpPr/>
          <p:nvPr/>
        </p:nvSpPr>
        <p:spPr>
          <a:xfrm>
            <a:off x="6163056"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2" name="Image 3" descr="preencoded.png"/>
          <p:cNvPicPr>
            <a:picLocks noChangeAspect="1"/>
          </p:cNvPicPr>
          <p:nvPr/>
        </p:nvPicPr>
        <p:blipFill>
          <a:blip r:embed="rId6"/>
          <a:stretch>
            <a:fillRect/>
          </a:stretch>
        </p:blipFill>
        <p:spPr>
          <a:xfrm>
            <a:off x="7242048" y="1417320"/>
            <a:ext cx="402336" cy="402336"/>
          </a:xfrm>
          <a:prstGeom prst="rect">
            <a:avLst/>
          </a:prstGeom>
        </p:spPr>
      </p:pic>
      <p:sp>
        <p:nvSpPr>
          <p:cNvPr id="23" name="Text 17"/>
          <p:cNvSpPr/>
          <p:nvPr/>
        </p:nvSpPr>
        <p:spPr>
          <a:xfrm>
            <a:off x="6300216"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Code Reviewer</a:t>
            </a:r>
            <a:endParaRPr lang="en-US" sz="1300" dirty="0"/>
          </a:p>
        </p:txBody>
      </p:sp>
      <p:sp>
        <p:nvSpPr>
          <p:cNvPr id="24" name="Text 18"/>
          <p:cNvSpPr/>
          <p:nvPr/>
        </p:nvSpPr>
        <p:spPr>
          <a:xfrm>
            <a:off x="6345936"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25" name="Text 19"/>
          <p:cNvSpPr/>
          <p:nvPr/>
        </p:nvSpPr>
        <p:spPr>
          <a:xfrm>
            <a:off x="6894576"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26" name="Text 20"/>
          <p:cNvSpPr/>
          <p:nvPr/>
        </p:nvSpPr>
        <p:spPr>
          <a:xfrm>
            <a:off x="6345936"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Review code for bugs, security, and best practices.</a:t>
            </a:r>
            <a:endParaRPr lang="en-US" sz="1000" dirty="0"/>
          </a:p>
        </p:txBody>
      </p:sp>
      <p:sp>
        <p:nvSpPr>
          <p:cNvPr id="27" name="Shape 21"/>
          <p:cNvSpPr/>
          <p:nvPr/>
        </p:nvSpPr>
        <p:spPr>
          <a:xfrm>
            <a:off x="548640" y="3749040"/>
            <a:ext cx="8046720" cy="822960"/>
          </a:xfrm>
          <a:prstGeom prst="line">
            <a:avLst/>
          </a:prstGeom>
          <a:solidFill>
            <a:srgbClr val="161B22"/>
          </a:solidFill>
          <a:ln w="12700">
            <a:prstDash val="solid"/>
          </a:ln>
        </p:spPr>
        <p:txBody>
          <a:bodyPr/>
          <a:lstStyle/>
          <a:p>
            <a:endParaRPr/>
          </a:p>
        </p:txBody>
      </p:sp>
      <p:pic>
        <p:nvPicPr>
          <p:cNvPr id="28" name="Image 4" descr="preencoded.png"/>
          <p:cNvPicPr>
            <a:picLocks noChangeAspect="1"/>
          </p:cNvPicPr>
          <p:nvPr/>
        </p:nvPicPr>
        <p:blipFill>
          <a:blip r:embed="rId7"/>
          <a:stretch>
            <a:fillRect/>
          </a:stretch>
        </p:blipFill>
        <p:spPr>
          <a:xfrm>
            <a:off x="777240" y="3886200"/>
            <a:ext cx="365760" cy="365760"/>
          </a:xfrm>
          <a:prstGeom prst="rect">
            <a:avLst/>
          </a:prstGeom>
        </p:spPr>
      </p:pic>
      <p:sp>
        <p:nvSpPr>
          <p:cNvPr id="29" name="Text 22"/>
          <p:cNvSpPr/>
          <p:nvPr/>
        </p:nvSpPr>
        <p:spPr>
          <a:xfrm>
            <a:off x="1280160" y="3794760"/>
            <a:ext cx="7132320" cy="731520"/>
          </a:xfrm>
          <a:prstGeom prst="rect">
            <a:avLst/>
          </a:prstGeom>
          <a:noFill/>
          <a:ln>
            <a:noFill/>
          </a:ln>
        </p:spPr>
        <p:txBody>
          <a:bodyPr wrap="square" lIns="0" tIns="0" rIns="0" bIns="0" rtlCol="0" anchor="ctr"/>
          <a:lstStyle/>
          <a:p>
            <a:pPr marL="0" indent="0">
              <a:buNone/>
            </a:pPr>
            <a:r>
              <a:rPr lang="en-US" sz="1200" b="1" dirty="0">
                <a:solidFill>
                  <a:srgbClr val="58A6FF"/>
                </a:solidFill>
                <a:latin typeface="Calibri" pitchFamily="34" charset="0"/>
                <a:ea typeface="Calibri" pitchFamily="34" charset="-122"/>
                <a:cs typeface="Calibri" pitchFamily="34" charset="-120"/>
              </a:rPr>
              <a:t xml:space="preserve">Python: </a:t>
            </a:r>
            <a:r>
              <a:rPr lang="en-US" sz="1100" dirty="0">
                <a:solidFill>
                  <a:srgbClr val="C9D1D9"/>
                </a:solidFill>
                <a:latin typeface="Calibri" pitchFamily="34" charset="0"/>
                <a:ea typeface="Calibri" pitchFamily="34" charset="-122"/>
                <a:cs typeface="Calibri" pitchFamily="34" charset="-120"/>
              </a:rPr>
              <a:t xml:space="preserve">Register custom_agents; start with agent="researcher". Scope tools at session level too.</a:t>
            </a:r>
            <a:r>
              <a:rPr lang="en-US" sz="1100" dirty="0">
                <a:solidFill>
                  <a:srgbClr val="3FB950"/>
                </a:solidFill>
                <a:latin typeface="Consolas" pitchFamily="34" charset="0"/>
                <a:ea typeface="Consolas" pitchFamily="34" charset="-122"/>
                <a:cs typeface="Consolas" pitchFamily="34" charset="-120"/>
              </a:rPr>
              <a:t/>
            </a:r>
            <a:r>
              <a:rPr lang="en-US" sz="1100" dirty="0">
                <a:solidFill>
                  <a:srgbClr val="C9D1D9"/>
                </a:solidFill>
                <a:latin typeface="Calibri" pitchFamily="34" charset="0"/>
                <a:ea typeface="Calibri" pitchFamily="34" charset="-122"/>
                <a:cs typeface="Calibri" pitchFamily="34" charset="-120"/>
              </a:rPr>
              <a:t xml:space="preserve"/>
            </a:r>
            <a:endParaRPr lang="en-US" sz="1200" dirty="0"/>
          </a:p>
        </p:txBody>
      </p:sp>
      <p:sp>
        <p:nvSpPr>
          <p:cNvPr id="32" name="Text 2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11 / 28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05: GitHub MCP</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Model Context Protocol — open standard for connecting AI to external tools</a:t>
            </a:r>
            <a:endParaRPr lang="en-US" sz="1200" dirty="0"/>
          </a:p>
        </p:txBody>
      </p:sp>
      <p:sp>
        <p:nvSpPr>
          <p:cNvPr id="6" name="Shape 3"/>
          <p:cNvSpPr/>
          <p:nvPr/>
        </p:nvSpPr>
        <p:spPr>
          <a:xfrm>
            <a:off x="54864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Local / Stdio</a:t>
            </a:r>
            <a:endParaRPr lang="en-US" sz="1400" dirty="0"/>
          </a:p>
        </p:txBody>
      </p:sp>
      <p:sp>
        <p:nvSpPr>
          <p:cNvPr id="9" name="Text 6"/>
          <p:cNvSpPr/>
          <p:nvPr/>
        </p:nvSpPr>
        <p:spPr>
          <a:xfrm>
            <a:off x="73152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Runs as a subprocess, communicates via stdin/stdout</a:t>
            </a:r>
            <a:endParaRPr lang="en-US" sz="1000" dirty="0"/>
          </a:p>
        </p:txBody>
      </p:sp>
      <p:sp>
        <p:nvSpPr>
          <p:cNvPr id="10" name="Text 7"/>
          <p:cNvSpPr/>
          <p:nvPr/>
        </p:nvSpPr>
        <p:spPr>
          <a:xfrm>
            <a:off x="73152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Local tools, file access, scripts</a:t>
            </a:r>
            <a:endParaRPr lang="en-US" sz="900" dirty="0"/>
          </a:p>
        </p:txBody>
      </p:sp>
      <p:sp>
        <p:nvSpPr>
          <p:cNvPr id="11" name="Shape 8"/>
          <p:cNvSpPr/>
          <p:nvPr/>
        </p:nvSpPr>
        <p:spPr>
          <a:xfrm>
            <a:off x="475488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Text 10"/>
          <p:cNvSpPr/>
          <p:nvPr/>
        </p:nvSpPr>
        <p:spPr>
          <a:xfrm>
            <a:off x="493776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Remote / HTTP</a:t>
            </a:r>
            <a:endParaRPr lang="en-US" sz="1400" dirty="0"/>
          </a:p>
        </p:txBody>
      </p:sp>
      <p:sp>
        <p:nvSpPr>
          <p:cNvPr id="14" name="Text 11"/>
          <p:cNvSpPr/>
          <p:nvPr/>
        </p:nvSpPr>
        <p:spPr>
          <a:xfrm>
            <a:off x="493776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Accessed via HTTP endpoint, supports SSE</a:t>
            </a:r>
            <a:endParaRPr lang="en-US" sz="1000" dirty="0"/>
          </a:p>
        </p:txBody>
      </p:sp>
      <p:sp>
        <p:nvSpPr>
          <p:cNvPr id="15" name="Text 12"/>
          <p:cNvSpPr/>
          <p:nvPr/>
        </p:nvSpPr>
        <p:spPr>
          <a:xfrm>
            <a:off x="493776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Shared services, cloud tools</a:t>
            </a:r>
            <a:endParaRPr lang="en-US" sz="900" dirty="0"/>
          </a:p>
        </p:txBody>
      </p:sp>
      <p:sp>
        <p:nvSpPr>
          <p:cNvPr id="16" name="Shape 13"/>
          <p:cNvSpPr/>
          <p:nvPr/>
        </p:nvSpPr>
        <p:spPr>
          <a:xfrm>
            <a:off x="548640" y="2606040"/>
            <a:ext cx="8046720" cy="2103120"/>
          </a:xfrm>
          <a:prstGeom prst="line">
            <a:avLst/>
          </a:prstGeom>
          <a:solidFill>
            <a:srgbClr val="161B22"/>
          </a:solidFill>
          <a:ln w="12700">
            <a:prstDash val="solid"/>
          </a:ln>
        </p:spPr>
        <p:txBody>
          <a:bodyPr/>
          <a:lstStyle/>
          <a:p>
            <a:endParaRPr/>
          </a:p>
        </p:txBody>
      </p:sp>
      <p:sp>
        <p:nvSpPr>
          <p:cNvPr id="17" name="Shape 14"/>
          <p:cNvSpPr/>
          <p:nvPr/>
        </p:nvSpPr>
        <p:spPr>
          <a:xfrm>
            <a:off x="548640" y="2606040"/>
            <a:ext cx="1371600" cy="256032"/>
          </a:xfrm>
          <a:prstGeom prst="line">
            <a:avLst/>
          </a:prstGeom>
          <a:solidFill>
            <a:srgbClr val="1F6FEB"/>
          </a:solidFill>
          <a:ln w="6350">
            <a:solidFill>
              <a:srgbClr val="30363D"/>
            </a:solidFill>
          </a:ln>
        </p:spPr>
        <p:txBody>
          <a:bodyPr/>
          <a:lstStyle/>
          <a:p>
            <a:endParaRPr/>
          </a:p>
        </p:txBody>
      </p:sp>
      <p:sp>
        <p:nvSpPr>
          <p:cNvPr id="18" name="Text 15"/>
          <p:cNvSpPr/>
          <p:nvPr/>
        </p:nvSpPr>
        <p:spPr>
          <a:xfrm>
            <a:off x="548640" y="260604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19" name="Text 16"/>
          <p:cNvSpPr/>
          <p:nvPr/>
        </p:nvSpPr>
        <p:spPr>
          <a:xfrm>
            <a:off x="685800" y="2926080"/>
            <a:ext cx="7772400" cy="1691640"/>
          </a:xfrm>
          <a:prstGeom prst="rect">
            <a:avLst/>
          </a:prstGeom>
          <a:noFill/>
          <a:ln>
            <a:noFill/>
          </a:ln>
        </p:spPr>
        <p:txBody>
          <a:bodyPr wrap="none" lIns="25400" tIns="25400" rIns="25400" bIns="25400" rtlCol="0" anchor="t"/>
          <a:lstStyle/>
          <a:p>
            <a:pPr algn="l">
              <a:lnSpc>
                <a:spcPts val="1100"/>
              </a:lnSpc>
              <a:spcBef>
                <a:spcPts val="0"/>
              </a:spcBef>
              <a:spcAft>
                <a:spcPts val="0"/>
              </a:spcAft>
            </a:pPr>
            <a:r>
              <a:rPr sz="1000">
                <a:solidFill>
                  <a:srgbClr val="E6EDF3"/>
                </a:solidFill>
                <a:latin typeface="Courier New"/>
              </a:rPr>
              <a:t xml:space="preserve">mcp_servers = {"github": {</a:t>
            </a:r>
          </a:p>
          <a:p>
            <a:pPr algn="l">
              <a:lnSpc>
                <a:spcPts val="1100"/>
              </a:lnSpc>
              <a:spcBef>
                <a:spcPts val="0"/>
              </a:spcBef>
              <a:spcAft>
                <a:spcPts val="0"/>
              </a:spcAft>
            </a:pPr>
            <a:r>
              <a:rPr sz="1000">
                <a:solidFill>
                  <a:srgbClr val="E6EDF3"/>
                </a:solidFill>
                <a:latin typeface="Courier New"/>
              </a:rPr>
              <a:t xml:space="preserve">    "type": "http", "url": "https://api.githubcopilot.com/mcp/",</a:t>
            </a:r>
          </a:p>
          <a:p>
            <a:pPr algn="l">
              <a:lnSpc>
                <a:spcPts val="1100"/>
              </a:lnSpc>
              <a:spcBef>
                <a:spcPts val="0"/>
              </a:spcBef>
              <a:spcAft>
                <a:spcPts val="0"/>
              </a:spcAft>
            </a:pPr>
            <a:r>
              <a:rPr sz="1000">
                <a:solidFill>
                  <a:srgbClr val="E6EDF3"/>
                </a:solidFill>
                <a:latin typeface="Courier New"/>
              </a:rPr>
              <a:t xml:space="preserve">    "headers": {"Authorization": f"Bearer {github_token()}"},</a:t>
            </a:r>
          </a:p>
          <a:p>
            <a:pPr algn="l">
              <a:lnSpc>
                <a:spcPts val="1100"/>
              </a:lnSpc>
              <a:spcBef>
                <a:spcPts val="0"/>
              </a:spcBef>
              <a:spcAft>
                <a:spcPts val="0"/>
              </a:spcAft>
            </a:pPr>
            <a:r>
              <a:rPr sz="1000">
                <a:solidFill>
                  <a:srgbClr val="E6EDF3"/>
                </a:solidFill>
                <a:latin typeface="Courier New"/>
              </a:rPr>
              <a:t xml:space="preserve">    "tools": ["list_issues", "issue_read", "search_issues"],</a:t>
            </a:r>
          </a:p>
          <a:p>
            <a:pPr algn="l">
              <a:lnSpc>
                <a:spcPts val="1100"/>
              </a:lnSpc>
              <a:spcBef>
                <a:spcPts val="0"/>
              </a:spcBef>
              <a:spcAft>
                <a:spcPts val="0"/>
              </a:spcAft>
            </a:pPr>
            <a:r>
              <a:rPr sz="1000">
                <a:solidFill>
                  <a:srgbClr val="E6EDF3"/>
                </a:solidFill>
                <a:latin typeface="Courier New"/>
              </a:rPr>
              <a:t xml:space="preserve">}}</a:t>
            </a:r>
          </a:p>
          <a:p>
            <a:pPr algn="l">
              <a:lnSpc>
                <a:spcPts val="1100"/>
              </a:lnSpc>
              <a:spcBef>
                <a:spcPts val="0"/>
              </a:spcBef>
              <a:spcAft>
                <a:spcPts val="0"/>
              </a:spcAft>
            </a:pPr>
            <a:r>
              <a:rPr sz="1000">
                <a:solidFill>
                  <a:srgbClr val="E6EDF3"/>
                </a:solidFill>
                <a:latin typeface="Courier New"/>
              </a:rPr>
              <a:t xml:space="preserve">async with await client.create_session(</a:t>
            </a:r>
          </a:p>
          <a:p>
            <a:pPr algn="l">
              <a:lnSpc>
                <a:spcPts val="1100"/>
              </a:lnSpc>
              <a:spcBef>
                <a:spcPts val="0"/>
              </a:spcBef>
              <a:spcAft>
                <a:spcPts val="0"/>
              </a:spcAft>
            </a:pPr>
            <a:r>
              <a:rPr sz="1000">
                <a:solidFill>
                  <a:srgbClr val="E6EDF3"/>
                </a:solidFill>
                <a:latin typeface="Courier New"/>
              </a:rPr>
              <a:t xml:space="preserve">    model="gpt-5-mini", mcp_servers=mcp_servers,</a:t>
            </a:r>
          </a:p>
          <a:p>
            <a:pPr algn="l">
              <a:lnSpc>
                <a:spcPts val="1100"/>
              </a:lnSpc>
              <a:spcBef>
                <a:spcPts val="0"/>
              </a:spcBef>
              <a:spcAft>
                <a:spcPts val="0"/>
              </a:spcAft>
            </a:pPr>
            <a:r>
              <a:rPr sz="1000">
                <a:solidFill>
                  <a:srgbClr val="E6EDF3"/>
                </a:solidFill>
                <a:latin typeface="Courier New"/>
              </a:rPr>
              <a:t xml:space="preserve">    available_tools=["mcp:github-list_issues"],</a:t>
            </a:r>
          </a:p>
          <a:p>
            <a:pPr algn="l">
              <a:lnSpc>
                <a:spcPts val="1100"/>
              </a:lnSpc>
              <a:spcBef>
                <a:spcPts val="0"/>
              </a:spcBef>
              <a:spcAft>
                <a:spcPts val="0"/>
              </a:spcAft>
            </a:pPr>
            <a:r>
              <a:rPr sz="1000">
                <a:solidFill>
                  <a:srgbClr val="E6EDF3"/>
                </a:solidFill>
                <a:latin typeface="Courier New"/>
              </a:rPr>
              <a:t xml:space="preserve">    on_permission_request=PermissionHandler.approve_all,</a:t>
            </a:r>
          </a:p>
          <a:p>
            <a:pPr algn="l">
              <a:lnSpc>
                <a:spcPts val="1100"/>
              </a:lnSpc>
              <a:spcBef>
                <a:spcPts val="0"/>
              </a:spcBef>
              <a:spcAft>
                <a:spcPts val="0"/>
              </a:spcAft>
            </a:pPr>
            <a:r>
              <a:rPr sz="1000">
                <a:solidFill>
                  <a:srgbClr val="E6EDF3"/>
                </a:solidFill>
                <a:latin typeface="Courier New"/>
              </a:rPr>
              <a:t xml:space="preserve">) as session:</a:t>
            </a:r>
          </a:p>
          <a:p>
            <a:pPr algn="l">
              <a:lnSpc>
                <a:spcPts val="1100"/>
              </a:lnSpc>
              <a:spcBef>
                <a:spcPts val="0"/>
              </a:spcBef>
              <a:spcAft>
                <a:spcPts val="0"/>
              </a:spcAft>
            </a:pPr>
            <a:r>
              <a:rPr sz="1000">
                <a:solidFill>
                  <a:srgbClr val="E6EDF3"/>
                </a:solidFill>
                <a:latin typeface="Courier New"/>
              </a:rPr>
              <a:t xml:space="preserve">    await session.send_and_wait("List recent issues on github/copilot-sdk.", timeout=180)</a:t>
            </a:r>
          </a:p>
        </p:txBody>
      </p:sp>
      <p:sp>
        <p:nvSpPr>
          <p:cNvPr id="22" name="Text 1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12 / 28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Hooks — Documented Lifecycle</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960120"/>
          </a:xfrm>
          <a:prstGeom prst="line">
            <a:avLst/>
          </a:prstGeom>
          <a:solidFill>
            <a:srgbClr val="161B22"/>
          </a:solidFill>
          <a:ln w="12700">
            <a:prstDash val="solid"/>
          </a:ln>
        </p:spPr>
        <p:txBody>
          <a:bodyPr/>
          <a:lstStyle/>
          <a:p>
            <a:endParaRPr/>
          </a:p>
        </p:txBody>
      </p:sp>
      <p:sp>
        <p:nvSpPr>
          <p:cNvPr id="7" name="Text 4"/>
          <p:cNvSpPr/>
          <p:nvPr/>
        </p:nvSpPr>
        <p:spPr>
          <a:xfrm>
            <a:off x="731520" y="1097280"/>
            <a:ext cx="3566160" cy="320040"/>
          </a:xfrm>
          <a:prstGeom prst="rect">
            <a:avLst/>
          </a:prstGeom>
          <a:noFill/>
          <a:ln>
            <a:noFill/>
          </a:ln>
        </p:spPr>
        <p:txBody>
          <a:bodyPr wrap="square" lIns="0" tIns="0" rIns="0" bIns="0" rtlCol="0" anchor="ctr"/>
          <a:lstStyle/>
          <a:p>
            <a:pPr marL="0" indent="0">
              <a:buNone/>
            </a:pPr>
            <a:r>
              <a:rPr lang="en-US" sz="1200" b="1" dirty="0">
                <a:solidFill>
                  <a:srgbClr val="3FB950"/>
                </a:solidFill>
                <a:latin typeface="Consolas" pitchFamily="34" charset="0"/>
                <a:ea typeface="Consolas" pitchFamily="34" charset="-122"/>
                <a:cs typeface="Consolas" pitchFamily="34" charset="-120"/>
              </a:rPr>
              <a:t>on_session_start</a:t>
            </a:r>
            <a:endParaRPr lang="en-US" sz="1200" dirty="0"/>
          </a:p>
        </p:txBody>
      </p:sp>
      <p:sp>
        <p:nvSpPr>
          <p:cNvPr id="8" name="Text 5"/>
          <p:cNvSpPr/>
          <p:nvPr/>
        </p:nvSpPr>
        <p:spPr>
          <a:xfrm>
            <a:off x="73152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Add context, audit logging</a:t>
            </a:r>
            <a:endParaRPr lang="en-US" sz="1100" dirty="0"/>
          </a:p>
        </p:txBody>
      </p:sp>
      <p:sp>
        <p:nvSpPr>
          <p:cNvPr id="9" name="Shape 6"/>
          <p:cNvSpPr/>
          <p:nvPr/>
        </p:nvSpPr>
        <p:spPr>
          <a:xfrm>
            <a:off x="4754880" y="1005840"/>
            <a:ext cx="3931920" cy="960120"/>
          </a:xfrm>
          <a:prstGeom prst="line">
            <a:avLst/>
          </a:prstGeom>
          <a:solidFill>
            <a:srgbClr val="161B22"/>
          </a:solidFill>
          <a:ln w="12700">
            <a:prstDash val="solid"/>
          </a:ln>
        </p:spPr>
        <p:txBody>
          <a:bodyPr/>
          <a:lstStyle/>
          <a:p>
            <a:endParaRPr/>
          </a:p>
        </p:txBody>
      </p:sp>
      <p:sp>
        <p:nvSpPr>
          <p:cNvPr id="11" name="Text 8"/>
          <p:cNvSpPr/>
          <p:nvPr/>
        </p:nvSpPr>
        <p:spPr>
          <a:xfrm>
            <a:off x="4937760" y="1097280"/>
            <a:ext cx="3566160" cy="320040"/>
          </a:xfrm>
          <a:prstGeom prst="rect">
            <a:avLst/>
          </a:prstGeom>
          <a:noFill/>
          <a:ln>
            <a:noFill/>
          </a:ln>
        </p:spPr>
        <p:txBody>
          <a:bodyPr wrap="square" lIns="0" tIns="0" rIns="0" bIns="0" rtlCol="0" anchor="ctr"/>
          <a:lstStyle/>
          <a:p>
            <a:pPr marL="0" indent="0">
              <a:buNone/>
            </a:pPr>
            <a:r>
              <a:rPr lang="en-US" sz="1200" b="1" dirty="0">
                <a:solidFill>
                  <a:srgbClr val="58A6FF"/>
                </a:solidFill>
                <a:latin typeface="Consolas" pitchFamily="34" charset="0"/>
                <a:ea typeface="Consolas" pitchFamily="34" charset="-122"/>
                <a:cs typeface="Consolas" pitchFamily="34" charset="-120"/>
              </a:rPr>
              <a:t>Prompt hooks (2)</a:t>
            </a:r>
            <a:endParaRPr lang="en-US" sz="1200" dirty="0"/>
          </a:p>
        </p:txBody>
      </p:sp>
      <p:sp>
        <p:nvSpPr>
          <p:cNvPr id="12" name="Text 9"/>
          <p:cNvSpPr/>
          <p:nvPr/>
        </p:nvSpPr>
        <p:spPr>
          <a:xfrm>
            <a:off x="493776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Submitted input / transformed model prompt</a:t>
            </a:r>
            <a:endParaRPr lang="en-US" sz="1100" dirty="0"/>
          </a:p>
        </p:txBody>
      </p:sp>
      <p:sp>
        <p:nvSpPr>
          <p:cNvPr id="13" name="Shape 10"/>
          <p:cNvSpPr/>
          <p:nvPr/>
        </p:nvSpPr>
        <p:spPr>
          <a:xfrm>
            <a:off x="548640" y="2194560"/>
            <a:ext cx="3931920" cy="960120"/>
          </a:xfrm>
          <a:prstGeom prst="line">
            <a:avLst/>
          </a:prstGeom>
          <a:solidFill>
            <a:srgbClr val="161B22"/>
          </a:solidFill>
          <a:ln w="12700">
            <a:prstDash val="solid"/>
          </a:ln>
        </p:spPr>
        <p:txBody>
          <a:bodyPr/>
          <a:lstStyle/>
          <a:p>
            <a:endParaRPr/>
          </a:p>
        </p:txBody>
      </p:sp>
      <p:sp>
        <p:nvSpPr>
          <p:cNvPr id="15" name="Text 12"/>
          <p:cNvSpPr/>
          <p:nvPr/>
        </p:nvSpPr>
        <p:spPr>
          <a:xfrm>
            <a:off x="731520" y="2286000"/>
            <a:ext cx="3566160" cy="320040"/>
          </a:xfrm>
          <a:prstGeom prst="rect">
            <a:avLst/>
          </a:prstGeom>
          <a:noFill/>
          <a:ln>
            <a:noFill/>
          </a:ln>
        </p:spPr>
        <p:txBody>
          <a:bodyPr wrap="square" lIns="0" tIns="0" rIns="0" bIns="0" rtlCol="0" anchor="ctr"/>
          <a:lstStyle/>
          <a:p>
            <a:pPr marL="0" indent="0">
              <a:buNone/>
            </a:pPr>
            <a:r>
              <a:rPr lang="en-US" sz="1200" b="1" dirty="0">
                <a:solidFill>
                  <a:srgbClr val="F0883E"/>
                </a:solidFill>
                <a:latin typeface="Consolas" pitchFamily="34" charset="0"/>
                <a:ea typeface="Consolas" pitchFamily="34" charset="-122"/>
                <a:cs typeface="Consolas" pitchFamily="34" charset="-120"/>
              </a:rPr>
              <a:t>on_pre_tool_use</a:t>
            </a:r>
            <a:endParaRPr lang="en-US" sz="1200" dirty="0"/>
          </a:p>
        </p:txBody>
      </p:sp>
      <p:sp>
        <p:nvSpPr>
          <p:cNvPr id="16" name="Text 13"/>
          <p:cNvSpPr/>
          <p:nvPr/>
        </p:nvSpPr>
        <p:spPr>
          <a:xfrm>
            <a:off x="73152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Approve, deny, or modify tool calls</a:t>
            </a:r>
            <a:endParaRPr lang="en-US" sz="1100" dirty="0"/>
          </a:p>
        </p:txBody>
      </p:sp>
      <p:sp>
        <p:nvSpPr>
          <p:cNvPr id="17" name="Shape 14"/>
          <p:cNvSpPr/>
          <p:nvPr/>
        </p:nvSpPr>
        <p:spPr>
          <a:xfrm>
            <a:off x="4754880" y="2194560"/>
            <a:ext cx="3931920" cy="960120"/>
          </a:xfrm>
          <a:prstGeom prst="line">
            <a:avLst/>
          </a:prstGeom>
          <a:solidFill>
            <a:srgbClr val="161B22"/>
          </a:solidFill>
          <a:ln w="12700">
            <a:prstDash val="solid"/>
          </a:ln>
        </p:spPr>
        <p:txBody>
          <a:bodyPr/>
          <a:lstStyle/>
          <a:p>
            <a:endParaRPr/>
          </a:p>
        </p:txBody>
      </p:sp>
      <p:sp>
        <p:nvSpPr>
          <p:cNvPr id="19" name="Text 16"/>
          <p:cNvSpPr/>
          <p:nvPr/>
        </p:nvSpPr>
        <p:spPr>
          <a:xfrm>
            <a:off x="4937760" y="2286000"/>
            <a:ext cx="3566160" cy="320040"/>
          </a:xfrm>
          <a:prstGeom prst="rect">
            <a:avLst/>
          </a:prstGeom>
          <a:noFill/>
          <a:ln>
            <a:noFill/>
          </a:ln>
        </p:spPr>
        <p:txBody>
          <a:bodyPr wrap="square" lIns="0" tIns="0" rIns="0" bIns="0" rtlCol="0" anchor="ctr"/>
          <a:lstStyle/>
          <a:p>
            <a:pPr marL="0" indent="0">
              <a:buNone/>
            </a:pPr>
            <a:r>
              <a:rPr lang="en-US" sz="1200" b="1" dirty="0">
                <a:solidFill>
                  <a:srgbClr val="BC8CFF"/>
                </a:solidFill>
                <a:latin typeface="Consolas" pitchFamily="34" charset="0"/>
                <a:ea typeface="Consolas" pitchFamily="34" charset="-122"/>
                <a:cs typeface="Consolas" pitchFamily="34" charset="-120"/>
              </a:rPr>
              <a:t>Tool-result hooks (2)</a:t>
            </a:r>
            <a:endParaRPr lang="en-US" sz="1200" dirty="0"/>
          </a:p>
        </p:txBody>
      </p:sp>
      <p:sp>
        <p:nvSpPr>
          <p:cNvPr id="20" name="Text 17"/>
          <p:cNvSpPr/>
          <p:nvPr/>
        </p:nvSpPr>
        <p:spPr>
          <a:xfrm>
            <a:off x="493776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Success / failure are separate callbacks</a:t>
            </a:r>
            <a:endParaRPr lang="en-US" sz="1100" dirty="0"/>
          </a:p>
        </p:txBody>
      </p:sp>
      <p:sp>
        <p:nvSpPr>
          <p:cNvPr id="21" name="Shape 18"/>
          <p:cNvSpPr/>
          <p:nvPr/>
        </p:nvSpPr>
        <p:spPr>
          <a:xfrm>
            <a:off x="548640" y="3383280"/>
            <a:ext cx="3931920" cy="960120"/>
          </a:xfrm>
          <a:prstGeom prst="line">
            <a:avLst/>
          </a:prstGeom>
          <a:solidFill>
            <a:srgbClr val="161B22"/>
          </a:solidFill>
          <a:ln w="12700">
            <a:prstDash val="solid"/>
          </a:ln>
        </p:spPr>
        <p:txBody>
          <a:bodyPr/>
          <a:lstStyle/>
          <a:p>
            <a:endParaRPr/>
          </a:p>
        </p:txBody>
      </p:sp>
      <p:sp>
        <p:nvSpPr>
          <p:cNvPr id="23" name="Text 20"/>
          <p:cNvSpPr/>
          <p:nvPr/>
        </p:nvSpPr>
        <p:spPr>
          <a:xfrm>
            <a:off x="731520" y="3474720"/>
            <a:ext cx="3566160" cy="320040"/>
          </a:xfrm>
          <a:prstGeom prst="rect">
            <a:avLst/>
          </a:prstGeom>
          <a:noFill/>
          <a:ln>
            <a:noFill/>
          </a:ln>
        </p:spPr>
        <p:txBody>
          <a:bodyPr wrap="square" lIns="0" tIns="0" rIns="0" bIns="0" rtlCol="0" anchor="ctr"/>
          <a:lstStyle/>
          <a:p>
            <a:pPr marL="0" indent="0">
              <a:buNone/>
            </a:pPr>
            <a:r>
              <a:rPr lang="en-US" sz="1200" b="1" dirty="0">
                <a:solidFill>
                  <a:srgbClr val="F85149"/>
                </a:solidFill>
                <a:latin typeface="Consolas" pitchFamily="34" charset="0"/>
                <a:ea typeface="Consolas" pitchFamily="34" charset="-122"/>
                <a:cs typeface="Consolas" pitchFamily="34" charset="-120"/>
              </a:rPr>
              <a:t>on_error_occurred</a:t>
            </a:r>
            <a:endParaRPr lang="en-US" sz="1200" dirty="0"/>
          </a:p>
        </p:txBody>
      </p:sp>
      <p:sp>
        <p:nvSpPr>
          <p:cNvPr id="24" name="Text 21"/>
          <p:cNvSpPr/>
          <p:nvPr/>
        </p:nvSpPr>
        <p:spPr>
          <a:xfrm>
            <a:off x="73152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Custom error handling, retry logic</a:t>
            </a:r>
            <a:endParaRPr lang="en-US" sz="1100" dirty="0"/>
          </a:p>
        </p:txBody>
      </p:sp>
      <p:sp>
        <p:nvSpPr>
          <p:cNvPr id="25" name="Shape 22"/>
          <p:cNvSpPr/>
          <p:nvPr/>
        </p:nvSpPr>
        <p:spPr>
          <a:xfrm>
            <a:off x="4754880" y="3383280"/>
            <a:ext cx="3931920" cy="960120"/>
          </a:xfrm>
          <a:prstGeom prst="line">
            <a:avLst/>
          </a:prstGeom>
          <a:solidFill>
            <a:srgbClr val="161B22"/>
          </a:solidFill>
          <a:ln w="12700">
            <a:prstDash val="solid"/>
          </a:ln>
        </p:spPr>
        <p:txBody>
          <a:bodyPr/>
          <a:lstStyle/>
          <a:p>
            <a:endParaRPr/>
          </a:p>
        </p:txBody>
      </p:sp>
      <p:sp>
        <p:nvSpPr>
          <p:cNvPr id="27" name="Text 24"/>
          <p:cNvSpPr/>
          <p:nvPr/>
        </p:nvSpPr>
        <p:spPr>
          <a:xfrm>
            <a:off x="4937760" y="3474720"/>
            <a:ext cx="3566160" cy="320040"/>
          </a:xfrm>
          <a:prstGeom prst="rect">
            <a:avLst/>
          </a:prstGeom>
          <a:noFill/>
          <a:ln>
            <a:noFill/>
          </a:ln>
        </p:spPr>
        <p:txBody>
          <a:bodyPr wrap="square" lIns="0" tIns="0" rIns="0" bIns="0" rtlCol="0" anchor="ctr"/>
          <a:lstStyle/>
          <a:p>
            <a:pPr marL="0" indent="0">
              <a:buNone/>
            </a:pPr>
            <a:r>
              <a:rPr lang="en-US" sz="1200" b="1" dirty="0">
                <a:solidFill>
                  <a:srgbClr val="39D2C0"/>
                </a:solidFill>
                <a:latin typeface="Consolas" pitchFamily="34" charset="0"/>
                <a:ea typeface="Consolas" pitchFamily="34" charset="-122"/>
                <a:cs typeface="Consolas" pitchFamily="34" charset="-120"/>
              </a:rPr>
              <a:t>on_session_end</a:t>
            </a:r>
            <a:endParaRPr lang="en-US" sz="1200" dirty="0"/>
          </a:p>
        </p:txBody>
      </p:sp>
      <p:sp>
        <p:nvSpPr>
          <p:cNvPr id="28" name="Text 25"/>
          <p:cNvSpPr/>
          <p:nvPr/>
        </p:nvSpPr>
        <p:spPr>
          <a:xfrm>
            <a:off x="493776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Cleanup, finalize audit trail</a:t>
            </a:r>
            <a:endParaRPr lang="en-US" sz="1100" dirty="0"/>
          </a:p>
        </p:txBody>
      </p:sp>
      <p:sp>
        <p:nvSpPr>
          <p:cNvPr id="29" name="Text 26"/>
          <p:cNvSpPr/>
          <p:nvPr/>
        </p:nvSpPr>
        <p:spPr>
          <a:xfrm>
            <a:off x="548640" y="452628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Eight overview hooks; Python also exposes on_pre_mcp_tool_call and on_agent_stop.</a:t>
            </a:r>
            <a:endParaRPr lang="en-US" sz="1000" dirty="0"/>
          </a:p>
        </p:txBody>
      </p:sp>
      <p:sp>
        <p:nvSpPr>
          <p:cNvPr id="32"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13 / 28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Authentication Methods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2286000"/>
        </p:xfrm>
        <a:graphic>
          <a:graphicData uri="http://schemas.openxmlformats.org/drawingml/2006/table">
            <a:tbl>
              <a:tblPr/>
              <a:tblGrid>
                <a:gridCol w="25603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Subscription</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GitHub Signed-in User</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Interactive apps, desktop tools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OAuth GitHub App</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Web apps, SaaS platforms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Environment Variables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CI/CD, automation, server-to-server</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3"/>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BYOK (Bring Your Own Key)</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Own API keys (OpenAI, Azure, Anthropic)</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3FB950"/>
                          </a:solidFill>
                          <a:latin typeface="Calibri" pitchFamily="34" charset="0"/>
                          <a:ea typeface="Calibri" pitchFamily="34" charset="-122"/>
                          <a:cs typeface="Calibri" pitchFamily="34" charset="-120"/>
                        </a:rPr>
                        <a:t>Not 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4"/>
                  </a:ext>
                </a:extLst>
              </a:tr>
            </a:tbl>
          </a:graphicData>
        </a:graphic>
      </p:graphicFrame>
      <p:sp>
        <p:nvSpPr>
          <p:cNvPr id="6" name="Text 2"/>
          <p:cNvSpPr/>
          <p:nvPr/>
        </p:nvSpPr>
        <p:spPr>
          <a:xfrm>
            <a:off x="548640" y="3383280"/>
            <a:ext cx="80467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Authentication choices:</a:t>
            </a:r>
            <a:endParaRPr lang="en-US" sz="1200" dirty="0"/>
          </a:p>
        </p:txBody>
      </p:sp>
      <p:sp>
        <p:nvSpPr>
          <p:cNvPr id="7" name="Shape 3"/>
          <p:cNvSpPr/>
          <p:nvPr/>
        </p:nvSpPr>
        <p:spPr>
          <a:xfrm>
            <a:off x="548640" y="3749040"/>
            <a:ext cx="1234440" cy="411480"/>
          </a:xfrm>
          <a:prstGeom prst="line">
            <a:avLst/>
          </a:prstGeom>
          <a:solidFill>
            <a:srgbClr val="161B22"/>
          </a:solidFill>
          <a:ln w="12700">
            <a:prstDash val="solid"/>
          </a:ln>
        </p:spPr>
        <p:txBody>
          <a:bodyPr/>
          <a:lstStyle/>
          <a:p>
            <a:endParaRPr/>
          </a:p>
        </p:txBody>
      </p:sp>
      <p:sp>
        <p:nvSpPr>
          <p:cNvPr id="8" name="Text 4"/>
          <p:cNvSpPr/>
          <p:nvPr/>
        </p:nvSpPr>
        <p:spPr>
          <a:xfrm>
            <a:off x="54864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Static token</a:t>
            </a:r>
            <a:endParaRPr lang="en-US" sz="850" dirty="0"/>
          </a:p>
        </p:txBody>
      </p:sp>
      <p:sp>
        <p:nvSpPr>
          <p:cNvPr id="9" name="Text 5"/>
          <p:cNvSpPr/>
          <p:nvPr/>
        </p:nvSpPr>
        <p:spPr>
          <a:xfrm>
            <a:off x="1783080"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0" name="Shape 6"/>
          <p:cNvSpPr/>
          <p:nvPr/>
        </p:nvSpPr>
        <p:spPr>
          <a:xfrm>
            <a:off x="1938528" y="3749040"/>
            <a:ext cx="1234440" cy="411480"/>
          </a:xfrm>
          <a:prstGeom prst="line">
            <a:avLst/>
          </a:prstGeom>
          <a:solidFill>
            <a:srgbClr val="161B22"/>
          </a:solidFill>
          <a:ln w="12700">
            <a:prstDash val="solid"/>
          </a:ln>
        </p:spPr>
        <p:txBody>
          <a:bodyPr/>
          <a:lstStyle/>
          <a:p>
            <a:endParaRPr/>
          </a:p>
        </p:txBody>
      </p:sp>
      <p:sp>
        <p:nvSpPr>
          <p:cNvPr id="11" name="Text 7"/>
          <p:cNvSpPr/>
          <p:nvPr/>
        </p:nvSpPr>
        <p:spPr>
          <a:xfrm>
            <a:off x="1938528"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Token provider</a:t>
            </a:r>
            <a:endParaRPr lang="en-US" sz="850" dirty="0"/>
          </a:p>
        </p:txBody>
      </p:sp>
      <p:sp>
        <p:nvSpPr>
          <p:cNvPr id="12" name="Text 8"/>
          <p:cNvSpPr/>
          <p:nvPr/>
        </p:nvSpPr>
        <p:spPr>
          <a:xfrm>
            <a:off x="3172968"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2" name="Shape 9"/>
          <p:cNvSpPr/>
          <p:nvPr/>
        </p:nvSpPr>
        <p:spPr>
          <a:xfrm>
            <a:off x="3328416" y="3749040"/>
            <a:ext cx="1234440" cy="411480"/>
          </a:xfrm>
          <a:prstGeom prst="line">
            <a:avLst/>
          </a:prstGeom>
          <a:solidFill>
            <a:srgbClr val="161B22"/>
          </a:solidFill>
          <a:ln w="12700">
            <a:prstDash val="solid"/>
          </a:ln>
        </p:spPr>
        <p:txBody>
          <a:bodyPr/>
          <a:lstStyle/>
          <a:p>
            <a:endParaRPr/>
          </a:p>
        </p:txBody>
      </p:sp>
      <p:sp>
        <p:nvSpPr>
          <p:cNvPr id="14" name="Text 10"/>
          <p:cNvSpPr/>
          <p:nvPr/>
        </p:nvSpPr>
        <p:spPr>
          <a:xfrm>
            <a:off x="3328416"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API token</a:t>
            </a:r>
            <a:endParaRPr lang="en-US" sz="850" dirty="0"/>
          </a:p>
        </p:txBody>
      </p:sp>
      <p:sp>
        <p:nvSpPr>
          <p:cNvPr id="15" name="Text 11"/>
          <p:cNvSpPr/>
          <p:nvPr/>
        </p:nvSpPr>
        <p:spPr>
          <a:xfrm>
            <a:off x="4562856"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6" name="Shape 12"/>
          <p:cNvSpPr/>
          <p:nvPr/>
        </p:nvSpPr>
        <p:spPr>
          <a:xfrm>
            <a:off x="4718304" y="3749040"/>
            <a:ext cx="1234440" cy="411480"/>
          </a:xfrm>
          <a:prstGeom prst="line">
            <a:avLst/>
          </a:prstGeom>
          <a:solidFill>
            <a:srgbClr val="161B22"/>
          </a:solidFill>
          <a:ln w="12700">
            <a:prstDash val="solid"/>
          </a:ln>
        </p:spPr>
        <p:txBody>
          <a:bodyPr/>
          <a:lstStyle/>
          <a:p>
            <a:endParaRPr/>
          </a:p>
        </p:txBody>
      </p:sp>
      <p:sp>
        <p:nvSpPr>
          <p:cNvPr id="17" name="Text 13"/>
          <p:cNvSpPr/>
          <p:nvPr/>
        </p:nvSpPr>
        <p:spPr>
          <a:xfrm>
            <a:off x="4718304"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Env tokens</a:t>
            </a:r>
            <a:endParaRPr lang="en-US" sz="850" dirty="0"/>
          </a:p>
        </p:txBody>
      </p:sp>
      <p:sp>
        <p:nvSpPr>
          <p:cNvPr id="18" name="Text 14"/>
          <p:cNvSpPr/>
          <p:nvPr/>
        </p:nvSpPr>
        <p:spPr>
          <a:xfrm>
            <a:off x="5952744"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9" name="Shape 15"/>
          <p:cNvSpPr/>
          <p:nvPr/>
        </p:nvSpPr>
        <p:spPr>
          <a:xfrm>
            <a:off x="6108192" y="3749040"/>
            <a:ext cx="1234440" cy="411480"/>
          </a:xfrm>
          <a:prstGeom prst="line">
            <a:avLst/>
          </a:prstGeom>
          <a:solidFill>
            <a:srgbClr val="161B22"/>
          </a:solidFill>
          <a:ln w="12700">
            <a:prstDash val="solid"/>
          </a:ln>
        </p:spPr>
        <p:txBody>
          <a:bodyPr/>
          <a:lstStyle/>
          <a:p>
            <a:endParaRPr/>
          </a:p>
        </p:txBody>
      </p:sp>
      <p:sp>
        <p:nvSpPr>
          <p:cNvPr id="20" name="Text 16"/>
          <p:cNvSpPr/>
          <p:nvPr/>
        </p:nvSpPr>
        <p:spPr>
          <a:xfrm>
            <a:off x="6108192"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CLI login</a:t>
            </a:r>
            <a:endParaRPr lang="en-US" sz="850" dirty="0"/>
          </a:p>
        </p:txBody>
      </p:sp>
      <p:sp>
        <p:nvSpPr>
          <p:cNvPr id="21" name="Text 17"/>
          <p:cNvSpPr/>
          <p:nvPr/>
        </p:nvSpPr>
        <p:spPr>
          <a:xfrm>
            <a:off x="7342632"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22" name="Shape 18"/>
          <p:cNvSpPr/>
          <p:nvPr/>
        </p:nvSpPr>
        <p:spPr>
          <a:xfrm>
            <a:off x="7498080" y="3749040"/>
            <a:ext cx="1234440" cy="411480"/>
          </a:xfrm>
          <a:prstGeom prst="line">
            <a:avLst/>
          </a:prstGeom>
          <a:solidFill>
            <a:srgbClr val="161B22"/>
          </a:solidFill>
          <a:ln w="12700">
            <a:prstDash val="solid"/>
          </a:ln>
        </p:spPr>
        <p:txBody>
          <a:bodyPr/>
          <a:lstStyle/>
          <a:p>
            <a:endParaRPr/>
          </a:p>
        </p:txBody>
      </p:sp>
      <p:sp>
        <p:nvSpPr>
          <p:cNvPr id="23" name="Text 19"/>
          <p:cNvSpPr/>
          <p:nvPr/>
        </p:nvSpPr>
        <p:spPr>
          <a:xfrm>
            <a:off x="749808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gh auth</a:t>
            </a:r>
            <a:endParaRPr lang="en-US" sz="850" dirty="0"/>
          </a:p>
        </p:txBody>
      </p:sp>
      <p:sp>
        <p:nvSpPr>
          <p:cNvPr id="26" name="Text 21"/>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14 / 28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p:nvPr/>
        </p:nvSpPr>
        <p:spPr>
          <a:xfrm>
            <a:off x="4754880" y="1097280"/>
            <a:ext cx="384048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097280"/>
            <a:ext cx="393192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457200" y="274320"/>
            <a:ext cx="7315200" cy="548640"/>
          </a:xfrm>
          <a:prstGeom prst="rect">
            <a:avLst/>
          </a:prstGeom>
          <a:noFill/>
        </p:spPr>
        <p:txBody>
          <a:bodyPr wrap="square">
            <a:spAutoFit/>
          </a:bodyPr>
          <a:lstStyle/>
          <a:p>
            <a:pPr algn="l"/>
            <a:r>
              <a:rPr sz="2800" b="1">
                <a:solidFill>
                  <a:srgbClr val="C9D1D9"/>
                </a:solidFill>
              </a:rPr>
              <a:t>OAuth GitHub App Integration</a:t>
            </a:r>
          </a:p>
        </p:txBody>
      </p:sp>
      <p:sp>
        <p:nvSpPr>
          <p:cNvPr id="3" name="TextBox 2"/>
          <p:cNvSpPr txBox="1"/>
          <p:nvPr/>
        </p:nvSpPr>
        <p:spPr>
          <a:xfrm>
            <a:off x="457200" y="822960"/>
            <a:ext cx="7315200" cy="365760"/>
          </a:xfrm>
          <a:prstGeom prst="rect">
            <a:avLst/>
          </a:prstGeom>
          <a:noFill/>
        </p:spPr>
        <p:txBody>
          <a:bodyPr wrap="square">
            <a:spAutoFit/>
          </a:bodyPr>
          <a:lstStyle/>
          <a:p>
            <a:r>
              <a:rPr sz="1400" b="0">
                <a:solidFill>
                  <a:srgbClr val="8B949E"/>
                </a:solidFill>
              </a:rPr>
              <a:t>Session-scoped identity; rotate short-lived tokens with github_token_provider</a:t>
            </a:r>
          </a:p>
        </p:txBody>
      </p:sp>
      <p:sp>
        <p:nvSpPr>
          <p:cNvPr id="4" name="TextBox 3"/>
          <p:cNvSpPr txBox="1"/>
          <p:nvPr/>
        </p:nvSpPr>
        <p:spPr>
          <a:xfrm>
            <a:off x="640080" y="1234440"/>
            <a:ext cx="3931920" cy="2743200"/>
          </a:xfrm>
          <a:prstGeom prst="rect">
            <a:avLst/>
          </a:prstGeom>
          <a:noFill/>
        </p:spPr>
        <p:txBody>
          <a:bodyPr wrap="square">
            <a:spAutoFit/>
          </a:bodyPr>
          <a:lstStyle/>
          <a:p>
            <a:pPr>
              <a:spcAft>
                <a:spcPts val="600"/>
              </a:spcAft>
            </a:pPr>
            <a:r>
              <a:rPr sz="1300" b="1" dirty="0">
                <a:solidFill>
                  <a:srgbClr val="58A6FF"/>
                </a:solidFill>
              </a:rPr>
              <a:t xml:space="preserve">1. </a:t>
            </a:r>
            <a:r>
              <a:rPr sz="1300" b="0" dirty="0">
                <a:solidFill>
                  <a:srgbClr val="C9D1D9"/>
                </a:solidFill>
              </a:rPr>
              <a:t xml:space="preserve">User clicks </a:t>
            </a:r>
            <a:r>
              <a:rPr sz="1300" b="1" dirty="0">
                <a:solidFill>
                  <a:srgbClr val="3FB950"/>
                </a:solidFill>
              </a:rPr>
              <a:t>Sign in with GitHub</a:t>
            </a:r>
          </a:p>
          <a:p>
            <a:pPr>
              <a:spcAft>
                <a:spcPts val="600"/>
              </a:spcAft>
            </a:pPr>
            <a:r>
              <a:rPr sz="1300" b="1" dirty="0">
                <a:solidFill>
                  <a:srgbClr val="58A6FF"/>
                </a:solidFill>
              </a:rPr>
              <a:t xml:space="preserve">2. </a:t>
            </a:r>
            <a:r>
              <a:rPr sz="1300" b="0" dirty="0">
                <a:solidFill>
                  <a:srgbClr val="C9D1D9"/>
                </a:solidFill>
              </a:rPr>
              <a:t xml:space="preserve">Redirect to </a:t>
            </a:r>
            <a:r>
              <a:rPr sz="1300" b="1" dirty="0">
                <a:solidFill>
                  <a:srgbClr val="3FB950"/>
                </a:solidFill>
              </a:rPr>
              <a:t>GitHub OAuth consent screen</a:t>
            </a:r>
          </a:p>
          <a:p>
            <a:pPr>
              <a:spcAft>
                <a:spcPts val="600"/>
              </a:spcAft>
            </a:pPr>
            <a:r>
              <a:rPr sz="1300" b="1" dirty="0">
                <a:solidFill>
                  <a:srgbClr val="58A6FF"/>
                </a:solidFill>
              </a:rPr>
              <a:t xml:space="preserve">3. </a:t>
            </a:r>
            <a:r>
              <a:rPr sz="1300" b="0" dirty="0">
                <a:solidFill>
                  <a:srgbClr val="C9D1D9"/>
                </a:solidFill>
              </a:rPr>
              <a:t xml:space="preserve">Exchange code for </a:t>
            </a:r>
            <a:r>
              <a:rPr sz="1300" b="1" dirty="0" err="1">
                <a:solidFill>
                  <a:srgbClr val="3FB950"/>
                </a:solidFill>
              </a:rPr>
              <a:t>gho</a:t>
            </a:r>
            <a:r>
              <a:rPr sz="1300" b="1" dirty="0">
                <a:solidFill>
                  <a:srgbClr val="3FB950"/>
                </a:solidFill>
              </a:rPr>
              <a:t>_ token</a:t>
            </a:r>
          </a:p>
          <a:p>
            <a:pPr>
              <a:spcAft>
                <a:spcPts val="600"/>
              </a:spcAft>
            </a:pPr>
            <a:r>
              <a:rPr sz="1300" b="1" dirty="0">
                <a:solidFill>
                  <a:srgbClr val="58A6FF"/>
                </a:solidFill>
              </a:rPr>
              <a:t xml:space="preserve">4. </a:t>
            </a:r>
            <a:r>
              <a:rPr sz="1300" b="0" dirty="0">
                <a:solidFill>
                  <a:srgbClr val="C9D1D9"/>
                </a:solidFill>
              </a:rPr>
              <a:t xml:space="preserve">Pass token to SDK via </a:t>
            </a:r>
            <a:r>
              <a:rPr sz="1300" b="1" dirty="0" err="1">
                <a:solidFill>
                  <a:srgbClr val="3FB950"/>
                </a:solidFill>
              </a:rPr>
              <a:t>githubToken</a:t>
            </a:r>
            <a:endParaRPr sz="1300" b="1" dirty="0">
              <a:solidFill>
                <a:srgbClr val="3FB950"/>
              </a:solidFill>
            </a:endParaRPr>
          </a:p>
          <a:p>
            <a:pPr>
              <a:spcAft>
                <a:spcPts val="600"/>
              </a:spcAft>
            </a:pPr>
            <a:r>
              <a:rPr sz="1300" b="1" dirty="0">
                <a:solidFill>
                  <a:srgbClr val="58A6FF"/>
                </a:solidFill>
              </a:rPr>
              <a:t xml:space="preserve">5. </a:t>
            </a:r>
            <a:r>
              <a:rPr sz="1300" b="0" dirty="0">
                <a:solidFill>
                  <a:srgbClr val="C9D1D9"/>
                </a:solidFill>
              </a:rPr>
              <a:t xml:space="preserve">Requests made </a:t>
            </a:r>
            <a:r>
              <a:rPr sz="1300" b="1" dirty="0">
                <a:solidFill>
                  <a:srgbClr val="3FB950"/>
                </a:solidFill>
              </a:rPr>
              <a:t>as that user</a:t>
            </a:r>
          </a:p>
        </p:txBody>
      </p:sp>
      <p:sp>
        <p:nvSpPr>
          <p:cNvPr id="5" name="TextBox 4"/>
          <p:cNvSpPr txBox="1"/>
          <p:nvPr/>
        </p:nvSpPr>
        <p:spPr>
          <a:xfrm>
            <a:off x="4754880" y="1188720"/>
            <a:ext cx="3474720" cy="2286000"/>
          </a:xfrm>
          <a:prstGeom prst="rect">
            <a:avLst/>
          </a:prstGeom>
          <a:noFill/>
        </p:spPr>
        <p:txBody>
          <a:bodyPr wrap="square">
            <a:spAutoFit/>
          </a:bodyPr>
          <a:lstStyle/>
          <a:p>
            <a:r>
              <a:rPr sz="1400" b="1" dirty="0">
                <a:solidFill>
                  <a:srgbClr val="58A6FF"/>
                </a:solidFill>
              </a:rPr>
              <a:t>Supported Token Prefixes</a:t>
            </a:r>
          </a:p>
          <a:p>
            <a:pPr>
              <a:spcAft>
                <a:spcPts val="400"/>
              </a:spcAft>
            </a:pPr>
            <a:r>
              <a:rPr sz="1300" b="0" dirty="0">
                <a:solidFill>
                  <a:srgbClr val="C9D1D9"/>
                </a:solidFill>
              </a:rPr>
              <a:t xml:space="preserve">  </a:t>
            </a:r>
            <a:r>
              <a:rPr sz="1300" b="0" dirty="0" err="1">
                <a:solidFill>
                  <a:srgbClr val="C9D1D9"/>
                </a:solidFill>
              </a:rPr>
              <a:t>gho</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ghu</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github_pat</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ghp</a:t>
            </a:r>
            <a:r>
              <a:rPr sz="1300" b="0" dirty="0">
                <a:solidFill>
                  <a:srgbClr val="C9D1D9"/>
                </a:solidFill>
              </a:rPr>
              <a:t xml:space="preserve">_  </a:t>
            </a:r>
            <a:r>
              <a:rPr sz="1300" b="1" dirty="0">
                <a:solidFill>
                  <a:srgbClr val="F85149"/>
                </a:solidFill>
              </a:rPr>
              <a:t>❌</a:t>
            </a:r>
          </a:p>
        </p:txBody>
      </p:sp>
      <p:sp>
        <p:nvSpPr>
          <p:cNvPr id="8" name="TextBox 8"/>
          <p:cNvSpPr txBox="1"/>
          <p:nvPr/>
        </p:nvSpPr>
        <p:spPr>
          <a:xfrm>
            <a:off x="8046720" y="4754880"/>
            <a:ext cx="914400" cy="274320"/>
          </a:xfrm>
          <a:prstGeom prst="rect">
            <a:avLst/>
          </a:prstGeom>
        </p:spPr>
        <p:txBody>
          <a:bodyPr wrap="square" rtlCol="0">
            <a:spAutoFit/>
          </a:bodyPr>
          <a:lstStyle/>
          <a:p>
            <a:r>
              <a:rPr sz="900">
                <a:solidFill>
                  <a:srgbClr val="8B949E"/>
                </a:solidFill>
              </a:rPr>
              <a:t>15 / 28</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BYOK — Bring Your Own Key</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Your provider, your bill — API keys or refreshing Entra tokens; no Copilot subscription required</a:t>
            </a:r>
            <a:endParaRPr lang="en-US" sz="1200" dirty="0"/>
          </a:p>
        </p:txBody>
      </p:sp>
      <p:sp>
        <p:nvSpPr>
          <p:cNvPr id="6" name="Shape 3"/>
          <p:cNvSpPr/>
          <p:nvPr/>
        </p:nvSpPr>
        <p:spPr>
          <a:xfrm>
            <a:off x="548640" y="1188720"/>
            <a:ext cx="2560320" cy="640080"/>
          </a:xfrm>
          <a:prstGeom prst="line">
            <a:avLst/>
          </a:prstGeom>
          <a:solidFill>
            <a:srgbClr val="161B22"/>
          </a:solidFill>
          <a:ln w="12700">
            <a:prstDash val="solid"/>
          </a:ln>
        </p:spPr>
        <p:txBody>
          <a:bodyPr/>
          <a:lstStyle/>
          <a:p>
            <a:endParaRPr/>
          </a:p>
        </p:txBody>
      </p:sp>
      <p:sp>
        <p:nvSpPr>
          <p:cNvPr id="7" name="Text 4"/>
          <p:cNvSpPr/>
          <p:nvPr/>
        </p:nvSpPr>
        <p:spPr>
          <a:xfrm>
            <a:off x="685800"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OpenAI</a:t>
            </a:r>
            <a:endParaRPr lang="en-US" sz="1200" dirty="0"/>
          </a:p>
        </p:txBody>
      </p:sp>
      <p:sp>
        <p:nvSpPr>
          <p:cNvPr id="8" name="Text 5"/>
          <p:cNvSpPr/>
          <p:nvPr/>
        </p:nvSpPr>
        <p:spPr>
          <a:xfrm>
            <a:off x="2286000"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9" name="Text 6"/>
          <p:cNvSpPr/>
          <p:nvPr/>
        </p:nvSpPr>
        <p:spPr>
          <a:xfrm>
            <a:off x="685800"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Direct API access</a:t>
            </a:r>
            <a:endParaRPr lang="en-US" sz="900" dirty="0"/>
          </a:p>
        </p:txBody>
      </p:sp>
      <p:sp>
        <p:nvSpPr>
          <p:cNvPr id="10" name="Shape 7"/>
          <p:cNvSpPr/>
          <p:nvPr/>
        </p:nvSpPr>
        <p:spPr>
          <a:xfrm>
            <a:off x="3355848" y="1188720"/>
            <a:ext cx="2560320" cy="640080"/>
          </a:xfrm>
          <a:prstGeom prst="line">
            <a:avLst/>
          </a:prstGeom>
          <a:solidFill>
            <a:srgbClr val="161B22"/>
          </a:solidFill>
          <a:ln w="12700">
            <a:prstDash val="solid"/>
          </a:ln>
        </p:spPr>
        <p:txBody>
          <a:bodyPr/>
          <a:lstStyle/>
          <a:p>
            <a:endParaRPr/>
          </a:p>
        </p:txBody>
      </p:sp>
      <p:sp>
        <p:nvSpPr>
          <p:cNvPr id="11" name="Text 8"/>
          <p:cNvSpPr/>
          <p:nvPr/>
        </p:nvSpPr>
        <p:spPr>
          <a:xfrm>
            <a:off x="3493008"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Microsoft Foundry</a:t>
            </a:r>
            <a:endParaRPr lang="en-US" sz="1200" dirty="0"/>
          </a:p>
        </p:txBody>
      </p:sp>
      <p:sp>
        <p:nvSpPr>
          <p:cNvPr id="12" name="Text 9"/>
          <p:cNvSpPr/>
          <p:nvPr/>
        </p:nvSpPr>
        <p:spPr>
          <a:xfrm>
            <a:off x="5093208"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 / "azure"</a:t>
            </a:r>
            <a:endParaRPr lang="en-US" sz="800" dirty="0"/>
          </a:p>
        </p:txBody>
      </p:sp>
      <p:sp>
        <p:nvSpPr>
          <p:cNvPr id="13" name="Text 10"/>
          <p:cNvSpPr/>
          <p:nvPr/>
        </p:nvSpPr>
        <p:spPr>
          <a:xfrm>
            <a:off x="3493008"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Keys or managed identity</a:t>
            </a:r>
            <a:endParaRPr lang="en-US" sz="900" dirty="0"/>
          </a:p>
        </p:txBody>
      </p:sp>
      <p:sp>
        <p:nvSpPr>
          <p:cNvPr id="14" name="Shape 11"/>
          <p:cNvSpPr/>
          <p:nvPr/>
        </p:nvSpPr>
        <p:spPr>
          <a:xfrm>
            <a:off x="6163056" y="1188720"/>
            <a:ext cx="2560320" cy="640080"/>
          </a:xfrm>
          <a:prstGeom prst="line">
            <a:avLst/>
          </a:prstGeom>
          <a:solidFill>
            <a:srgbClr val="161B22"/>
          </a:solidFill>
          <a:ln w="12700">
            <a:prstDash val="solid"/>
          </a:ln>
        </p:spPr>
        <p:txBody>
          <a:bodyPr/>
          <a:lstStyle/>
          <a:p>
            <a:endParaRPr/>
          </a:p>
        </p:txBody>
      </p:sp>
      <p:sp>
        <p:nvSpPr>
          <p:cNvPr id="15" name="Text 12"/>
          <p:cNvSpPr/>
          <p:nvPr/>
        </p:nvSpPr>
        <p:spPr>
          <a:xfrm>
            <a:off x="6300216"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Anthropic</a:t>
            </a:r>
            <a:endParaRPr lang="en-US" sz="1200" dirty="0"/>
          </a:p>
        </p:txBody>
      </p:sp>
      <p:sp>
        <p:nvSpPr>
          <p:cNvPr id="16" name="Text 13"/>
          <p:cNvSpPr/>
          <p:nvPr/>
        </p:nvSpPr>
        <p:spPr>
          <a:xfrm>
            <a:off x="7900416"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"anthropic"</a:t>
            </a:r>
            <a:endParaRPr lang="en-US" sz="800" dirty="0"/>
          </a:p>
        </p:txBody>
      </p:sp>
      <p:sp>
        <p:nvSpPr>
          <p:cNvPr id="17" name="Text 14"/>
          <p:cNvSpPr/>
          <p:nvPr/>
        </p:nvSpPr>
        <p:spPr>
          <a:xfrm>
            <a:off x="6300216"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Claude models</a:t>
            </a:r>
            <a:endParaRPr lang="en-US" sz="900" dirty="0"/>
          </a:p>
        </p:txBody>
      </p:sp>
      <p:sp>
        <p:nvSpPr>
          <p:cNvPr id="18" name="Shape 15"/>
          <p:cNvSpPr/>
          <p:nvPr/>
        </p:nvSpPr>
        <p:spPr>
          <a:xfrm>
            <a:off x="548640" y="2011680"/>
            <a:ext cx="2560320" cy="640080"/>
          </a:xfrm>
          <a:prstGeom prst="line">
            <a:avLst/>
          </a:prstGeom>
          <a:solidFill>
            <a:srgbClr val="161B22"/>
          </a:solidFill>
          <a:ln w="12700">
            <a:prstDash val="solid"/>
          </a:ln>
        </p:spPr>
        <p:txBody>
          <a:bodyPr/>
          <a:lstStyle/>
          <a:p>
            <a:endParaRPr/>
          </a:p>
        </p:txBody>
      </p:sp>
      <p:sp>
        <p:nvSpPr>
          <p:cNvPr id="19" name="Text 16"/>
          <p:cNvSpPr/>
          <p:nvPr/>
        </p:nvSpPr>
        <p:spPr>
          <a:xfrm>
            <a:off x="685800"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Ollama</a:t>
            </a:r>
            <a:endParaRPr lang="en-US" sz="1200" dirty="0"/>
          </a:p>
        </p:txBody>
      </p:sp>
      <p:sp>
        <p:nvSpPr>
          <p:cNvPr id="20" name="Text 17"/>
          <p:cNvSpPr/>
          <p:nvPr/>
        </p:nvSpPr>
        <p:spPr>
          <a:xfrm>
            <a:off x="2286000"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1" name="Text 18"/>
          <p:cNvSpPr/>
          <p:nvPr/>
        </p:nvSpPr>
        <p:spPr>
          <a:xfrm>
            <a:off x="685800"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Local models</a:t>
            </a:r>
            <a:endParaRPr lang="en-US" sz="900" dirty="0"/>
          </a:p>
        </p:txBody>
      </p:sp>
      <p:sp>
        <p:nvSpPr>
          <p:cNvPr id="22" name="Shape 19"/>
          <p:cNvSpPr/>
          <p:nvPr/>
        </p:nvSpPr>
        <p:spPr>
          <a:xfrm>
            <a:off x="3355848" y="2011680"/>
            <a:ext cx="2560320" cy="640080"/>
          </a:xfrm>
          <a:prstGeom prst="line">
            <a:avLst/>
          </a:prstGeom>
          <a:solidFill>
            <a:srgbClr val="161B22"/>
          </a:solidFill>
          <a:ln w="12700">
            <a:prstDash val="solid"/>
          </a:ln>
        </p:spPr>
        <p:txBody>
          <a:bodyPr/>
          <a:lstStyle/>
          <a:p>
            <a:endParaRPr/>
          </a:p>
        </p:txBody>
      </p:sp>
      <p:sp>
        <p:nvSpPr>
          <p:cNvPr id="23" name="Text 20"/>
          <p:cNvSpPr/>
          <p:nvPr/>
        </p:nvSpPr>
        <p:spPr>
          <a:xfrm>
            <a:off x="3493008"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Foundry Local</a:t>
            </a:r>
            <a:endParaRPr lang="en-US" sz="1200" dirty="0"/>
          </a:p>
        </p:txBody>
      </p:sp>
      <p:sp>
        <p:nvSpPr>
          <p:cNvPr id="24" name="Text 21"/>
          <p:cNvSpPr/>
          <p:nvPr/>
        </p:nvSpPr>
        <p:spPr>
          <a:xfrm>
            <a:off x="5093208"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5" name="Text 22"/>
          <p:cNvSpPr/>
          <p:nvPr/>
        </p:nvSpPr>
        <p:spPr>
          <a:xfrm>
            <a:off x="3493008"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On-device AI</a:t>
            </a:r>
            <a:endParaRPr lang="en-US" sz="900" dirty="0"/>
          </a:p>
        </p:txBody>
      </p:sp>
      <p:sp>
        <p:nvSpPr>
          <p:cNvPr id="26" name="Shape 23"/>
          <p:cNvSpPr/>
          <p:nvPr/>
        </p:nvSpPr>
        <p:spPr>
          <a:xfrm>
            <a:off x="6163056" y="2011680"/>
            <a:ext cx="2560320" cy="640080"/>
          </a:xfrm>
          <a:prstGeom prst="line">
            <a:avLst/>
          </a:prstGeom>
          <a:solidFill>
            <a:srgbClr val="161B22"/>
          </a:solidFill>
          <a:ln w="12700">
            <a:prstDash val="solid"/>
          </a:ln>
        </p:spPr>
        <p:txBody>
          <a:bodyPr/>
          <a:lstStyle/>
          <a:p>
            <a:endParaRPr/>
          </a:p>
        </p:txBody>
      </p:sp>
      <p:sp>
        <p:nvSpPr>
          <p:cNvPr id="27" name="Text 24"/>
          <p:cNvSpPr/>
          <p:nvPr/>
        </p:nvSpPr>
        <p:spPr>
          <a:xfrm>
            <a:off x="6300216"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Other</a:t>
            </a:r>
            <a:endParaRPr lang="en-US" sz="1200" dirty="0"/>
          </a:p>
        </p:txBody>
      </p:sp>
      <p:sp>
        <p:nvSpPr>
          <p:cNvPr id="28" name="Text 25"/>
          <p:cNvSpPr/>
          <p:nvPr/>
        </p:nvSpPr>
        <p:spPr>
          <a:xfrm>
            <a:off x="7900416"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9" name="Text 26"/>
          <p:cNvSpPr/>
          <p:nvPr/>
        </p:nvSpPr>
        <p:spPr>
          <a:xfrm>
            <a:off x="6300216"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vLLM, LiteLLM, etc.</a:t>
            </a:r>
            <a:endParaRPr lang="en-US" sz="900" dirty="0"/>
          </a:p>
        </p:txBody>
      </p:sp>
      <p:sp>
        <p:nvSpPr>
          <p:cNvPr id="30" name="Shape 27"/>
          <p:cNvSpPr/>
          <p:nvPr/>
        </p:nvSpPr>
        <p:spPr>
          <a:xfrm>
            <a:off x="548640" y="3017520"/>
            <a:ext cx="8046720" cy="1645920"/>
          </a:xfrm>
          <a:prstGeom prst="line">
            <a:avLst/>
          </a:prstGeom>
          <a:solidFill>
            <a:srgbClr val="161B22"/>
          </a:solidFill>
          <a:ln w="12700">
            <a:prstDash val="solid"/>
          </a:ln>
        </p:spPr>
        <p:txBody>
          <a:bodyPr/>
          <a:lstStyle/>
          <a:p>
            <a:endParaRPr/>
          </a:p>
        </p:txBody>
      </p:sp>
      <p:sp>
        <p:nvSpPr>
          <p:cNvPr id="31" name="Shape 28"/>
          <p:cNvSpPr/>
          <p:nvPr/>
        </p:nvSpPr>
        <p:spPr>
          <a:xfrm>
            <a:off x="548640" y="3017520"/>
            <a:ext cx="1371600" cy="256032"/>
          </a:xfrm>
          <a:prstGeom prst="line">
            <a:avLst/>
          </a:prstGeom>
          <a:solidFill>
            <a:srgbClr val="1F6FEB"/>
          </a:solidFill>
          <a:ln w="6350">
            <a:solidFill>
              <a:srgbClr val="30363D"/>
            </a:solidFill>
          </a:ln>
        </p:spPr>
        <p:txBody>
          <a:bodyPr/>
          <a:lstStyle/>
          <a:p>
            <a:endParaRPr/>
          </a:p>
        </p:txBody>
      </p:sp>
      <p:sp>
        <p:nvSpPr>
          <p:cNvPr id="32" name="Text 29"/>
          <p:cNvSpPr/>
          <p:nvPr/>
        </p:nvSpPr>
        <p:spPr>
          <a:xfrm>
            <a:off x="548640" y="30175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33" name="Text 30"/>
          <p:cNvSpPr/>
          <p:nvPr/>
        </p:nvSpPr>
        <p:spPr>
          <a:xfrm>
            <a:off x="685800" y="3337560"/>
            <a:ext cx="7772400" cy="1234440"/>
          </a:xfrm>
          <a:prstGeom prst="rect">
            <a:avLst/>
          </a:prstGeom>
          <a:noFill/>
          <a:ln>
            <a:noFill/>
          </a:ln>
        </p:spPr>
        <p:txBody>
          <a:bodyPr wrap="none" lIns="25400" tIns="25400" rIns="25400" bIns="25400" rtlCol="0" anchor="t"/>
          <a:lstStyle/>
          <a:p>
            <a:pPr algn="l">
              <a:lnSpc>
                <a:spcPts val="1100"/>
              </a:lnSpc>
              <a:spcBef>
                <a:spcPts val="0"/>
              </a:spcBef>
              <a:spcAft>
                <a:spcPts val="0"/>
              </a:spcAft>
            </a:pPr>
            <a:r>
              <a:rPr sz="1000">
                <a:solidFill>
                  <a:srgbClr val="E6EDF3"/>
                </a:solidFill>
                <a:latin typeface="Courier New"/>
              </a:rPr>
              <a:t xml:space="preserve">async with await client.create_session(</a:t>
            </a:r>
          </a:p>
          <a:p>
            <a:pPr algn="l">
              <a:lnSpc>
                <a:spcPts val="1100"/>
              </a:lnSpc>
              <a:spcBef>
                <a:spcPts val="0"/>
              </a:spcBef>
              <a:spcAft>
                <a:spcPts val="0"/>
              </a:spcAft>
            </a:pPr>
            <a:r>
              <a:rPr sz="1000">
                <a:solidFill>
                  <a:srgbClr val="E6EDF3"/>
                </a:solidFill>
                <a:latin typeface="Courier New"/>
              </a:rPr>
              <a:t xml:space="preserve">    model=os.environ["FOUNDRY_MODEL"], available_tools=[],</a:t>
            </a:r>
          </a:p>
          <a:p>
            <a:pPr algn="l">
              <a:lnSpc>
                <a:spcPts val="1100"/>
              </a:lnSpc>
              <a:spcBef>
                <a:spcPts val="0"/>
              </a:spcBef>
              <a:spcAft>
                <a:spcPts val="0"/>
              </a:spcAft>
            </a:pPr>
            <a:r>
              <a:rPr sz="1000">
                <a:solidFill>
                  <a:srgbClr val="E6EDF3"/>
                </a:solidFill>
                <a:latin typeface="Courier New"/>
              </a:rPr>
              <a:t xml:space="preserve">    on_permission_request=PermissionHandler.approve_all,</a:t>
            </a:r>
          </a:p>
          <a:p>
            <a:pPr algn="l">
              <a:lnSpc>
                <a:spcPts val="1100"/>
              </a:lnSpc>
              <a:spcBef>
                <a:spcPts val="0"/>
              </a:spcBef>
              <a:spcAft>
                <a:spcPts val="0"/>
              </a:spcAft>
            </a:pPr>
            <a:r>
              <a:rPr sz="1000">
                <a:solidFill>
                  <a:srgbClr val="E6EDF3"/>
                </a:solidFill>
                <a:latin typeface="Courier New"/>
              </a:rPr>
              <a:t xml:space="preserve">    provider={"type": "openai", "wire_api": "responses",</a:t>
            </a:r>
          </a:p>
          <a:p>
            <a:pPr algn="l">
              <a:lnSpc>
                <a:spcPts val="1100"/>
              </a:lnSpc>
              <a:spcBef>
                <a:spcPts val="0"/>
              </a:spcBef>
              <a:spcAft>
                <a:spcPts val="0"/>
              </a:spcAft>
            </a:pPr>
            <a:r>
              <a:rPr sz="1000">
                <a:solidFill>
                  <a:srgbClr val="E6EDF3"/>
                </a:solidFill>
                <a:latin typeface="Courier New"/>
              </a:rPr>
              <a:t xml:space="preserve">              "base_url": os.environ["FOUNDRY_MODEL_URL"],</a:t>
            </a:r>
          </a:p>
          <a:p>
            <a:pPr algn="l">
              <a:lnSpc>
                <a:spcPts val="1100"/>
              </a:lnSpc>
              <a:spcBef>
                <a:spcPts val="0"/>
              </a:spcBef>
              <a:spcAft>
                <a:spcPts val="0"/>
              </a:spcAft>
            </a:pPr>
            <a:r>
              <a:rPr sz="1000">
                <a:solidFill>
                  <a:srgbClr val="E6EDF3"/>
                </a:solidFill>
                <a:latin typeface="Courier New"/>
              </a:rPr>
              <a:t xml:space="preserve">              "api_key": os.environ["FOUNDRY_API_KEY"]},</a:t>
            </a:r>
          </a:p>
          <a:p>
            <a:pPr algn="l">
              <a:lnSpc>
                <a:spcPts val="1100"/>
              </a:lnSpc>
              <a:spcBef>
                <a:spcPts val="0"/>
              </a:spcBef>
              <a:spcAft>
                <a:spcPts val="0"/>
              </a:spcAft>
            </a:pPr>
            <a:r>
              <a:rPr sz="1000">
                <a:solidFill>
                  <a:srgbClr val="E6EDF3"/>
                </a:solidFill>
                <a:latin typeface="Courier New"/>
              </a:rPr>
              <a:t xml:space="preserve">) as session:</a:t>
            </a:r>
          </a:p>
          <a:p>
            <a:pPr algn="l">
              <a:lnSpc>
                <a:spcPts val="1100"/>
              </a:lnSpc>
              <a:spcBef>
                <a:spcPts val="0"/>
              </a:spcBef>
              <a:spcAft>
                <a:spcPts val="0"/>
              </a:spcAft>
            </a:pPr>
            <a:r>
              <a:rPr sz="1000">
                <a:solidFill>
                  <a:srgbClr val="E6EDF3"/>
                </a:solidFill>
                <a:latin typeface="Courier New"/>
              </a:rPr>
              <a:t xml:space="preserve">    await session.send_and_wait("Hi", timeout=120)</a:t>
            </a:r>
          </a:p>
        </p:txBody>
      </p:sp>
      <p:sp>
        <p:nvSpPr>
          <p:cNvPr id="36" name="Text 3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16 / 28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46" name="Rectangle 45"/>
          <p:cNvSpPr/>
          <p:nvPr/>
        </p:nvSpPr>
        <p:spPr>
          <a:xfrm>
            <a:off x="4663440" y="1188720"/>
            <a:ext cx="3931920" cy="3438144"/>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94360" y="1188720"/>
            <a:ext cx="3840480" cy="3438144"/>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How the SDK Talks to the CLI</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All SDKs communicate via JSON-RPC — the SDK manages the CLI process lifecycle automatically</a:t>
            </a:r>
            <a:endParaRPr lang="en-US" sz="1200" dirty="0"/>
          </a:p>
        </p:txBody>
      </p:sp>
      <p:sp>
        <p:nvSpPr>
          <p:cNvPr id="6" name="Shape 3"/>
          <p:cNvSpPr/>
          <p:nvPr/>
        </p:nvSpPr>
        <p:spPr>
          <a:xfrm>
            <a:off x="5486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3FB950"/>
                </a:solidFill>
                <a:latin typeface="Calibri" pitchFamily="34" charset="0"/>
                <a:ea typeface="Calibri" pitchFamily="34" charset="-122"/>
                <a:cs typeface="Calibri" pitchFamily="34" charset="-120"/>
              </a:rPr>
              <a:t>Mode 1: stdio (Auto-Managed)</a:t>
            </a:r>
            <a:endParaRPr lang="en-US" sz="1400" dirty="0"/>
          </a:p>
        </p:txBody>
      </p:sp>
      <p:sp>
        <p:nvSpPr>
          <p:cNvPr id="9" name="Text 6"/>
          <p:cNvSpPr/>
          <p:nvPr/>
        </p:nvSpPr>
        <p:spPr>
          <a:xfrm>
            <a:off x="7315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SDK spawns CLI as a child process</a:t>
            </a:r>
            <a:endParaRPr lang="en-US" sz="1000" dirty="0"/>
          </a:p>
        </p:txBody>
      </p:sp>
      <p:sp>
        <p:nvSpPr>
          <p:cNvPr id="10" name="Shape 7"/>
          <p:cNvSpPr/>
          <p:nvPr/>
        </p:nvSpPr>
        <p:spPr>
          <a:xfrm>
            <a:off x="1005840" y="2011680"/>
            <a:ext cx="3017520" cy="411480"/>
          </a:xfrm>
          <a:prstGeom prst="line">
            <a:avLst/>
          </a:prstGeom>
          <a:solidFill>
            <a:srgbClr val="0D1117"/>
          </a:solidFill>
          <a:ln w="12700">
            <a:prstDash val="solid"/>
          </a:ln>
        </p:spPr>
        <p:txBody>
          <a:bodyPr/>
          <a:lstStyle/>
          <a:p>
            <a:endParaRPr/>
          </a:p>
        </p:txBody>
      </p:sp>
      <p:sp>
        <p:nvSpPr>
          <p:cNvPr id="11" name="Text 8"/>
          <p:cNvSpPr/>
          <p:nvPr/>
        </p:nvSpPr>
        <p:spPr>
          <a:xfrm>
            <a:off x="10058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12" name="Shape 9"/>
          <p:cNvSpPr/>
          <p:nvPr/>
        </p:nvSpPr>
        <p:spPr>
          <a:xfrm>
            <a:off x="1005840" y="2606040"/>
            <a:ext cx="3017520" cy="411480"/>
          </a:xfrm>
          <a:prstGeom prst="line">
            <a:avLst/>
          </a:prstGeom>
          <a:solidFill>
            <a:srgbClr val="0D1117"/>
          </a:solidFill>
          <a:ln w="12700">
            <a:prstDash val="solid"/>
          </a:ln>
        </p:spPr>
        <p:txBody>
          <a:bodyPr/>
          <a:lstStyle/>
          <a:p>
            <a:endParaRPr/>
          </a:p>
        </p:txBody>
      </p:sp>
      <p:sp>
        <p:nvSpPr>
          <p:cNvPr id="13" name="Text 10"/>
          <p:cNvSpPr/>
          <p:nvPr/>
        </p:nvSpPr>
        <p:spPr>
          <a:xfrm>
            <a:off x="10058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stdin/stdout</a:t>
            </a:r>
            <a:endParaRPr lang="en-US" sz="1000" dirty="0"/>
          </a:p>
        </p:txBody>
      </p:sp>
      <p:sp>
        <p:nvSpPr>
          <p:cNvPr id="14" name="Shape 11"/>
          <p:cNvSpPr/>
          <p:nvPr/>
        </p:nvSpPr>
        <p:spPr>
          <a:xfrm>
            <a:off x="1005840" y="3200400"/>
            <a:ext cx="3017520" cy="411480"/>
          </a:xfrm>
          <a:prstGeom prst="line">
            <a:avLst/>
          </a:prstGeom>
          <a:solidFill>
            <a:srgbClr val="0D1117"/>
          </a:solidFill>
          <a:ln w="12700">
            <a:prstDash val="solid"/>
          </a:ln>
        </p:spPr>
        <p:txBody>
          <a:bodyPr/>
          <a:lstStyle/>
          <a:p>
            <a:endParaRPr/>
          </a:p>
        </p:txBody>
      </p:sp>
      <p:sp>
        <p:nvSpPr>
          <p:cNvPr id="15" name="Text 12"/>
          <p:cNvSpPr/>
          <p:nvPr/>
        </p:nvSpPr>
        <p:spPr>
          <a:xfrm>
            <a:off x="10058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(child process)</a:t>
            </a:r>
            <a:endParaRPr lang="en-US" sz="1000" dirty="0"/>
          </a:p>
        </p:txBody>
      </p:sp>
      <p:pic>
        <p:nvPicPr>
          <p:cNvPr id="18" name="Image 1" descr="preencoded.png"/>
          <p:cNvPicPr>
            <a:picLocks noChangeAspect="1"/>
          </p:cNvPicPr>
          <p:nvPr/>
        </p:nvPicPr>
        <p:blipFill>
          <a:blip r:embed="rId4"/>
          <a:stretch>
            <a:fillRect/>
          </a:stretch>
        </p:blipFill>
        <p:spPr>
          <a:xfrm>
            <a:off x="822960" y="3794760"/>
            <a:ext cx="155448" cy="155448"/>
          </a:xfrm>
          <a:prstGeom prst="rect">
            <a:avLst/>
          </a:prstGeom>
        </p:spPr>
      </p:pic>
      <p:sp>
        <p:nvSpPr>
          <p:cNvPr id="19" name="Text 15"/>
          <p:cNvSpPr/>
          <p:nvPr/>
        </p:nvSpPr>
        <p:spPr>
          <a:xfrm>
            <a:off x="10515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async with CopilotClient()</a:t>
            </a:r>
            <a:endParaRPr lang="en-US" sz="950" dirty="0"/>
          </a:p>
        </p:txBody>
      </p:sp>
      <p:pic>
        <p:nvPicPr>
          <p:cNvPr id="20" name="Image 2" descr="preencoded.png"/>
          <p:cNvPicPr>
            <a:picLocks noChangeAspect="1"/>
          </p:cNvPicPr>
          <p:nvPr/>
        </p:nvPicPr>
        <p:blipFill>
          <a:blip r:embed="rId4"/>
          <a:stretch>
            <a:fillRect/>
          </a:stretch>
        </p:blipFill>
        <p:spPr>
          <a:xfrm>
            <a:off x="822960" y="4041648"/>
            <a:ext cx="155448" cy="155448"/>
          </a:xfrm>
          <a:prstGeom prst="rect">
            <a:avLst/>
          </a:prstGeom>
        </p:spPr>
      </p:pic>
      <p:sp>
        <p:nvSpPr>
          <p:cNvPr id="21" name="Text 16"/>
          <p:cNvSpPr/>
          <p:nvPr/>
        </p:nvSpPr>
        <p:spPr>
          <a:xfrm>
            <a:off x="10515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Client exit stops its child CLI</a:t>
            </a:r>
            <a:endParaRPr lang="en-US" sz="950" dirty="0"/>
          </a:p>
        </p:txBody>
      </p:sp>
      <p:pic>
        <p:nvPicPr>
          <p:cNvPr id="22" name="Image 3" descr="preencoded.png"/>
          <p:cNvPicPr>
            <a:picLocks noChangeAspect="1"/>
          </p:cNvPicPr>
          <p:nvPr/>
        </p:nvPicPr>
        <p:blipFill>
          <a:blip r:embed="rId4"/>
          <a:stretch>
            <a:fillRect/>
          </a:stretch>
        </p:blipFill>
        <p:spPr>
          <a:xfrm>
            <a:off x="822960" y="4288536"/>
            <a:ext cx="155448" cy="155448"/>
          </a:xfrm>
          <a:prstGeom prst="rect">
            <a:avLst/>
          </a:prstGeom>
        </p:spPr>
      </p:pic>
      <p:sp>
        <p:nvSpPr>
          <p:cNvPr id="23" name="Text 17"/>
          <p:cNvSpPr/>
          <p:nvPr/>
        </p:nvSpPr>
        <p:spPr>
          <a:xfrm>
            <a:off x="10515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Best for: local dev, desktop apps</a:t>
            </a:r>
            <a:endParaRPr lang="en-US" sz="950" dirty="0"/>
          </a:p>
        </p:txBody>
      </p:sp>
      <p:sp>
        <p:nvSpPr>
          <p:cNvPr id="24" name="Shape 18"/>
          <p:cNvSpPr/>
          <p:nvPr/>
        </p:nvSpPr>
        <p:spPr>
          <a:xfrm>
            <a:off x="46634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6" name="Text 20"/>
          <p:cNvSpPr/>
          <p:nvPr/>
        </p:nvSpPr>
        <p:spPr>
          <a:xfrm>
            <a:off x="4846320" y="1325880"/>
            <a:ext cx="356616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Mode 2: TCP (External Server)</a:t>
            </a:r>
            <a:endParaRPr lang="en-US" sz="1400" dirty="0"/>
          </a:p>
        </p:txBody>
      </p:sp>
      <p:sp>
        <p:nvSpPr>
          <p:cNvPr id="27" name="Text 21"/>
          <p:cNvSpPr/>
          <p:nvPr/>
        </p:nvSpPr>
        <p:spPr>
          <a:xfrm>
            <a:off x="48463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CLI runs as a headless server on a port</a:t>
            </a:r>
            <a:endParaRPr lang="en-US" sz="1000" dirty="0"/>
          </a:p>
        </p:txBody>
      </p:sp>
      <p:sp>
        <p:nvSpPr>
          <p:cNvPr id="28" name="Shape 22"/>
          <p:cNvSpPr/>
          <p:nvPr/>
        </p:nvSpPr>
        <p:spPr>
          <a:xfrm>
            <a:off x="5120640" y="2011680"/>
            <a:ext cx="3017520" cy="411480"/>
          </a:xfrm>
          <a:prstGeom prst="line">
            <a:avLst/>
          </a:prstGeom>
          <a:solidFill>
            <a:srgbClr val="0D1117"/>
          </a:solidFill>
          <a:ln w="12700">
            <a:prstDash val="solid"/>
          </a:ln>
        </p:spPr>
        <p:txBody>
          <a:bodyPr/>
          <a:lstStyle/>
          <a:p>
            <a:endParaRPr/>
          </a:p>
        </p:txBody>
      </p:sp>
      <p:sp>
        <p:nvSpPr>
          <p:cNvPr id="29" name="Text 23"/>
          <p:cNvSpPr/>
          <p:nvPr/>
        </p:nvSpPr>
        <p:spPr>
          <a:xfrm>
            <a:off x="51206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30" name="Shape 24"/>
          <p:cNvSpPr/>
          <p:nvPr/>
        </p:nvSpPr>
        <p:spPr>
          <a:xfrm>
            <a:off x="5120640" y="2606040"/>
            <a:ext cx="3017520" cy="411480"/>
          </a:xfrm>
          <a:prstGeom prst="line">
            <a:avLst/>
          </a:prstGeom>
          <a:solidFill>
            <a:srgbClr val="0D1117"/>
          </a:solidFill>
          <a:ln w="12700">
            <a:prstDash val="solid"/>
          </a:ln>
        </p:spPr>
        <p:txBody>
          <a:bodyPr/>
          <a:lstStyle/>
          <a:p>
            <a:endParaRPr/>
          </a:p>
        </p:txBody>
      </p:sp>
      <p:sp>
        <p:nvSpPr>
          <p:cNvPr id="31" name="Text 25"/>
          <p:cNvSpPr/>
          <p:nvPr/>
        </p:nvSpPr>
        <p:spPr>
          <a:xfrm>
            <a:off x="51206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TCP (:4321)</a:t>
            </a:r>
            <a:endParaRPr lang="en-US" sz="1000" dirty="0"/>
          </a:p>
        </p:txBody>
      </p:sp>
      <p:sp>
        <p:nvSpPr>
          <p:cNvPr id="32" name="Shape 26"/>
          <p:cNvSpPr/>
          <p:nvPr/>
        </p:nvSpPr>
        <p:spPr>
          <a:xfrm>
            <a:off x="5120640" y="3200400"/>
            <a:ext cx="3017520" cy="411480"/>
          </a:xfrm>
          <a:prstGeom prst="line">
            <a:avLst/>
          </a:prstGeom>
          <a:solidFill>
            <a:srgbClr val="0D1117"/>
          </a:solidFill>
          <a:ln w="12700">
            <a:prstDash val="solid"/>
          </a:ln>
        </p:spPr>
        <p:txBody>
          <a:bodyPr/>
          <a:lstStyle/>
          <a:p>
            <a:endParaRPr/>
          </a:p>
        </p:txBody>
      </p:sp>
      <p:sp>
        <p:nvSpPr>
          <p:cNvPr id="33" name="Text 27"/>
          <p:cNvSpPr/>
          <p:nvPr/>
        </p:nvSpPr>
        <p:spPr>
          <a:xfrm>
            <a:off x="51206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(headless server)</a:t>
            </a:r>
            <a:endParaRPr lang="en-US" sz="1000" dirty="0"/>
          </a:p>
        </p:txBody>
      </p:sp>
      <p:pic>
        <p:nvPicPr>
          <p:cNvPr id="36" name="Image 4" descr="preencoded.png"/>
          <p:cNvPicPr>
            <a:picLocks noChangeAspect="1"/>
          </p:cNvPicPr>
          <p:nvPr/>
        </p:nvPicPr>
        <p:blipFill>
          <a:blip r:embed="rId4"/>
          <a:stretch>
            <a:fillRect/>
          </a:stretch>
        </p:blipFill>
        <p:spPr>
          <a:xfrm>
            <a:off x="4937760" y="3794760"/>
            <a:ext cx="155448" cy="155448"/>
          </a:xfrm>
          <a:prstGeom prst="rect">
            <a:avLst/>
          </a:prstGeom>
        </p:spPr>
      </p:pic>
      <p:sp>
        <p:nvSpPr>
          <p:cNvPr id="37" name="Text 30"/>
          <p:cNvSpPr/>
          <p:nvPr/>
        </p:nvSpPr>
        <p:spPr>
          <a:xfrm>
            <a:off x="51663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onsolas" pitchFamily="34" charset="0"/>
                <a:ea typeface="Consolas" pitchFamily="34" charset="-122"/>
                <a:cs typeface="Consolas" pitchFamily="34" charset="-120"/>
              </a:rPr>
              <a:t>copilot --headless --port 4321</a:t>
            </a:r>
            <a:endParaRPr lang="en-US" sz="950" dirty="0"/>
          </a:p>
        </p:txBody>
      </p:sp>
      <p:pic>
        <p:nvPicPr>
          <p:cNvPr id="38" name="Image 5" descr="preencoded.png"/>
          <p:cNvPicPr>
            <a:picLocks noChangeAspect="1"/>
          </p:cNvPicPr>
          <p:nvPr/>
        </p:nvPicPr>
        <p:blipFill>
          <a:blip r:embed="rId4"/>
          <a:stretch>
            <a:fillRect/>
          </a:stretch>
        </p:blipFill>
        <p:spPr>
          <a:xfrm>
            <a:off x="4937760" y="4041648"/>
            <a:ext cx="155448" cy="155448"/>
          </a:xfrm>
          <a:prstGeom prst="rect">
            <a:avLst/>
          </a:prstGeom>
        </p:spPr>
      </p:pic>
      <p:sp>
        <p:nvSpPr>
          <p:cNvPr id="39" name="Text 31"/>
          <p:cNvSpPr/>
          <p:nvPr/>
        </p:nvSpPr>
        <p:spPr>
          <a:xfrm>
            <a:off x="51663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Independent lifecycle, multi-client</a:t>
            </a:r>
            <a:endParaRPr lang="en-US" sz="950" dirty="0"/>
          </a:p>
        </p:txBody>
      </p:sp>
      <p:pic>
        <p:nvPicPr>
          <p:cNvPr id="40" name="Image 6" descr="preencoded.png"/>
          <p:cNvPicPr>
            <a:picLocks noChangeAspect="1"/>
          </p:cNvPicPr>
          <p:nvPr/>
        </p:nvPicPr>
        <p:blipFill>
          <a:blip r:embed="rId4"/>
          <a:stretch>
            <a:fillRect/>
          </a:stretch>
        </p:blipFill>
        <p:spPr>
          <a:xfrm>
            <a:off x="4937760" y="4288536"/>
            <a:ext cx="155448" cy="155448"/>
          </a:xfrm>
          <a:prstGeom prst="rect">
            <a:avLst/>
          </a:prstGeom>
        </p:spPr>
      </p:pic>
      <p:sp>
        <p:nvSpPr>
          <p:cNvPr id="41" name="Text 32"/>
          <p:cNvSpPr/>
          <p:nvPr/>
        </p:nvSpPr>
        <p:spPr>
          <a:xfrm>
            <a:off x="51663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Private endpoint; protect remote access</a:t>
            </a:r>
            <a:endParaRPr lang="en-US" sz="950" dirty="0"/>
          </a:p>
        </p:txBody>
      </p:sp>
      <p:sp>
        <p:nvSpPr>
          <p:cNvPr id="44" name="Text 3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17 / 28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Ship It: Runtime Provisioning</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SDK-managed runtime 1.0.83 — the interactive copilot command is a separate installation</a:t>
            </a:r>
            <a:endParaRPr lang="en-US" sz="1200" dirty="0"/>
          </a:p>
        </p:txBody>
      </p:sp>
      <p:sp>
        <p:nvSpPr>
          <p:cNvPr id="6" name="Shape 3"/>
          <p:cNvSpPr/>
          <p:nvPr/>
        </p:nvSpPr>
        <p:spPr>
          <a:xfrm>
            <a:off x="548640" y="1188720"/>
            <a:ext cx="3931920" cy="19202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Text 4"/>
          <p:cNvSpPr/>
          <p:nvPr/>
        </p:nvSpPr>
        <p:spPr>
          <a:xfrm>
            <a:off x="731520" y="1280160"/>
            <a:ext cx="356616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How Bundled Deployment Works</a:t>
            </a:r>
            <a:endParaRPr lang="en-US" sz="1300" dirty="0"/>
          </a:p>
        </p:txBody>
      </p:sp>
      <p:sp>
        <p:nvSpPr>
          <p:cNvPr id="8" name="Shape 5"/>
          <p:cNvSpPr/>
          <p:nvPr/>
        </p:nvSpPr>
        <p:spPr>
          <a:xfrm>
            <a:off x="822960" y="1691640"/>
            <a:ext cx="3383280" cy="1234440"/>
          </a:xfrm>
          <a:prstGeom prst="line">
            <a:avLst/>
          </a:prstGeom>
          <a:solidFill>
            <a:srgbClr val="0D1117"/>
          </a:solidFill>
          <a:ln w="12700">
            <a:prstDash val="dash"/>
          </a:ln>
        </p:spPr>
        <p:txBody>
          <a:bodyPr/>
          <a:lstStyle/>
          <a:p>
            <a:endParaRPr/>
          </a:p>
        </p:txBody>
      </p:sp>
      <p:sp>
        <p:nvSpPr>
          <p:cNvPr id="9" name="Text 6"/>
          <p:cNvSpPr/>
          <p:nvPr/>
        </p:nvSpPr>
        <p:spPr>
          <a:xfrm>
            <a:off x="914400" y="1709928"/>
            <a:ext cx="3200400" cy="201168"/>
          </a:xfrm>
          <a:prstGeom prst="rect">
            <a:avLst/>
          </a:prstGeom>
          <a:noFill/>
          <a:ln>
            <a:noFill/>
          </a:ln>
        </p:spPr>
        <p:txBody>
          <a:bodyPr wrap="square" lIns="0" tIns="0" rIns="0" bIns="0" rtlCol="0" anchor="ctr"/>
          <a:lstStyle/>
          <a:p>
            <a:pPr marL="0" indent="0">
              <a:buNone/>
            </a:pPr>
            <a:r>
              <a:rPr lang="en-US" sz="800" dirty="0">
                <a:solidFill>
                  <a:srgbClr val="3FB950"/>
                </a:solidFill>
                <a:latin typeface="Calibri" pitchFamily="34" charset="0"/>
                <a:ea typeface="Calibri" pitchFamily="34" charset="-122"/>
                <a:cs typeface="Calibri" pitchFamily="34" charset="-120"/>
              </a:rPr>
              <a:t>Your Distributed App</a:t>
            </a:r>
            <a:endParaRPr lang="en-US" sz="800" dirty="0"/>
          </a:p>
        </p:txBody>
      </p:sp>
      <p:sp>
        <p:nvSpPr>
          <p:cNvPr id="10" name="Shape 7"/>
          <p:cNvSpPr/>
          <p:nvPr/>
        </p:nvSpPr>
        <p:spPr>
          <a:xfrm>
            <a:off x="1005840" y="1965960"/>
            <a:ext cx="1371600" cy="365760"/>
          </a:xfrm>
          <a:prstGeom prst="line">
            <a:avLst/>
          </a:prstGeom>
          <a:solidFill>
            <a:srgbClr val="161B22"/>
          </a:solidFill>
          <a:ln w="12700">
            <a:prstDash val="solid"/>
          </a:ln>
        </p:spPr>
        <p:txBody>
          <a:bodyPr/>
          <a:lstStyle/>
          <a:p>
            <a:endParaRPr/>
          </a:p>
        </p:txBody>
      </p:sp>
      <p:sp>
        <p:nvSpPr>
          <p:cNvPr id="11" name="Text 8"/>
          <p:cNvSpPr/>
          <p:nvPr/>
        </p:nvSpPr>
        <p:spPr>
          <a:xfrm>
            <a:off x="1005840" y="1965960"/>
            <a:ext cx="1371600" cy="365760"/>
          </a:xfrm>
          <a:prstGeom prst="rect">
            <a:avLst/>
          </a:prstGeom>
          <a:noFill/>
          <a:ln>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App Code + SDK</a:t>
            </a:r>
            <a:endParaRPr lang="en-US" sz="850" dirty="0"/>
          </a:p>
        </p:txBody>
      </p:sp>
      <p:sp>
        <p:nvSpPr>
          <p:cNvPr id="12" name="Text 9"/>
          <p:cNvSpPr/>
          <p:nvPr/>
        </p:nvSpPr>
        <p:spPr>
          <a:xfrm>
            <a:off x="2377440" y="1965960"/>
            <a:ext cx="274320" cy="365760"/>
          </a:xfrm>
          <a:prstGeom prst="rect">
            <a:avLst/>
          </a:prstGeom>
          <a:noFill/>
          <a:ln>
            <a:noFill/>
          </a:ln>
        </p:spPr>
        <p:txBody>
          <a:bodyPr wrap="square" lIns="0" tIns="0" rIns="0" bIns="0" rtlCol="0" anchor="ctr"/>
          <a:lstStyle/>
          <a:p>
            <a:pPr marL="0" indent="0" algn="ctr">
              <a:buNone/>
            </a:pPr>
            <a:r>
              <a:rPr lang="en-US" sz="1400" dirty="0">
                <a:solidFill>
                  <a:srgbClr val="58A6FF"/>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2651760" y="1965960"/>
            <a:ext cx="1371600" cy="365760"/>
          </a:xfrm>
          <a:prstGeom prst="line">
            <a:avLst/>
          </a:prstGeom>
          <a:solidFill>
            <a:srgbClr val="161B22"/>
          </a:solidFill>
          <a:ln w="12700">
            <a:prstDash val="solid"/>
          </a:ln>
        </p:spPr>
        <p:txBody>
          <a:bodyPr/>
          <a:lstStyle/>
          <a:p>
            <a:endParaRPr/>
          </a:p>
        </p:txBody>
      </p:sp>
      <p:sp>
        <p:nvSpPr>
          <p:cNvPr id="14" name="Text 11"/>
          <p:cNvSpPr/>
          <p:nvPr/>
        </p:nvSpPr>
        <p:spPr>
          <a:xfrm>
            <a:off x="2651760" y="1965960"/>
            <a:ext cx="1371600" cy="365760"/>
          </a:xfrm>
          <a:prstGeom prst="rect">
            <a:avLst/>
          </a:prstGeom>
          <a:noFill/>
          <a:ln>
            <a:noFill/>
          </a:ln>
        </p:spPr>
        <p:txBody>
          <a:bodyPr wrap="square" lIns="0" tIns="0" rIns="0" bIns="0" rtlCol="0" anchor="ctr"/>
          <a:lstStyle/>
          <a:p>
            <a:pPr marL="0" indent="0" algn="ctr">
              <a:buNone/>
            </a:pPr>
            <a:r>
              <a:rPr lang="en-US" sz="850" b="1" dirty="0">
                <a:solidFill>
                  <a:srgbClr val="3FB950"/>
                </a:solidFill>
                <a:latin typeface="Calibri" pitchFamily="34" charset="0"/>
                <a:ea typeface="Calibri" pitchFamily="34" charset="-122"/>
                <a:cs typeface="Calibri" pitchFamily="34" charset="-120"/>
              </a:rPr>
              <a:t>CLI Binary</a:t>
            </a:r>
            <a:endParaRPr lang="en-US" sz="850" dirty="0"/>
          </a:p>
        </p:txBody>
      </p:sp>
      <p:sp>
        <p:nvSpPr>
          <p:cNvPr id="16" name="Shape 13"/>
          <p:cNvSpPr/>
          <p:nvPr/>
        </p:nvSpPr>
        <p:spPr>
          <a:xfrm>
            <a:off x="2011680" y="2560320"/>
            <a:ext cx="1828800" cy="274320"/>
          </a:xfrm>
          <a:prstGeom prst="line">
            <a:avLst/>
          </a:prstGeom>
          <a:solidFill>
            <a:srgbClr val="161B22"/>
          </a:solidFill>
          <a:ln w="12700">
            <a:prstDash val="solid"/>
          </a:ln>
        </p:spPr>
        <p:txBody>
          <a:bodyPr/>
          <a:lstStyle/>
          <a:p>
            <a:endParaRPr/>
          </a:p>
        </p:txBody>
      </p:sp>
      <p:sp>
        <p:nvSpPr>
          <p:cNvPr id="17" name="Text 14"/>
          <p:cNvSpPr/>
          <p:nvPr/>
        </p:nvSpPr>
        <p:spPr>
          <a:xfrm>
            <a:off x="2011680" y="2560320"/>
            <a:ext cx="1828800" cy="274320"/>
          </a:xfrm>
          <a:prstGeom prst="rect">
            <a:avLst/>
          </a:prstGeom>
          <a:noFill/>
          <a:ln>
            <a:noFill/>
          </a:ln>
        </p:spPr>
        <p:txBody>
          <a:bodyPr wrap="square" lIns="0" tIns="0" rIns="0" bIns="0" rtlCol="0" anchor="ctr"/>
          <a:lstStyle/>
          <a:p>
            <a:pPr marL="0" indent="0" algn="ctr">
              <a:buNone/>
            </a:pPr>
            <a:r>
              <a:rPr lang="en-US" sz="800" dirty="0">
                <a:solidFill>
                  <a:srgbClr val="58A6FF"/>
                </a:solidFill>
                <a:latin typeface="Calibri" pitchFamily="34" charset="0"/>
                <a:ea typeface="Calibri" pitchFamily="34" charset="-122"/>
                <a:cs typeface="Calibri" pitchFamily="34" charset="-120"/>
              </a:rPr>
              <a:t>Model Provider</a:t>
            </a:r>
            <a:endParaRPr lang="en-US" sz="800" dirty="0"/>
          </a:p>
        </p:txBody>
      </p:sp>
      <p:sp>
        <p:nvSpPr>
          <p:cNvPr id="18" name="Shape 15"/>
          <p:cNvSpPr/>
          <p:nvPr/>
        </p:nvSpPr>
        <p:spPr>
          <a:xfrm>
            <a:off x="4663440" y="1188720"/>
            <a:ext cx="3931920" cy="1920240"/>
          </a:xfrm>
          <a:prstGeom prst="line">
            <a:avLst/>
          </a:prstGeom>
          <a:solidFill>
            <a:srgbClr val="161B22"/>
          </a:solidFill>
          <a:ln w="12700">
            <a:prstDash val="solid"/>
          </a:ln>
        </p:spPr>
        <p:txBody>
          <a:bodyPr/>
          <a:lstStyle/>
          <a:p>
            <a:endParaRPr/>
          </a:p>
        </p:txBody>
      </p:sp>
      <p:sp>
        <p:nvSpPr>
          <p:cNvPr id="19" name="Shape 16"/>
          <p:cNvSpPr/>
          <p:nvPr/>
        </p:nvSpPr>
        <p:spPr>
          <a:xfrm>
            <a:off x="4663440" y="1188720"/>
            <a:ext cx="1371600" cy="256032"/>
          </a:xfrm>
          <a:prstGeom prst="line">
            <a:avLst/>
          </a:prstGeom>
          <a:solidFill>
            <a:srgbClr val="1F6FEB"/>
          </a:solidFill>
          <a:ln w="6350">
            <a:solidFill>
              <a:srgbClr val="30363D"/>
            </a:solidFill>
          </a:ln>
        </p:spPr>
        <p:txBody>
          <a:bodyPr/>
          <a:lstStyle/>
          <a:p>
            <a:endParaRPr/>
          </a:p>
        </p:txBody>
      </p:sp>
      <p:sp>
        <p:nvSpPr>
          <p:cNvPr id="20" name="Text 17"/>
          <p:cNvSpPr/>
          <p:nvPr/>
        </p:nvSpPr>
        <p:spPr>
          <a:xfrm>
            <a:off x="46634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connection</a:t>
            </a:r>
            <a:endParaRPr lang="en-US" sz="900" dirty="0"/>
          </a:p>
        </p:txBody>
      </p:sp>
      <p:sp>
        <p:nvSpPr>
          <p:cNvPr id="21" name="Text 18"/>
          <p:cNvSpPr/>
          <p:nvPr/>
        </p:nvSpPr>
        <p:spPr>
          <a:xfrm>
            <a:off x="4800600" y="1508760"/>
            <a:ext cx="3657600" cy="150876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100">
                <a:solidFill>
                  <a:srgbClr val="E6EDF3"/>
                </a:solidFill>
                <a:latin typeface="Courier New"/>
              </a:rPr>
              <a:t xml:space="preserve">from copilot import (</a:t>
            </a:r>
          </a:p>
          <a:p>
            <a:pPr algn="l">
              <a:lnSpc>
                <a:spcPts val="1210"/>
              </a:lnSpc>
              <a:spcBef>
                <a:spcPts val="0"/>
              </a:spcBef>
              <a:spcAft>
                <a:spcPts val="0"/>
              </a:spcAft>
            </a:pPr>
            <a:r>
              <a:rPr sz="1100">
                <a:solidFill>
                  <a:srgbClr val="E6EDF3"/>
                </a:solidFill>
                <a:latin typeface="Courier New"/>
              </a:rPr>
              <a:t xml:space="preserve">    CopilotClient, RuntimeConnection,</a:t>
            </a:r>
          </a:p>
          <a:p>
            <a:pPr algn="l">
              <a:lnSpc>
                <a:spcPts val="1210"/>
              </a:lnSpc>
              <a:spcBef>
                <a:spcPts val="0"/>
              </a:spcBef>
              <a:spcAft>
                <a:spcPts val="0"/>
              </a:spcAft>
            </a:pPr>
            <a:r>
              <a:rPr sz="1100">
                <a:solidFill>
                  <a:srgbClr val="E6EDF3"/>
                </a:solidFill>
                <a:latin typeface="Courier New"/>
              </a:rPr>
              <a:t xml:space="preserve">)</a:t>
            </a:r>
          </a:p>
          <a:p>
            <a:pPr algn="l">
              <a:lnSpc>
                <a:spcPts val="1210"/>
              </a:lnSpc>
              <a:spcBef>
                <a:spcPts val="0"/>
              </a:spcBef>
              <a:spcAft>
                <a:spcPts val="0"/>
              </a:spcAft>
            </a:pPr>
            <a:r>
              <a:rPr sz="1100">
                <a:solidFill>
                  <a:srgbClr val="E6EDF3"/>
                </a:solidFill>
                <a:latin typeface="Courier New"/>
              </a:rPr>
              <a:t xml:space="preserve">link = RuntimeConnection.for_stdio(</a:t>
            </a:r>
          </a:p>
          <a:p>
            <a:pPr algn="l">
              <a:lnSpc>
                <a:spcPts val="1210"/>
              </a:lnSpc>
              <a:spcBef>
                <a:spcPts val="0"/>
              </a:spcBef>
              <a:spcAft>
                <a:spcPts val="0"/>
              </a:spcAft>
            </a:pPr>
            <a:r>
              <a:rPr sz="1100">
                <a:solidFill>
                  <a:srgbClr val="E6EDF3"/>
                </a:solidFill>
                <a:latin typeface="Courier New"/>
              </a:rPr>
              <a:t xml:space="preserve">    path="vendor/copilot",</a:t>
            </a:r>
          </a:p>
          <a:p>
            <a:pPr algn="l">
              <a:lnSpc>
                <a:spcPts val="1210"/>
              </a:lnSpc>
              <a:spcBef>
                <a:spcPts val="0"/>
              </a:spcBef>
              <a:spcAft>
                <a:spcPts val="0"/>
              </a:spcAft>
            </a:pPr>
            <a:r>
              <a:rPr sz="1100">
                <a:solidFill>
                  <a:srgbClr val="E6EDF3"/>
                </a:solidFill>
                <a:latin typeface="Courier New"/>
              </a:rPr>
              <a:t xml:space="preserve">)</a:t>
            </a:r>
          </a:p>
          <a:p>
            <a:pPr algn="l">
              <a:lnSpc>
                <a:spcPts val="1210"/>
              </a:lnSpc>
              <a:spcBef>
                <a:spcPts val="0"/>
              </a:spcBef>
              <a:spcAft>
                <a:spcPts val="0"/>
              </a:spcAft>
            </a:pPr>
            <a:r>
              <a:rPr sz="1100">
                <a:solidFill>
                  <a:srgbClr val="E6EDF3"/>
                </a:solidFill>
                <a:latin typeface="Courier New"/>
              </a:rPr>
              <a:t xml:space="preserve">client = CopilotClient(connection=link)</a:t>
            </a:r>
          </a:p>
          <a:p>
            <a:pPr algn="l">
              <a:lnSpc>
                <a:spcPts val="1210"/>
              </a:lnSpc>
              <a:spcBef>
                <a:spcPts val="0"/>
              </a:spcBef>
              <a:spcAft>
                <a:spcPts val="0"/>
              </a:spcAft>
            </a:pPr>
            <a:r>
              <a:rPr sz="1100">
                <a:solidFill>
                  <a:srgbClr val="E6EDF3"/>
                </a:solidFill>
                <a:latin typeface="Courier New"/>
              </a:rPr>
              <a:t xml:space="preserve">async with client:</a:t>
            </a:r>
          </a:p>
          <a:p>
            <a:pPr algn="l">
              <a:lnSpc>
                <a:spcPts val="1210"/>
              </a:lnSpc>
              <a:spcBef>
                <a:spcPts val="0"/>
              </a:spcBef>
              <a:spcAft>
                <a:spcPts val="0"/>
              </a:spcAft>
            </a:pPr>
            <a:r>
              <a:rPr sz="1100">
                <a:solidFill>
                  <a:srgbClr val="E6EDF3"/>
                </a:solidFill>
                <a:latin typeface="Courier New"/>
              </a:rPr>
              <a:t xml:space="preserve">    print(await client.get_status())</a:t>
            </a:r>
          </a:p>
        </p:txBody>
      </p:sp>
      <p:sp>
        <p:nvSpPr>
          <p:cNvPr id="22" name="Text 19"/>
          <p:cNvSpPr/>
          <p:nvPr/>
        </p:nvSpPr>
        <p:spPr>
          <a:xfrm>
            <a:off x="548640" y="3291840"/>
            <a:ext cx="27432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Deployment Options</a:t>
            </a:r>
            <a:endParaRPr lang="en-US" sz="1400" dirty="0"/>
          </a:p>
        </p:txBody>
      </p:sp>
      <p:sp>
        <p:nvSpPr>
          <p:cNvPr id="23" name="Shape 20"/>
          <p:cNvSpPr/>
          <p:nvPr/>
        </p:nvSpPr>
        <p:spPr>
          <a:xfrm>
            <a:off x="548640" y="3611880"/>
            <a:ext cx="2560320" cy="685800"/>
          </a:xfrm>
          <a:prstGeom prst="line">
            <a:avLst/>
          </a:prstGeom>
          <a:solidFill>
            <a:srgbClr val="161B22"/>
          </a:solidFill>
          <a:ln w="12700">
            <a:prstDash val="solid"/>
          </a:ln>
        </p:spPr>
        <p:txBody>
          <a:bodyPr/>
          <a:lstStyle/>
          <a:p>
            <a:endParaRPr/>
          </a:p>
        </p:txBody>
      </p:sp>
      <p:sp>
        <p:nvSpPr>
          <p:cNvPr id="25" name="Text 22"/>
          <p:cNvSpPr/>
          <p:nvPr/>
        </p:nvSpPr>
        <p:spPr>
          <a:xfrm>
            <a:off x="731520"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Desktop App (Electron/Tauri)</a:t>
            </a:r>
            <a:endParaRPr lang="en-US" sz="1100" dirty="0"/>
          </a:p>
        </p:txBody>
      </p:sp>
      <p:sp>
        <p:nvSpPr>
          <p:cNvPr id="26" name="Text 23"/>
          <p:cNvSpPr/>
          <p:nvPr/>
        </p:nvSpPr>
        <p:spPr>
          <a:xfrm>
            <a:off x="731520"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binary in app resources</a:t>
            </a:r>
            <a:endParaRPr lang="en-US" sz="950" dirty="0"/>
          </a:p>
        </p:txBody>
      </p:sp>
      <p:sp>
        <p:nvSpPr>
          <p:cNvPr id="27" name="Shape 24"/>
          <p:cNvSpPr/>
          <p:nvPr/>
        </p:nvSpPr>
        <p:spPr>
          <a:xfrm>
            <a:off x="3355848" y="3611880"/>
            <a:ext cx="2560320" cy="685800"/>
          </a:xfrm>
          <a:prstGeom prst="line">
            <a:avLst/>
          </a:prstGeom>
          <a:solidFill>
            <a:srgbClr val="161B22"/>
          </a:solidFill>
          <a:ln w="12700">
            <a:prstDash val="solid"/>
          </a:ln>
        </p:spPr>
        <p:txBody>
          <a:bodyPr/>
          <a:lstStyle/>
          <a:p>
            <a:endParaRPr/>
          </a:p>
        </p:txBody>
      </p:sp>
      <p:sp>
        <p:nvSpPr>
          <p:cNvPr id="29" name="Text 26"/>
          <p:cNvSpPr/>
          <p:nvPr/>
        </p:nvSpPr>
        <p:spPr>
          <a:xfrm>
            <a:off x="3538728"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Docker Container</a:t>
            </a:r>
            <a:endParaRPr lang="en-US" sz="1100" dirty="0"/>
          </a:p>
        </p:txBody>
      </p:sp>
      <p:sp>
        <p:nvSpPr>
          <p:cNvPr id="30" name="Text 27"/>
          <p:cNvSpPr/>
          <p:nvPr/>
        </p:nvSpPr>
        <p:spPr>
          <a:xfrm>
            <a:off x="3538728"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 app in same image</a:t>
            </a:r>
            <a:endParaRPr lang="en-US" sz="950" dirty="0"/>
          </a:p>
        </p:txBody>
      </p:sp>
      <p:sp>
        <p:nvSpPr>
          <p:cNvPr id="31" name="Shape 28"/>
          <p:cNvSpPr/>
          <p:nvPr/>
        </p:nvSpPr>
        <p:spPr>
          <a:xfrm>
            <a:off x="6163056" y="3611880"/>
            <a:ext cx="2560320" cy="685800"/>
          </a:xfrm>
          <a:prstGeom prst="line">
            <a:avLst/>
          </a:prstGeom>
          <a:solidFill>
            <a:srgbClr val="161B22"/>
          </a:solidFill>
          <a:ln w="12700">
            <a:prstDash val="solid"/>
          </a:ln>
        </p:spPr>
        <p:txBody>
          <a:bodyPr/>
          <a:lstStyle/>
          <a:p>
            <a:endParaRPr/>
          </a:p>
        </p:txBody>
      </p:sp>
      <p:sp>
        <p:nvSpPr>
          <p:cNvPr id="33" name="Text 30"/>
          <p:cNvSpPr/>
          <p:nvPr/>
        </p:nvSpPr>
        <p:spPr>
          <a:xfrm>
            <a:off x="6345936"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CLI Tool Distribution</a:t>
            </a:r>
            <a:endParaRPr lang="en-US" sz="1100" dirty="0"/>
          </a:p>
        </p:txBody>
      </p:sp>
      <p:sp>
        <p:nvSpPr>
          <p:cNvPr id="34" name="Text 31"/>
          <p:cNvSpPr/>
          <p:nvPr/>
        </p:nvSpPr>
        <p:spPr>
          <a:xfrm>
            <a:off x="6345936"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Ship CLI alongside your binary</a:t>
            </a:r>
            <a:endParaRPr lang="en-US" sz="950" dirty="0"/>
          </a:p>
        </p:txBody>
      </p:sp>
      <p:sp>
        <p:nvSpPr>
          <p:cNvPr id="35" name="Shape 32"/>
          <p:cNvSpPr/>
          <p:nvPr/>
        </p:nvSpPr>
        <p:spPr>
          <a:xfrm>
            <a:off x="548640" y="4434840"/>
            <a:ext cx="8046720" cy="320040"/>
          </a:xfrm>
          <a:prstGeom prst="line">
            <a:avLst/>
          </a:prstGeom>
          <a:solidFill>
            <a:srgbClr val="161B22"/>
          </a:solidFill>
          <a:ln w="12700">
            <a:prstDash val="solid"/>
          </a:ln>
        </p:spPr>
        <p:txBody>
          <a:bodyPr/>
          <a:lstStyle/>
          <a:p>
            <a:endParaRPr/>
          </a:p>
        </p:txBody>
      </p:sp>
      <p:sp>
        <p:nvSpPr>
          <p:cNvPr id="36" name="Text 33"/>
          <p:cNvSpPr/>
          <p:nvPr/>
        </p:nvSpPr>
        <p:spPr>
          <a:xfrm>
            <a:off x="548640" y="4434840"/>
            <a:ext cx="8046720" cy="320040"/>
          </a:xfrm>
          <a:prstGeom prst="rect">
            <a:avLst/>
          </a:prstGeom>
          <a:noFill/>
          <a:ln>
            <a:noFill/>
          </a:ln>
        </p:spPr>
        <p:txBody>
          <a:bodyPr wrap="square" lIns="0" tIns="0" rIns="0" bIns="0" rtlCol="0" anchor="ctr"/>
          <a:lstStyle/>
          <a:p>
            <a:pPr marL="0" indent="0">
              <a:buNone/>
            </a:pPr>
            <a:r>
              <a:rPr lang="en-US" sz="1000" b="1" dirty="0">
                <a:solidFill>
                  <a:srgbClr val="F0883E"/>
                </a:solidFill>
                <a:latin typeface="Calibri" pitchFamily="34" charset="0"/>
                <a:ea typeface="Calibri" pitchFamily="34" charset="-122"/>
                <a:cs typeface="Calibri" pitchFamily="34" charset="-120"/>
              </a:rPr>
              <a:t xml:space="preserve">  Multi-platform: </a:t>
            </a:r>
            <a:r>
              <a:rPr lang="en-US" sz="1000" dirty="0">
                <a:solidFill>
                  <a:srgbClr val="C9D1D9"/>
                </a:solidFill>
                <a:latin typeface="Consolas" pitchFamily="34" charset="0"/>
                <a:ea typeface="Consolas" pitchFamily="34" charset="-122"/>
                <a:cs typeface="Consolas" pitchFamily="34" charset="-120"/>
              </a:rPr>
              <a:t>Include platform-specific binaries: copilot-darwin-arm64, copilot-linux-x64, copilot-win-x64.exe</a:t>
            </a:r>
            <a:endParaRPr lang="en-US" sz="10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18 / 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Deployment Patterns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4"/>
          <p:cNvSpPr/>
          <p:nvPr/>
        </p:nvSpPr>
        <p:spPr>
          <a:xfrm>
            <a:off x="3383280" y="1143000"/>
            <a:ext cx="914400" cy="228600"/>
          </a:xfrm>
          <a:prstGeom prst="line">
            <a:avLst/>
          </a:prstGeom>
          <a:solidFill>
            <a:srgbClr val="3FB950">
              <a:alpha val="20000"/>
            </a:srgbClr>
          </a:solidFill>
          <a:ln>
            <a:noFill/>
          </a:ln>
        </p:spPr>
        <p:txBody>
          <a:bodyPr/>
          <a:lstStyle/>
          <a:p>
            <a:endParaRPr/>
          </a:p>
        </p:txBody>
      </p:sp>
      <p:sp>
        <p:nvSpPr>
          <p:cNvPr id="8" name="Text 5"/>
          <p:cNvSpPr/>
          <p:nvPr/>
        </p:nvSpPr>
        <p:spPr>
          <a:xfrm>
            <a:off x="338328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3FB950"/>
                </a:solidFill>
                <a:latin typeface="Calibri" pitchFamily="34" charset="0"/>
                <a:ea typeface="Calibri" pitchFamily="34" charset="-122"/>
                <a:cs typeface="Calibri" pitchFamily="34" charset="-120"/>
              </a:rPr>
              <a:t>Hobbyist</a:t>
            </a:r>
            <a:endParaRPr lang="en-US" sz="800" dirty="0"/>
          </a:p>
        </p:txBody>
      </p:sp>
      <p:sp>
        <p:nvSpPr>
          <p:cNvPr id="9" name="Text 6"/>
          <p:cNvSpPr/>
          <p:nvPr/>
        </p:nvSpPr>
        <p:spPr>
          <a:xfrm>
            <a:off x="73152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Local CLI</a:t>
            </a:r>
            <a:endParaRPr lang="en-US" sz="1600" dirty="0"/>
          </a:p>
        </p:txBody>
      </p:sp>
      <p:sp>
        <p:nvSpPr>
          <p:cNvPr id="10" name="Text 7"/>
          <p:cNvSpPr/>
          <p:nvPr/>
        </p:nvSpPr>
        <p:spPr>
          <a:xfrm>
            <a:off x="73152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SDK spawns CLI as child process. Simplest path for personal projects and development.</a:t>
            </a:r>
            <a:endParaRPr lang="en-US" sz="1100" dirty="0"/>
          </a:p>
        </p:txBody>
      </p:sp>
      <p:sp>
        <p:nvSpPr>
          <p:cNvPr id="11" name="Shape 8"/>
          <p:cNvSpPr/>
          <p:nvPr/>
        </p:nvSpPr>
        <p:spPr>
          <a:xfrm>
            <a:off x="475488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Shape 10"/>
          <p:cNvSpPr/>
          <p:nvPr/>
        </p:nvSpPr>
        <p:spPr>
          <a:xfrm>
            <a:off x="7589520" y="1143000"/>
            <a:ext cx="914400" cy="228600"/>
          </a:xfrm>
          <a:prstGeom prst="line">
            <a:avLst/>
          </a:prstGeom>
          <a:solidFill>
            <a:srgbClr val="58A6FF">
              <a:alpha val="20000"/>
            </a:srgbClr>
          </a:solidFill>
          <a:ln>
            <a:noFill/>
          </a:ln>
        </p:spPr>
        <p:txBody>
          <a:bodyPr/>
          <a:lstStyle/>
          <a:p>
            <a:endParaRPr/>
          </a:p>
        </p:txBody>
      </p:sp>
      <p:sp>
        <p:nvSpPr>
          <p:cNvPr id="14" name="Text 11"/>
          <p:cNvSpPr/>
          <p:nvPr/>
        </p:nvSpPr>
        <p:spPr>
          <a:xfrm>
            <a:off x="758952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58A6FF"/>
                </a:solidFill>
                <a:latin typeface="Calibri" pitchFamily="34" charset="0"/>
                <a:ea typeface="Calibri" pitchFamily="34" charset="-122"/>
                <a:cs typeface="Calibri" pitchFamily="34" charset="-120"/>
              </a:rPr>
              <a:t>Desktop App</a:t>
            </a:r>
            <a:endParaRPr lang="en-US" sz="800" dirty="0"/>
          </a:p>
        </p:txBody>
      </p:sp>
      <p:sp>
        <p:nvSpPr>
          <p:cNvPr id="15" name="Text 12"/>
          <p:cNvSpPr/>
          <p:nvPr/>
        </p:nvSpPr>
        <p:spPr>
          <a:xfrm>
            <a:off x="493776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Bundled CLI</a:t>
            </a:r>
            <a:endParaRPr lang="en-US" sz="1600" dirty="0"/>
          </a:p>
        </p:txBody>
      </p:sp>
      <p:sp>
        <p:nvSpPr>
          <p:cNvPr id="16" name="Text 13"/>
          <p:cNvSpPr/>
          <p:nvPr/>
        </p:nvSpPr>
        <p:spPr>
          <a:xfrm>
            <a:off x="493776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Ship the platform CLI with your app. Plan authentication, updates and storage.</a:t>
            </a:r>
            <a:endParaRPr lang="en-US" sz="1100" dirty="0"/>
          </a:p>
        </p:txBody>
      </p:sp>
      <p:sp>
        <p:nvSpPr>
          <p:cNvPr id="17" name="Shape 14"/>
          <p:cNvSpPr/>
          <p:nvPr/>
        </p:nvSpPr>
        <p:spPr>
          <a:xfrm>
            <a:off x="54864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9" name="Shape 16"/>
          <p:cNvSpPr/>
          <p:nvPr/>
        </p:nvSpPr>
        <p:spPr>
          <a:xfrm>
            <a:off x="3383280" y="3063240"/>
            <a:ext cx="914400" cy="228600"/>
          </a:xfrm>
          <a:prstGeom prst="line">
            <a:avLst/>
          </a:prstGeom>
          <a:solidFill>
            <a:srgbClr val="BC8CFF">
              <a:alpha val="20000"/>
            </a:srgbClr>
          </a:solidFill>
          <a:ln>
            <a:noFill/>
          </a:ln>
        </p:spPr>
        <p:txBody>
          <a:bodyPr/>
          <a:lstStyle/>
          <a:p>
            <a:endParaRPr/>
          </a:p>
        </p:txBody>
      </p:sp>
      <p:sp>
        <p:nvSpPr>
          <p:cNvPr id="20" name="Text 17"/>
          <p:cNvSpPr/>
          <p:nvPr/>
        </p:nvSpPr>
        <p:spPr>
          <a:xfrm>
            <a:off x="338328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BC8CFF"/>
                </a:solidFill>
                <a:latin typeface="Calibri" pitchFamily="34" charset="0"/>
                <a:ea typeface="Calibri" pitchFamily="34" charset="-122"/>
                <a:cs typeface="Calibri" pitchFamily="34" charset="-120"/>
              </a:rPr>
              <a:t>Enterprise</a:t>
            </a:r>
            <a:endParaRPr lang="en-US" sz="800" dirty="0"/>
          </a:p>
        </p:txBody>
      </p:sp>
      <p:sp>
        <p:nvSpPr>
          <p:cNvPr id="21" name="Text 18"/>
          <p:cNvSpPr/>
          <p:nvPr/>
        </p:nvSpPr>
        <p:spPr>
          <a:xfrm>
            <a:off x="73152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Backend Services</a:t>
            </a:r>
            <a:endParaRPr lang="en-US" sz="1600" dirty="0"/>
          </a:p>
        </p:txBody>
      </p:sp>
      <p:sp>
        <p:nvSpPr>
          <p:cNvPr id="22" name="Text 19"/>
          <p:cNvSpPr/>
          <p:nvPr/>
        </p:nvSpPr>
        <p:spPr>
          <a:xfrm>
            <a:off x="73152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CLI as headless server over TCP. Web backends, APIs, and microservices.</a:t>
            </a:r>
            <a:endParaRPr lang="en-US" sz="1100" dirty="0"/>
          </a:p>
        </p:txBody>
      </p:sp>
      <p:sp>
        <p:nvSpPr>
          <p:cNvPr id="23" name="Shape 20"/>
          <p:cNvSpPr/>
          <p:nvPr/>
        </p:nvSpPr>
        <p:spPr>
          <a:xfrm>
            <a:off x="475488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5" name="Shape 22"/>
          <p:cNvSpPr/>
          <p:nvPr/>
        </p:nvSpPr>
        <p:spPr>
          <a:xfrm>
            <a:off x="7589520" y="3063240"/>
            <a:ext cx="914400" cy="228600"/>
          </a:xfrm>
          <a:prstGeom prst="line">
            <a:avLst/>
          </a:prstGeom>
          <a:solidFill>
            <a:srgbClr val="F0883E">
              <a:alpha val="20000"/>
            </a:srgbClr>
          </a:solidFill>
          <a:ln>
            <a:noFill/>
          </a:ln>
        </p:spPr>
        <p:txBody>
          <a:bodyPr/>
          <a:lstStyle/>
          <a:p>
            <a:endParaRPr/>
          </a:p>
        </p:txBody>
      </p:sp>
      <p:sp>
        <p:nvSpPr>
          <p:cNvPr id="26" name="Text 23"/>
          <p:cNvSpPr/>
          <p:nvPr/>
        </p:nvSpPr>
        <p:spPr>
          <a:xfrm>
            <a:off x="758952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F0883E"/>
                </a:solidFill>
                <a:latin typeface="Calibri" pitchFamily="34" charset="0"/>
                <a:ea typeface="Calibri" pitchFamily="34" charset="-122"/>
                <a:cs typeface="Calibri" pitchFamily="34" charset="-120"/>
              </a:rPr>
              <a:t>Platform</a:t>
            </a:r>
            <a:endParaRPr lang="en-US" sz="800" dirty="0"/>
          </a:p>
        </p:txBody>
      </p:sp>
      <p:sp>
        <p:nvSpPr>
          <p:cNvPr id="27" name="Text 24"/>
          <p:cNvSpPr/>
          <p:nvPr/>
        </p:nvSpPr>
        <p:spPr>
          <a:xfrm>
            <a:off x="493776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a:t>
            </a:r>
            <a:endParaRPr lang="en-US" sz="1600" dirty="0"/>
          </a:p>
        </p:txBody>
      </p:sp>
      <p:sp>
        <p:nvSpPr>
          <p:cNvPr id="28" name="Text 25"/>
          <p:cNvSpPr/>
          <p:nvPr/>
        </p:nvSpPr>
        <p:spPr>
          <a:xfrm>
            <a:off x="493776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Your app owns tenant isolation, session authorization, routing and concurrency.</a:t>
            </a:r>
            <a:endParaRPr lang="en-US" sz="1100" dirty="0"/>
          </a:p>
        </p:txBody>
      </p:sp>
      <p:sp>
        <p:nvSpPr>
          <p:cNvPr id="31"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19 / 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Microsoft Agent Framework Integration</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Compose Copilot alongside Azure OpenAI, Anthropic, and others in orchestrated workflows</a:t>
            </a:r>
            <a:endParaRPr lang="en-US" sz="1200" dirty="0"/>
          </a:p>
        </p:txBody>
      </p:sp>
      <p:sp>
        <p:nvSpPr>
          <p:cNvPr id="6" name="Text 3"/>
          <p:cNvSpPr/>
          <p:nvPr/>
        </p:nvSpPr>
        <p:spPr>
          <a:xfrm>
            <a:off x="548640" y="12344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Sequential Workflow</a:t>
            </a:r>
            <a:endParaRPr lang="en-US" sz="1400" dirty="0"/>
          </a:p>
        </p:txBody>
      </p:sp>
      <p:sp>
        <p:nvSpPr>
          <p:cNvPr id="7" name="Shape 4"/>
          <p:cNvSpPr/>
          <p:nvPr/>
        </p:nvSpPr>
        <p:spPr>
          <a:xfrm>
            <a:off x="548640" y="1645920"/>
            <a:ext cx="2468880" cy="731520"/>
          </a:xfrm>
          <a:prstGeom prst="line">
            <a:avLst/>
          </a:prstGeom>
          <a:solidFill>
            <a:srgbClr val="161B22"/>
          </a:solidFill>
          <a:ln w="12700">
            <a:prstDash val="solid"/>
          </a:ln>
        </p:spPr>
        <p:txBody>
          <a:bodyPr/>
          <a:lstStyle/>
          <a:p>
            <a:endParaRPr/>
          </a:p>
        </p:txBody>
      </p:sp>
      <p:sp>
        <p:nvSpPr>
          <p:cNvPr id="8" name="Text 5"/>
          <p:cNvSpPr/>
          <p:nvPr/>
        </p:nvSpPr>
        <p:spPr>
          <a:xfrm>
            <a:off x="64008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Copilot Agent</a:t>
            </a:r>
            <a:endParaRPr lang="en-US" sz="1100" dirty="0"/>
          </a:p>
        </p:txBody>
      </p:sp>
      <p:sp>
        <p:nvSpPr>
          <p:cNvPr id="9" name="Text 6"/>
          <p:cNvSpPr/>
          <p:nvPr/>
        </p:nvSpPr>
        <p:spPr>
          <a:xfrm>
            <a:off x="64008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Code Review</a:t>
            </a:r>
            <a:endParaRPr lang="en-US" sz="900" dirty="0"/>
          </a:p>
        </p:txBody>
      </p:sp>
      <p:sp>
        <p:nvSpPr>
          <p:cNvPr id="10" name="Text 7"/>
          <p:cNvSpPr/>
          <p:nvPr/>
        </p:nvSpPr>
        <p:spPr>
          <a:xfrm>
            <a:off x="301752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74720" y="1645920"/>
            <a:ext cx="2468880" cy="731520"/>
          </a:xfrm>
          <a:prstGeom prst="line">
            <a:avLst/>
          </a:prstGeom>
          <a:solidFill>
            <a:srgbClr val="161B22"/>
          </a:solidFill>
          <a:ln w="12700">
            <a:prstDash val="solid"/>
          </a:ln>
        </p:spPr>
        <p:txBody>
          <a:bodyPr/>
          <a:lstStyle/>
          <a:p>
            <a:endParaRPr/>
          </a:p>
        </p:txBody>
      </p:sp>
      <p:sp>
        <p:nvSpPr>
          <p:cNvPr id="12" name="Text 9"/>
          <p:cNvSpPr/>
          <p:nvPr/>
        </p:nvSpPr>
        <p:spPr>
          <a:xfrm>
            <a:off x="356616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Azure Agent</a:t>
            </a:r>
            <a:endParaRPr lang="en-US" sz="1100" dirty="0"/>
          </a:p>
        </p:txBody>
      </p:sp>
      <p:sp>
        <p:nvSpPr>
          <p:cNvPr id="13" name="Text 10"/>
          <p:cNvSpPr/>
          <p:nvPr/>
        </p:nvSpPr>
        <p:spPr>
          <a:xfrm>
            <a:off x="356616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Documentation</a:t>
            </a:r>
            <a:endParaRPr lang="en-US" sz="900" dirty="0"/>
          </a:p>
        </p:txBody>
      </p:sp>
      <p:sp>
        <p:nvSpPr>
          <p:cNvPr id="14" name="Text 11"/>
          <p:cNvSpPr/>
          <p:nvPr/>
        </p:nvSpPr>
        <p:spPr>
          <a:xfrm>
            <a:off x="594360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5" name="Shape 12"/>
          <p:cNvSpPr/>
          <p:nvPr/>
        </p:nvSpPr>
        <p:spPr>
          <a:xfrm>
            <a:off x="6400800" y="1645920"/>
            <a:ext cx="2468880" cy="731520"/>
          </a:xfrm>
          <a:prstGeom prst="line">
            <a:avLst/>
          </a:prstGeom>
          <a:solidFill>
            <a:srgbClr val="161B22"/>
          </a:solidFill>
          <a:ln w="12700">
            <a:prstDash val="solid"/>
          </a:ln>
        </p:spPr>
        <p:txBody>
          <a:bodyPr/>
          <a:lstStyle/>
          <a:p>
            <a:endParaRPr/>
          </a:p>
        </p:txBody>
      </p:sp>
      <p:sp>
        <p:nvSpPr>
          <p:cNvPr id="16" name="Text 13"/>
          <p:cNvSpPr/>
          <p:nvPr/>
        </p:nvSpPr>
        <p:spPr>
          <a:xfrm>
            <a:off x="649224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Combined</a:t>
            </a:r>
            <a:endParaRPr lang="en-US" sz="1100" dirty="0"/>
          </a:p>
        </p:txBody>
      </p:sp>
      <p:sp>
        <p:nvSpPr>
          <p:cNvPr id="17" name="Text 14"/>
          <p:cNvSpPr/>
          <p:nvPr/>
        </p:nvSpPr>
        <p:spPr>
          <a:xfrm>
            <a:off x="649224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Final Output</a:t>
            </a:r>
            <a:endParaRPr lang="en-US" sz="900" dirty="0"/>
          </a:p>
        </p:txBody>
      </p:sp>
      <p:sp>
        <p:nvSpPr>
          <p:cNvPr id="18" name="Text 15"/>
          <p:cNvSpPr/>
          <p:nvPr/>
        </p:nvSpPr>
        <p:spPr>
          <a:xfrm>
            <a:off x="548640" y="26060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Concurrent Workflow</a:t>
            </a:r>
            <a:endParaRPr lang="en-US" sz="1400" dirty="0"/>
          </a:p>
        </p:txBody>
      </p:sp>
      <p:sp>
        <p:nvSpPr>
          <p:cNvPr id="19" name="Shape 16"/>
          <p:cNvSpPr/>
          <p:nvPr/>
        </p:nvSpPr>
        <p:spPr>
          <a:xfrm>
            <a:off x="548640" y="3017520"/>
            <a:ext cx="2468880" cy="548640"/>
          </a:xfrm>
          <a:prstGeom prst="line">
            <a:avLst/>
          </a:prstGeom>
          <a:solidFill>
            <a:srgbClr val="161B22"/>
          </a:solidFill>
          <a:ln w="12700">
            <a:prstDash val="solid"/>
          </a:ln>
        </p:spPr>
        <p:txBody>
          <a:bodyPr/>
          <a:lstStyle/>
          <a:p>
            <a:endParaRPr/>
          </a:p>
        </p:txBody>
      </p:sp>
      <p:sp>
        <p:nvSpPr>
          <p:cNvPr id="20" name="Text 17"/>
          <p:cNvSpPr/>
          <p:nvPr/>
        </p:nvSpPr>
        <p:spPr>
          <a:xfrm>
            <a:off x="64008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Security Reviewer</a:t>
            </a:r>
            <a:endParaRPr lang="en-US" sz="1100" dirty="0"/>
          </a:p>
        </p:txBody>
      </p:sp>
      <p:sp>
        <p:nvSpPr>
          <p:cNvPr id="21" name="Shape 18"/>
          <p:cNvSpPr/>
          <p:nvPr/>
        </p:nvSpPr>
        <p:spPr>
          <a:xfrm>
            <a:off x="3474720" y="3017520"/>
            <a:ext cx="2468880" cy="548640"/>
          </a:xfrm>
          <a:prstGeom prst="line">
            <a:avLst/>
          </a:prstGeom>
          <a:solidFill>
            <a:srgbClr val="161B22"/>
          </a:solidFill>
          <a:ln w="12700">
            <a:prstDash val="solid"/>
          </a:ln>
        </p:spPr>
        <p:txBody>
          <a:bodyPr/>
          <a:lstStyle/>
          <a:p>
            <a:endParaRPr/>
          </a:p>
        </p:txBody>
      </p:sp>
      <p:sp>
        <p:nvSpPr>
          <p:cNvPr id="22" name="Text 19"/>
          <p:cNvSpPr/>
          <p:nvPr/>
        </p:nvSpPr>
        <p:spPr>
          <a:xfrm>
            <a:off x="356616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Performance Reviewer</a:t>
            </a:r>
            <a:endParaRPr lang="en-US" sz="1100" dirty="0"/>
          </a:p>
        </p:txBody>
      </p:sp>
      <p:sp>
        <p:nvSpPr>
          <p:cNvPr id="23" name="Text 20"/>
          <p:cNvSpPr/>
          <p:nvPr/>
        </p:nvSpPr>
        <p:spPr>
          <a:xfrm>
            <a:off x="5852160" y="3017520"/>
            <a:ext cx="457200" cy="54864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24" name="Shape 21"/>
          <p:cNvSpPr/>
          <p:nvPr/>
        </p:nvSpPr>
        <p:spPr>
          <a:xfrm>
            <a:off x="6400800" y="3017520"/>
            <a:ext cx="2286000" cy="548640"/>
          </a:xfrm>
          <a:prstGeom prst="line">
            <a:avLst/>
          </a:prstGeom>
          <a:solidFill>
            <a:srgbClr val="161B22"/>
          </a:solidFill>
          <a:ln w="12700">
            <a:prstDash val="solid"/>
          </a:ln>
        </p:spPr>
        <p:txBody>
          <a:bodyPr/>
          <a:lstStyle/>
          <a:p>
            <a:endParaRPr/>
          </a:p>
        </p:txBody>
      </p:sp>
      <p:sp>
        <p:nvSpPr>
          <p:cNvPr id="25" name="Text 22"/>
          <p:cNvSpPr/>
          <p:nvPr/>
        </p:nvSpPr>
        <p:spPr>
          <a:xfrm>
            <a:off x="6492240" y="3017520"/>
            <a:ext cx="210312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Aggregated Result</a:t>
            </a:r>
            <a:endParaRPr lang="en-US" sz="1100" dirty="0"/>
          </a:p>
        </p:txBody>
      </p:sp>
      <p:pic>
        <p:nvPicPr>
          <p:cNvPr id="26" name="Image 1" descr="preencoded.png"/>
          <p:cNvPicPr>
            <a:picLocks noChangeAspect="1"/>
          </p:cNvPicPr>
          <p:nvPr/>
        </p:nvPicPr>
        <p:blipFill>
          <a:blip r:embed="rId4"/>
          <a:stretch>
            <a:fillRect/>
          </a:stretch>
        </p:blipFill>
        <p:spPr>
          <a:xfrm>
            <a:off x="548640" y="3840480"/>
            <a:ext cx="182880" cy="182880"/>
          </a:xfrm>
          <a:prstGeom prst="rect">
            <a:avLst/>
          </a:prstGeom>
        </p:spPr>
      </p:pic>
      <p:sp>
        <p:nvSpPr>
          <p:cNvPr id="27" name="Text 23"/>
          <p:cNvSpPr/>
          <p:nvPr/>
        </p:nvSpPr>
        <p:spPr>
          <a:xfrm>
            <a:off x="822960" y="384048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Unified successor to Semantic Kernel and AutoGen</a:t>
            </a:r>
            <a:endParaRPr lang="en-US" sz="1100" dirty="0"/>
          </a:p>
        </p:txBody>
      </p:sp>
      <p:pic>
        <p:nvPicPr>
          <p:cNvPr id="28" name="Image 2" descr="preencoded.png"/>
          <p:cNvPicPr>
            <a:picLocks noChangeAspect="1"/>
          </p:cNvPicPr>
          <p:nvPr/>
        </p:nvPicPr>
        <p:blipFill>
          <a:blip r:embed="rId4"/>
          <a:stretch>
            <a:fillRect/>
          </a:stretch>
        </p:blipFill>
        <p:spPr>
          <a:xfrm>
            <a:off x="548640" y="4114800"/>
            <a:ext cx="182880" cy="182880"/>
          </a:xfrm>
          <a:prstGeom prst="rect">
            <a:avLst/>
          </a:prstGeom>
        </p:spPr>
      </p:pic>
      <p:sp>
        <p:nvSpPr>
          <p:cNvPr id="29" name="Text 24"/>
          <p:cNvSpPr/>
          <p:nvPr/>
        </p:nvSpPr>
        <p:spPr>
          <a:xfrm>
            <a:off x="822960" y="411480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Available for .NET and Python</a:t>
            </a:r>
            <a:endParaRPr lang="en-US" sz="1100" dirty="0"/>
          </a:p>
        </p:txBody>
      </p:sp>
      <p:pic>
        <p:nvPicPr>
          <p:cNvPr id="30" name="Image 3" descr="preencoded.png"/>
          <p:cNvPicPr>
            <a:picLocks noChangeAspect="1"/>
          </p:cNvPicPr>
          <p:nvPr/>
        </p:nvPicPr>
        <p:blipFill>
          <a:blip r:embed="rId4"/>
          <a:stretch>
            <a:fillRect/>
          </a:stretch>
        </p:blipFill>
        <p:spPr>
          <a:xfrm>
            <a:off x="548640" y="4389120"/>
            <a:ext cx="182880" cy="182880"/>
          </a:xfrm>
          <a:prstGeom prst="rect">
            <a:avLst/>
          </a:prstGeom>
        </p:spPr>
      </p:pic>
      <p:sp>
        <p:nvSpPr>
          <p:cNvPr id="31" name="Text 25"/>
          <p:cNvSpPr/>
          <p:nvPr/>
        </p:nvSpPr>
        <p:spPr>
          <a:xfrm>
            <a:off x="822960" y="438912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Supports A2A (Agent-to-Agent) protocol</a:t>
            </a:r>
            <a:endParaRPr lang="en-US" sz="1100" dirty="0"/>
          </a:p>
        </p:txBody>
      </p:sp>
      <p:pic>
        <p:nvPicPr>
          <p:cNvPr id="32" name="Image 4" descr="preencoded.png"/>
          <p:cNvPicPr>
            <a:picLocks noChangeAspect="1"/>
          </p:cNvPicPr>
          <p:nvPr/>
        </p:nvPicPr>
        <p:blipFill>
          <a:blip r:embed="rId4"/>
          <a:stretch>
            <a:fillRect/>
          </a:stretch>
        </p:blipFill>
        <p:spPr>
          <a:xfrm>
            <a:off x="548640" y="4663440"/>
            <a:ext cx="182880" cy="182880"/>
          </a:xfrm>
          <a:prstGeom prst="rect">
            <a:avLst/>
          </a:prstGeom>
        </p:spPr>
      </p:pic>
      <p:sp>
        <p:nvSpPr>
          <p:cNvPr id="33" name="Text 26"/>
          <p:cNvSpPr/>
          <p:nvPr/>
        </p:nvSpPr>
        <p:spPr>
          <a:xfrm>
            <a:off x="822960" y="466344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Full streaming support with delta events</a:t>
            </a:r>
            <a:endParaRPr lang="en-US" sz="1100" dirty="0"/>
          </a:p>
        </p:txBody>
      </p:sp>
      <p:sp>
        <p:nvSpPr>
          <p:cNvPr id="36"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20 / 28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01: Streaming Chat</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Typed delta events for output; send_and_wait for bounded completion and error propagation</a:t>
            </a:r>
            <a:endParaRPr lang="en-US" sz="1200" dirty="0"/>
          </a:p>
        </p:txBody>
      </p:sp>
      <p:sp>
        <p:nvSpPr>
          <p:cNvPr id="6" name="Shape 3"/>
          <p:cNvSpPr/>
          <p:nvPr/>
        </p:nvSpPr>
        <p:spPr>
          <a:xfrm>
            <a:off x="548640" y="1143000"/>
            <a:ext cx="3931920" cy="329184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events</a:t>
            </a:r>
            <a:endParaRPr lang="en-US" sz="900" dirty="0"/>
          </a:p>
        </p:txBody>
      </p:sp>
      <p:sp>
        <p:nvSpPr>
          <p:cNvPr id="9" name="Text 6"/>
          <p:cNvSpPr/>
          <p:nvPr/>
        </p:nvSpPr>
        <p:spPr>
          <a:xfrm>
            <a:off x="685800" y="1463040"/>
            <a:ext cx="3657600" cy="3200400"/>
          </a:xfrm>
          <a:prstGeom prst="rect">
            <a:avLst/>
          </a:prstGeom>
          <a:noFill/>
          <a:ln>
            <a:noFill/>
          </a:ln>
        </p:spPr>
        <p:txBody>
          <a:bodyPr wrap="none" lIns="25400" tIns="25400" rIns="25400" bIns="25400" rtlCol="0" anchor="t"/>
          <a:lstStyle/>
          <a:p>
            <a:pPr algn="l">
              <a:lnSpc>
                <a:spcPts val="1045"/>
              </a:lnSpc>
              <a:spcBef>
                <a:spcPts val="0"/>
              </a:spcBef>
              <a:spcAft>
                <a:spcPts val="0"/>
              </a:spcAft>
            </a:pPr>
            <a:r>
              <a:rPr sz="950">
                <a:solidFill>
                  <a:srgbClr val="E6EDF3"/>
                </a:solidFill>
                <a:latin typeface="Courier New"/>
              </a:rPr>
              <a:t xml:space="preserve">from copilot import CopilotClient</a:t>
            </a:r>
          </a:p>
          <a:p>
            <a:pPr algn="l">
              <a:lnSpc>
                <a:spcPts val="1045"/>
              </a:lnSpc>
              <a:spcBef>
                <a:spcPts val="0"/>
              </a:spcBef>
              <a:spcAft>
                <a:spcPts val="0"/>
              </a:spcAft>
            </a:pPr>
            <a:r>
              <a:rPr sz="950">
                <a:solidFill>
                  <a:srgbClr val="E6EDF3"/>
                </a:solidFill>
                <a:latin typeface="Courier New"/>
              </a:rPr>
              <a:t xml:space="preserve">from copilot.session import (</a:t>
            </a:r>
          </a:p>
          <a:p>
            <a:pPr algn="l">
              <a:lnSpc>
                <a:spcPts val="1045"/>
              </a:lnSpc>
              <a:spcBef>
                <a:spcPts val="0"/>
              </a:spcBef>
              <a:spcAft>
                <a:spcPts val="0"/>
              </a:spcAft>
            </a:pPr>
            <a:r>
              <a:rPr sz="950">
                <a:solidFill>
                  <a:srgbClr val="E6EDF3"/>
                </a:solidFill>
                <a:latin typeface="Courier New"/>
              </a:rPr>
              <a:t xml:space="preserve">    PermissionHandler,</a:t>
            </a:r>
          </a:p>
          <a:p>
            <a:pPr algn="l">
              <a:lnSpc>
                <a:spcPts val="1045"/>
              </a:lnSpc>
              <a:spcBef>
                <a:spcPts val="0"/>
              </a:spcBef>
              <a:spcAft>
                <a:spcPts val="0"/>
              </a:spcAft>
            </a:pPr>
            <a:r>
              <a:rPr sz="950">
                <a:solidFill>
                  <a:srgbClr val="E6EDF3"/>
                </a:solidFill>
                <a:latin typeface="Courier New"/>
              </a:rPr>
              <a:t xml:space="preserve">)</a:t>
            </a:r>
          </a:p>
          <a:p>
            <a:pPr algn="l">
              <a:lnSpc>
                <a:spcPts val="1045"/>
              </a:lnSpc>
              <a:spcBef>
                <a:spcPts val="0"/>
              </a:spcBef>
              <a:spcAft>
                <a:spcPts val="0"/>
              </a:spcAft>
            </a:pPr>
            <a:r>
              <a:rPr sz="950">
                <a:solidFill>
                  <a:srgbClr val="E6EDF3"/>
                </a:solidFill>
                <a:latin typeface="Courier New"/>
              </a:rPr>
              <a:t xml:space="preserve">from copilot.session_events import (</a:t>
            </a:r>
          </a:p>
          <a:p>
            <a:pPr algn="l">
              <a:lnSpc>
                <a:spcPts val="1045"/>
              </a:lnSpc>
              <a:spcBef>
                <a:spcPts val="0"/>
              </a:spcBef>
              <a:spcAft>
                <a:spcPts val="0"/>
              </a:spcAft>
            </a:pPr>
            <a:r>
              <a:rPr sz="950">
                <a:solidFill>
                  <a:srgbClr val="E6EDF3"/>
                </a:solidFill>
                <a:latin typeface="Courier New"/>
              </a:rPr>
              <a:t xml:space="preserve">    AssistantMessageDeltaData,</a:t>
            </a:r>
          </a:p>
          <a:p>
            <a:pPr algn="l">
              <a:lnSpc>
                <a:spcPts val="1045"/>
              </a:lnSpc>
              <a:spcBef>
                <a:spcPts val="0"/>
              </a:spcBef>
              <a:spcAft>
                <a:spcPts val="0"/>
              </a:spcAft>
            </a:pPr>
            <a:r>
              <a:rPr sz="950">
                <a:solidFill>
                  <a:srgbClr val="E6EDF3"/>
                </a:solidFill>
                <a:latin typeface="Courier New"/>
              </a:rPr>
              <a:t xml:space="preserve">)</a:t>
            </a:r>
          </a:p>
          <a:p>
            <a:pPr algn="l">
              <a:lnSpc>
                <a:spcPts val="1045"/>
              </a:lnSpc>
              <a:spcBef>
                <a:spcPts val="0"/>
              </a:spcBef>
              <a:spcAft>
                <a:spcPts val="0"/>
              </a:spcAft>
            </a:pPr>
            <a:r>
              <a:rPr sz="950">
                <a:solidFill>
                  <a:srgbClr val="E6EDF3"/>
                </a:solidFill>
                <a:latin typeface="Courier New"/>
              </a:rPr>
              <a:t xml:space="preserve">def on_event(event):</a:t>
            </a:r>
          </a:p>
          <a:p>
            <a:pPr algn="l">
              <a:lnSpc>
                <a:spcPts val="1045"/>
              </a:lnSpc>
              <a:spcBef>
                <a:spcPts val="0"/>
              </a:spcBef>
              <a:spcAft>
                <a:spcPts val="0"/>
              </a:spcAft>
            </a:pPr>
            <a:r>
              <a:rPr sz="950">
                <a:solidFill>
                  <a:srgbClr val="E6EDF3"/>
                </a:solidFill>
                <a:latin typeface="Courier New"/>
              </a:rPr>
              <a:t xml:space="preserve">    match event.data:</a:t>
            </a:r>
          </a:p>
          <a:p>
            <a:pPr algn="l">
              <a:lnSpc>
                <a:spcPts val="1045"/>
              </a:lnSpc>
              <a:spcBef>
                <a:spcPts val="0"/>
              </a:spcBef>
              <a:spcAft>
                <a:spcPts val="0"/>
              </a:spcAft>
            </a:pPr>
            <a:r>
              <a:rPr sz="950">
                <a:solidFill>
                  <a:srgbClr val="E6EDF3"/>
                </a:solidFill>
                <a:latin typeface="Courier New"/>
              </a:rPr>
              <a:t xml:space="preserve">        case AssistantMessageDeltaData() as d:</a:t>
            </a:r>
          </a:p>
          <a:p>
            <a:pPr algn="l">
              <a:lnSpc>
                <a:spcPts val="1045"/>
              </a:lnSpc>
              <a:spcBef>
                <a:spcPts val="0"/>
              </a:spcBef>
              <a:spcAft>
                <a:spcPts val="0"/>
              </a:spcAft>
            </a:pPr>
            <a:r>
              <a:rPr sz="950">
                <a:solidFill>
                  <a:srgbClr val="E6EDF3"/>
                </a:solidFill>
                <a:latin typeface="Courier New"/>
              </a:rPr>
              <a:t xml:space="preserve">            print(d.delta_content or "",</a:t>
            </a:r>
          </a:p>
          <a:p>
            <a:pPr algn="l">
              <a:lnSpc>
                <a:spcPts val="1045"/>
              </a:lnSpc>
              <a:spcBef>
                <a:spcPts val="0"/>
              </a:spcBef>
              <a:spcAft>
                <a:spcPts val="0"/>
              </a:spcAft>
            </a:pPr>
            <a:r>
              <a:rPr sz="950">
                <a:solidFill>
                  <a:srgbClr val="E6EDF3"/>
                </a:solidFill>
                <a:latin typeface="Courier New"/>
              </a:rPr>
              <a:t xml:space="preserve">                  end="", flush=True)</a:t>
            </a:r>
          </a:p>
        </p:txBody>
      </p:sp>
      <p:sp>
        <p:nvSpPr>
          <p:cNvPr id="10" name="Shape 7"/>
          <p:cNvSpPr/>
          <p:nvPr/>
        </p:nvSpPr>
        <p:spPr>
          <a:xfrm>
            <a:off x="4663440" y="1143000"/>
            <a:ext cx="3931920" cy="3291840"/>
          </a:xfrm>
          <a:prstGeom prst="line">
            <a:avLst/>
          </a:prstGeom>
          <a:solidFill>
            <a:srgbClr val="161B22"/>
          </a:solidFill>
          <a:ln w="12700">
            <a:prstDash val="solid"/>
          </a:ln>
        </p:spPr>
        <p:txBody>
          <a:bodyPr/>
          <a:lstStyle/>
          <a:p>
            <a:endParaRPr/>
          </a:p>
        </p:txBody>
      </p:sp>
      <p:sp>
        <p:nvSpPr>
          <p:cNvPr id="11" name="Shape 8"/>
          <p:cNvSpPr/>
          <p:nvPr/>
        </p:nvSpPr>
        <p:spPr>
          <a:xfrm>
            <a:off x="4663440" y="1143000"/>
            <a:ext cx="1371600" cy="256032"/>
          </a:xfrm>
          <a:prstGeom prst="line">
            <a:avLst/>
          </a:prstGeom>
          <a:solidFill>
            <a:srgbClr val="1F6FEB"/>
          </a:solidFill>
          <a:ln w="6350">
            <a:solidFill>
              <a:srgbClr val="30363D"/>
            </a:solidFill>
          </a:ln>
        </p:spPr>
        <p:txBody>
          <a:bodyPr/>
          <a:lstStyle/>
          <a:p>
            <a:endParaRPr/>
          </a:p>
        </p:txBody>
      </p:sp>
      <p:sp>
        <p:nvSpPr>
          <p:cNvPr id="12" name="Text 9"/>
          <p:cNvSpPr/>
          <p:nvPr/>
        </p:nvSpPr>
        <p:spPr>
          <a:xfrm>
            <a:off x="46634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session</a:t>
            </a:r>
            <a:endParaRPr lang="en-US" sz="900" dirty="0"/>
          </a:p>
        </p:txBody>
      </p:sp>
      <p:sp>
        <p:nvSpPr>
          <p:cNvPr id="13" name="Text 10"/>
          <p:cNvSpPr/>
          <p:nvPr/>
        </p:nvSpPr>
        <p:spPr>
          <a:xfrm>
            <a:off x="4800600" y="1463040"/>
            <a:ext cx="3657600" cy="3200400"/>
          </a:xfrm>
          <a:prstGeom prst="rect">
            <a:avLst/>
          </a:prstGeom>
          <a:noFill/>
          <a:ln>
            <a:noFill/>
          </a:ln>
        </p:spPr>
        <p:txBody>
          <a:bodyPr wrap="none" lIns="25400" tIns="25400" rIns="25400" bIns="25400" rtlCol="0" anchor="t"/>
          <a:lstStyle/>
          <a:p>
            <a:pPr algn="l">
              <a:lnSpc>
                <a:spcPts val="1155"/>
              </a:lnSpc>
              <a:spcBef>
                <a:spcPts val="0"/>
              </a:spcBef>
              <a:spcAft>
                <a:spcPts val="0"/>
              </a:spcAft>
            </a:pPr>
            <a:r>
              <a:rPr sz="1050">
                <a:solidFill>
                  <a:srgbClr val="E6EDF3"/>
                </a:solidFill>
                <a:latin typeface="Courier New"/>
              </a:rPr>
              <a:t xml:space="preserve">async with CopilotClient() as client:</a:t>
            </a:r>
          </a:p>
          <a:p>
            <a:pPr algn="l">
              <a:lnSpc>
                <a:spcPts val="1155"/>
              </a:lnSpc>
              <a:spcBef>
                <a:spcPts val="0"/>
              </a:spcBef>
              <a:spcAft>
                <a:spcPts val="0"/>
              </a:spcAft>
            </a:pPr>
            <a:r>
              <a:rPr sz="1050">
                <a:solidFill>
                  <a:srgbClr val="E6EDF3"/>
                </a:solidFill>
                <a:latin typeface="Courier New"/>
              </a:rPr>
              <a:t xml:space="preserve">    async with await client.create_session(</a:t>
            </a:r>
          </a:p>
          <a:p>
            <a:pPr algn="l">
              <a:lnSpc>
                <a:spcPts val="1155"/>
              </a:lnSpc>
              <a:spcBef>
                <a:spcPts val="0"/>
              </a:spcBef>
              <a:spcAft>
                <a:spcPts val="0"/>
              </a:spcAft>
            </a:pPr>
            <a:r>
              <a:rPr sz="1050">
                <a:solidFill>
                  <a:srgbClr val="E6EDF3"/>
                </a:solidFill>
                <a:latin typeface="Courier New"/>
              </a:rPr>
              <a:t xml:space="preserve">        model="gpt-5-mini",</a:t>
            </a:r>
          </a:p>
          <a:p>
            <a:pPr algn="l">
              <a:lnSpc>
                <a:spcPts val="1155"/>
              </a:lnSpc>
              <a:spcBef>
                <a:spcPts val="0"/>
              </a:spcBef>
              <a:spcAft>
                <a:spcPts val="0"/>
              </a:spcAft>
            </a:pPr>
            <a:r>
              <a:rPr sz="1050">
                <a:solidFill>
                  <a:srgbClr val="E6EDF3"/>
                </a:solidFill>
                <a:latin typeface="Courier New"/>
              </a:rPr>
              <a:t xml:space="preserve">        streaming=True,</a:t>
            </a:r>
          </a:p>
          <a:p>
            <a:pPr algn="l">
              <a:lnSpc>
                <a:spcPts val="1155"/>
              </a:lnSpc>
              <a:spcBef>
                <a:spcPts val="0"/>
              </a:spcBef>
              <a:spcAft>
                <a:spcPts val="0"/>
              </a:spcAft>
            </a:pPr>
            <a:r>
              <a:rPr sz="1050">
                <a:solidFill>
                  <a:srgbClr val="E6EDF3"/>
                </a:solidFill>
                <a:latin typeface="Courier New"/>
              </a:rPr>
              <a:t xml:space="preserve">        available_tools=[],</a:t>
            </a:r>
          </a:p>
          <a:p>
            <a:pPr algn="l">
              <a:lnSpc>
                <a:spcPts val="1155"/>
              </a:lnSpc>
              <a:spcBef>
                <a:spcPts val="0"/>
              </a:spcBef>
              <a:spcAft>
                <a:spcPts val="0"/>
              </a:spcAft>
            </a:pPr>
            <a:r>
              <a:rPr sz="1050">
                <a:solidFill>
                  <a:srgbClr val="E6EDF3"/>
                </a:solidFill>
                <a:latin typeface="Courier New"/>
              </a:rPr>
              <a:t xml:space="preserve">        on_permission_request=</a:t>
            </a:r>
          </a:p>
          <a:p>
            <a:pPr algn="l">
              <a:lnSpc>
                <a:spcPts val="1155"/>
              </a:lnSpc>
              <a:spcBef>
                <a:spcPts val="0"/>
              </a:spcBef>
              <a:spcAft>
                <a:spcPts val="0"/>
              </a:spcAft>
            </a:pPr>
            <a:r>
              <a:rPr sz="1050">
                <a:solidFill>
                  <a:srgbClr val="E6EDF3"/>
                </a:solidFill>
                <a:latin typeface="Courier New"/>
              </a:rPr>
              <a:t xml:space="preserve">            PermissionHandler.approve_all,</a:t>
            </a:r>
          </a:p>
          <a:p>
            <a:pPr algn="l">
              <a:lnSpc>
                <a:spcPts val="1155"/>
              </a:lnSpc>
              <a:spcBef>
                <a:spcPts val="0"/>
              </a:spcBef>
              <a:spcAft>
                <a:spcPts val="0"/>
              </a:spcAft>
            </a:pPr>
            <a:r>
              <a:rPr sz="1050">
                <a:solidFill>
                  <a:srgbClr val="E6EDF3"/>
                </a:solidFill>
                <a:latin typeface="Courier New"/>
              </a:rPr>
              <a:t xml:space="preserve">    ) as session:</a:t>
            </a:r>
          </a:p>
          <a:p>
            <a:pPr algn="l">
              <a:lnSpc>
                <a:spcPts val="1155"/>
              </a:lnSpc>
              <a:spcBef>
                <a:spcPts val="0"/>
              </a:spcBef>
              <a:spcAft>
                <a:spcPts val="0"/>
              </a:spcAft>
            </a:pPr>
            <a:r>
              <a:rPr sz="1050">
                <a:solidFill>
                  <a:srgbClr val="E6EDF3"/>
                </a:solidFill>
                <a:latin typeface="Courier New"/>
              </a:rPr>
              <a:t xml:space="preserve">        session.on(on_event)</a:t>
            </a:r>
          </a:p>
          <a:p>
            <a:pPr algn="l">
              <a:lnSpc>
                <a:spcPts val="1155"/>
              </a:lnSpc>
              <a:spcBef>
                <a:spcPts val="0"/>
              </a:spcBef>
              <a:spcAft>
                <a:spcPts val="0"/>
              </a:spcAft>
            </a:pPr>
            <a:r>
              <a:rPr sz="1050">
                <a:solidFill>
                  <a:srgbClr val="E6EDF3"/>
                </a:solidFill>
                <a:latin typeface="Courier New"/>
              </a:rPr>
              <a:t xml:space="preserve">        await session.send_and_wait(</a:t>
            </a:r>
          </a:p>
          <a:p>
            <a:pPr algn="l">
              <a:lnSpc>
                <a:spcPts val="1155"/>
              </a:lnSpc>
              <a:spcBef>
                <a:spcPts val="0"/>
              </a:spcBef>
              <a:spcAft>
                <a:spcPts val="0"/>
              </a:spcAft>
            </a:pPr>
            <a:r>
              <a:rPr sz="1050">
                <a:solidFill>
                  <a:srgbClr val="E6EDF3"/>
                </a:solidFill>
                <a:latin typeface="Courier New"/>
              </a:rPr>
              <a:t xml:space="preserve">            "Explain the SDK briefly.",</a:t>
            </a:r>
          </a:p>
          <a:p>
            <a:pPr algn="l">
              <a:lnSpc>
                <a:spcPts val="1155"/>
              </a:lnSpc>
              <a:spcBef>
                <a:spcPts val="0"/>
              </a:spcBef>
              <a:spcAft>
                <a:spcPts val="0"/>
              </a:spcAft>
            </a:pPr>
            <a:r>
              <a:rPr sz="1050">
                <a:solidFill>
                  <a:srgbClr val="E6EDF3"/>
                </a:solidFill>
                <a:latin typeface="Courier New"/>
              </a:rPr>
              <a:t xml:space="preserve">            timeout=120,</a:t>
            </a:r>
          </a:p>
          <a:p>
            <a:pPr algn="l">
              <a:lnSpc>
                <a:spcPts val="1155"/>
              </a:lnSpc>
              <a:spcBef>
                <a:spcPts val="0"/>
              </a:spcBef>
              <a:spcAft>
                <a:spcPts val="0"/>
              </a:spcAft>
            </a:pPr>
            <a:r>
              <a:rPr sz="1050">
                <a:solidFill>
                  <a:srgbClr val="E6EDF3"/>
                </a:solidFill>
                <a:latin typeface="Courier New"/>
              </a:rPr>
              <a:t xml:space="preserve">        )</a:t>
            </a:r>
          </a:p>
          <a:p>
            <a:pPr algn="l">
              <a:lnSpc>
                <a:spcPts val="1155"/>
              </a:lnSpc>
              <a:spcBef>
                <a:spcPts val="0"/>
              </a:spcBef>
              <a:spcAft>
                <a:spcPts val="0"/>
              </a:spcAft>
            </a:pPr>
            <a:r>
              <a:rPr sz="1050">
                <a:solidFill>
                  <a:srgbClr val="E6EDF3"/>
                </a:solidFill>
                <a:latin typeface="Courier New"/>
              </a:rPr>
              <a:t xml:space="preserve">        print()</a:t>
            </a:r>
          </a:p>
          <a:p>
            <a:pPr algn="l">
              <a:lnSpc>
                <a:spcPts val="1155"/>
              </a:lnSpc>
              <a:spcBef>
                <a:spcPts val="0"/>
              </a:spcBef>
              <a:spcAft>
                <a:spcPts val="0"/>
              </a:spcAft>
            </a:pPr>
            <a:r>
              <a:rPr sz="1050">
                <a:solidFill>
                  <a:srgbClr val="E6EDF3"/>
                </a:solidFill>
                <a:latin typeface="Courier New"/>
              </a:rPr>
              <a:t xml:space="preserve"># Run inside asyncio.run(main()).</a:t>
            </a:r>
          </a:p>
        </p:txBody>
      </p:sp>
      <p:sp>
        <p:nvSpPr>
          <p:cNvPr id="14" name="Shape 11"/>
          <p:cNvSpPr/>
          <p:nvPr/>
        </p:nvSpPr>
        <p:spPr>
          <a:xfrm>
            <a:off x="548640" y="4526280"/>
            <a:ext cx="8046720" cy="274320"/>
          </a:xfrm>
          <a:prstGeom prst="line">
            <a:avLst/>
          </a:prstGeom>
          <a:solidFill>
            <a:srgbClr val="161B22"/>
          </a:solidFill>
          <a:ln w="12700">
            <a:prstDash val="solid"/>
          </a:ln>
        </p:spPr>
        <p:txBody>
          <a:bodyPr/>
          <a:lstStyle/>
          <a:p>
            <a:endParaRPr/>
          </a:p>
        </p:txBody>
      </p:sp>
      <p:sp>
        <p:nvSpPr>
          <p:cNvPr id="15" name="Text 12"/>
          <p:cNvSpPr/>
          <p:nvPr/>
        </p:nvSpPr>
        <p:spPr>
          <a:xfrm>
            <a:off x="548640" y="4526280"/>
            <a:ext cx="8046720" cy="274320"/>
          </a:xfrm>
          <a:prstGeom prst="rect">
            <a:avLst/>
          </a:prstGeom>
          <a:noFill/>
          <a:ln>
            <a:noFill/>
          </a:ln>
        </p:spPr>
        <p:txBody>
          <a:bodyPr wrap="square" lIns="0" tIns="0" rIns="0" bIns="0" rtlCol="0" anchor="ctr"/>
          <a:lstStyle/>
          <a:p>
            <a:pPr marL="0" indent="0">
              <a:buNone/>
            </a:pPr>
            <a:r>
              <a:rPr lang="en-US" sz="1000" b="1" dirty="0">
                <a:solidFill>
                  <a:srgbClr val="3FB950"/>
                </a:solidFill>
                <a:latin typeface="Calibri" pitchFamily="34" charset="0"/>
                <a:ea typeface="Calibri" pitchFamily="34" charset="-122"/>
                <a:cs typeface="Calibri" pitchFamily="34" charset="-120"/>
              </a:rPr>
              <a:t xml:space="preserve">Run: </a:t>
            </a:r>
            <a:r>
              <a:rPr lang="en-US" sz="1000" dirty="0">
                <a:solidFill>
                  <a:srgbClr val="C9D1D9"/>
                </a:solidFill>
                <a:latin typeface="Calibri" pitchFamily="34" charset="0"/>
                <a:ea typeface="Calibri" pitchFamily="34" charset="-122"/>
                <a:cs typeface="Calibri" pitchFamily="34" charset="-120"/>
              </a:rPr>
              <a:t>python examples/01_simple_chat.py. The full prototype also declares optional client_info.</a:t>
            </a:r>
            <a:endParaRPr lang="en-US" sz="1000" dirty="0"/>
          </a:p>
        </p:txBody>
      </p:sp>
      <p:sp>
        <p:nvSpPr>
          <p:cNvPr id="18" name="Text 1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21 / 28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02: Custom Weather Tool</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A Pydantic schema plus an async handler; simulated weather, not a live weather service</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155"/>
              </a:lnSpc>
              <a:spcBef>
                <a:spcPts val="0"/>
              </a:spcBef>
              <a:spcAft>
                <a:spcPts val="0"/>
              </a:spcAft>
            </a:pPr>
            <a:r>
              <a:rPr sz="1050">
                <a:solidFill>
                  <a:srgbClr val="E6EDF3"/>
                </a:solidFill>
                <a:latin typeface="Courier New"/>
              </a:rPr>
              <a:t xml:space="preserve">import random</a:t>
            </a:r>
          </a:p>
          <a:p>
            <a:pPr algn="l">
              <a:lnSpc>
                <a:spcPts val="1155"/>
              </a:lnSpc>
              <a:spcBef>
                <a:spcPts val="0"/>
              </a:spcBef>
              <a:spcAft>
                <a:spcPts val="0"/>
              </a:spcAft>
            </a:pPr>
            <a:r>
              <a:rPr sz="1050">
                <a:solidFill>
                  <a:srgbClr val="E6EDF3"/>
                </a:solidFill>
                <a:latin typeface="Courier New"/>
              </a:rPr>
              <a:t xml:space="preserve">from copilot import CopilotClient, define_tool</a:t>
            </a:r>
          </a:p>
          <a:p>
            <a:pPr algn="l">
              <a:lnSpc>
                <a:spcPts val="1155"/>
              </a:lnSpc>
              <a:spcBef>
                <a:spcPts val="0"/>
              </a:spcBef>
              <a:spcAft>
                <a:spcPts val="0"/>
              </a:spcAft>
            </a:pPr>
            <a:r>
              <a:rPr sz="1050">
                <a:solidFill>
                  <a:srgbClr val="E6EDF3"/>
                </a:solidFill>
                <a:latin typeface="Courier New"/>
              </a:rPr>
              <a:t xml:space="preserve">from copilot.session import PermissionHandler</a:t>
            </a:r>
          </a:p>
          <a:p>
            <a:pPr algn="l">
              <a:lnSpc>
                <a:spcPts val="1155"/>
              </a:lnSpc>
              <a:spcBef>
                <a:spcPts val="0"/>
              </a:spcBef>
              <a:spcAft>
                <a:spcPts val="0"/>
              </a:spcAft>
            </a:pPr>
            <a:r>
              <a:rPr sz="1050">
                <a:solidFill>
                  <a:srgbClr val="E6EDF3"/>
                </a:solidFill>
                <a:latin typeface="Courier New"/>
              </a:rPr>
              <a:t xml:space="preserve">from pydantic import BaseModel, Field</a:t>
            </a:r>
          </a:p>
          <a:p>
            <a:pPr algn="l">
              <a:lnSpc>
                <a:spcPts val="1155"/>
              </a:lnSpc>
              <a:spcBef>
                <a:spcPts val="0"/>
              </a:spcBef>
              <a:spcAft>
                <a:spcPts val="0"/>
              </a:spcAft>
            </a:pPr>
            <a:r>
              <a:rPr sz="1050">
                <a:solidFill>
                  <a:srgbClr val="E6EDF3"/>
                </a:solidFill>
                <a:latin typeface="Courier New"/>
              </a:rPr>
              <a:t xml:space="preserve">class WeatherParams(BaseModel):</a:t>
            </a:r>
          </a:p>
          <a:p>
            <a:pPr algn="l">
              <a:lnSpc>
                <a:spcPts val="1155"/>
              </a:lnSpc>
              <a:spcBef>
                <a:spcPts val="0"/>
              </a:spcBef>
              <a:spcAft>
                <a:spcPts val="0"/>
              </a:spcAft>
            </a:pPr>
            <a:r>
              <a:rPr sz="1050">
                <a:solidFill>
                  <a:srgbClr val="E6EDF3"/>
                </a:solidFill>
                <a:latin typeface="Courier New"/>
              </a:rPr>
              <a:t xml:space="preserve">    city: str = Field(description="City name, e.g. Seattle")</a:t>
            </a:r>
          </a:p>
          <a:p>
            <a:pPr algn="l">
              <a:lnSpc>
                <a:spcPts val="1155"/>
              </a:lnSpc>
              <a:spcBef>
                <a:spcPts val="0"/>
              </a:spcBef>
              <a:spcAft>
                <a:spcPts val="0"/>
              </a:spcAft>
            </a:pPr>
            <a:r>
              <a:rPr sz="1050">
                <a:solidFill>
                  <a:srgbClr val="E6EDF3"/>
                </a:solidFill>
                <a:latin typeface="Courier New"/>
              </a:rPr>
              <a:t xml:space="preserve">@define_tool(description="Get simulated weather for a city")</a:t>
            </a:r>
          </a:p>
          <a:p>
            <a:pPr algn="l">
              <a:lnSpc>
                <a:spcPts val="1155"/>
              </a:lnSpc>
              <a:spcBef>
                <a:spcPts val="0"/>
              </a:spcBef>
              <a:spcAft>
                <a:spcPts val="0"/>
              </a:spcAft>
            </a:pPr>
            <a:r>
              <a:rPr sz="1050">
                <a:solidFill>
                  <a:srgbClr val="E6EDF3"/>
                </a:solidFill>
                <a:latin typeface="Courier New"/>
              </a:rPr>
              <a:t xml:space="preserve">async def get_weather(params: WeatherParams) -&gt; dict:</a:t>
            </a:r>
          </a:p>
          <a:p>
            <a:pPr algn="l">
              <a:lnSpc>
                <a:spcPts val="1155"/>
              </a:lnSpc>
              <a:spcBef>
                <a:spcPts val="0"/>
              </a:spcBef>
              <a:spcAft>
                <a:spcPts val="0"/>
              </a:spcAft>
            </a:pPr>
            <a:r>
              <a:rPr sz="1050">
                <a:solidFill>
                  <a:srgbClr val="E6EDF3"/>
                </a:solidFill>
                <a:latin typeface="Courier New"/>
              </a:rPr>
              <a:t xml:space="preserve">    return {"city": params.city, "temperature_c": random.randint(-5, 35),</a:t>
            </a:r>
          </a:p>
          <a:p>
            <a:pPr algn="l">
              <a:lnSpc>
                <a:spcPts val="1155"/>
              </a:lnSpc>
              <a:spcBef>
                <a:spcPts val="0"/>
              </a:spcBef>
              <a:spcAft>
                <a:spcPts val="0"/>
              </a:spcAft>
            </a:pPr>
            <a:r>
              <a:rPr sz="1050">
                <a:solidFill>
                  <a:srgbClr val="E6EDF3"/>
                </a:solidFill>
                <a:latin typeface="Courier New"/>
              </a:rPr>
              <a:t xml:space="preserve">            "condition": random.choice(["sunny", "cloudy", "rainy"])}</a:t>
            </a:r>
          </a:p>
          <a:p>
            <a:pPr algn="l">
              <a:lnSpc>
                <a:spcPts val="1155"/>
              </a:lnSpc>
              <a:spcBef>
                <a:spcPts val="0"/>
              </a:spcBef>
              <a:spcAft>
                <a:spcPts val="0"/>
              </a:spcAft>
            </a:pPr>
            <a:r>
              <a:rPr sz="1050">
                <a:solidFill>
                  <a:srgbClr val="E6EDF3"/>
                </a:solidFill>
                <a:latin typeface="Courier New"/>
              </a:rPr>
              <a:t xml:space="preserve">async with CopilotClient() as client:</a:t>
            </a:r>
          </a:p>
          <a:p>
            <a:pPr algn="l">
              <a:lnSpc>
                <a:spcPts val="1155"/>
              </a:lnSpc>
              <a:spcBef>
                <a:spcPts val="0"/>
              </a:spcBef>
              <a:spcAft>
                <a:spcPts val="0"/>
              </a:spcAft>
            </a:pPr>
            <a:r>
              <a:rPr sz="1050">
                <a:solidFill>
                  <a:srgbClr val="E6EDF3"/>
                </a:solidFill>
                <a:latin typeface="Courier New"/>
              </a:rPr>
              <a:t xml:space="preserve">    async with await client.create_session(</a:t>
            </a:r>
          </a:p>
          <a:p>
            <a:pPr algn="l">
              <a:lnSpc>
                <a:spcPts val="1155"/>
              </a:lnSpc>
              <a:spcBef>
                <a:spcPts val="0"/>
              </a:spcBef>
              <a:spcAft>
                <a:spcPts val="0"/>
              </a:spcAft>
            </a:pPr>
            <a:r>
              <a:rPr sz="1050">
                <a:solidFill>
                  <a:srgbClr val="E6EDF3"/>
                </a:solidFill>
                <a:latin typeface="Courier New"/>
              </a:rPr>
              <a:t xml:space="preserve">        model="gpt-5-mini", tools=[get_weather],</a:t>
            </a:r>
          </a:p>
          <a:p>
            <a:pPr algn="l">
              <a:lnSpc>
                <a:spcPts val="1155"/>
              </a:lnSpc>
              <a:spcBef>
                <a:spcPts val="0"/>
              </a:spcBef>
              <a:spcAft>
                <a:spcPts val="0"/>
              </a:spcAft>
            </a:pPr>
            <a:r>
              <a:rPr sz="1050">
                <a:solidFill>
                  <a:srgbClr val="E6EDF3"/>
                </a:solidFill>
                <a:latin typeface="Courier New"/>
              </a:rPr>
              <a:t xml:space="preserve">        available_tools=["custom:get_weather"],</a:t>
            </a:r>
          </a:p>
          <a:p>
            <a:pPr algn="l">
              <a:lnSpc>
                <a:spcPts val="1155"/>
              </a:lnSpc>
              <a:spcBef>
                <a:spcPts val="0"/>
              </a:spcBef>
              <a:spcAft>
                <a:spcPts val="0"/>
              </a:spcAft>
            </a:pPr>
            <a:r>
              <a:rPr sz="1050">
                <a:solidFill>
                  <a:srgbClr val="E6EDF3"/>
                </a:solidFill>
                <a:latin typeface="Courier New"/>
              </a:rPr>
              <a:t xml:space="preserve">        on_permission_request=PermissionHandler.approve_all,</a:t>
            </a:r>
          </a:p>
          <a:p>
            <a:pPr algn="l">
              <a:lnSpc>
                <a:spcPts val="1155"/>
              </a:lnSpc>
              <a:spcBef>
                <a:spcPts val="0"/>
              </a:spcBef>
              <a:spcAft>
                <a:spcPts val="0"/>
              </a:spcAft>
            </a:pPr>
            <a:r>
              <a:rPr sz="1050">
                <a:solidFill>
                  <a:srgbClr val="E6EDF3"/>
                </a:solidFill>
                <a:latin typeface="Courier New"/>
              </a:rPr>
              <a:t xml:space="preserve">    ) as session:</a:t>
            </a:r>
          </a:p>
          <a:p>
            <a:pPr algn="l">
              <a:lnSpc>
                <a:spcPts val="1155"/>
              </a:lnSpc>
              <a:spcBef>
                <a:spcPts val="0"/>
              </a:spcBef>
              <a:spcAft>
                <a:spcPts val="0"/>
              </a:spcAft>
            </a:pPr>
            <a:r>
              <a:rPr sz="1050">
                <a:solidFill>
                  <a:srgbClr val="E6EDF3"/>
                </a:solidFill>
                <a:latin typeface="Courier New"/>
              </a:rPr>
              <a:t xml:space="preserve">        reply = await session.send_and_wait(</a:t>
            </a:r>
          </a:p>
          <a:p>
            <a:pPr algn="l">
              <a:lnSpc>
                <a:spcPts val="1155"/>
              </a:lnSpc>
              <a:spcBef>
                <a:spcPts val="0"/>
              </a:spcBef>
              <a:spcAft>
                <a:spcPts val="0"/>
              </a:spcAft>
            </a:pPr>
            <a:r>
              <a:rPr sz="1050">
                <a:solidFill>
                  <a:srgbClr val="E6EDF3"/>
                </a:solidFill>
                <a:latin typeface="Courier New"/>
              </a:rPr>
              <a:t xml:space="preserve">            "Weather in Tokyo and Berlin?", timeout=120,</a:t>
            </a:r>
          </a:p>
          <a:p>
            <a:pPr algn="l">
              <a:lnSpc>
                <a:spcPts val="1155"/>
              </a:lnSpc>
              <a:spcBef>
                <a:spcPts val="0"/>
              </a:spcBef>
              <a:spcAft>
                <a:spcPts val="0"/>
              </a:spcAft>
            </a:pPr>
            <a:r>
              <a:rPr sz="1050">
                <a:solidFill>
                  <a:srgbClr val="E6EDF3"/>
                </a:solidFill>
                <a:latin typeface="Courier New"/>
              </a:rPr>
              <a:t xml:space="preserve">        )</a:t>
            </a:r>
          </a:p>
          <a:p>
            <a:pPr algn="l">
              <a:lnSpc>
                <a:spcPts val="1155"/>
              </a:lnSpc>
              <a:spcBef>
                <a:spcPts val="0"/>
              </a:spcBef>
              <a:spcAft>
                <a:spcPts val="0"/>
              </a:spcAft>
            </a:pPr>
            <a:r>
              <a:rPr sz="1050">
                <a:solidFill>
                  <a:srgbClr val="E6EDF3"/>
                </a:solidFill>
                <a:latin typeface="Courier New"/>
              </a:rPr>
              <a:t xml:space="preserve">        if reply:</a:t>
            </a:r>
          </a:p>
          <a:p>
            <a:pPr algn="l">
              <a:lnSpc>
                <a:spcPts val="1155"/>
              </a:lnSpc>
              <a:spcBef>
                <a:spcPts val="0"/>
              </a:spcBef>
              <a:spcAft>
                <a:spcPts val="0"/>
              </a:spcAft>
            </a:pPr>
            <a:r>
              <a:rPr sz="1050">
                <a:solidFill>
                  <a:srgbClr val="E6EDF3"/>
                </a:solidFill>
                <a:latin typeface="Courier New"/>
              </a:rPr>
              <a:t xml:space="preserve">            print(reply.data.content)</a:t>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22 / 28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06: Session Persistence</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Create once, then resume against the same CLI state storage; session exit detaches</a:t>
            </a:r>
            <a:endParaRPr lang="en-US" sz="1200" dirty="0"/>
          </a:p>
        </p:txBody>
      </p:sp>
      <p:sp>
        <p:nvSpPr>
          <p:cNvPr id="6" name="Shape 3"/>
          <p:cNvSpPr/>
          <p:nvPr/>
        </p:nvSpPr>
        <p:spPr>
          <a:xfrm>
            <a:off x="548640" y="1143000"/>
            <a:ext cx="8046720" cy="342900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100">
                <a:solidFill>
                  <a:srgbClr val="E6EDF3"/>
                </a:solidFill>
                <a:latin typeface="Courier New"/>
              </a:rPr>
              <a:t xml:space="preserve">from copilot import CopilotClient</a:t>
            </a:r>
          </a:p>
          <a:p>
            <a:pPr algn="l">
              <a:lnSpc>
                <a:spcPts val="1210"/>
              </a:lnSpc>
              <a:spcBef>
                <a:spcPts val="0"/>
              </a:spcBef>
              <a:spcAft>
                <a:spcPts val="0"/>
              </a:spcAft>
            </a:pPr>
            <a:r>
              <a:rPr sz="1100">
                <a:solidFill>
                  <a:srgbClr val="E6EDF3"/>
                </a:solidFill>
                <a:latin typeface="Courier New"/>
              </a:rPr>
              <a:t xml:space="preserve">from copilot.session import PermissionHandler</a:t>
            </a:r>
          </a:p>
          <a:p>
            <a:pPr algn="l">
              <a:lnSpc>
                <a:spcPts val="1210"/>
              </a:lnSpc>
              <a:spcBef>
                <a:spcPts val="0"/>
              </a:spcBef>
              <a:spcAft>
                <a:spcPts val="0"/>
              </a:spcAft>
            </a:pPr>
            <a:r>
              <a:rPr sz="1100">
                <a:solidFill>
                  <a:srgbClr val="E6EDF3"/>
                </a:solidFill>
                <a:latin typeface="Courier New"/>
              </a:rPr>
              <a:t xml:space="preserve">SESSION_ID = "demo-session-resume"</a:t>
            </a:r>
          </a:p>
          <a:p>
            <a:pPr algn="l">
              <a:lnSpc>
                <a:spcPts val="1210"/>
              </a:lnSpc>
              <a:spcBef>
                <a:spcPts val="0"/>
              </a:spcBef>
              <a:spcAft>
                <a:spcPts val="0"/>
              </a:spcAft>
            </a:pPr>
            <a:r>
              <a:rPr sz="1100">
                <a:solidFill>
                  <a:srgbClr val="E6EDF3"/>
                </a:solidFill>
                <a:latin typeface="Courier New"/>
              </a:rPr>
              <a:t xml:space="preserve"># First run: create and remember facts.</a:t>
            </a:r>
          </a:p>
          <a:p>
            <a:pPr algn="l">
              <a:lnSpc>
                <a:spcPts val="1210"/>
              </a:lnSpc>
              <a:spcBef>
                <a:spcPts val="0"/>
              </a:spcBef>
              <a:spcAft>
                <a:spcPts val="0"/>
              </a:spcAft>
            </a:pPr>
            <a:r>
              <a:rPr sz="1100">
                <a:solidFill>
                  <a:srgbClr val="E6EDF3"/>
                </a:solidFill>
                <a:latin typeface="Courier New"/>
              </a:rPr>
              <a:t xml:space="preserve">async with CopilotClient() as client:</a:t>
            </a:r>
          </a:p>
          <a:p>
            <a:pPr algn="l">
              <a:lnSpc>
                <a:spcPts val="1210"/>
              </a:lnSpc>
              <a:spcBef>
                <a:spcPts val="0"/>
              </a:spcBef>
              <a:spcAft>
                <a:spcPts val="0"/>
              </a:spcAft>
            </a:pPr>
            <a:r>
              <a:rPr sz="1100">
                <a:solidFill>
                  <a:srgbClr val="E6EDF3"/>
                </a:solidFill>
                <a:latin typeface="Courier New"/>
              </a:rPr>
              <a:t xml:space="preserve">    async with await client.create_session(</a:t>
            </a:r>
          </a:p>
          <a:p>
            <a:pPr algn="l">
              <a:lnSpc>
                <a:spcPts val="1210"/>
              </a:lnSpc>
              <a:spcBef>
                <a:spcPts val="0"/>
              </a:spcBef>
              <a:spcAft>
                <a:spcPts val="0"/>
              </a:spcAft>
            </a:pPr>
            <a:r>
              <a:rPr sz="1100">
                <a:solidFill>
                  <a:srgbClr val="E6EDF3"/>
                </a:solidFill>
                <a:latin typeface="Courier New"/>
              </a:rPr>
              <a:t xml:space="preserve">        session_id=SESSION_ID, model="gpt-5-mini",</a:t>
            </a:r>
          </a:p>
          <a:p>
            <a:pPr algn="l">
              <a:lnSpc>
                <a:spcPts val="1210"/>
              </a:lnSpc>
              <a:spcBef>
                <a:spcPts val="0"/>
              </a:spcBef>
              <a:spcAft>
                <a:spcPts val="0"/>
              </a:spcAft>
            </a:pPr>
            <a:r>
              <a:rPr sz="1100">
                <a:solidFill>
                  <a:srgbClr val="E6EDF3"/>
                </a:solidFill>
                <a:latin typeface="Courier New"/>
              </a:rPr>
              <a:t xml:space="preserve">        available_tools=[], on_permission_request=PermissionHandler.approve_all,</a:t>
            </a:r>
          </a:p>
          <a:p>
            <a:pPr algn="l">
              <a:lnSpc>
                <a:spcPts val="1210"/>
              </a:lnSpc>
              <a:spcBef>
                <a:spcPts val="0"/>
              </a:spcBef>
              <a:spcAft>
                <a:spcPts val="0"/>
              </a:spcAft>
            </a:pPr>
            <a:r>
              <a:rPr sz="1100">
                <a:solidFill>
                  <a:srgbClr val="E6EDF3"/>
                </a:solidFill>
                <a:latin typeface="Courier New"/>
              </a:rPr>
              <a:t xml:space="preserve">    ) as session:</a:t>
            </a:r>
          </a:p>
          <a:p>
            <a:pPr algn="l">
              <a:lnSpc>
                <a:spcPts val="1210"/>
              </a:lnSpc>
              <a:spcBef>
                <a:spcPts val="0"/>
              </a:spcBef>
              <a:spcAft>
                <a:spcPts val="0"/>
              </a:spcAft>
            </a:pPr>
            <a:r>
              <a:rPr sz="1100">
                <a:solidFill>
                  <a:srgbClr val="E6EDF3"/>
                </a:solidFill>
                <a:latin typeface="Courier New"/>
              </a:rPr>
              <a:t xml:space="preserve">        await session.send_and_wait("My name is Jeffrey. Remember it.", timeout=120)</a:t>
            </a:r>
          </a:p>
          <a:p>
            <a:pPr algn="l">
              <a:lnSpc>
                <a:spcPts val="1210"/>
              </a:lnSpc>
              <a:spcBef>
                <a:spcPts val="0"/>
              </a:spcBef>
              <a:spcAft>
                <a:spcPts val="0"/>
              </a:spcAft>
            </a:pPr>
            <a:r>
              <a:rPr sz="1100">
                <a:solidFill>
                  <a:srgbClr val="E6EDF3"/>
                </a:solidFill>
                <a:latin typeface="Courier New"/>
              </a:rPr>
              <a:t xml:space="preserve"># Later process: resume, rather than create the same ID again.</a:t>
            </a:r>
          </a:p>
          <a:p>
            <a:pPr algn="l">
              <a:lnSpc>
                <a:spcPts val="1210"/>
              </a:lnSpc>
              <a:spcBef>
                <a:spcPts val="0"/>
              </a:spcBef>
              <a:spcAft>
                <a:spcPts val="0"/>
              </a:spcAft>
            </a:pPr>
            <a:r>
              <a:rPr sz="1100">
                <a:solidFill>
                  <a:srgbClr val="E6EDF3"/>
                </a:solidFill>
                <a:latin typeface="Courier New"/>
              </a:rPr>
              <a:t xml:space="preserve">async with CopilotClient() as client:</a:t>
            </a:r>
          </a:p>
          <a:p>
            <a:pPr algn="l">
              <a:lnSpc>
                <a:spcPts val="1210"/>
              </a:lnSpc>
              <a:spcBef>
                <a:spcPts val="0"/>
              </a:spcBef>
              <a:spcAft>
                <a:spcPts val="0"/>
              </a:spcAft>
            </a:pPr>
            <a:r>
              <a:rPr sz="1100">
                <a:solidFill>
                  <a:srgbClr val="E6EDF3"/>
                </a:solidFill>
                <a:latin typeface="Courier New"/>
              </a:rPr>
              <a:t xml:space="preserve">    async with await client.resume_session(</a:t>
            </a:r>
          </a:p>
          <a:p>
            <a:pPr algn="l">
              <a:lnSpc>
                <a:spcPts val="1210"/>
              </a:lnSpc>
              <a:spcBef>
                <a:spcPts val="0"/>
              </a:spcBef>
              <a:spcAft>
                <a:spcPts val="0"/>
              </a:spcAft>
            </a:pPr>
            <a:r>
              <a:rPr sz="1100">
                <a:solidFill>
                  <a:srgbClr val="E6EDF3"/>
                </a:solidFill>
                <a:latin typeface="Courier New"/>
              </a:rPr>
              <a:t xml:space="preserve">        SESSION_ID, available_tools=[],</a:t>
            </a:r>
          </a:p>
          <a:p>
            <a:pPr algn="l">
              <a:lnSpc>
                <a:spcPts val="1210"/>
              </a:lnSpc>
              <a:spcBef>
                <a:spcPts val="0"/>
              </a:spcBef>
              <a:spcAft>
                <a:spcPts val="0"/>
              </a:spcAft>
            </a:pPr>
            <a:r>
              <a:rPr sz="1100">
                <a:solidFill>
                  <a:srgbClr val="E6EDF3"/>
                </a:solidFill>
                <a:latin typeface="Courier New"/>
              </a:rPr>
              <a:t xml:space="preserve">        on_permission_request=PermissionHandler.approve_all,</a:t>
            </a:r>
          </a:p>
          <a:p>
            <a:pPr algn="l">
              <a:lnSpc>
                <a:spcPts val="1210"/>
              </a:lnSpc>
              <a:spcBef>
                <a:spcPts val="0"/>
              </a:spcBef>
              <a:spcAft>
                <a:spcPts val="0"/>
              </a:spcAft>
            </a:pPr>
            <a:r>
              <a:rPr sz="1100">
                <a:solidFill>
                  <a:srgbClr val="E6EDF3"/>
                </a:solidFill>
                <a:latin typeface="Courier New"/>
              </a:rPr>
              <a:t xml:space="preserve">    ) as session:</a:t>
            </a:r>
          </a:p>
          <a:p>
            <a:pPr algn="l">
              <a:lnSpc>
                <a:spcPts val="1210"/>
              </a:lnSpc>
              <a:spcBef>
                <a:spcPts val="0"/>
              </a:spcBef>
              <a:spcAft>
                <a:spcPts val="0"/>
              </a:spcAft>
            </a:pPr>
            <a:r>
              <a:rPr sz="1100">
                <a:solidFill>
                  <a:srgbClr val="E6EDF3"/>
                </a:solidFill>
                <a:latin typeface="Courier New"/>
              </a:rPr>
              <a:t xml:space="preserve">        reply = await session.send_and_wait("What is my name?", timeout=120)</a:t>
            </a:r>
          </a:p>
          <a:p>
            <a:pPr algn="l">
              <a:lnSpc>
                <a:spcPts val="1210"/>
              </a:lnSpc>
              <a:spcBef>
                <a:spcPts val="0"/>
              </a:spcBef>
              <a:spcAft>
                <a:spcPts val="0"/>
              </a:spcAft>
            </a:pPr>
            <a:r>
              <a:rPr sz="1100">
                <a:solidFill>
                  <a:srgbClr val="E6EDF3"/>
                </a:solidFill>
                <a:latin typeface="Courier New"/>
              </a:rPr>
              <a:t xml:space="preserve">        if reply:</a:t>
            </a:r>
          </a:p>
          <a:p>
            <a:pPr algn="l">
              <a:lnSpc>
                <a:spcPts val="1210"/>
              </a:lnSpc>
              <a:spcBef>
                <a:spcPts val="0"/>
              </a:spcBef>
              <a:spcAft>
                <a:spcPts val="0"/>
              </a:spcAft>
            </a:pPr>
            <a:r>
              <a:rPr sz="1100">
                <a:solidFill>
                  <a:srgbClr val="E6EDF3"/>
                </a:solidFill>
                <a:latin typeface="Courier New"/>
              </a:rPr>
              <a:t xml:space="preserve">            print(reply.data.content)</a:t>
            </a:r>
          </a:p>
          <a:p>
            <a:pPr algn="l">
              <a:lnSpc>
                <a:spcPts val="1210"/>
              </a:lnSpc>
              <a:spcBef>
                <a:spcPts val="0"/>
              </a:spcBef>
              <a:spcAft>
                <a:spcPts val="0"/>
              </a:spcAft>
            </a:pPr>
            <a:r>
              <a:rPr sz="1100">
                <a:solidFill>
                  <a:srgbClr val="E6EDF3"/>
                </a:solidFill>
                <a:latin typeface="Courier New"/>
              </a:rPr>
              <a:t xml:space="preserve"># Exit detaches; saved history survives. delete_session permanently erases it.</a:t>
            </a:r>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24 / 28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Get Started Today</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731520" y="1051560"/>
            <a:ext cx="457200" cy="457200"/>
          </a:xfrm>
          <a:prstGeom prst="line">
            <a:avLst/>
          </a:prstGeom>
          <a:solidFill>
            <a:srgbClr val="1F6FEB"/>
          </a:solidFill>
          <a:ln w="6350">
            <a:solidFill>
              <a:srgbClr val="30363D"/>
            </a:solidFill>
          </a:ln>
        </p:spPr>
        <p:txBody>
          <a:bodyPr/>
          <a:lstStyle/>
          <a:p>
            <a:endParaRPr/>
          </a:p>
        </p:txBody>
      </p:sp>
      <p:sp>
        <p:nvSpPr>
          <p:cNvPr id="6" name="Text 3"/>
          <p:cNvSpPr/>
          <p:nvPr/>
        </p:nvSpPr>
        <p:spPr>
          <a:xfrm>
            <a:off x="731520" y="105156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p:nvPr/>
        </p:nvSpPr>
        <p:spPr>
          <a:xfrm>
            <a:off x="1371600" y="100584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Install the Pinned SDK</a:t>
            </a:r>
            <a:endParaRPr lang="en-US" sz="1400" dirty="0"/>
          </a:p>
        </p:txBody>
      </p:sp>
      <p:sp>
        <p:nvSpPr>
          <p:cNvPr id="8" name="Text 5"/>
          <p:cNvSpPr/>
          <p:nvPr/>
        </p:nvSpPr>
        <p:spPr>
          <a:xfrm>
            <a:off x="1371600" y="128016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pip install -r requirements.txt</a:t>
            </a:r>
            <a:endParaRPr lang="en-US" sz="1100" dirty="0"/>
          </a:p>
        </p:txBody>
      </p:sp>
      <p:sp>
        <p:nvSpPr>
          <p:cNvPr id="9" name="Shape 6"/>
          <p:cNvSpPr/>
          <p:nvPr/>
        </p:nvSpPr>
        <p:spPr>
          <a:xfrm>
            <a:off x="731520" y="1828800"/>
            <a:ext cx="457200" cy="457200"/>
          </a:xfrm>
          <a:prstGeom prst="line">
            <a:avLst/>
          </a:prstGeom>
          <a:solidFill>
            <a:srgbClr val="1F6FEB"/>
          </a:solidFill>
          <a:ln w="6350">
            <a:solidFill>
              <a:srgbClr val="30363D"/>
            </a:solidFill>
          </a:ln>
        </p:spPr>
        <p:txBody>
          <a:bodyPr/>
          <a:lstStyle/>
          <a:p>
            <a:endParaRPr/>
          </a:p>
        </p:txBody>
      </p:sp>
      <p:sp>
        <p:nvSpPr>
          <p:cNvPr id="10" name="Text 7"/>
          <p:cNvSpPr/>
          <p:nvPr/>
        </p:nvSpPr>
        <p:spPr>
          <a:xfrm>
            <a:off x="731520" y="182880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p:nvPr/>
        </p:nvSpPr>
        <p:spPr>
          <a:xfrm>
            <a:off x="1371600" y="178308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Authenticate</a:t>
            </a:r>
            <a:endParaRPr lang="en-US" sz="1400" dirty="0"/>
          </a:p>
        </p:txBody>
      </p:sp>
      <p:sp>
        <p:nvSpPr>
          <p:cNvPr id="12" name="Text 9"/>
          <p:cNvSpPr/>
          <p:nvPr/>
        </p:nvSpPr>
        <p:spPr>
          <a:xfrm>
            <a:off x="1371600" y="205740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Separate CLI login, eligible token or BYOK</a:t>
            </a:r>
            <a:endParaRPr lang="en-US" sz="1100" dirty="0"/>
          </a:p>
        </p:txBody>
      </p:sp>
      <p:sp>
        <p:nvSpPr>
          <p:cNvPr id="13" name="Shape 10"/>
          <p:cNvSpPr/>
          <p:nvPr/>
        </p:nvSpPr>
        <p:spPr>
          <a:xfrm>
            <a:off x="731520" y="2606040"/>
            <a:ext cx="457200" cy="457200"/>
          </a:xfrm>
          <a:prstGeom prst="line">
            <a:avLst/>
          </a:prstGeom>
          <a:solidFill>
            <a:srgbClr val="1F6FEB"/>
          </a:solidFill>
          <a:ln w="6350">
            <a:solidFill>
              <a:srgbClr val="30363D"/>
            </a:solidFill>
          </a:ln>
        </p:spPr>
        <p:txBody>
          <a:bodyPr/>
          <a:lstStyle/>
          <a:p>
            <a:endParaRPr/>
          </a:p>
        </p:txBody>
      </p:sp>
      <p:sp>
        <p:nvSpPr>
          <p:cNvPr id="14" name="Text 11"/>
          <p:cNvSpPr/>
          <p:nvPr/>
        </p:nvSpPr>
        <p:spPr>
          <a:xfrm>
            <a:off x="731520" y="260604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Text 12"/>
          <p:cNvSpPr/>
          <p:nvPr/>
        </p:nvSpPr>
        <p:spPr>
          <a:xfrm>
            <a:off x="1371600" y="256032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Create Your First Session</a:t>
            </a:r>
            <a:endParaRPr lang="en-US" sz="1400" dirty="0"/>
          </a:p>
        </p:txBody>
      </p:sp>
      <p:sp>
        <p:nvSpPr>
          <p:cNvPr id="16" name="Text 13"/>
          <p:cNvSpPr/>
          <p:nvPr/>
        </p:nvSpPr>
        <p:spPr>
          <a:xfrm>
            <a:off x="1371600" y="283464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python examples/01_simple_chat.py</a:t>
            </a:r>
            <a:endParaRPr lang="en-US" sz="1100" dirty="0"/>
          </a:p>
        </p:txBody>
      </p:sp>
      <p:sp>
        <p:nvSpPr>
          <p:cNvPr id="17" name="Shape 14"/>
          <p:cNvSpPr/>
          <p:nvPr/>
        </p:nvSpPr>
        <p:spPr>
          <a:xfrm>
            <a:off x="731520" y="3383280"/>
            <a:ext cx="457200" cy="457200"/>
          </a:xfrm>
          <a:prstGeom prst="line">
            <a:avLst/>
          </a:prstGeom>
          <a:solidFill>
            <a:srgbClr val="1F6FEB"/>
          </a:solidFill>
          <a:ln w="6350">
            <a:solidFill>
              <a:srgbClr val="30363D"/>
            </a:solidFill>
          </a:ln>
        </p:spPr>
        <p:txBody>
          <a:bodyPr/>
          <a:lstStyle/>
          <a:p>
            <a:endParaRPr/>
          </a:p>
        </p:txBody>
      </p:sp>
      <p:sp>
        <p:nvSpPr>
          <p:cNvPr id="18" name="Text 15"/>
          <p:cNvSpPr/>
          <p:nvPr/>
        </p:nvSpPr>
        <p:spPr>
          <a:xfrm>
            <a:off x="731520" y="338328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9" name="Text 16"/>
          <p:cNvSpPr/>
          <p:nvPr/>
        </p:nvSpPr>
        <p:spPr>
          <a:xfrm>
            <a:off x="1371600" y="333756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Add Custom Tools &amp; Agents</a:t>
            </a:r>
            <a:endParaRPr lang="en-US" sz="1400" dirty="0"/>
          </a:p>
        </p:txBody>
      </p:sp>
      <p:sp>
        <p:nvSpPr>
          <p:cNvPr id="20" name="Text 17"/>
          <p:cNvSpPr/>
          <p:nvPr/>
        </p:nvSpPr>
        <p:spPr>
          <a:xfrm>
            <a:off x="1371600" y="361188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Work through examples/01–07 and their guides</a:t>
            </a:r>
            <a:endParaRPr lang="en-US" sz="1100" dirty="0"/>
          </a:p>
        </p:txBody>
      </p:sp>
      <p:sp>
        <p:nvSpPr>
          <p:cNvPr id="21" name="Shape 18"/>
          <p:cNvSpPr/>
          <p:nvPr/>
        </p:nvSpPr>
        <p:spPr>
          <a:xfrm>
            <a:off x="5669280" y="1005840"/>
            <a:ext cx="3017520" cy="3200400"/>
          </a:xfrm>
          <a:prstGeom prst="line">
            <a:avLst/>
          </a:prstGeom>
          <a:solidFill>
            <a:srgbClr val="161B22"/>
          </a:solidFill>
          <a:ln w="12700">
            <a:prstDash val="solid"/>
          </a:ln>
        </p:spPr>
        <p:txBody>
          <a:bodyPr/>
          <a:lstStyle/>
          <a:p>
            <a:endParaRPr/>
          </a:p>
        </p:txBody>
      </p:sp>
      <p:sp>
        <p:nvSpPr>
          <p:cNvPr id="22" name="Text 19"/>
          <p:cNvSpPr/>
          <p:nvPr/>
        </p:nvSpPr>
        <p:spPr>
          <a:xfrm>
            <a:off x="5852160" y="1097280"/>
            <a:ext cx="2651760" cy="32004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Resources</a:t>
            </a:r>
            <a:endParaRPr lang="en-US" sz="1600" dirty="0"/>
          </a:p>
        </p:txBody>
      </p:sp>
      <p:sp>
        <p:nvSpPr>
          <p:cNvPr id="23" name="Text 20"/>
          <p:cNvSpPr/>
          <p:nvPr/>
        </p:nvSpPr>
        <p:spPr>
          <a:xfrm>
            <a:off x="5852160" y="15087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SDK Repository</a:t>
            </a:r>
            <a:endParaRPr lang="en-US" sz="1000" dirty="0"/>
          </a:p>
        </p:txBody>
      </p:sp>
      <p:sp>
        <p:nvSpPr>
          <p:cNvPr id="24" name="Text 21"/>
          <p:cNvSpPr/>
          <p:nvPr/>
        </p:nvSpPr>
        <p:spPr>
          <a:xfrm>
            <a:off x="5852160" y="16733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github.com/github/copilot-sdk</a:t>
            </a:r>
            <a:endParaRPr lang="en-US" sz="800" dirty="0"/>
          </a:p>
        </p:txBody>
      </p:sp>
      <p:sp>
        <p:nvSpPr>
          <p:cNvPr id="25" name="Text 22"/>
          <p:cNvSpPr/>
          <p:nvPr/>
        </p:nvSpPr>
        <p:spPr>
          <a:xfrm>
            <a:off x="5852160" y="192024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Documentation</a:t>
            </a:r>
            <a:endParaRPr lang="en-US" sz="1000" dirty="0"/>
          </a:p>
        </p:txBody>
      </p:sp>
      <p:sp>
        <p:nvSpPr>
          <p:cNvPr id="26" name="Text 23"/>
          <p:cNvSpPr/>
          <p:nvPr/>
        </p:nvSpPr>
        <p:spPr>
          <a:xfrm>
            <a:off x="5852160" y="208483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docs/ in the repository</a:t>
            </a:r>
            <a:endParaRPr lang="en-US" sz="800" dirty="0"/>
          </a:p>
        </p:txBody>
      </p:sp>
      <p:sp>
        <p:nvSpPr>
          <p:cNvPr id="27" name="Text 24"/>
          <p:cNvSpPr/>
          <p:nvPr/>
        </p:nvSpPr>
        <p:spPr>
          <a:xfrm>
            <a:off x="5852160" y="233172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Cookbook &amp; Recipes</a:t>
            </a:r>
            <a:endParaRPr lang="en-US" sz="1000" dirty="0"/>
          </a:p>
        </p:txBody>
      </p:sp>
      <p:sp>
        <p:nvSpPr>
          <p:cNvPr id="28" name="Text 25"/>
          <p:cNvSpPr/>
          <p:nvPr/>
        </p:nvSpPr>
        <p:spPr>
          <a:xfrm>
            <a:off x="5852160" y="249631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github.com/github/awesome-copilot</a:t>
            </a:r>
            <a:endParaRPr lang="en-US" sz="800" dirty="0"/>
          </a:p>
        </p:txBody>
      </p:sp>
      <p:sp>
        <p:nvSpPr>
          <p:cNvPr id="29" name="Text 26"/>
          <p:cNvSpPr/>
          <p:nvPr/>
        </p:nvSpPr>
        <p:spPr>
          <a:xfrm>
            <a:off x="5852160" y="274320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This Workshop</a:t>
            </a:r>
            <a:endParaRPr lang="en-US" sz="1000" dirty="0"/>
          </a:p>
        </p:txBody>
      </p:sp>
      <p:sp>
        <p:nvSpPr>
          <p:cNvPr id="30" name="Text 27"/>
          <p:cNvSpPr/>
          <p:nvPr/>
        </p:nvSpPr>
        <p:spPr>
          <a:xfrm>
            <a:off x="5852160" y="290779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github.com/jeffrey-groneberg/ghcp_sdk</a:t>
            </a:r>
            <a:endParaRPr lang="en-US" sz="800" dirty="0"/>
          </a:p>
        </p:txBody>
      </p:sp>
      <p:sp>
        <p:nvSpPr>
          <p:cNvPr id="31" name="Text 28"/>
          <p:cNvSpPr/>
          <p:nvPr/>
        </p:nvSpPr>
        <p:spPr>
          <a:xfrm>
            <a:off x="5852160" y="315468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GitHub MCP Server</a:t>
            </a:r>
            <a:endParaRPr lang="en-US" sz="1000" dirty="0"/>
          </a:p>
        </p:txBody>
      </p:sp>
      <p:sp>
        <p:nvSpPr>
          <p:cNvPr id="32" name="Text 29"/>
          <p:cNvSpPr/>
          <p:nvPr/>
        </p:nvSpPr>
        <p:spPr>
          <a:xfrm>
            <a:off x="5852160" y="331927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github.com/github/github-mcp-server</a:t>
            </a:r>
            <a:endParaRPr lang="en-US" sz="800" dirty="0"/>
          </a:p>
        </p:txBody>
      </p:sp>
      <p:sp>
        <p:nvSpPr>
          <p:cNvPr id="33" name="Text 30"/>
          <p:cNvSpPr/>
          <p:nvPr/>
        </p:nvSpPr>
        <p:spPr>
          <a:xfrm>
            <a:off x="5852160" y="35661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MAF Integration</a:t>
            </a:r>
            <a:endParaRPr lang="en-US" sz="1000" dirty="0"/>
          </a:p>
        </p:txBody>
      </p:sp>
      <p:sp>
        <p:nvSpPr>
          <p:cNvPr id="34" name="Text 31"/>
          <p:cNvSpPr/>
          <p:nvPr/>
        </p:nvSpPr>
        <p:spPr>
          <a:xfrm>
            <a:off x="5852160" y="37307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learn.microsoft.com</a:t>
            </a:r>
            <a:endParaRPr lang="en-US" sz="800" dirty="0"/>
          </a:p>
        </p:txBody>
      </p:sp>
      <p:sp>
        <p:nvSpPr>
          <p:cNvPr id="35" name="Shape 32"/>
          <p:cNvSpPr/>
          <p:nvPr/>
        </p:nvSpPr>
        <p:spPr>
          <a:xfrm>
            <a:off x="548640" y="4251960"/>
            <a:ext cx="8046720" cy="457200"/>
          </a:xfrm>
          <a:prstGeom prst="line">
            <a:avLst/>
          </a:prstGeom>
          <a:solidFill>
            <a:srgbClr val="1F6FEB">
              <a:alpha val="15000"/>
            </a:srgbClr>
          </a:solidFill>
          <a:ln w="6350">
            <a:solidFill>
              <a:srgbClr val="30363D"/>
            </a:solidFill>
          </a:ln>
        </p:spPr>
        <p:txBody>
          <a:bodyPr/>
          <a:lstStyle/>
          <a:p>
            <a:endParaRPr/>
          </a:p>
        </p:txBody>
      </p:sp>
      <p:sp>
        <p:nvSpPr>
          <p:cNvPr id="36" name="Text 33"/>
          <p:cNvSpPr/>
          <p:nvPr/>
        </p:nvSpPr>
        <p:spPr>
          <a:xfrm>
            <a:off x="548640" y="4251960"/>
            <a:ext cx="8046720" cy="457200"/>
          </a:xfrm>
          <a:prstGeom prst="rect">
            <a:avLst/>
          </a:prstGeom>
          <a:noFill/>
          <a:ln>
            <a:noFill/>
          </a:ln>
        </p:spPr>
        <p:txBody>
          <a:bodyPr wrap="square" lIns="0" tIns="0" rIns="0" bIns="0" rtlCol="0" anchor="ctr"/>
          <a:lstStyle/>
          <a:p>
            <a:pPr marL="0" indent="0" algn="ctr">
              <a:buNone/>
            </a:pPr>
            <a:r>
              <a:rPr lang="en-US" sz="1400" b="1" dirty="0">
                <a:solidFill>
                  <a:srgbClr val="58A6FF"/>
                </a:solidFill>
                <a:latin typeface="Calibri" pitchFamily="34" charset="0"/>
                <a:ea typeface="Calibri" pitchFamily="34" charset="-122"/>
                <a:cs typeface="Calibri" pitchFamily="34" charset="-120"/>
              </a:rPr>
              <a:t>Agents for Every App — Start building with the Copilot SDK today!</a:t>
            </a:r>
            <a:endParaRPr lang="en-US" sz="14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28 / 28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07: Human in the Loop</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Legacy questions use on_user_input_request; structured forms need an elicitation handler</a:t>
            </a:r>
            <a:endParaRPr lang="en-US" sz="1200" dirty="0"/>
          </a:p>
        </p:txBody>
      </p:sp>
      <p:sp>
        <p:nvSpPr>
          <p:cNvPr id="6" name="Shape 3"/>
          <p:cNvSpPr/>
          <p:nvPr/>
        </p:nvSpPr>
        <p:spPr>
          <a:xfrm>
            <a:off x="548640" y="1143000"/>
            <a:ext cx="8046720" cy="347472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100">
                <a:solidFill>
                  <a:srgbClr val="E6EDF3"/>
                </a:solidFill>
                <a:latin typeface="Courier New"/>
              </a:rPr>
              <a:t xml:space="preserve"># read_answer is the bounded helper in example 07.</a:t>
            </a:r>
          </a:p>
          <a:p>
            <a:pPr algn="l">
              <a:lnSpc>
                <a:spcPts val="1210"/>
              </a:lnSpc>
              <a:spcBef>
                <a:spcPts val="0"/>
              </a:spcBef>
              <a:spcAft>
                <a:spcPts val="0"/>
              </a:spcAft>
            </a:pPr>
            <a:r>
              <a:rPr sz="1100">
                <a:solidFill>
                  <a:srgbClr val="E6EDF3"/>
                </a:solidFill>
                <a:latin typeface="Courier New"/>
              </a:rPr>
              <a:t xml:space="preserve">from copilot.rpc import PermissionDecisionApproveOnce, PermissionDecisionReject</a:t>
            </a:r>
          </a:p>
          <a:p>
            <a:pPr algn="l">
              <a:lnSpc>
                <a:spcPts val="1210"/>
              </a:lnSpc>
              <a:spcBef>
                <a:spcPts val="0"/>
              </a:spcBef>
              <a:spcAft>
                <a:spcPts val="0"/>
              </a:spcAft>
            </a:pPr>
            <a:r>
              <a:rPr sz="1100">
                <a:solidFill>
                  <a:srgbClr val="E6EDF3"/>
                </a:solidFill>
                <a:latin typeface="Courier New"/>
              </a:rPr>
              <a:t xml:space="preserve">from copilot.session_events import PermissionRequestShell</a:t>
            </a:r>
          </a:p>
          <a:p>
            <a:pPr algn="l">
              <a:lnSpc>
                <a:spcPts val="1210"/>
              </a:lnSpc>
              <a:spcBef>
                <a:spcPts val="0"/>
              </a:spcBef>
              <a:spcAft>
                <a:spcPts val="0"/>
              </a:spcAft>
            </a:pPr>
            <a:r>
              <a:rPr sz="1100">
                <a:solidFill>
                  <a:srgbClr val="E6EDF3"/>
                </a:solidFill>
                <a:latin typeface="Courier New"/>
              </a:rPr>
              <a:t xml:space="preserve">async def on_permission_request(request, invocation):</a:t>
            </a:r>
          </a:p>
          <a:p>
            <a:pPr algn="l">
              <a:lnSpc>
                <a:spcPts val="1210"/>
              </a:lnSpc>
              <a:spcBef>
                <a:spcPts val="0"/>
              </a:spcBef>
              <a:spcAft>
                <a:spcPts val="0"/>
              </a:spcAft>
            </a:pPr>
            <a:r>
              <a:rPr sz="1100">
                <a:solidFill>
                  <a:srgbClr val="E6EDF3"/>
                </a:solidFill>
                <a:latin typeface="Courier New"/>
              </a:rPr>
              <a:t xml:space="preserve">    match request:</a:t>
            </a:r>
          </a:p>
          <a:p>
            <a:pPr algn="l">
              <a:lnSpc>
                <a:spcPts val="1210"/>
              </a:lnSpc>
              <a:spcBef>
                <a:spcPts val="0"/>
              </a:spcBef>
              <a:spcAft>
                <a:spcPts val="0"/>
              </a:spcAft>
            </a:pPr>
            <a:r>
              <a:rPr sz="1100">
                <a:solidFill>
                  <a:srgbClr val="E6EDF3"/>
                </a:solidFill>
                <a:latin typeface="Courier New"/>
              </a:rPr>
              <a:t xml:space="preserve">        case PermissionRequestShell(full_command_text=command):</a:t>
            </a:r>
          </a:p>
          <a:p>
            <a:pPr algn="l">
              <a:lnSpc>
                <a:spcPts val="1210"/>
              </a:lnSpc>
              <a:spcBef>
                <a:spcPts val="0"/>
              </a:spcBef>
              <a:spcAft>
                <a:spcPts val="0"/>
              </a:spcAft>
            </a:pPr>
            <a:r>
              <a:rPr sz="1100">
                <a:solidFill>
                  <a:srgbClr val="E6EDF3"/>
                </a:solidFill>
                <a:latin typeface="Courier New"/>
              </a:rPr>
              <a:t xml:space="preserve">            answer = await read_answer(f"Run {command}? [y/N]: ")</a:t>
            </a:r>
          </a:p>
          <a:p>
            <a:pPr algn="l">
              <a:lnSpc>
                <a:spcPts val="1210"/>
              </a:lnSpc>
              <a:spcBef>
                <a:spcPts val="0"/>
              </a:spcBef>
              <a:spcAft>
                <a:spcPts val="0"/>
              </a:spcAft>
            </a:pPr>
            <a:r>
              <a:rPr sz="1100">
                <a:solidFill>
                  <a:srgbClr val="E6EDF3"/>
                </a:solidFill>
                <a:latin typeface="Courier New"/>
              </a:rPr>
              <a:t xml:space="preserve">            if answer.strip().lower() == "y":</a:t>
            </a:r>
          </a:p>
          <a:p>
            <a:pPr algn="l">
              <a:lnSpc>
                <a:spcPts val="1210"/>
              </a:lnSpc>
              <a:spcBef>
                <a:spcPts val="0"/>
              </a:spcBef>
              <a:spcAft>
                <a:spcPts val="0"/>
              </a:spcAft>
            </a:pPr>
            <a:r>
              <a:rPr sz="1100">
                <a:solidFill>
                  <a:srgbClr val="E6EDF3"/>
                </a:solidFill>
                <a:latin typeface="Courier New"/>
              </a:rPr>
              <a:t xml:space="preserve">                return PermissionDecisionApproveOnce()</a:t>
            </a:r>
          </a:p>
          <a:p>
            <a:pPr algn="l">
              <a:lnSpc>
                <a:spcPts val="1210"/>
              </a:lnSpc>
              <a:spcBef>
                <a:spcPts val="0"/>
              </a:spcBef>
              <a:spcAft>
                <a:spcPts val="0"/>
              </a:spcAft>
            </a:pPr>
            <a:r>
              <a:rPr sz="1100">
                <a:solidFill>
                  <a:srgbClr val="E6EDF3"/>
                </a:solidFill>
                <a:latin typeface="Courier New"/>
              </a:rPr>
              <a:t xml:space="preserve">    return PermissionDecisionReject(feedback="Not approved by the user.")</a:t>
            </a:r>
          </a:p>
          <a:p>
            <a:pPr algn="l">
              <a:lnSpc>
                <a:spcPts val="1210"/>
              </a:lnSpc>
              <a:spcBef>
                <a:spcPts val="0"/>
              </a:spcBef>
              <a:spcAft>
                <a:spcPts val="0"/>
              </a:spcAft>
            </a:pPr>
            <a:r>
              <a:rPr sz="1100">
                <a:solidFill>
                  <a:srgbClr val="E6EDF3"/>
                </a:solidFill>
                <a:latin typeface="Courier New"/>
              </a:rPr>
              <a:t xml:space="preserve">async with await client.create_session(</a:t>
            </a:r>
          </a:p>
          <a:p>
            <a:pPr algn="l">
              <a:lnSpc>
                <a:spcPts val="1210"/>
              </a:lnSpc>
              <a:spcBef>
                <a:spcPts val="0"/>
              </a:spcBef>
              <a:spcAft>
                <a:spcPts val="0"/>
              </a:spcAft>
            </a:pPr>
            <a:r>
              <a:rPr sz="1100">
                <a:solidFill>
                  <a:srgbClr val="E6EDF3"/>
                </a:solidFill>
                <a:latin typeface="Courier New"/>
              </a:rPr>
              <a:t xml:space="preserve">    model="gpt-5-mini",</a:t>
            </a:r>
          </a:p>
          <a:p>
            <a:pPr algn="l">
              <a:lnSpc>
                <a:spcPts val="1210"/>
              </a:lnSpc>
              <a:spcBef>
                <a:spcPts val="0"/>
              </a:spcBef>
              <a:spcAft>
                <a:spcPts val="0"/>
              </a:spcAft>
            </a:pPr>
            <a:r>
              <a:rPr sz="1100">
                <a:solidFill>
                  <a:srgbClr val="E6EDF3"/>
                </a:solidFill>
                <a:latin typeface="Courier New"/>
              </a:rPr>
              <a:t xml:space="preserve">    on_permission_request=on_permission_request,</a:t>
            </a:r>
          </a:p>
          <a:p>
            <a:pPr algn="l">
              <a:lnSpc>
                <a:spcPts val="1210"/>
              </a:lnSpc>
              <a:spcBef>
                <a:spcPts val="0"/>
              </a:spcBef>
              <a:spcAft>
                <a:spcPts val="0"/>
              </a:spcAft>
            </a:pPr>
            <a:r>
              <a:rPr sz="1100">
                <a:solidFill>
                  <a:srgbClr val="E6EDF3"/>
                </a:solidFill>
                <a:latin typeface="Courier New"/>
              </a:rPr>
              <a:t xml:space="preserve">    ask_user_variant="legacy", on_user_input_request=on_user_input_request,</a:t>
            </a:r>
          </a:p>
          <a:p>
            <a:pPr algn="l">
              <a:lnSpc>
                <a:spcPts val="1210"/>
              </a:lnSpc>
              <a:spcBef>
                <a:spcPts val="0"/>
              </a:spcBef>
              <a:spcAft>
                <a:spcPts val="0"/>
              </a:spcAft>
            </a:pPr>
            <a:r>
              <a:rPr sz="1100">
                <a:solidFill>
                  <a:srgbClr val="E6EDF3"/>
                </a:solidFill>
                <a:latin typeface="Courier New"/>
              </a:rPr>
              <a:t xml:space="preserve">) as session:</a:t>
            </a:r>
          </a:p>
          <a:p>
            <a:pPr algn="l">
              <a:lnSpc>
                <a:spcPts val="1210"/>
              </a:lnSpc>
              <a:spcBef>
                <a:spcPts val="0"/>
              </a:spcBef>
              <a:spcAft>
                <a:spcPts val="0"/>
              </a:spcAft>
            </a:pPr>
            <a:r>
              <a:rPr sz="1100">
                <a:solidFill>
                  <a:srgbClr val="E6EDF3"/>
                </a:solidFill>
                <a:latin typeface="Courier New"/>
              </a:rPr>
              <a:t xml:space="preserve">    await session.send_and_wait(</a:t>
            </a:r>
          </a:p>
          <a:p>
            <a:pPr algn="l">
              <a:lnSpc>
                <a:spcPts val="1210"/>
              </a:lnSpc>
              <a:spcBef>
                <a:spcPts val="0"/>
              </a:spcBef>
              <a:spcAft>
                <a:spcPts val="0"/>
              </a:spcAft>
            </a:pPr>
            <a:r>
              <a:rPr sz="1100">
                <a:solidFill>
                  <a:srgbClr val="E6EDF3"/>
                </a:solidFill>
                <a:latin typeface="Courier New"/>
              </a:rPr>
              <a:t xml:space="preserve">        "Ask my name; run a fixed greeting without putting my name in shell code.",</a:t>
            </a:r>
          </a:p>
          <a:p>
            <a:pPr algn="l">
              <a:lnSpc>
                <a:spcPts val="1210"/>
              </a:lnSpc>
              <a:spcBef>
                <a:spcPts val="0"/>
              </a:spcBef>
              <a:spcAft>
                <a:spcPts val="0"/>
              </a:spcAft>
            </a:pPr>
            <a:r>
              <a:rPr sz="1100">
                <a:solidFill>
                  <a:srgbClr val="E6EDF3"/>
                </a:solidFill>
                <a:latin typeface="Courier New"/>
              </a:rPr>
              <a:t xml:space="preserve">        timeout=180,</a:t>
            </a:r>
          </a:p>
          <a:p>
            <a:pPr algn="l">
              <a:lnSpc>
                <a:spcPts val="1210"/>
              </a:lnSpc>
              <a:spcBef>
                <a:spcPts val="0"/>
              </a:spcBef>
              <a:spcAft>
                <a:spcPts val="0"/>
              </a:spcAft>
            </a:pPr>
            <a:r>
              <a:rPr sz="1100">
                <a:solidFill>
                  <a:srgbClr val="E6EDF3"/>
                </a:solidFill>
                <a:latin typeface="Courier New"/>
              </a:rPr>
              <a:t xml:space="preserve">    )</a:t>
            </a:r>
          </a:p>
          <a:p>
            <a:pPr algn="l">
              <a:lnSpc>
                <a:spcPts val="1210"/>
              </a:lnSpc>
              <a:spcBef>
                <a:spcPts val="0"/>
              </a:spcBef>
              <a:spcAft>
                <a:spcPts val="0"/>
              </a:spcAft>
            </a:pPr>
            <a:r>
              <a:rPr sz="1100">
                <a:solidFill>
                  <a:srgbClr val="E6EDF3"/>
                </a:solidFill>
                <a:latin typeface="Courier New"/>
              </a:rPr>
              <a:t xml:space="preserve"># Full prototype validates choices/freeform answers and bounds terminal input.</a:t>
            </a:r>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25 / 28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04: Observe Tool Calls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Pre-tool, successful-result and failed-result callbacks; hooks are not a security sandbox</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320"/>
              </a:lnSpc>
              <a:spcBef>
                <a:spcPts val="0"/>
              </a:spcBef>
              <a:spcAft>
                <a:spcPts val="0"/>
              </a:spcAft>
            </a:pPr>
            <a:r>
              <a:rPr sz="1200">
                <a:solidFill>
                  <a:srgbClr val="E6EDF3"/>
                </a:solidFill>
                <a:latin typeface="Courier New"/>
              </a:rPr>
              <a:t xml:space="preserve">async def on_pre_tool_use(input_data, invocation):</a:t>
            </a:r>
          </a:p>
          <a:p>
            <a:pPr algn="l">
              <a:lnSpc>
                <a:spcPts val="1320"/>
              </a:lnSpc>
              <a:spcBef>
                <a:spcPts val="0"/>
              </a:spcBef>
              <a:spcAft>
                <a:spcPts val="0"/>
              </a:spcAft>
            </a:pPr>
            <a:r>
              <a:rPr sz="1200">
                <a:solidFill>
                  <a:srgbClr val="E6EDF3"/>
                </a:solidFill>
                <a:latin typeface="Courier New"/>
              </a:rPr>
              <a:t xml:space="preserve">    print(f"[pre] {input_data['toolName']}")</a:t>
            </a:r>
          </a:p>
          <a:p>
            <a:pPr algn="l">
              <a:lnSpc>
                <a:spcPts val="1320"/>
              </a:lnSpc>
              <a:spcBef>
                <a:spcPts val="0"/>
              </a:spcBef>
              <a:spcAft>
                <a:spcPts val="0"/>
              </a:spcAft>
            </a:pPr>
            <a:r>
              <a:rPr sz="1200">
                <a:solidFill>
                  <a:srgbClr val="E6EDF3"/>
                </a:solidFill>
                <a:latin typeface="Courier New"/>
              </a:rPr>
              <a:t xml:space="preserve">async def on_post_tool_use(input_data, invocation):</a:t>
            </a:r>
          </a:p>
          <a:p>
            <a:pPr algn="l">
              <a:lnSpc>
                <a:spcPts val="1320"/>
              </a:lnSpc>
              <a:spcBef>
                <a:spcPts val="0"/>
              </a:spcBef>
              <a:spcAft>
                <a:spcPts val="0"/>
              </a:spcAft>
            </a:pPr>
            <a:r>
              <a:rPr sz="1200">
                <a:solidFill>
                  <a:srgbClr val="E6EDF3"/>
                </a:solidFill>
                <a:latin typeface="Courier New"/>
              </a:rPr>
              <a:t xml:space="preserve">    print(f"[post] {input_data['toolName']} succeeded")</a:t>
            </a:r>
          </a:p>
          <a:p>
            <a:pPr algn="l">
              <a:lnSpc>
                <a:spcPts val="1320"/>
              </a:lnSpc>
              <a:spcBef>
                <a:spcPts val="0"/>
              </a:spcBef>
              <a:spcAft>
                <a:spcPts val="0"/>
              </a:spcAft>
            </a:pPr>
            <a:r>
              <a:rPr sz="1200">
                <a:solidFill>
                  <a:srgbClr val="E6EDF3"/>
                </a:solidFill>
                <a:latin typeface="Courier New"/>
              </a:rPr>
              <a:t xml:space="preserve">async def on_post_tool_use_failure(input_data, invocation):</a:t>
            </a:r>
          </a:p>
          <a:p>
            <a:pPr algn="l">
              <a:lnSpc>
                <a:spcPts val="1320"/>
              </a:lnSpc>
              <a:spcBef>
                <a:spcPts val="0"/>
              </a:spcBef>
              <a:spcAft>
                <a:spcPts val="0"/>
              </a:spcAft>
            </a:pPr>
            <a:r>
              <a:rPr sz="1200">
                <a:solidFill>
                  <a:srgbClr val="E6EDF3"/>
                </a:solidFill>
                <a:latin typeface="Courier New"/>
              </a:rPr>
              <a:t xml:space="preserve">    print(f"[failed] {input_data['toolName']}")</a:t>
            </a:r>
          </a:p>
          <a:p>
            <a:pPr algn="l">
              <a:lnSpc>
                <a:spcPts val="1320"/>
              </a:lnSpc>
              <a:spcBef>
                <a:spcPts val="0"/>
              </a:spcBef>
              <a:spcAft>
                <a:spcPts val="0"/>
              </a:spcAft>
            </a:pPr>
            <a:r>
              <a:rPr sz="1200">
                <a:solidFill>
                  <a:srgbClr val="E6EDF3"/>
                </a:solidFill>
                <a:latin typeface="Courier New"/>
              </a:rPr>
              <a:t xml:space="preserve">async with await client.create_session(</a:t>
            </a:r>
          </a:p>
          <a:p>
            <a:pPr algn="l">
              <a:lnSpc>
                <a:spcPts val="1320"/>
              </a:lnSpc>
              <a:spcBef>
                <a:spcPts val="0"/>
              </a:spcBef>
              <a:spcAft>
                <a:spcPts val="0"/>
              </a:spcAft>
            </a:pPr>
            <a:r>
              <a:rPr sz="1200">
                <a:solidFill>
                  <a:srgbClr val="E6EDF3"/>
                </a:solidFill>
                <a:latin typeface="Courier New"/>
              </a:rPr>
              <a:t xml:space="preserve">    model="gpt-5-mini", available_tools=["builtin:glob", "builtin:view"],</a:t>
            </a:r>
          </a:p>
          <a:p>
            <a:pPr algn="l">
              <a:lnSpc>
                <a:spcPts val="1320"/>
              </a:lnSpc>
              <a:spcBef>
                <a:spcPts val="0"/>
              </a:spcBef>
              <a:spcAft>
                <a:spcPts val="0"/>
              </a:spcAft>
            </a:pPr>
            <a:r>
              <a:rPr sz="1200">
                <a:solidFill>
                  <a:srgbClr val="E6EDF3"/>
                </a:solidFill>
                <a:latin typeface="Courier New"/>
              </a:rPr>
              <a:t xml:space="preserve">    on_permission_request=PermissionHandler.approve_all,</a:t>
            </a:r>
          </a:p>
          <a:p>
            <a:pPr algn="l">
              <a:lnSpc>
                <a:spcPts val="1320"/>
              </a:lnSpc>
              <a:spcBef>
                <a:spcPts val="0"/>
              </a:spcBef>
              <a:spcAft>
                <a:spcPts val="0"/>
              </a:spcAft>
            </a:pPr>
            <a:r>
              <a:rPr sz="1200">
                <a:solidFill>
                  <a:srgbClr val="E6EDF3"/>
                </a:solidFill>
                <a:latin typeface="Courier New"/>
              </a:rPr>
              <a:t xml:space="preserve">    hooks={</a:t>
            </a:r>
          </a:p>
          <a:p>
            <a:pPr algn="l">
              <a:lnSpc>
                <a:spcPts val="1320"/>
              </a:lnSpc>
              <a:spcBef>
                <a:spcPts val="0"/>
              </a:spcBef>
              <a:spcAft>
                <a:spcPts val="0"/>
              </a:spcAft>
            </a:pPr>
            <a:r>
              <a:rPr sz="1200">
                <a:solidFill>
                  <a:srgbClr val="E6EDF3"/>
                </a:solidFill>
                <a:latin typeface="Courier New"/>
              </a:rPr>
              <a:t xml:space="preserve">        "on_pre_tool_use": on_pre_tool_use,</a:t>
            </a:r>
          </a:p>
          <a:p>
            <a:pPr algn="l">
              <a:lnSpc>
                <a:spcPts val="1320"/>
              </a:lnSpc>
              <a:spcBef>
                <a:spcPts val="0"/>
              </a:spcBef>
              <a:spcAft>
                <a:spcPts val="0"/>
              </a:spcAft>
            </a:pPr>
            <a:r>
              <a:rPr sz="1200">
                <a:solidFill>
                  <a:srgbClr val="E6EDF3"/>
                </a:solidFill>
                <a:latin typeface="Courier New"/>
              </a:rPr>
              <a:t xml:space="preserve">        "on_post_tool_use": on_post_tool_use,</a:t>
            </a:r>
          </a:p>
          <a:p>
            <a:pPr algn="l">
              <a:lnSpc>
                <a:spcPts val="1320"/>
              </a:lnSpc>
              <a:spcBef>
                <a:spcPts val="0"/>
              </a:spcBef>
              <a:spcAft>
                <a:spcPts val="0"/>
              </a:spcAft>
            </a:pPr>
            <a:r>
              <a:rPr sz="1200">
                <a:solidFill>
                  <a:srgbClr val="E6EDF3"/>
                </a:solidFill>
                <a:latin typeface="Courier New"/>
              </a:rPr>
              <a:t xml:space="preserve">        "on_post_tool_use_failure": on_post_tool_use_failure,</a:t>
            </a:r>
          </a:p>
          <a:p>
            <a:pPr algn="l">
              <a:lnSpc>
                <a:spcPts val="1320"/>
              </a:lnSpc>
              <a:spcBef>
                <a:spcPts val="0"/>
              </a:spcBef>
              <a:spcAft>
                <a:spcPts val="0"/>
              </a:spcAft>
            </a:pPr>
            <a:r>
              <a:rPr sz="1200">
                <a:solidFill>
                  <a:srgbClr val="E6EDF3"/>
                </a:solidFill>
                <a:latin typeface="Courier New"/>
              </a:rPr>
              <a:t xml:space="preserve">    },</a:t>
            </a:r>
          </a:p>
          <a:p>
            <a:pPr algn="l">
              <a:lnSpc>
                <a:spcPts val="1320"/>
              </a:lnSpc>
              <a:spcBef>
                <a:spcPts val="0"/>
              </a:spcBef>
              <a:spcAft>
                <a:spcPts val="0"/>
              </a:spcAft>
            </a:pPr>
            <a:r>
              <a:rPr sz="1200">
                <a:solidFill>
                  <a:srgbClr val="E6EDF3"/>
                </a:solidFill>
                <a:latin typeface="Courier New"/>
              </a:rPr>
              <a:t xml:space="preserve">) as session:</a:t>
            </a:r>
          </a:p>
          <a:p>
            <a:pPr algn="l">
              <a:lnSpc>
                <a:spcPts val="1320"/>
              </a:lnSpc>
              <a:spcBef>
                <a:spcPts val="0"/>
              </a:spcBef>
              <a:spcAft>
                <a:spcPts val="0"/>
              </a:spcAft>
            </a:pPr>
            <a:r>
              <a:rPr sz="1200">
                <a:solidFill>
                  <a:srgbClr val="E6EDF3"/>
                </a:solidFill>
                <a:latin typeface="Courier New"/>
              </a:rPr>
              <a:t xml:space="preserve">    await session.send_and_wait(</a:t>
            </a:r>
          </a:p>
          <a:p>
            <a:pPr algn="l">
              <a:lnSpc>
                <a:spcPts val="1320"/>
              </a:lnSpc>
              <a:spcBef>
                <a:spcPts val="0"/>
              </a:spcBef>
              <a:spcAft>
                <a:spcPts val="0"/>
              </a:spcAft>
            </a:pPr>
            <a:r>
              <a:rPr sz="1200">
                <a:solidFill>
                  <a:srgbClr val="E6EDF3"/>
                </a:solidFill>
                <a:latin typeface="Courier New"/>
              </a:rPr>
              <a:t xml:space="preserve">        "List files in the current directory.", timeout=120,</a:t>
            </a:r>
          </a:p>
          <a:p>
            <a:pPr algn="l">
              <a:lnSpc>
                <a:spcPts val="1320"/>
              </a:lnSpc>
              <a:spcBef>
                <a:spcPts val="0"/>
              </a:spcBef>
              <a:spcAft>
                <a:spcPts val="0"/>
              </a:spcAft>
            </a:pPr>
            <a:r>
              <a:rPr sz="1200">
                <a:solidFill>
                  <a:srgbClr val="E6EDF3"/>
                </a:solidFill>
                <a:latin typeface="Courier New"/>
              </a:rPr>
              <a:t xml:space="preserve">    )</a:t>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23 / 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What's New in v1.0.13</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Stable release: 4 September 2026 · Workshop baseline checked 7 September 2026</a:t>
            </a:r>
          </a:p>
        </p:txBody>
      </p:sp>
      <p:sp>
        <p:nvSpPr>
          <p:cNvPr id="4" name="Rectangle 3"/>
          <p:cNvSpPr/>
          <p:nvPr/>
        </p:nvSpPr>
        <p:spPr>
          <a:xfrm>
            <a:off x="5486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234440"/>
            <a:ext cx="3474720" cy="274320"/>
          </a:xfrm>
          <a:prstGeom prst="rect">
            <a:avLst/>
          </a:prstGeom>
          <a:noFill/>
        </p:spPr>
        <p:txBody>
          <a:bodyPr wrap="square">
            <a:spAutoFit/>
          </a:bodyPr>
          <a:lstStyle/>
          <a:p>
            <a:pPr algn="l">
              <a:spcBef>
                <a:spcPts val="0"/>
              </a:spcBef>
              <a:spcAft>
                <a:spcPts val="0"/>
              </a:spcAft>
            </a:pPr>
            <a:r>
              <a:rPr sz="1400" b="1" i="0">
                <a:solidFill>
                  <a:srgbClr val="3FB950"/>
                </a:solidFill>
                <a:latin typeface="Calibri"/>
              </a:rPr>
              <a:t>Application Control</a:t>
            </a:r>
          </a:p>
        </p:txBody>
      </p:sp>
      <p:sp>
        <p:nvSpPr>
          <p:cNvPr id="7" name="TextBox 6"/>
          <p:cNvSpPr txBox="1"/>
          <p:nvPr/>
        </p:nvSpPr>
        <p:spPr>
          <a:xfrm>
            <a:off x="7772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Client identity</a:t>
            </a:r>
          </a:p>
        </p:txBody>
      </p:sp>
      <p:sp>
        <p:nvSpPr>
          <p:cNvPr id="8" name="TextBox 7"/>
          <p:cNvSpPr txBox="1"/>
          <p:nvPr/>
        </p:nvSpPr>
        <p:spPr>
          <a:xfrm>
            <a:off x="7772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client_info attributes runtime telemetry to your app</a:t>
            </a:r>
          </a:p>
        </p:txBody>
      </p:sp>
      <p:sp>
        <p:nvSpPr>
          <p:cNvPr id="9" name="TextBox 8"/>
          <p:cNvSpPr txBox="1"/>
          <p:nvPr/>
        </p:nvSpPr>
        <p:spPr>
          <a:xfrm>
            <a:off x="7772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Rotating GitHub credentials</a:t>
            </a:r>
          </a:p>
        </p:txBody>
      </p:sp>
      <p:sp>
        <p:nvSpPr>
          <p:cNvPr id="10" name="TextBox 9"/>
          <p:cNvSpPr txBox="1"/>
          <p:nvPr/>
        </p:nvSpPr>
        <p:spPr>
          <a:xfrm>
            <a:off x="7772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github_token_provider handles initial / refresh</a:t>
            </a:r>
          </a:p>
        </p:txBody>
      </p:sp>
      <p:sp>
        <p:nvSpPr>
          <p:cNvPr id="11" name="TextBox 10"/>
          <p:cNvSpPr txBox="1"/>
          <p:nvPr/>
        </p:nvSpPr>
        <p:spPr>
          <a:xfrm>
            <a:off x="7772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Selectable ask_user</a:t>
            </a:r>
          </a:p>
        </p:txBody>
      </p:sp>
      <p:sp>
        <p:nvSpPr>
          <p:cNvPr id="12" name="TextBox 11"/>
          <p:cNvSpPr txBox="1"/>
          <p:nvPr/>
        </p:nvSpPr>
        <p:spPr>
          <a:xfrm>
            <a:off x="7772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Legacy Q&amp;A or structured elicitation forms</a:t>
            </a:r>
          </a:p>
        </p:txBody>
      </p:sp>
      <p:sp>
        <p:nvSpPr>
          <p:cNvPr id="13" name="TextBox 12"/>
          <p:cNvSpPr txBox="1"/>
          <p:nvPr/>
        </p:nvSpPr>
        <p:spPr>
          <a:xfrm>
            <a:off x="7772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Managed permissions</a:t>
            </a:r>
          </a:p>
        </p:txBody>
      </p:sp>
      <p:sp>
        <p:nvSpPr>
          <p:cNvPr id="14" name="TextBox 13"/>
          <p:cNvSpPr txBox="1"/>
          <p:nvPr/>
        </p:nvSpPr>
        <p:spPr>
          <a:xfrm>
            <a:off x="7772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Startup policy; CLI 1.0.79-5+; re-supply on resume</a:t>
            </a:r>
          </a:p>
        </p:txBody>
      </p:sp>
      <p:sp>
        <p:nvSpPr>
          <p:cNvPr id="15" name="TextBox 14"/>
          <p:cNvSpPr txBox="1"/>
          <p:nvPr/>
        </p:nvSpPr>
        <p:spPr>
          <a:xfrm>
            <a:off x="7772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Auto routing tiers</a:t>
            </a:r>
          </a:p>
        </p:txBody>
      </p:sp>
      <p:sp>
        <p:nvSpPr>
          <p:cNvPr id="16" name="TextBox 15"/>
          <p:cNvSpPr txBox="1"/>
          <p:nvPr/>
        </p:nvSpPr>
        <p:spPr>
          <a:xfrm>
            <a:off x="7772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Efficiency, balance or intelligence for auto turns</a:t>
            </a:r>
          </a:p>
        </p:txBody>
      </p:sp>
      <p:sp>
        <p:nvSpPr>
          <p:cNvPr id="17" name="TextBox 16"/>
          <p:cNvSpPr txBox="1"/>
          <p:nvPr/>
        </p:nvSpPr>
        <p:spPr>
          <a:xfrm>
            <a:off x="777240" y="41148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Async tool cancellation</a:t>
            </a:r>
          </a:p>
        </p:txBody>
      </p:sp>
      <p:sp>
        <p:nvSpPr>
          <p:cNvPr id="18" name="TextBox 17"/>
          <p:cNvSpPr txBox="1"/>
          <p:nvPr/>
        </p:nvSpPr>
        <p:spPr>
          <a:xfrm>
            <a:off x="777240" y="42976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Release resources; propagate CancelledError</a:t>
            </a:r>
          </a:p>
        </p:txBody>
      </p:sp>
      <p:sp>
        <p:nvSpPr>
          <p:cNvPr id="19" name="Rectangle 18"/>
          <p:cNvSpPr/>
          <p:nvPr/>
        </p:nvSpPr>
        <p:spPr>
          <a:xfrm>
            <a:off x="46634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92040" y="1234440"/>
            <a:ext cx="3474720" cy="274320"/>
          </a:xfrm>
          <a:prstGeom prst="rect">
            <a:avLst/>
          </a:prstGeom>
          <a:noFill/>
        </p:spPr>
        <p:txBody>
          <a:bodyPr wrap="square">
            <a:spAutoFit/>
          </a:bodyPr>
          <a:lstStyle/>
          <a:p>
            <a:pPr algn="l">
              <a:spcBef>
                <a:spcPts val="0"/>
              </a:spcBef>
              <a:spcAft>
                <a:spcPts val="0"/>
              </a:spcAft>
            </a:pPr>
            <a:r>
              <a:rPr sz="1400" b="1" i="0">
                <a:solidFill>
                  <a:srgbClr val="F0883E"/>
                </a:solidFill>
                <a:latin typeface="Calibri"/>
              </a:rPr>
              <a:t>Refresh Checklist</a:t>
            </a:r>
          </a:p>
        </p:txBody>
      </p:sp>
      <p:sp>
        <p:nvSpPr>
          <p:cNvPr id="22" name="TextBox 21"/>
          <p:cNvSpPr txBox="1"/>
          <p:nvPr/>
        </p:nvSpPr>
        <p:spPr>
          <a:xfrm>
            <a:off x="48920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Pin the stable package</a:t>
            </a:r>
          </a:p>
        </p:txBody>
      </p:sp>
      <p:sp>
        <p:nvSpPr>
          <p:cNvPr id="23" name="TextBox 22"/>
          <p:cNvSpPr txBox="1"/>
          <p:nvPr/>
        </p:nvSpPr>
        <p:spPr>
          <a:xfrm>
            <a:off x="48920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github-copilot-sdk==1.0.13</a:t>
            </a:r>
          </a:p>
        </p:txBody>
      </p:sp>
      <p:sp>
        <p:nvSpPr>
          <p:cNvPr id="24" name="TextBox 23"/>
          <p:cNvSpPr txBox="1"/>
          <p:nvPr/>
        </p:nvSpPr>
        <p:spPr>
          <a:xfrm>
            <a:off x="48920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Detach, do not destroy</a:t>
            </a:r>
          </a:p>
        </p:txBody>
      </p:sp>
      <p:sp>
        <p:nvSpPr>
          <p:cNvPr id="25" name="TextBox 24"/>
          <p:cNvSpPr txBox="1"/>
          <p:nvPr/>
        </p:nvSpPr>
        <p:spPr>
          <a:xfrm>
            <a:off x="48920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Session exit releases this owner's connection</a:t>
            </a:r>
          </a:p>
        </p:txBody>
      </p:sp>
      <p:sp>
        <p:nvSpPr>
          <p:cNvPr id="26" name="TextBox 25"/>
          <p:cNvSpPr txBox="1"/>
          <p:nvPr/>
        </p:nvSpPr>
        <p:spPr>
          <a:xfrm>
            <a:off x="48920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Bound every turn</a:t>
            </a:r>
          </a:p>
        </p:txBody>
      </p:sp>
      <p:sp>
        <p:nvSpPr>
          <p:cNvPr id="27" name="TextBox 26"/>
          <p:cNvSpPr txBox="1"/>
          <p:nvPr/>
        </p:nvSpPr>
        <p:spPr>
          <a:xfrm>
            <a:off x="48920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send_and_wait raises on timeout / session error</a:t>
            </a:r>
          </a:p>
        </p:txBody>
      </p:sp>
      <p:sp>
        <p:nvSpPr>
          <p:cNvPr id="28" name="TextBox 27"/>
          <p:cNvSpPr txBox="1"/>
          <p:nvPr/>
        </p:nvSpPr>
        <p:spPr>
          <a:xfrm>
            <a:off x="48920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Current MCP tools</a:t>
            </a:r>
          </a:p>
        </p:txBody>
      </p:sp>
      <p:sp>
        <p:nvSpPr>
          <p:cNvPr id="29" name="TextBox 28"/>
          <p:cNvSpPr txBox="1"/>
          <p:nvPr/>
        </p:nvSpPr>
        <p:spPr>
          <a:xfrm>
            <a:off x="48920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issue_read replaces get_issue</a:t>
            </a:r>
          </a:p>
        </p:txBody>
      </p:sp>
      <p:sp>
        <p:nvSpPr>
          <p:cNvPr id="30" name="TextBox 29"/>
          <p:cNvSpPr txBox="1"/>
          <p:nvPr/>
        </p:nvSpPr>
        <p:spPr>
          <a:xfrm>
            <a:off x="48920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Re-register on resume</a:t>
            </a:r>
          </a:p>
        </p:txBody>
      </p:sp>
      <p:sp>
        <p:nvSpPr>
          <p:cNvPr id="31" name="TextBox 30"/>
          <p:cNvSpPr txBox="1"/>
          <p:nvPr/>
        </p:nvSpPr>
        <p:spPr>
          <a:xfrm>
            <a:off x="48920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Handlers, tools, MCP and managed policy</a:t>
            </a:r>
          </a:p>
        </p:txBody>
      </p:sp>
      <p:sp>
        <p:nvSpPr>
          <p:cNvPr id="32" name="TextBox 32"/>
          <p:cNvSpPr txBox="1"/>
          <p:nvPr/>
        </p:nvSpPr>
        <p:spPr>
          <a:xfrm>
            <a:off x="8046720" y="4754880"/>
            <a:ext cx="914400" cy="274320"/>
          </a:xfrm>
          <a:prstGeom prst="rect">
            <a:avLst/>
          </a:prstGeom>
        </p:spPr>
        <p:txBody>
          <a:bodyPr wrap="square" rtlCol="0">
            <a:spAutoFit/>
          </a:bodyPr>
          <a:lstStyle/>
          <a:p>
            <a:r>
              <a:rPr sz="900">
                <a:solidFill>
                  <a:srgbClr val="8B949E"/>
                </a:solidFill>
              </a:rPr>
              <a:t>26 / 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400" b="1" i="0">
                <a:solidFill>
                  <a:srgbClr val="C9D1D9"/>
                </a:solidFill>
                <a:latin typeface="Calibri"/>
              </a:rPr>
              <a:t>System Prompt Customization</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Available in v1.0.13 — prompt sections guide behavior; they do not enforce security policy</a:t>
            </a:r>
          </a:p>
        </p:txBody>
      </p:sp>
      <p:sp>
        <p:nvSpPr>
          <p:cNvPr id="4" name="Rectangle 3"/>
          <p:cNvSpPr/>
          <p:nvPr/>
        </p:nvSpPr>
        <p:spPr>
          <a:xfrm>
            <a:off x="548640"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4300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identity</a:t>
            </a:r>
          </a:p>
        </p:txBody>
      </p:sp>
      <p:sp>
        <p:nvSpPr>
          <p:cNvPr id="6" name="Rectangle 5"/>
          <p:cNvSpPr/>
          <p:nvPr/>
        </p:nvSpPr>
        <p:spPr>
          <a:xfrm>
            <a:off x="2249424"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49424" y="114300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tone</a:t>
            </a:r>
          </a:p>
        </p:txBody>
      </p:sp>
      <p:sp>
        <p:nvSpPr>
          <p:cNvPr id="8" name="Rectangle 7"/>
          <p:cNvSpPr/>
          <p:nvPr/>
        </p:nvSpPr>
        <p:spPr>
          <a:xfrm>
            <a:off x="3950208"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50208" y="114300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tool_efficiency</a:t>
            </a:r>
          </a:p>
        </p:txBody>
      </p:sp>
      <p:sp>
        <p:nvSpPr>
          <p:cNvPr id="10" name="Rectangle 9"/>
          <p:cNvSpPr/>
          <p:nvPr/>
        </p:nvSpPr>
        <p:spPr>
          <a:xfrm>
            <a:off x="5650992"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50992" y="114300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environment_context</a:t>
            </a:r>
          </a:p>
        </p:txBody>
      </p:sp>
      <p:sp>
        <p:nvSpPr>
          <p:cNvPr id="12" name="Rectangle 11"/>
          <p:cNvSpPr/>
          <p:nvPr/>
        </p:nvSpPr>
        <p:spPr>
          <a:xfrm>
            <a:off x="7351776"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51776" y="114300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code_change_rules</a:t>
            </a:r>
          </a:p>
        </p:txBody>
      </p:sp>
      <p:sp>
        <p:nvSpPr>
          <p:cNvPr id="14" name="Rectangle 13"/>
          <p:cNvSpPr/>
          <p:nvPr/>
        </p:nvSpPr>
        <p:spPr>
          <a:xfrm>
            <a:off x="548640"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55448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guidelines</a:t>
            </a:r>
          </a:p>
        </p:txBody>
      </p:sp>
      <p:sp>
        <p:nvSpPr>
          <p:cNvPr id="16" name="Rectangle 15"/>
          <p:cNvSpPr/>
          <p:nvPr/>
        </p:nvSpPr>
        <p:spPr>
          <a:xfrm>
            <a:off x="2249424"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49424" y="155448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safety</a:t>
            </a:r>
          </a:p>
        </p:txBody>
      </p:sp>
      <p:sp>
        <p:nvSpPr>
          <p:cNvPr id="18" name="Rectangle 17"/>
          <p:cNvSpPr/>
          <p:nvPr/>
        </p:nvSpPr>
        <p:spPr>
          <a:xfrm>
            <a:off x="3950208"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50208" y="155448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tool_instructions</a:t>
            </a:r>
          </a:p>
        </p:txBody>
      </p:sp>
      <p:sp>
        <p:nvSpPr>
          <p:cNvPr id="20" name="Rectangle 19"/>
          <p:cNvSpPr/>
          <p:nvPr/>
        </p:nvSpPr>
        <p:spPr>
          <a:xfrm>
            <a:off x="5650992"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50992" y="155448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custom_instructions</a:t>
            </a:r>
          </a:p>
        </p:txBody>
      </p:sp>
      <p:sp>
        <p:nvSpPr>
          <p:cNvPr id="22" name="Rectangle 21"/>
          <p:cNvSpPr/>
          <p:nvPr/>
        </p:nvSpPr>
        <p:spPr>
          <a:xfrm>
            <a:off x="7351776"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51776" y="155448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last_instructions</a:t>
            </a:r>
          </a:p>
        </p:txBody>
      </p:sp>
      <p:sp>
        <p:nvSpPr>
          <p:cNvPr id="24" name="Rectangle 23"/>
          <p:cNvSpPr/>
          <p:nvPr/>
        </p:nvSpPr>
        <p:spPr>
          <a:xfrm>
            <a:off x="548640" y="2057400"/>
            <a:ext cx="3931920" cy="182880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2103120"/>
            <a:ext cx="3566160"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Actions per Section</a:t>
            </a:r>
          </a:p>
        </p:txBody>
      </p:sp>
      <p:sp>
        <p:nvSpPr>
          <p:cNvPr id="26" name="TextBox 25"/>
          <p:cNvSpPr txBox="1"/>
          <p:nvPr/>
        </p:nvSpPr>
        <p:spPr>
          <a:xfrm>
            <a:off x="777240" y="2423160"/>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replace</a:t>
            </a:r>
          </a:p>
        </p:txBody>
      </p:sp>
      <p:sp>
        <p:nvSpPr>
          <p:cNvPr id="27" name="TextBox 26"/>
          <p:cNvSpPr txBox="1"/>
          <p:nvPr/>
        </p:nvSpPr>
        <p:spPr>
          <a:xfrm>
            <a:off x="1737360" y="2423160"/>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Replace entire section content</a:t>
            </a:r>
          </a:p>
        </p:txBody>
      </p:sp>
      <p:sp>
        <p:nvSpPr>
          <p:cNvPr id="28" name="TextBox 27"/>
          <p:cNvSpPr txBox="1"/>
          <p:nvPr/>
        </p:nvSpPr>
        <p:spPr>
          <a:xfrm>
            <a:off x="777240" y="2679191"/>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append</a:t>
            </a:r>
          </a:p>
        </p:txBody>
      </p:sp>
      <p:sp>
        <p:nvSpPr>
          <p:cNvPr id="29" name="TextBox 28"/>
          <p:cNvSpPr txBox="1"/>
          <p:nvPr/>
        </p:nvSpPr>
        <p:spPr>
          <a:xfrm>
            <a:off x="1737360" y="2679191"/>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Add content after the section</a:t>
            </a:r>
          </a:p>
        </p:txBody>
      </p:sp>
      <p:sp>
        <p:nvSpPr>
          <p:cNvPr id="30" name="TextBox 29"/>
          <p:cNvSpPr txBox="1"/>
          <p:nvPr/>
        </p:nvSpPr>
        <p:spPr>
          <a:xfrm>
            <a:off x="777240" y="2935224"/>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prepend</a:t>
            </a:r>
          </a:p>
        </p:txBody>
      </p:sp>
      <p:sp>
        <p:nvSpPr>
          <p:cNvPr id="31" name="TextBox 30"/>
          <p:cNvSpPr txBox="1"/>
          <p:nvPr/>
        </p:nvSpPr>
        <p:spPr>
          <a:xfrm>
            <a:off x="1737360" y="2935224"/>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Add content before the section</a:t>
            </a:r>
          </a:p>
        </p:txBody>
      </p:sp>
      <p:sp>
        <p:nvSpPr>
          <p:cNvPr id="32" name="TextBox 31"/>
          <p:cNvSpPr txBox="1"/>
          <p:nvPr/>
        </p:nvSpPr>
        <p:spPr>
          <a:xfrm>
            <a:off x="777240" y="3191256"/>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remove</a:t>
            </a:r>
          </a:p>
        </p:txBody>
      </p:sp>
      <p:sp>
        <p:nvSpPr>
          <p:cNvPr id="33" name="TextBox 32"/>
          <p:cNvSpPr txBox="1"/>
          <p:nvPr/>
        </p:nvSpPr>
        <p:spPr>
          <a:xfrm>
            <a:off x="1737360" y="3191256"/>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Remove the section entirely</a:t>
            </a:r>
          </a:p>
        </p:txBody>
      </p:sp>
      <p:sp>
        <p:nvSpPr>
          <p:cNvPr id="34" name="TextBox 33"/>
          <p:cNvSpPr txBox="1"/>
          <p:nvPr/>
        </p:nvSpPr>
        <p:spPr>
          <a:xfrm>
            <a:off x="777240" y="3447288"/>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transform</a:t>
            </a:r>
          </a:p>
        </p:txBody>
      </p:sp>
      <p:sp>
        <p:nvSpPr>
          <p:cNvPr id="35" name="TextBox 34"/>
          <p:cNvSpPr txBox="1"/>
          <p:nvPr/>
        </p:nvSpPr>
        <p:spPr>
          <a:xfrm>
            <a:off x="1737360" y="3447288"/>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Callback — receives text, returns modified</a:t>
            </a:r>
          </a:p>
        </p:txBody>
      </p:sp>
      <p:sp>
        <p:nvSpPr>
          <p:cNvPr id="36" name="Rectangle 35"/>
          <p:cNvSpPr/>
          <p:nvPr/>
        </p:nvSpPr>
        <p:spPr>
          <a:xfrm>
            <a:off x="4663440" y="2057400"/>
            <a:ext cx="3931920" cy="18288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663440" y="2057400"/>
            <a:ext cx="91440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663440" y="2057400"/>
            <a:ext cx="91440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39" name="TextBox 38"/>
          <p:cNvSpPr txBox="1"/>
          <p:nvPr/>
        </p:nvSpPr>
        <p:spPr>
          <a:xfrm>
            <a:off x="4754880" y="2331720"/>
            <a:ext cx="3657600" cy="1463040"/>
          </a:xfrm>
          <a:prstGeom prst="rect">
            <a:avLst/>
          </a:prstGeom>
          <a:noFill/>
        </p:spPr>
        <p:txBody>
          <a:bodyPr wrap="none" lIns="25400" rIns="25400" tIns="25400" bIns="25400" anchor="t">
            <a:spAutoFit/>
          </a:bodyPr>
          <a:lstStyle/>
          <a:p>
            <a:pPr algn="l">
              <a:lnSpc>
                <a:spcPts val="1045"/>
              </a:lnSpc>
              <a:spcBef>
                <a:spcPts val="0"/>
              </a:spcBef>
              <a:spcAft>
                <a:spcPts val="0"/>
              </a:spcAft>
            </a:pPr>
            <a:r>
              <a:rPr sz="950">
                <a:solidFill>
                  <a:srgbClr val="E6EDF3"/>
                </a:solidFill>
                <a:latin typeface="Courier New"/>
              </a:rPr>
              <a:t xml:space="preserve">s = await client.create_session(</a:t>
            </a:r>
          </a:p>
          <a:p>
            <a:pPr algn="l">
              <a:lnSpc>
                <a:spcPts val="1045"/>
              </a:lnSpc>
              <a:spcBef>
                <a:spcPts val="0"/>
              </a:spcBef>
              <a:spcAft>
                <a:spcPts val="0"/>
              </a:spcAft>
            </a:pPr>
            <a:r>
              <a:rPr sz="950">
                <a:solidFill>
                  <a:srgbClr val="E6EDF3"/>
                </a:solidFill>
                <a:latin typeface="Courier New"/>
              </a:rPr>
              <a:t xml:space="preserve">  model="gpt-5-mini", available_tools=[],</a:t>
            </a:r>
          </a:p>
          <a:p>
            <a:pPr algn="l">
              <a:lnSpc>
                <a:spcPts val="1045"/>
              </a:lnSpc>
              <a:spcBef>
                <a:spcPts val="0"/>
              </a:spcBef>
              <a:spcAft>
                <a:spcPts val="0"/>
              </a:spcAft>
            </a:pPr>
            <a:r>
              <a:rPr sz="950">
                <a:solidFill>
                  <a:srgbClr val="E6EDF3"/>
                </a:solidFill>
                <a:latin typeface="Courier New"/>
              </a:rPr>
              <a:t xml:space="preserve">  on_permission_request=</a:t>
            </a:r>
          </a:p>
          <a:p>
            <a:pPr algn="l">
              <a:lnSpc>
                <a:spcPts val="1045"/>
              </a:lnSpc>
              <a:spcBef>
                <a:spcPts val="0"/>
              </a:spcBef>
              <a:spcAft>
                <a:spcPts val="0"/>
              </a:spcAft>
            </a:pPr>
            <a:r>
              <a:rPr sz="950">
                <a:solidFill>
                  <a:srgbClr val="E6EDF3"/>
                </a:solidFill>
                <a:latin typeface="Courier New"/>
              </a:rPr>
              <a:t xml:space="preserve">    PermissionHandler.approve_all,</a:t>
            </a:r>
          </a:p>
          <a:p>
            <a:pPr algn="l">
              <a:lnSpc>
                <a:spcPts val="1045"/>
              </a:lnSpc>
              <a:spcBef>
                <a:spcPts val="0"/>
              </a:spcBef>
              <a:spcAft>
                <a:spcPts val="0"/>
              </a:spcAft>
            </a:pPr>
            <a:r>
              <a:rPr sz="950">
                <a:solidFill>
                  <a:srgbClr val="E6EDF3"/>
                </a:solidFill>
                <a:latin typeface="Courier New"/>
              </a:rPr>
              <a:t xml:space="preserve">  system_message={"mode": "customize",</a:t>
            </a:r>
          </a:p>
          <a:p>
            <a:pPr algn="l">
              <a:lnSpc>
                <a:spcPts val="1045"/>
              </a:lnSpc>
              <a:spcBef>
                <a:spcPts val="0"/>
              </a:spcBef>
              <a:spcAft>
                <a:spcPts val="0"/>
              </a:spcAft>
            </a:pPr>
            <a:r>
              <a:rPr sz="950">
                <a:solidFill>
                  <a:srgbClr val="E6EDF3"/>
                </a:solidFill>
                <a:latin typeface="Courier New"/>
              </a:rPr>
              <a:t xml:space="preserve">    "sections": {"tone": {</a:t>
            </a:r>
          </a:p>
          <a:p>
            <a:pPr algn="l">
              <a:lnSpc>
                <a:spcPts val="1045"/>
              </a:lnSpc>
              <a:spcBef>
                <a:spcPts val="0"/>
              </a:spcBef>
              <a:spcAft>
                <a:spcPts val="0"/>
              </a:spcAft>
            </a:pPr>
            <a:r>
              <a:rPr sz="950">
                <a:solidFill>
                  <a:srgbClr val="E6EDF3"/>
                </a:solidFill>
                <a:latin typeface="Courier New"/>
              </a:rPr>
              <a:t xml:space="preserve">      "action": "replace",</a:t>
            </a:r>
          </a:p>
          <a:p>
            <a:pPr algn="l">
              <a:lnSpc>
                <a:spcPts val="1045"/>
              </a:lnSpc>
              <a:spcBef>
                <a:spcPts val="0"/>
              </a:spcBef>
              <a:spcAft>
                <a:spcPts val="0"/>
              </a:spcAft>
            </a:pPr>
            <a:r>
              <a:rPr sz="950">
                <a:solidFill>
                  <a:srgbClr val="E6EDF3"/>
                </a:solidFill>
                <a:latin typeface="Courier New"/>
              </a:rPr>
              <a:t xml:space="preserve">      "content": "Be concise.",</a:t>
            </a:r>
          </a:p>
          <a:p>
            <a:pPr algn="l">
              <a:lnSpc>
                <a:spcPts val="1045"/>
              </a:lnSpc>
              <a:spcBef>
                <a:spcPts val="0"/>
              </a:spcBef>
              <a:spcAft>
                <a:spcPts val="0"/>
              </a:spcAft>
            </a:pPr>
            <a:r>
              <a:rPr sz="950">
                <a:solidFill>
                  <a:srgbClr val="E6EDF3"/>
                </a:solidFill>
                <a:latin typeface="Courier New"/>
              </a:rPr>
              <a:t xml:space="preserve">    }}},</a:t>
            </a:r>
          </a:p>
          <a:p>
            <a:pPr algn="l">
              <a:lnSpc>
                <a:spcPts val="1045"/>
              </a:lnSpc>
              <a:spcBef>
                <a:spcPts val="0"/>
              </a:spcBef>
              <a:spcAft>
                <a:spcPts val="0"/>
              </a:spcAft>
            </a:pPr>
            <a:r>
              <a:rPr sz="950">
                <a:solidFill>
                  <a:srgbClr val="E6EDF3"/>
                </a:solidFill>
                <a:latin typeface="Courier New"/>
              </a:rPr>
              <a:t xml:space="preserve">)</a:t>
            </a:r>
          </a:p>
        </p:txBody>
      </p:sp>
      <p:sp>
        <p:nvSpPr>
          <p:cNvPr id="40" name="Rectangle 39"/>
          <p:cNvSpPr/>
          <p:nvPr/>
        </p:nvSpPr>
        <p:spPr>
          <a:xfrm>
            <a:off x="548640" y="4023360"/>
            <a:ext cx="8046720" cy="640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1520" y="4069080"/>
            <a:ext cx="1097280" cy="228600"/>
          </a:xfrm>
          <a:prstGeom prst="rect">
            <a:avLst/>
          </a:prstGeom>
          <a:noFill/>
        </p:spPr>
        <p:txBody>
          <a:bodyPr wrap="square">
            <a:spAutoFit/>
          </a:bodyPr>
          <a:lstStyle/>
          <a:p>
            <a:pPr algn="l">
              <a:spcBef>
                <a:spcPts val="0"/>
              </a:spcBef>
              <a:spcAft>
                <a:spcPts val="0"/>
              </a:spcAft>
            </a:pPr>
            <a:r>
              <a:rPr sz="1000" b="1" i="0">
                <a:solidFill>
                  <a:srgbClr val="58A6FF"/>
                </a:solidFill>
                <a:latin typeface="Calibri"/>
              </a:rPr>
              <a:t>How it works:</a:t>
            </a:r>
          </a:p>
        </p:txBody>
      </p:sp>
      <p:sp>
        <p:nvSpPr>
          <p:cNvPr id="42" name="Rectangle 41"/>
          <p:cNvSpPr/>
          <p:nvPr/>
        </p:nvSpPr>
        <p:spPr>
          <a:xfrm>
            <a:off x="1920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920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Default Copilot
System Prompt</a:t>
            </a:r>
          </a:p>
        </p:txBody>
      </p:sp>
      <p:sp>
        <p:nvSpPr>
          <p:cNvPr id="44" name="TextBox 43"/>
          <p:cNvSpPr txBox="1"/>
          <p:nvPr/>
        </p:nvSpPr>
        <p:spPr>
          <a:xfrm>
            <a:off x="3886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5" name="Rectangle 44"/>
          <p:cNvSpPr/>
          <p:nvPr/>
        </p:nvSpPr>
        <p:spPr>
          <a:xfrm>
            <a:off x="4206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206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Your Section
Overrides</a:t>
            </a:r>
          </a:p>
        </p:txBody>
      </p:sp>
      <p:sp>
        <p:nvSpPr>
          <p:cNvPr id="47" name="TextBox 46"/>
          <p:cNvSpPr txBox="1"/>
          <p:nvPr/>
        </p:nvSpPr>
        <p:spPr>
          <a:xfrm>
            <a:off x="6172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8" name="Rectangle 47"/>
          <p:cNvSpPr/>
          <p:nvPr/>
        </p:nvSpPr>
        <p:spPr>
          <a:xfrm>
            <a:off x="6492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92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Final Customized
Prompt Sent to LLM</a:t>
            </a:r>
          </a:p>
        </p:txBody>
      </p:sp>
      <p:sp>
        <p:nvSpPr>
          <p:cNvPr id="50" name="TextBox 50"/>
          <p:cNvSpPr txBox="1"/>
          <p:nvPr/>
        </p:nvSpPr>
        <p:spPr>
          <a:xfrm>
            <a:off x="8046720" y="4754880"/>
            <a:ext cx="914400" cy="274320"/>
          </a:xfrm>
          <a:prstGeom prst="rect">
            <a:avLst/>
          </a:prstGeom>
        </p:spPr>
        <p:txBody>
          <a:bodyPr wrap="square" rtlCol="0">
            <a:spAutoFit/>
          </a:bodyPr>
          <a:lstStyle/>
          <a:p>
            <a:r>
              <a:rPr sz="900">
                <a:solidFill>
                  <a:srgbClr val="8B949E"/>
                </a:solidFill>
              </a:rPr>
              <a:t>27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8441</Words>
  <Application>Microsoft Macintosh PowerPoint</Application>
  <PresentationFormat>Bildschirmpräsentation (16:9)</PresentationFormat>
  <Paragraphs>805</Paragraphs>
  <Slides>28</Slides>
  <Notes>28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28</vt:i4>
      </vt:variant>
    </vt:vector>
  </HeadingPairs>
  <TitlesOfParts>
    <vt:vector size="32"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SDK - Agents for Every App</dc:title>
  <dc:subject>PptxGenJS Presentation</dc:subject>
  <dc:creator>GitHub Copilot SDK Presentation</dc:creator>
  <cp:lastModifiedBy>Jeffrey Groneberg</cp:lastModifiedBy>
  <cp:revision>3</cp:revision>
  <dcterms:created xsi:type="dcterms:W3CDTF">2026-03-20T06:22:26Z</dcterms:created>
  <dcterms:modified xsi:type="dcterms:W3CDTF">2026-03-27T14:31:51Z</dcterms:modified>
</cp:coreProperties>
</file>